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2" r:id="rId1"/>
  </p:sldMasterIdLst>
  <p:sldIdLst>
    <p:sldId id="256" r:id="rId2"/>
    <p:sldId id="274" r:id="rId3"/>
    <p:sldId id="275" r:id="rId4"/>
    <p:sldId id="257" r:id="rId5"/>
    <p:sldId id="276" r:id="rId6"/>
    <p:sldId id="258" r:id="rId7"/>
    <p:sldId id="277" r:id="rId8"/>
    <p:sldId id="278" r:id="rId9"/>
    <p:sldId id="259" r:id="rId10"/>
    <p:sldId id="279" r:id="rId11"/>
    <p:sldId id="280" r:id="rId12"/>
    <p:sldId id="264" r:id="rId13"/>
    <p:sldId id="281" r:id="rId14"/>
    <p:sldId id="282" r:id="rId15"/>
    <p:sldId id="267" r:id="rId16"/>
    <p:sldId id="284" r:id="rId17"/>
    <p:sldId id="283" r:id="rId18"/>
    <p:sldId id="261" r:id="rId19"/>
    <p:sldId id="262" r:id="rId20"/>
    <p:sldId id="290" r:id="rId21"/>
    <p:sldId id="285" r:id="rId22"/>
    <p:sldId id="271" r:id="rId23"/>
    <p:sldId id="286" r:id="rId24"/>
    <p:sldId id="273" r:id="rId25"/>
    <p:sldId id="287" r:id="rId26"/>
    <p:sldId id="272" r:id="rId27"/>
    <p:sldId id="288" r:id="rId28"/>
    <p:sldId id="289"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0" d="100"/>
          <a:sy n="100" d="100"/>
        </p:scale>
        <p:origin x="96" y="186"/>
      </p:cViewPr>
      <p:guideLst/>
    </p:cSldViewPr>
  </p:slideViewPr>
  <p:notesTextViewPr>
    <p:cViewPr>
      <p:scale>
        <a:sx n="1" d="1"/>
        <a:sy n="1" d="1"/>
      </p:scale>
      <p:origin x="0" y="0"/>
    </p:cViewPr>
  </p:notesTextViewPr>
  <p:sorterViewPr>
    <p:cViewPr>
      <p:scale>
        <a:sx n="90" d="100"/>
        <a:sy n="9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node0NoLn">
    <dgm:fillClrLst meth="repeat">
      <a:schemeClr val="dk2"/>
    </dgm:fillClrLst>
    <dgm:linClrLst meth="repeat">
      <a:schemeClr val="lt1">
        <a:alpha val="0"/>
      </a:schemeClr>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node1NoLn">
    <dgm:fillClrLst meth="repeat">
      <a:schemeClr val="dk2"/>
    </dgm:fillClrLst>
    <dgm:linClrLst meth="repeat">
      <a:schemeClr val="lt1">
        <a:alpha val="0"/>
      </a:schemeClr>
    </dgm:linClrLst>
    <dgm:effectClrLst/>
    <dgm:txLinClrLst/>
    <dgm:txFillClrLst/>
    <dgm:txEffectClrLst/>
  </dgm:styleLbl>
  <dgm:styleLbl name="ltNode1NoLn">
    <dgm:fillClrLst meth="repeat">
      <a:schemeClr val="dk2">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2NoLn">
    <dgm:fillClrLst meth="repeat">
      <a:schemeClr val="dk2"/>
    </dgm:fillClrLst>
    <dgm:linClrLst meth="repeat">
      <a:schemeClr val="lt1">
        <a:alpha val="0"/>
      </a:schemeClr>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3NoLn">
    <dgm:fillClrLst meth="repeat">
      <a:schemeClr val="dk2"/>
    </dgm:fillClrLst>
    <dgm:linClrLst meth="repeat">
      <a:schemeClr val="lt1">
        <a:alpha val="0"/>
      </a:schemeClr>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node4NoLn">
    <dgm:fillClrLst meth="repeat">
      <a:schemeClr val="dk2"/>
    </dgm:fillClrLst>
    <dgm:linClrLst meth="repeat">
      <a:schemeClr val="lt1">
        <a:alpha val="0"/>
      </a:schemeClr>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2">
        <a:alpha val="0"/>
      </a:schemeClr>
    </dgm:fillClrLst>
    <dgm:linClrLst meth="repeat">
      <a:schemeClr val="dk1">
        <a:alpha val="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6894E0CE-519E-4C30-9AAB-E5C14E8F5475}" type="doc">
      <dgm:prSet loTypeId="urn:microsoft.com/office/officeart/2005/8/layout/list1" loCatId="list" qsTypeId="urn:microsoft.com/office/officeart/2005/8/quickstyle/simple5" qsCatId="simple" csTypeId="urn:microsoft.com/office/officeart/2005/8/colors/accent0_3" csCatId="mainScheme" phldr="1"/>
      <dgm:spPr/>
      <dgm:t>
        <a:bodyPr/>
        <a:lstStyle/>
        <a:p>
          <a:endParaRPr lang="ru-RU"/>
        </a:p>
      </dgm:t>
    </dgm:pt>
    <dgm:pt modelId="{7DF6037B-83CC-4C3C-A5F0-40CF0BFD751B}">
      <dgm:prSet phldrT="[Text]"/>
      <dgm:spPr>
        <a:solidFill>
          <a:srgbClr val="002060"/>
        </a:solidFill>
      </dgm:spPr>
      <dgm:t>
        <a:bodyPr/>
        <a:lstStyle/>
        <a:p>
          <a:r>
            <a:rPr lang="en-US" dirty="0">
              <a:solidFill>
                <a:schemeClr val="tx1"/>
              </a:solidFill>
              <a:latin typeface="Times New Roman" panose="02020603050405020304" pitchFamily="18" charset="0"/>
              <a:cs typeface="Times New Roman" panose="02020603050405020304" pitchFamily="18" charset="0"/>
            </a:rPr>
            <a:t>The Compendious Book on Calculation by Completion and Balancing    (Al-Jabr)</a:t>
          </a:r>
          <a:endParaRPr lang="ru-RU" dirty="0"/>
        </a:p>
      </dgm:t>
    </dgm:pt>
    <dgm:pt modelId="{62FFF301-C54F-4889-ACE4-8B7965AF74D0}" type="parTrans" cxnId="{769AA912-9754-4D57-8C20-AD2E0755A908}">
      <dgm:prSet/>
      <dgm:spPr/>
      <dgm:t>
        <a:bodyPr/>
        <a:lstStyle/>
        <a:p>
          <a:endParaRPr lang="ru-RU"/>
        </a:p>
      </dgm:t>
    </dgm:pt>
    <dgm:pt modelId="{CE1B4F7B-F041-406E-A141-0F6F00588886}" type="sibTrans" cxnId="{769AA912-9754-4D57-8C20-AD2E0755A908}">
      <dgm:prSet/>
      <dgm:spPr/>
      <dgm:t>
        <a:bodyPr/>
        <a:lstStyle/>
        <a:p>
          <a:endParaRPr lang="ru-RU"/>
        </a:p>
      </dgm:t>
    </dgm:pt>
    <dgm:pt modelId="{8ECE573D-CEE3-46BA-929A-E0F5D49D5E73}">
      <dgm:prSet phldrT="[Text]"/>
      <dgm:spPr>
        <a:solidFill>
          <a:srgbClr val="002060"/>
        </a:solidFill>
      </dgm:spPr>
      <dgm:t>
        <a:bodyPr/>
        <a:lstStyle/>
        <a:p>
          <a:r>
            <a:rPr lang="en-US" dirty="0">
              <a:solidFill>
                <a:schemeClr val="tx1"/>
              </a:solidFill>
              <a:latin typeface="Times New Roman" panose="02020603050405020304" pitchFamily="18" charset="0"/>
              <a:cs typeface="Times New Roman" panose="02020603050405020304" pitchFamily="18" charset="0"/>
            </a:rPr>
            <a:t>The Book on Indian Calculation” or “The Book on Addition and Subtraction</a:t>
          </a:r>
          <a:endParaRPr lang="ru-RU" dirty="0"/>
        </a:p>
      </dgm:t>
    </dgm:pt>
    <dgm:pt modelId="{78CAC9E6-0E29-4E86-942D-73100AA7D1F9}" type="parTrans" cxnId="{B096FBDB-3A95-4B41-8451-A1881877A588}">
      <dgm:prSet/>
      <dgm:spPr/>
      <dgm:t>
        <a:bodyPr/>
        <a:lstStyle/>
        <a:p>
          <a:endParaRPr lang="ru-RU"/>
        </a:p>
      </dgm:t>
    </dgm:pt>
    <dgm:pt modelId="{70A9879D-F432-43BB-8D84-7661983AA43E}" type="sibTrans" cxnId="{B096FBDB-3A95-4B41-8451-A1881877A588}">
      <dgm:prSet/>
      <dgm:spPr/>
      <dgm:t>
        <a:bodyPr/>
        <a:lstStyle/>
        <a:p>
          <a:endParaRPr lang="ru-RU"/>
        </a:p>
      </dgm:t>
    </dgm:pt>
    <dgm:pt modelId="{ED35C623-F1E6-45CA-A9E8-7153767A67D6}">
      <dgm:prSet phldrT="[Text]"/>
      <dgm:spPr>
        <a:solidFill>
          <a:srgbClr val="002060"/>
        </a:solidFill>
      </dgm:spPr>
      <dgm:t>
        <a:bodyPr/>
        <a:lstStyle/>
        <a:p>
          <a:r>
            <a:rPr lang="en-US" dirty="0">
              <a:solidFill>
                <a:schemeClr val="tx1"/>
              </a:solidFill>
              <a:latin typeface="Times New Roman" panose="02020603050405020304" pitchFamily="18" charset="0"/>
              <a:cs typeface="Times New Roman" panose="02020603050405020304" pitchFamily="18" charset="0"/>
            </a:rPr>
            <a:t>Kitab Surat al-Ard</a:t>
          </a:r>
          <a:endParaRPr lang="ru-RU" dirty="0"/>
        </a:p>
      </dgm:t>
    </dgm:pt>
    <dgm:pt modelId="{18F2296C-DFA6-49FA-9A03-C3FF1EE5D4AB}" type="parTrans" cxnId="{7B156BBA-B6D7-40A4-83A9-08DCBDC2BC97}">
      <dgm:prSet/>
      <dgm:spPr/>
      <dgm:t>
        <a:bodyPr/>
        <a:lstStyle/>
        <a:p>
          <a:endParaRPr lang="ru-RU"/>
        </a:p>
      </dgm:t>
    </dgm:pt>
    <dgm:pt modelId="{310549D4-F6E1-4AF7-9B73-A88099D52111}" type="sibTrans" cxnId="{7B156BBA-B6D7-40A4-83A9-08DCBDC2BC97}">
      <dgm:prSet/>
      <dgm:spPr/>
      <dgm:t>
        <a:bodyPr/>
        <a:lstStyle/>
        <a:p>
          <a:endParaRPr lang="ru-RU"/>
        </a:p>
      </dgm:t>
    </dgm:pt>
    <dgm:pt modelId="{A5C562CE-D3E8-46B2-BD66-E6D53A59878E}">
      <dgm:prSet phldrT="[Text]"/>
      <dgm:spPr>
        <a:solidFill>
          <a:srgbClr val="002060"/>
        </a:solidFill>
      </dgm:spPr>
      <dgm:t>
        <a:bodyPr/>
        <a:lstStyle/>
        <a:p>
          <a:r>
            <a:rPr lang="en-US" dirty="0">
              <a:solidFill>
                <a:schemeClr val="tx1"/>
              </a:solidFill>
              <a:latin typeface="Times New Roman" panose="02020603050405020304" pitchFamily="18" charset="0"/>
              <a:cs typeface="Times New Roman" panose="02020603050405020304" pitchFamily="18" charset="0"/>
            </a:rPr>
            <a:t>Zij (astronomical tables)</a:t>
          </a:r>
          <a:endParaRPr lang="ru-RU" dirty="0"/>
        </a:p>
      </dgm:t>
    </dgm:pt>
    <dgm:pt modelId="{6FB5F83C-1B69-4858-8E00-6082D78A80DF}" type="parTrans" cxnId="{D9325F0F-243B-4172-85BE-EB09F57583FD}">
      <dgm:prSet/>
      <dgm:spPr/>
      <dgm:t>
        <a:bodyPr/>
        <a:lstStyle/>
        <a:p>
          <a:endParaRPr lang="ru-RU"/>
        </a:p>
      </dgm:t>
    </dgm:pt>
    <dgm:pt modelId="{E8D01CC9-1030-4BD9-9653-61F995FA93B7}" type="sibTrans" cxnId="{D9325F0F-243B-4172-85BE-EB09F57583FD}">
      <dgm:prSet/>
      <dgm:spPr/>
      <dgm:t>
        <a:bodyPr/>
        <a:lstStyle/>
        <a:p>
          <a:endParaRPr lang="ru-RU"/>
        </a:p>
      </dgm:t>
    </dgm:pt>
    <dgm:pt modelId="{EAD00330-A5D5-4904-80E8-1EF15159F5B3}">
      <dgm:prSet phldrT="[Text]"/>
      <dgm:spPr>
        <a:solidFill>
          <a:srgbClr val="002060"/>
        </a:solidFill>
      </dgm:spPr>
      <dgm:t>
        <a:bodyPr/>
        <a:lstStyle/>
        <a:p>
          <a:r>
            <a:rPr lang="en-US" dirty="0">
              <a:solidFill>
                <a:schemeClr val="tx1"/>
              </a:solidFill>
              <a:latin typeface="Times New Roman" panose="02020603050405020304" pitchFamily="18" charset="0"/>
              <a:cs typeface="Times New Roman" panose="02020603050405020304" pitchFamily="18" charset="0"/>
            </a:rPr>
            <a:t>Book on the Use of the Astrolabe</a:t>
          </a:r>
          <a:endParaRPr lang="ru-RU" dirty="0"/>
        </a:p>
      </dgm:t>
    </dgm:pt>
    <dgm:pt modelId="{DB6ECAAD-2AA0-4D59-A610-D9DD6863DC09}" type="parTrans" cxnId="{C7244B7B-B2CD-4CF9-8F53-E0EE0B5BA144}">
      <dgm:prSet/>
      <dgm:spPr/>
      <dgm:t>
        <a:bodyPr/>
        <a:lstStyle/>
        <a:p>
          <a:endParaRPr lang="ru-RU"/>
        </a:p>
      </dgm:t>
    </dgm:pt>
    <dgm:pt modelId="{C92C7221-CDD8-4C49-B7F3-19D4B8BB9067}" type="sibTrans" cxnId="{C7244B7B-B2CD-4CF9-8F53-E0EE0B5BA144}">
      <dgm:prSet/>
      <dgm:spPr/>
      <dgm:t>
        <a:bodyPr/>
        <a:lstStyle/>
        <a:p>
          <a:endParaRPr lang="ru-RU"/>
        </a:p>
      </dgm:t>
    </dgm:pt>
    <dgm:pt modelId="{BAEAAAD0-3289-42B7-B7B9-ED364847E329}">
      <dgm:prSet phldrT="[Text]"/>
      <dgm:spPr>
        <a:solidFill>
          <a:srgbClr val="002060"/>
        </a:solidFill>
      </dgm:spPr>
      <dgm:t>
        <a:bodyPr/>
        <a:lstStyle/>
        <a:p>
          <a:r>
            <a:rPr lang="en-US" dirty="0">
              <a:solidFill>
                <a:schemeClr val="tx1"/>
              </a:solidFill>
              <a:latin typeface="Times New Roman" panose="02020603050405020304" pitchFamily="18" charset="0"/>
              <a:cs typeface="Times New Roman" panose="02020603050405020304" pitchFamily="18" charset="0"/>
            </a:rPr>
            <a:t>Book on the Construction of the Astrolabe</a:t>
          </a:r>
          <a:endParaRPr lang="ru-RU" dirty="0"/>
        </a:p>
      </dgm:t>
    </dgm:pt>
    <dgm:pt modelId="{C72A32E8-A288-43B8-ABEE-788965A57B76}" type="parTrans" cxnId="{5C45DC62-E60C-4A85-AD67-7FD8F9514371}">
      <dgm:prSet/>
      <dgm:spPr/>
      <dgm:t>
        <a:bodyPr/>
        <a:lstStyle/>
        <a:p>
          <a:endParaRPr lang="ru-RU"/>
        </a:p>
      </dgm:t>
    </dgm:pt>
    <dgm:pt modelId="{BA1E16F7-81AC-459B-84B0-C7D5C815B239}" type="sibTrans" cxnId="{5C45DC62-E60C-4A85-AD67-7FD8F9514371}">
      <dgm:prSet/>
      <dgm:spPr/>
      <dgm:t>
        <a:bodyPr/>
        <a:lstStyle/>
        <a:p>
          <a:endParaRPr lang="ru-RU"/>
        </a:p>
      </dgm:t>
    </dgm:pt>
    <dgm:pt modelId="{B2E29BE7-9BFF-46EF-B434-5A0FD5915EAD}">
      <dgm:prSet phldrT="[Text]"/>
      <dgm:spPr>
        <a:solidFill>
          <a:srgbClr val="002060"/>
        </a:solidFill>
      </dgm:spPr>
      <dgm:t>
        <a:bodyPr/>
        <a:lstStyle/>
        <a:p>
          <a:r>
            <a:rPr lang="en-US" dirty="0">
              <a:solidFill>
                <a:schemeClr val="tx1"/>
              </a:solidFill>
              <a:latin typeface="Times New Roman" panose="02020603050405020304" pitchFamily="18" charset="0"/>
              <a:cs typeface="Times New Roman" panose="02020603050405020304" pitchFamily="18" charset="0"/>
            </a:rPr>
            <a:t>Determining the Azimuth by Means of the Astrolabe</a:t>
          </a:r>
          <a:endParaRPr lang="ru-RU" dirty="0"/>
        </a:p>
      </dgm:t>
    </dgm:pt>
    <dgm:pt modelId="{4D05E5A5-98E3-435D-976A-411C471EAAE4}" type="parTrans" cxnId="{42F0A8E1-502C-4DC5-82F0-C5B380D8F442}">
      <dgm:prSet/>
      <dgm:spPr/>
      <dgm:t>
        <a:bodyPr/>
        <a:lstStyle/>
        <a:p>
          <a:endParaRPr lang="ru-RU"/>
        </a:p>
      </dgm:t>
    </dgm:pt>
    <dgm:pt modelId="{03629DFE-DB3B-4367-968E-98479E6F5A97}" type="sibTrans" cxnId="{42F0A8E1-502C-4DC5-82F0-C5B380D8F442}">
      <dgm:prSet/>
      <dgm:spPr/>
      <dgm:t>
        <a:bodyPr/>
        <a:lstStyle/>
        <a:p>
          <a:endParaRPr lang="ru-RU"/>
        </a:p>
      </dgm:t>
    </dgm:pt>
    <dgm:pt modelId="{3C5F337B-96AA-4DC6-A74D-3BCDE5D596F0}">
      <dgm:prSet phldrT="[Text]"/>
      <dgm:spPr>
        <a:solidFill>
          <a:srgbClr val="002060"/>
        </a:solidFill>
      </dgm:spPr>
      <dgm:t>
        <a:bodyPr/>
        <a:lstStyle/>
        <a:p>
          <a:r>
            <a:rPr lang="en-US" dirty="0">
              <a:solidFill>
                <a:schemeClr val="tx1"/>
              </a:solidFill>
              <a:latin typeface="Times New Roman" panose="02020603050405020304" pitchFamily="18" charset="0"/>
              <a:cs typeface="Times New Roman" panose="02020603050405020304" pitchFamily="18" charset="0"/>
            </a:rPr>
            <a:t>Kitab </a:t>
          </a:r>
          <a:r>
            <a:rPr lang="en-US" dirty="0" err="1">
              <a:solidFill>
                <a:schemeClr val="tx1"/>
              </a:solidFill>
              <a:latin typeface="Times New Roman" panose="02020603050405020304" pitchFamily="18" charset="0"/>
              <a:cs typeface="Times New Roman" panose="02020603050405020304" pitchFamily="18" charset="0"/>
            </a:rPr>
            <a:t>ar</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Rukhama</a:t>
          </a:r>
          <a:endParaRPr lang="ru-RU" dirty="0"/>
        </a:p>
      </dgm:t>
    </dgm:pt>
    <dgm:pt modelId="{E2522123-359E-4ACC-AC83-57AB8B7AB3AC}" type="parTrans" cxnId="{B991E30C-31F9-4E06-B925-C382A961992D}">
      <dgm:prSet/>
      <dgm:spPr/>
      <dgm:t>
        <a:bodyPr/>
        <a:lstStyle/>
        <a:p>
          <a:endParaRPr lang="ru-RU"/>
        </a:p>
      </dgm:t>
    </dgm:pt>
    <dgm:pt modelId="{CCBD975A-619E-487F-976A-21D0134D59E2}" type="sibTrans" cxnId="{B991E30C-31F9-4E06-B925-C382A961992D}">
      <dgm:prSet/>
      <dgm:spPr/>
      <dgm:t>
        <a:bodyPr/>
        <a:lstStyle/>
        <a:p>
          <a:endParaRPr lang="ru-RU"/>
        </a:p>
      </dgm:t>
    </dgm:pt>
    <dgm:pt modelId="{AA87C6B2-CA83-452D-88CB-B8AB1B1EDEE4}">
      <dgm:prSet phldrT="[Text]"/>
      <dgm:spPr>
        <a:solidFill>
          <a:srgbClr val="002060"/>
        </a:solidFill>
      </dgm:spPr>
      <dgm:t>
        <a:bodyPr/>
        <a:lstStyle/>
        <a:p>
          <a:r>
            <a:rPr lang="en-US" dirty="0">
              <a:solidFill>
                <a:schemeClr val="tx1"/>
              </a:solidFill>
              <a:latin typeface="Times New Roman" panose="02020603050405020304" pitchFamily="18" charset="0"/>
              <a:cs typeface="Times New Roman" panose="02020603050405020304" pitchFamily="18" charset="0"/>
            </a:rPr>
            <a:t>Kitab at-Tarikh</a:t>
          </a:r>
          <a:endParaRPr lang="ru-RU" dirty="0"/>
        </a:p>
      </dgm:t>
    </dgm:pt>
    <dgm:pt modelId="{98A89551-C4F7-416E-8B63-A4BAA1673E4A}" type="parTrans" cxnId="{AC1FF095-BBDA-4357-9160-B38CB5DFD444}">
      <dgm:prSet/>
      <dgm:spPr/>
      <dgm:t>
        <a:bodyPr/>
        <a:lstStyle/>
        <a:p>
          <a:endParaRPr lang="ru-RU"/>
        </a:p>
      </dgm:t>
    </dgm:pt>
    <dgm:pt modelId="{1B6D568E-87F2-42F6-8C16-25C587C25802}" type="sibTrans" cxnId="{AC1FF095-BBDA-4357-9160-B38CB5DFD444}">
      <dgm:prSet/>
      <dgm:spPr/>
      <dgm:t>
        <a:bodyPr/>
        <a:lstStyle/>
        <a:p>
          <a:endParaRPr lang="ru-RU"/>
        </a:p>
      </dgm:t>
    </dgm:pt>
    <dgm:pt modelId="{DEE03043-EEEB-4F2F-91C9-C5B0D387BD55}">
      <dgm:prSet phldrT="[Text]"/>
      <dgm:spPr>
        <a:solidFill>
          <a:srgbClr val="002060"/>
        </a:solidFill>
      </dgm:spPr>
      <dgm:t>
        <a:bodyPr/>
        <a:lstStyle/>
        <a:p>
          <a:r>
            <a:rPr lang="en-US" dirty="0">
              <a:solidFill>
                <a:schemeClr val="tx1"/>
              </a:solidFill>
              <a:latin typeface="Times New Roman" panose="02020603050405020304" pitchFamily="18" charset="0"/>
              <a:cs typeface="Times New Roman" panose="02020603050405020304" pitchFamily="18" charset="0"/>
            </a:rPr>
            <a:t>Treatise on the Jewish Calendar and the Determination of Their Festivals</a:t>
          </a:r>
          <a:endParaRPr lang="ru-RU" dirty="0"/>
        </a:p>
      </dgm:t>
    </dgm:pt>
    <dgm:pt modelId="{0DD6865B-8720-4BDA-868D-75734ECE0E32}" type="parTrans" cxnId="{D95B15CF-A4FF-4926-B1A8-372BFE2CC587}">
      <dgm:prSet/>
      <dgm:spPr/>
      <dgm:t>
        <a:bodyPr/>
        <a:lstStyle/>
        <a:p>
          <a:endParaRPr lang="ru-RU"/>
        </a:p>
      </dgm:t>
    </dgm:pt>
    <dgm:pt modelId="{F735D8D4-D2FD-4881-8687-43ADFFF57CFE}" type="sibTrans" cxnId="{D95B15CF-A4FF-4926-B1A8-372BFE2CC587}">
      <dgm:prSet/>
      <dgm:spPr/>
      <dgm:t>
        <a:bodyPr/>
        <a:lstStyle/>
        <a:p>
          <a:endParaRPr lang="ru-RU"/>
        </a:p>
      </dgm:t>
    </dgm:pt>
    <dgm:pt modelId="{70177B98-EB5B-4918-A104-A1F7E1FCDC13}" type="pres">
      <dgm:prSet presAssocID="{6894E0CE-519E-4C30-9AAB-E5C14E8F5475}" presName="linear" presStyleCnt="0">
        <dgm:presLayoutVars>
          <dgm:dir/>
          <dgm:animLvl val="lvl"/>
          <dgm:resizeHandles val="exact"/>
        </dgm:presLayoutVars>
      </dgm:prSet>
      <dgm:spPr/>
    </dgm:pt>
    <dgm:pt modelId="{2AAEE8AA-6FBE-4C06-AA51-4604722FCA5A}" type="pres">
      <dgm:prSet presAssocID="{7DF6037B-83CC-4C3C-A5F0-40CF0BFD751B}" presName="parentLin" presStyleCnt="0"/>
      <dgm:spPr/>
    </dgm:pt>
    <dgm:pt modelId="{0853E96F-7BF4-45C2-86B2-F2DDE733F6F0}" type="pres">
      <dgm:prSet presAssocID="{7DF6037B-83CC-4C3C-A5F0-40CF0BFD751B}" presName="parentLeftMargin" presStyleLbl="node1" presStyleIdx="0" presStyleCnt="10"/>
      <dgm:spPr/>
    </dgm:pt>
    <dgm:pt modelId="{1FB28777-F5CE-4735-A49D-2FBBE977D8A8}" type="pres">
      <dgm:prSet presAssocID="{7DF6037B-83CC-4C3C-A5F0-40CF0BFD751B}" presName="parentText" presStyleLbl="node1" presStyleIdx="0" presStyleCnt="10">
        <dgm:presLayoutVars>
          <dgm:chMax val="0"/>
          <dgm:bulletEnabled val="1"/>
        </dgm:presLayoutVars>
      </dgm:prSet>
      <dgm:spPr/>
    </dgm:pt>
    <dgm:pt modelId="{E00B55A0-8E64-4B58-AD27-B6D72DDCC650}" type="pres">
      <dgm:prSet presAssocID="{7DF6037B-83CC-4C3C-A5F0-40CF0BFD751B}" presName="negativeSpace" presStyleCnt="0"/>
      <dgm:spPr/>
    </dgm:pt>
    <dgm:pt modelId="{C292F873-8316-447B-8FF7-600A27C90BBD}" type="pres">
      <dgm:prSet presAssocID="{7DF6037B-83CC-4C3C-A5F0-40CF0BFD751B}" presName="childText" presStyleLbl="conFgAcc1" presStyleIdx="0" presStyleCnt="10">
        <dgm:presLayoutVars>
          <dgm:bulletEnabled val="1"/>
        </dgm:presLayoutVars>
      </dgm:prSet>
      <dgm:spPr/>
    </dgm:pt>
    <dgm:pt modelId="{FE983456-7C2E-4BC2-A8BF-2EEA2DC36FCB}" type="pres">
      <dgm:prSet presAssocID="{CE1B4F7B-F041-406E-A141-0F6F00588886}" presName="spaceBetweenRectangles" presStyleCnt="0"/>
      <dgm:spPr/>
    </dgm:pt>
    <dgm:pt modelId="{02516908-5283-4B1A-B83B-DB6EAC1CCD19}" type="pres">
      <dgm:prSet presAssocID="{8ECE573D-CEE3-46BA-929A-E0F5D49D5E73}" presName="parentLin" presStyleCnt="0"/>
      <dgm:spPr/>
    </dgm:pt>
    <dgm:pt modelId="{6D91B96A-B775-4F74-9A75-2C80E95216A3}" type="pres">
      <dgm:prSet presAssocID="{8ECE573D-CEE3-46BA-929A-E0F5D49D5E73}" presName="parentLeftMargin" presStyleLbl="node1" presStyleIdx="0" presStyleCnt="10"/>
      <dgm:spPr/>
    </dgm:pt>
    <dgm:pt modelId="{31D88933-456C-4E6E-8490-D1E2C064F8C8}" type="pres">
      <dgm:prSet presAssocID="{8ECE573D-CEE3-46BA-929A-E0F5D49D5E73}" presName="parentText" presStyleLbl="node1" presStyleIdx="1" presStyleCnt="10">
        <dgm:presLayoutVars>
          <dgm:chMax val="0"/>
          <dgm:bulletEnabled val="1"/>
        </dgm:presLayoutVars>
      </dgm:prSet>
      <dgm:spPr/>
    </dgm:pt>
    <dgm:pt modelId="{133D4C26-4148-4137-9FBB-464FF7C4F008}" type="pres">
      <dgm:prSet presAssocID="{8ECE573D-CEE3-46BA-929A-E0F5D49D5E73}" presName="negativeSpace" presStyleCnt="0"/>
      <dgm:spPr/>
    </dgm:pt>
    <dgm:pt modelId="{EDBFBDBA-D0FD-4899-9E87-800AB42744F7}" type="pres">
      <dgm:prSet presAssocID="{8ECE573D-CEE3-46BA-929A-E0F5D49D5E73}" presName="childText" presStyleLbl="conFgAcc1" presStyleIdx="1" presStyleCnt="10">
        <dgm:presLayoutVars>
          <dgm:bulletEnabled val="1"/>
        </dgm:presLayoutVars>
      </dgm:prSet>
      <dgm:spPr/>
    </dgm:pt>
    <dgm:pt modelId="{F7092CA8-C073-4A98-B2F3-A6553DA7B82A}" type="pres">
      <dgm:prSet presAssocID="{70A9879D-F432-43BB-8D84-7661983AA43E}" presName="spaceBetweenRectangles" presStyleCnt="0"/>
      <dgm:spPr/>
    </dgm:pt>
    <dgm:pt modelId="{0D35439A-127D-45C4-BDFA-7437842792D8}" type="pres">
      <dgm:prSet presAssocID="{ED35C623-F1E6-45CA-A9E8-7153767A67D6}" presName="parentLin" presStyleCnt="0"/>
      <dgm:spPr/>
    </dgm:pt>
    <dgm:pt modelId="{AD4348BA-5452-4472-929F-F4D65741E6AC}" type="pres">
      <dgm:prSet presAssocID="{ED35C623-F1E6-45CA-A9E8-7153767A67D6}" presName="parentLeftMargin" presStyleLbl="node1" presStyleIdx="1" presStyleCnt="10"/>
      <dgm:spPr/>
    </dgm:pt>
    <dgm:pt modelId="{F0801681-A7D5-48A3-AF5D-EB4B48B2F226}" type="pres">
      <dgm:prSet presAssocID="{ED35C623-F1E6-45CA-A9E8-7153767A67D6}" presName="parentText" presStyleLbl="node1" presStyleIdx="2" presStyleCnt="10">
        <dgm:presLayoutVars>
          <dgm:chMax val="0"/>
          <dgm:bulletEnabled val="1"/>
        </dgm:presLayoutVars>
      </dgm:prSet>
      <dgm:spPr/>
    </dgm:pt>
    <dgm:pt modelId="{BF980184-71FD-4158-AB11-19170476C93B}" type="pres">
      <dgm:prSet presAssocID="{ED35C623-F1E6-45CA-A9E8-7153767A67D6}" presName="negativeSpace" presStyleCnt="0"/>
      <dgm:spPr/>
    </dgm:pt>
    <dgm:pt modelId="{AD8531B9-DA5C-472A-AABA-9E85B50C0F0B}" type="pres">
      <dgm:prSet presAssocID="{ED35C623-F1E6-45CA-A9E8-7153767A67D6}" presName="childText" presStyleLbl="conFgAcc1" presStyleIdx="2" presStyleCnt="10">
        <dgm:presLayoutVars>
          <dgm:bulletEnabled val="1"/>
        </dgm:presLayoutVars>
      </dgm:prSet>
      <dgm:spPr/>
    </dgm:pt>
    <dgm:pt modelId="{47EF8173-64A3-4B4F-A79F-AE8B87986B93}" type="pres">
      <dgm:prSet presAssocID="{310549D4-F6E1-4AF7-9B73-A88099D52111}" presName="spaceBetweenRectangles" presStyleCnt="0"/>
      <dgm:spPr/>
    </dgm:pt>
    <dgm:pt modelId="{A1BC7C8A-3646-4004-A53C-7F9165B87FAE}" type="pres">
      <dgm:prSet presAssocID="{A5C562CE-D3E8-46B2-BD66-E6D53A59878E}" presName="parentLin" presStyleCnt="0"/>
      <dgm:spPr/>
    </dgm:pt>
    <dgm:pt modelId="{1F7AD201-6316-43DA-8D45-87B702CDEDDC}" type="pres">
      <dgm:prSet presAssocID="{A5C562CE-D3E8-46B2-BD66-E6D53A59878E}" presName="parentLeftMargin" presStyleLbl="node1" presStyleIdx="2" presStyleCnt="10"/>
      <dgm:spPr/>
    </dgm:pt>
    <dgm:pt modelId="{CC3C746B-436B-4964-8AE8-442266F53D9E}" type="pres">
      <dgm:prSet presAssocID="{A5C562CE-D3E8-46B2-BD66-E6D53A59878E}" presName="parentText" presStyleLbl="node1" presStyleIdx="3" presStyleCnt="10">
        <dgm:presLayoutVars>
          <dgm:chMax val="0"/>
          <dgm:bulletEnabled val="1"/>
        </dgm:presLayoutVars>
      </dgm:prSet>
      <dgm:spPr/>
    </dgm:pt>
    <dgm:pt modelId="{7FB052F0-471B-44FB-A860-A98A0ACDDB0E}" type="pres">
      <dgm:prSet presAssocID="{A5C562CE-D3E8-46B2-BD66-E6D53A59878E}" presName="negativeSpace" presStyleCnt="0"/>
      <dgm:spPr/>
    </dgm:pt>
    <dgm:pt modelId="{A0FF00BD-59F3-4424-A740-8FCDF0A6BAB1}" type="pres">
      <dgm:prSet presAssocID="{A5C562CE-D3E8-46B2-BD66-E6D53A59878E}" presName="childText" presStyleLbl="conFgAcc1" presStyleIdx="3" presStyleCnt="10">
        <dgm:presLayoutVars>
          <dgm:bulletEnabled val="1"/>
        </dgm:presLayoutVars>
      </dgm:prSet>
      <dgm:spPr/>
    </dgm:pt>
    <dgm:pt modelId="{04A46580-2DEC-4454-8482-D1CD6EB4BC6F}" type="pres">
      <dgm:prSet presAssocID="{E8D01CC9-1030-4BD9-9653-61F995FA93B7}" presName="spaceBetweenRectangles" presStyleCnt="0"/>
      <dgm:spPr/>
    </dgm:pt>
    <dgm:pt modelId="{81DB796B-59DE-458C-8ECC-5CDEB5E01C2C}" type="pres">
      <dgm:prSet presAssocID="{EAD00330-A5D5-4904-80E8-1EF15159F5B3}" presName="parentLin" presStyleCnt="0"/>
      <dgm:spPr/>
    </dgm:pt>
    <dgm:pt modelId="{CF0F29A6-72B1-4E41-B339-F2679DCCF573}" type="pres">
      <dgm:prSet presAssocID="{EAD00330-A5D5-4904-80E8-1EF15159F5B3}" presName="parentLeftMargin" presStyleLbl="node1" presStyleIdx="3" presStyleCnt="10"/>
      <dgm:spPr/>
    </dgm:pt>
    <dgm:pt modelId="{6376CF4F-569F-401D-B548-2DCE6BF14678}" type="pres">
      <dgm:prSet presAssocID="{EAD00330-A5D5-4904-80E8-1EF15159F5B3}" presName="parentText" presStyleLbl="node1" presStyleIdx="4" presStyleCnt="10">
        <dgm:presLayoutVars>
          <dgm:chMax val="0"/>
          <dgm:bulletEnabled val="1"/>
        </dgm:presLayoutVars>
      </dgm:prSet>
      <dgm:spPr/>
    </dgm:pt>
    <dgm:pt modelId="{B597128F-45F2-41BE-B2AF-E669DAF6C9A1}" type="pres">
      <dgm:prSet presAssocID="{EAD00330-A5D5-4904-80E8-1EF15159F5B3}" presName="negativeSpace" presStyleCnt="0"/>
      <dgm:spPr/>
    </dgm:pt>
    <dgm:pt modelId="{FF579B30-DB13-431C-AF7A-B26D09C4037C}" type="pres">
      <dgm:prSet presAssocID="{EAD00330-A5D5-4904-80E8-1EF15159F5B3}" presName="childText" presStyleLbl="conFgAcc1" presStyleIdx="4" presStyleCnt="10">
        <dgm:presLayoutVars>
          <dgm:bulletEnabled val="1"/>
        </dgm:presLayoutVars>
      </dgm:prSet>
      <dgm:spPr/>
    </dgm:pt>
    <dgm:pt modelId="{9BC7352F-54BC-42A2-9FA9-E94BD47198D6}" type="pres">
      <dgm:prSet presAssocID="{C92C7221-CDD8-4C49-B7F3-19D4B8BB9067}" presName="spaceBetweenRectangles" presStyleCnt="0"/>
      <dgm:spPr/>
    </dgm:pt>
    <dgm:pt modelId="{EC256308-34BC-4EE6-A24B-7B41E228C279}" type="pres">
      <dgm:prSet presAssocID="{BAEAAAD0-3289-42B7-B7B9-ED364847E329}" presName="parentLin" presStyleCnt="0"/>
      <dgm:spPr/>
    </dgm:pt>
    <dgm:pt modelId="{4905DBF5-188A-49AA-BFA3-1132806B0754}" type="pres">
      <dgm:prSet presAssocID="{BAEAAAD0-3289-42B7-B7B9-ED364847E329}" presName="parentLeftMargin" presStyleLbl="node1" presStyleIdx="4" presStyleCnt="10"/>
      <dgm:spPr/>
    </dgm:pt>
    <dgm:pt modelId="{CC8DEAF6-DE1F-4041-A09F-DCF5E07C2172}" type="pres">
      <dgm:prSet presAssocID="{BAEAAAD0-3289-42B7-B7B9-ED364847E329}" presName="parentText" presStyleLbl="node1" presStyleIdx="5" presStyleCnt="10">
        <dgm:presLayoutVars>
          <dgm:chMax val="0"/>
          <dgm:bulletEnabled val="1"/>
        </dgm:presLayoutVars>
      </dgm:prSet>
      <dgm:spPr/>
    </dgm:pt>
    <dgm:pt modelId="{95560169-972D-4700-8015-2D66987F24F5}" type="pres">
      <dgm:prSet presAssocID="{BAEAAAD0-3289-42B7-B7B9-ED364847E329}" presName="negativeSpace" presStyleCnt="0"/>
      <dgm:spPr/>
    </dgm:pt>
    <dgm:pt modelId="{9BDA192B-C80A-49A7-98F9-B52979000F4E}" type="pres">
      <dgm:prSet presAssocID="{BAEAAAD0-3289-42B7-B7B9-ED364847E329}" presName="childText" presStyleLbl="conFgAcc1" presStyleIdx="5" presStyleCnt="10">
        <dgm:presLayoutVars>
          <dgm:bulletEnabled val="1"/>
        </dgm:presLayoutVars>
      </dgm:prSet>
      <dgm:spPr/>
    </dgm:pt>
    <dgm:pt modelId="{FFD49A5F-0FF5-4F86-9F52-CDF5E71E419E}" type="pres">
      <dgm:prSet presAssocID="{BA1E16F7-81AC-459B-84B0-C7D5C815B239}" presName="spaceBetweenRectangles" presStyleCnt="0"/>
      <dgm:spPr/>
    </dgm:pt>
    <dgm:pt modelId="{A52A3CFA-9865-49F7-84AE-4DD9F876C150}" type="pres">
      <dgm:prSet presAssocID="{B2E29BE7-9BFF-46EF-B434-5A0FD5915EAD}" presName="parentLin" presStyleCnt="0"/>
      <dgm:spPr/>
    </dgm:pt>
    <dgm:pt modelId="{A247B891-0513-4251-ACD1-AF60C11B9A71}" type="pres">
      <dgm:prSet presAssocID="{B2E29BE7-9BFF-46EF-B434-5A0FD5915EAD}" presName="parentLeftMargin" presStyleLbl="node1" presStyleIdx="5" presStyleCnt="10"/>
      <dgm:spPr/>
    </dgm:pt>
    <dgm:pt modelId="{FC1AB27C-D210-4446-ACD0-0D0924191FCD}" type="pres">
      <dgm:prSet presAssocID="{B2E29BE7-9BFF-46EF-B434-5A0FD5915EAD}" presName="parentText" presStyleLbl="node1" presStyleIdx="6" presStyleCnt="10">
        <dgm:presLayoutVars>
          <dgm:chMax val="0"/>
          <dgm:bulletEnabled val="1"/>
        </dgm:presLayoutVars>
      </dgm:prSet>
      <dgm:spPr/>
    </dgm:pt>
    <dgm:pt modelId="{92533C8A-3E18-4EC4-BABF-4650D4521098}" type="pres">
      <dgm:prSet presAssocID="{B2E29BE7-9BFF-46EF-B434-5A0FD5915EAD}" presName="negativeSpace" presStyleCnt="0"/>
      <dgm:spPr/>
    </dgm:pt>
    <dgm:pt modelId="{F2454AFB-B80E-4620-929D-EA931EF9ED92}" type="pres">
      <dgm:prSet presAssocID="{B2E29BE7-9BFF-46EF-B434-5A0FD5915EAD}" presName="childText" presStyleLbl="conFgAcc1" presStyleIdx="6" presStyleCnt="10">
        <dgm:presLayoutVars>
          <dgm:bulletEnabled val="1"/>
        </dgm:presLayoutVars>
      </dgm:prSet>
      <dgm:spPr/>
    </dgm:pt>
    <dgm:pt modelId="{9B0B063D-EEEA-42C6-8880-A87502E79675}" type="pres">
      <dgm:prSet presAssocID="{03629DFE-DB3B-4367-968E-98479E6F5A97}" presName="spaceBetweenRectangles" presStyleCnt="0"/>
      <dgm:spPr/>
    </dgm:pt>
    <dgm:pt modelId="{109A591E-21E7-48F3-92F0-0E468C6C9D6B}" type="pres">
      <dgm:prSet presAssocID="{3C5F337B-96AA-4DC6-A74D-3BCDE5D596F0}" presName="parentLin" presStyleCnt="0"/>
      <dgm:spPr/>
    </dgm:pt>
    <dgm:pt modelId="{E75B23D5-6A67-409B-9132-30F823B09CCC}" type="pres">
      <dgm:prSet presAssocID="{3C5F337B-96AA-4DC6-A74D-3BCDE5D596F0}" presName="parentLeftMargin" presStyleLbl="node1" presStyleIdx="6" presStyleCnt="10"/>
      <dgm:spPr/>
    </dgm:pt>
    <dgm:pt modelId="{FCA86F86-6453-4082-B2A7-6040894863E3}" type="pres">
      <dgm:prSet presAssocID="{3C5F337B-96AA-4DC6-A74D-3BCDE5D596F0}" presName="parentText" presStyleLbl="node1" presStyleIdx="7" presStyleCnt="10">
        <dgm:presLayoutVars>
          <dgm:chMax val="0"/>
          <dgm:bulletEnabled val="1"/>
        </dgm:presLayoutVars>
      </dgm:prSet>
      <dgm:spPr/>
    </dgm:pt>
    <dgm:pt modelId="{2A4D1A3A-341A-42AA-AC19-DE736EE000C8}" type="pres">
      <dgm:prSet presAssocID="{3C5F337B-96AA-4DC6-A74D-3BCDE5D596F0}" presName="negativeSpace" presStyleCnt="0"/>
      <dgm:spPr/>
    </dgm:pt>
    <dgm:pt modelId="{B4741114-47C0-4374-B7EF-8ED5A09B4794}" type="pres">
      <dgm:prSet presAssocID="{3C5F337B-96AA-4DC6-A74D-3BCDE5D596F0}" presName="childText" presStyleLbl="conFgAcc1" presStyleIdx="7" presStyleCnt="10">
        <dgm:presLayoutVars>
          <dgm:bulletEnabled val="1"/>
        </dgm:presLayoutVars>
      </dgm:prSet>
      <dgm:spPr/>
    </dgm:pt>
    <dgm:pt modelId="{CFC6B9EC-ACFA-4DDD-9E62-603B0B07C656}" type="pres">
      <dgm:prSet presAssocID="{CCBD975A-619E-487F-976A-21D0134D59E2}" presName="spaceBetweenRectangles" presStyleCnt="0"/>
      <dgm:spPr/>
    </dgm:pt>
    <dgm:pt modelId="{DC91AA3D-2FC4-47EA-89D8-571EA9474DAF}" type="pres">
      <dgm:prSet presAssocID="{AA87C6B2-CA83-452D-88CB-B8AB1B1EDEE4}" presName="parentLin" presStyleCnt="0"/>
      <dgm:spPr/>
    </dgm:pt>
    <dgm:pt modelId="{6867220F-D085-4325-B30E-D92A1E2E97E4}" type="pres">
      <dgm:prSet presAssocID="{AA87C6B2-CA83-452D-88CB-B8AB1B1EDEE4}" presName="parentLeftMargin" presStyleLbl="node1" presStyleIdx="7" presStyleCnt="10"/>
      <dgm:spPr/>
    </dgm:pt>
    <dgm:pt modelId="{69C6D125-0B89-41F7-B232-545B3595F5B5}" type="pres">
      <dgm:prSet presAssocID="{AA87C6B2-CA83-452D-88CB-B8AB1B1EDEE4}" presName="parentText" presStyleLbl="node1" presStyleIdx="8" presStyleCnt="10">
        <dgm:presLayoutVars>
          <dgm:chMax val="0"/>
          <dgm:bulletEnabled val="1"/>
        </dgm:presLayoutVars>
      </dgm:prSet>
      <dgm:spPr/>
    </dgm:pt>
    <dgm:pt modelId="{AE6D2124-F3B3-4D78-917D-C22E14D2DFF4}" type="pres">
      <dgm:prSet presAssocID="{AA87C6B2-CA83-452D-88CB-B8AB1B1EDEE4}" presName="negativeSpace" presStyleCnt="0"/>
      <dgm:spPr/>
    </dgm:pt>
    <dgm:pt modelId="{EF5F1991-A49F-40FF-9B38-63FFCF784FCF}" type="pres">
      <dgm:prSet presAssocID="{AA87C6B2-CA83-452D-88CB-B8AB1B1EDEE4}" presName="childText" presStyleLbl="conFgAcc1" presStyleIdx="8" presStyleCnt="10">
        <dgm:presLayoutVars>
          <dgm:bulletEnabled val="1"/>
        </dgm:presLayoutVars>
      </dgm:prSet>
      <dgm:spPr/>
    </dgm:pt>
    <dgm:pt modelId="{E7F74C93-FF19-43DD-B6ED-09D584E5DAC7}" type="pres">
      <dgm:prSet presAssocID="{1B6D568E-87F2-42F6-8C16-25C587C25802}" presName="spaceBetweenRectangles" presStyleCnt="0"/>
      <dgm:spPr/>
    </dgm:pt>
    <dgm:pt modelId="{ACC198D4-81A0-44EB-B21B-A251F8466577}" type="pres">
      <dgm:prSet presAssocID="{DEE03043-EEEB-4F2F-91C9-C5B0D387BD55}" presName="parentLin" presStyleCnt="0"/>
      <dgm:spPr/>
    </dgm:pt>
    <dgm:pt modelId="{2D203A09-146D-48C1-8E76-F4B51CF22B89}" type="pres">
      <dgm:prSet presAssocID="{DEE03043-EEEB-4F2F-91C9-C5B0D387BD55}" presName="parentLeftMargin" presStyleLbl="node1" presStyleIdx="8" presStyleCnt="10"/>
      <dgm:spPr/>
    </dgm:pt>
    <dgm:pt modelId="{7DABF2F6-502D-4FE6-ABC0-5651EB5CC325}" type="pres">
      <dgm:prSet presAssocID="{DEE03043-EEEB-4F2F-91C9-C5B0D387BD55}" presName="parentText" presStyleLbl="node1" presStyleIdx="9" presStyleCnt="10">
        <dgm:presLayoutVars>
          <dgm:chMax val="0"/>
          <dgm:bulletEnabled val="1"/>
        </dgm:presLayoutVars>
      </dgm:prSet>
      <dgm:spPr/>
    </dgm:pt>
    <dgm:pt modelId="{635552AE-0B2F-42C6-ACBD-C3177B1DB24E}" type="pres">
      <dgm:prSet presAssocID="{DEE03043-EEEB-4F2F-91C9-C5B0D387BD55}" presName="negativeSpace" presStyleCnt="0"/>
      <dgm:spPr/>
    </dgm:pt>
    <dgm:pt modelId="{43E09554-B6F1-4DD0-BF0D-51D46C1869CF}" type="pres">
      <dgm:prSet presAssocID="{DEE03043-EEEB-4F2F-91C9-C5B0D387BD55}" presName="childText" presStyleLbl="conFgAcc1" presStyleIdx="9" presStyleCnt="10">
        <dgm:presLayoutVars>
          <dgm:bulletEnabled val="1"/>
        </dgm:presLayoutVars>
      </dgm:prSet>
      <dgm:spPr/>
    </dgm:pt>
  </dgm:ptLst>
  <dgm:cxnLst>
    <dgm:cxn modelId="{B991E30C-31F9-4E06-B925-C382A961992D}" srcId="{6894E0CE-519E-4C30-9AAB-E5C14E8F5475}" destId="{3C5F337B-96AA-4DC6-A74D-3BCDE5D596F0}" srcOrd="7" destOrd="0" parTransId="{E2522123-359E-4ACC-AC83-57AB8B7AB3AC}" sibTransId="{CCBD975A-619E-487F-976A-21D0134D59E2}"/>
    <dgm:cxn modelId="{D9325F0F-243B-4172-85BE-EB09F57583FD}" srcId="{6894E0CE-519E-4C30-9AAB-E5C14E8F5475}" destId="{A5C562CE-D3E8-46B2-BD66-E6D53A59878E}" srcOrd="3" destOrd="0" parTransId="{6FB5F83C-1B69-4858-8E00-6082D78A80DF}" sibTransId="{E8D01CC9-1030-4BD9-9653-61F995FA93B7}"/>
    <dgm:cxn modelId="{B713DA10-EA63-4F67-8078-FB58904E7F7F}" type="presOf" srcId="{7DF6037B-83CC-4C3C-A5F0-40CF0BFD751B}" destId="{1FB28777-F5CE-4735-A49D-2FBBE977D8A8}" srcOrd="1" destOrd="0" presId="urn:microsoft.com/office/officeart/2005/8/layout/list1"/>
    <dgm:cxn modelId="{769AA912-9754-4D57-8C20-AD2E0755A908}" srcId="{6894E0CE-519E-4C30-9AAB-E5C14E8F5475}" destId="{7DF6037B-83CC-4C3C-A5F0-40CF0BFD751B}" srcOrd="0" destOrd="0" parTransId="{62FFF301-C54F-4889-ACE4-8B7965AF74D0}" sibTransId="{CE1B4F7B-F041-406E-A141-0F6F00588886}"/>
    <dgm:cxn modelId="{5086202D-2DAB-43CE-B0D6-48061FBCBB25}" type="presOf" srcId="{EAD00330-A5D5-4904-80E8-1EF15159F5B3}" destId="{CF0F29A6-72B1-4E41-B339-F2679DCCF573}" srcOrd="0" destOrd="0" presId="urn:microsoft.com/office/officeart/2005/8/layout/list1"/>
    <dgm:cxn modelId="{5E2D512D-5EE5-4C5A-ABF7-0E5C6CECBE07}" type="presOf" srcId="{A5C562CE-D3E8-46B2-BD66-E6D53A59878E}" destId="{1F7AD201-6316-43DA-8D45-87B702CDEDDC}" srcOrd="0" destOrd="0" presId="urn:microsoft.com/office/officeart/2005/8/layout/list1"/>
    <dgm:cxn modelId="{D584F935-AA30-4D9E-BCA4-60A36CFEF86E}" type="presOf" srcId="{B2E29BE7-9BFF-46EF-B434-5A0FD5915EAD}" destId="{FC1AB27C-D210-4446-ACD0-0D0924191FCD}" srcOrd="1" destOrd="0" presId="urn:microsoft.com/office/officeart/2005/8/layout/list1"/>
    <dgm:cxn modelId="{71D04D37-2B2C-49B7-890F-74A58556CE87}" type="presOf" srcId="{8ECE573D-CEE3-46BA-929A-E0F5D49D5E73}" destId="{31D88933-456C-4E6E-8490-D1E2C064F8C8}" srcOrd="1" destOrd="0" presId="urn:microsoft.com/office/officeart/2005/8/layout/list1"/>
    <dgm:cxn modelId="{EC5AF83B-6A97-4817-8643-D1C57630E133}" type="presOf" srcId="{3C5F337B-96AA-4DC6-A74D-3BCDE5D596F0}" destId="{E75B23D5-6A67-409B-9132-30F823B09CCC}" srcOrd="0" destOrd="0" presId="urn:microsoft.com/office/officeart/2005/8/layout/list1"/>
    <dgm:cxn modelId="{7DD07841-439B-4650-857F-39B71A8EDF4B}" type="presOf" srcId="{ED35C623-F1E6-45CA-A9E8-7153767A67D6}" destId="{AD4348BA-5452-4472-929F-F4D65741E6AC}" srcOrd="0" destOrd="0" presId="urn:microsoft.com/office/officeart/2005/8/layout/list1"/>
    <dgm:cxn modelId="{4111AC61-DB51-4448-9965-189D62B8153A}" type="presOf" srcId="{DEE03043-EEEB-4F2F-91C9-C5B0D387BD55}" destId="{7DABF2F6-502D-4FE6-ABC0-5651EB5CC325}" srcOrd="1" destOrd="0" presId="urn:microsoft.com/office/officeart/2005/8/layout/list1"/>
    <dgm:cxn modelId="{5C45DC62-E60C-4A85-AD67-7FD8F9514371}" srcId="{6894E0CE-519E-4C30-9AAB-E5C14E8F5475}" destId="{BAEAAAD0-3289-42B7-B7B9-ED364847E329}" srcOrd="5" destOrd="0" parTransId="{C72A32E8-A288-43B8-ABEE-788965A57B76}" sibTransId="{BA1E16F7-81AC-459B-84B0-C7D5C815B239}"/>
    <dgm:cxn modelId="{35574764-B7BE-4FD8-A6F7-111FA8654FC0}" type="presOf" srcId="{7DF6037B-83CC-4C3C-A5F0-40CF0BFD751B}" destId="{0853E96F-7BF4-45C2-86B2-F2DDE733F6F0}" srcOrd="0" destOrd="0" presId="urn:microsoft.com/office/officeart/2005/8/layout/list1"/>
    <dgm:cxn modelId="{6E2FD04C-94D8-4B51-A569-E7894BA60E9B}" type="presOf" srcId="{3C5F337B-96AA-4DC6-A74D-3BCDE5D596F0}" destId="{FCA86F86-6453-4082-B2A7-6040894863E3}" srcOrd="1" destOrd="0" presId="urn:microsoft.com/office/officeart/2005/8/layout/list1"/>
    <dgm:cxn modelId="{F5324471-FF6F-43EB-97CF-C16AD271A7F0}" type="presOf" srcId="{AA87C6B2-CA83-452D-88CB-B8AB1B1EDEE4}" destId="{6867220F-D085-4325-B30E-D92A1E2E97E4}" srcOrd="0" destOrd="0" presId="urn:microsoft.com/office/officeart/2005/8/layout/list1"/>
    <dgm:cxn modelId="{14472D7A-AAC8-4BB9-AA5A-E7C399C301A2}" type="presOf" srcId="{8ECE573D-CEE3-46BA-929A-E0F5D49D5E73}" destId="{6D91B96A-B775-4F74-9A75-2C80E95216A3}" srcOrd="0" destOrd="0" presId="urn:microsoft.com/office/officeart/2005/8/layout/list1"/>
    <dgm:cxn modelId="{C7244B7B-B2CD-4CF9-8F53-E0EE0B5BA144}" srcId="{6894E0CE-519E-4C30-9AAB-E5C14E8F5475}" destId="{EAD00330-A5D5-4904-80E8-1EF15159F5B3}" srcOrd="4" destOrd="0" parTransId="{DB6ECAAD-2AA0-4D59-A610-D9DD6863DC09}" sibTransId="{C92C7221-CDD8-4C49-B7F3-19D4B8BB9067}"/>
    <dgm:cxn modelId="{CBB9A07C-5461-44B7-9785-6E17B5E422EA}" type="presOf" srcId="{B2E29BE7-9BFF-46EF-B434-5A0FD5915EAD}" destId="{A247B891-0513-4251-ACD1-AF60C11B9A71}" srcOrd="0" destOrd="0" presId="urn:microsoft.com/office/officeart/2005/8/layout/list1"/>
    <dgm:cxn modelId="{DE092182-41FC-432F-9A81-B9DBE5D13F1C}" type="presOf" srcId="{AA87C6B2-CA83-452D-88CB-B8AB1B1EDEE4}" destId="{69C6D125-0B89-41F7-B232-545B3595F5B5}" srcOrd="1" destOrd="0" presId="urn:microsoft.com/office/officeart/2005/8/layout/list1"/>
    <dgm:cxn modelId="{B8B50B92-FD85-4B82-A087-855E58AD1F31}" type="presOf" srcId="{EAD00330-A5D5-4904-80E8-1EF15159F5B3}" destId="{6376CF4F-569F-401D-B548-2DCE6BF14678}" srcOrd="1" destOrd="0" presId="urn:microsoft.com/office/officeart/2005/8/layout/list1"/>
    <dgm:cxn modelId="{AC1FF095-BBDA-4357-9160-B38CB5DFD444}" srcId="{6894E0CE-519E-4C30-9AAB-E5C14E8F5475}" destId="{AA87C6B2-CA83-452D-88CB-B8AB1B1EDEE4}" srcOrd="8" destOrd="0" parTransId="{98A89551-C4F7-416E-8B63-A4BAA1673E4A}" sibTransId="{1B6D568E-87F2-42F6-8C16-25C587C25802}"/>
    <dgm:cxn modelId="{808B0BA7-1CBF-4867-B867-EC3E28B43D09}" type="presOf" srcId="{6894E0CE-519E-4C30-9AAB-E5C14E8F5475}" destId="{70177B98-EB5B-4918-A104-A1F7E1FCDC13}" srcOrd="0" destOrd="0" presId="urn:microsoft.com/office/officeart/2005/8/layout/list1"/>
    <dgm:cxn modelId="{27DE94B7-428C-415E-B862-2705DAB28ABB}" type="presOf" srcId="{A5C562CE-D3E8-46B2-BD66-E6D53A59878E}" destId="{CC3C746B-436B-4964-8AE8-442266F53D9E}" srcOrd="1" destOrd="0" presId="urn:microsoft.com/office/officeart/2005/8/layout/list1"/>
    <dgm:cxn modelId="{7B156BBA-B6D7-40A4-83A9-08DCBDC2BC97}" srcId="{6894E0CE-519E-4C30-9AAB-E5C14E8F5475}" destId="{ED35C623-F1E6-45CA-A9E8-7153767A67D6}" srcOrd="2" destOrd="0" parTransId="{18F2296C-DFA6-49FA-9A03-C3FF1EE5D4AB}" sibTransId="{310549D4-F6E1-4AF7-9B73-A88099D52111}"/>
    <dgm:cxn modelId="{EB769FC4-DC59-4263-848F-09A3F4D2E1F5}" type="presOf" srcId="{ED35C623-F1E6-45CA-A9E8-7153767A67D6}" destId="{F0801681-A7D5-48A3-AF5D-EB4B48B2F226}" srcOrd="1" destOrd="0" presId="urn:microsoft.com/office/officeart/2005/8/layout/list1"/>
    <dgm:cxn modelId="{1B945DCD-02C8-44D2-9286-3BBEC04D6832}" type="presOf" srcId="{DEE03043-EEEB-4F2F-91C9-C5B0D387BD55}" destId="{2D203A09-146D-48C1-8E76-F4B51CF22B89}" srcOrd="0" destOrd="0" presId="urn:microsoft.com/office/officeart/2005/8/layout/list1"/>
    <dgm:cxn modelId="{6CB50ECE-81B1-4493-993A-B4B221E51052}" type="presOf" srcId="{BAEAAAD0-3289-42B7-B7B9-ED364847E329}" destId="{4905DBF5-188A-49AA-BFA3-1132806B0754}" srcOrd="0" destOrd="0" presId="urn:microsoft.com/office/officeart/2005/8/layout/list1"/>
    <dgm:cxn modelId="{D95B15CF-A4FF-4926-B1A8-372BFE2CC587}" srcId="{6894E0CE-519E-4C30-9AAB-E5C14E8F5475}" destId="{DEE03043-EEEB-4F2F-91C9-C5B0D387BD55}" srcOrd="9" destOrd="0" parTransId="{0DD6865B-8720-4BDA-868D-75734ECE0E32}" sibTransId="{F735D8D4-D2FD-4881-8687-43ADFFF57CFE}"/>
    <dgm:cxn modelId="{1293DAD2-4FCE-4B48-BBDA-A2B7A500B0AF}" type="presOf" srcId="{BAEAAAD0-3289-42B7-B7B9-ED364847E329}" destId="{CC8DEAF6-DE1F-4041-A09F-DCF5E07C2172}" srcOrd="1" destOrd="0" presId="urn:microsoft.com/office/officeart/2005/8/layout/list1"/>
    <dgm:cxn modelId="{B096FBDB-3A95-4B41-8451-A1881877A588}" srcId="{6894E0CE-519E-4C30-9AAB-E5C14E8F5475}" destId="{8ECE573D-CEE3-46BA-929A-E0F5D49D5E73}" srcOrd="1" destOrd="0" parTransId="{78CAC9E6-0E29-4E86-942D-73100AA7D1F9}" sibTransId="{70A9879D-F432-43BB-8D84-7661983AA43E}"/>
    <dgm:cxn modelId="{42F0A8E1-502C-4DC5-82F0-C5B380D8F442}" srcId="{6894E0CE-519E-4C30-9AAB-E5C14E8F5475}" destId="{B2E29BE7-9BFF-46EF-B434-5A0FD5915EAD}" srcOrd="6" destOrd="0" parTransId="{4D05E5A5-98E3-435D-976A-411C471EAAE4}" sibTransId="{03629DFE-DB3B-4367-968E-98479E6F5A97}"/>
    <dgm:cxn modelId="{109AA33F-5AC3-4EDE-868B-962E95AC2354}" type="presParOf" srcId="{70177B98-EB5B-4918-A104-A1F7E1FCDC13}" destId="{2AAEE8AA-6FBE-4C06-AA51-4604722FCA5A}" srcOrd="0" destOrd="0" presId="urn:microsoft.com/office/officeart/2005/8/layout/list1"/>
    <dgm:cxn modelId="{7BA7CD59-40EE-4B93-8143-EF6839EBE01C}" type="presParOf" srcId="{2AAEE8AA-6FBE-4C06-AA51-4604722FCA5A}" destId="{0853E96F-7BF4-45C2-86B2-F2DDE733F6F0}" srcOrd="0" destOrd="0" presId="urn:microsoft.com/office/officeart/2005/8/layout/list1"/>
    <dgm:cxn modelId="{B2191196-DD28-4F9A-B522-0E7AE58C2BE7}" type="presParOf" srcId="{2AAEE8AA-6FBE-4C06-AA51-4604722FCA5A}" destId="{1FB28777-F5CE-4735-A49D-2FBBE977D8A8}" srcOrd="1" destOrd="0" presId="urn:microsoft.com/office/officeart/2005/8/layout/list1"/>
    <dgm:cxn modelId="{E7FC4F21-646F-402A-AFE8-3DE75D9085BE}" type="presParOf" srcId="{70177B98-EB5B-4918-A104-A1F7E1FCDC13}" destId="{E00B55A0-8E64-4B58-AD27-B6D72DDCC650}" srcOrd="1" destOrd="0" presId="urn:microsoft.com/office/officeart/2005/8/layout/list1"/>
    <dgm:cxn modelId="{4EA46B86-F4AF-41FA-9D37-E92D6A1FA960}" type="presParOf" srcId="{70177B98-EB5B-4918-A104-A1F7E1FCDC13}" destId="{C292F873-8316-447B-8FF7-600A27C90BBD}" srcOrd="2" destOrd="0" presId="urn:microsoft.com/office/officeart/2005/8/layout/list1"/>
    <dgm:cxn modelId="{6F087C5B-D608-4D2C-B1F0-CF93B6B2E0AF}" type="presParOf" srcId="{70177B98-EB5B-4918-A104-A1F7E1FCDC13}" destId="{FE983456-7C2E-4BC2-A8BF-2EEA2DC36FCB}" srcOrd="3" destOrd="0" presId="urn:microsoft.com/office/officeart/2005/8/layout/list1"/>
    <dgm:cxn modelId="{085C7BF0-DA4E-4A56-93EE-CB19FE1D9F64}" type="presParOf" srcId="{70177B98-EB5B-4918-A104-A1F7E1FCDC13}" destId="{02516908-5283-4B1A-B83B-DB6EAC1CCD19}" srcOrd="4" destOrd="0" presId="urn:microsoft.com/office/officeart/2005/8/layout/list1"/>
    <dgm:cxn modelId="{5376798A-BE5C-4CF8-AD38-32FF8855F708}" type="presParOf" srcId="{02516908-5283-4B1A-B83B-DB6EAC1CCD19}" destId="{6D91B96A-B775-4F74-9A75-2C80E95216A3}" srcOrd="0" destOrd="0" presId="urn:microsoft.com/office/officeart/2005/8/layout/list1"/>
    <dgm:cxn modelId="{BDFFBC59-117A-46F1-A177-7ED2BB0A099D}" type="presParOf" srcId="{02516908-5283-4B1A-B83B-DB6EAC1CCD19}" destId="{31D88933-456C-4E6E-8490-D1E2C064F8C8}" srcOrd="1" destOrd="0" presId="urn:microsoft.com/office/officeart/2005/8/layout/list1"/>
    <dgm:cxn modelId="{AADACD47-CD78-41E1-88E8-3C41CA80CCD9}" type="presParOf" srcId="{70177B98-EB5B-4918-A104-A1F7E1FCDC13}" destId="{133D4C26-4148-4137-9FBB-464FF7C4F008}" srcOrd="5" destOrd="0" presId="urn:microsoft.com/office/officeart/2005/8/layout/list1"/>
    <dgm:cxn modelId="{9C4AFB8E-8624-4BD7-8091-582C2B109F51}" type="presParOf" srcId="{70177B98-EB5B-4918-A104-A1F7E1FCDC13}" destId="{EDBFBDBA-D0FD-4899-9E87-800AB42744F7}" srcOrd="6" destOrd="0" presId="urn:microsoft.com/office/officeart/2005/8/layout/list1"/>
    <dgm:cxn modelId="{EBEFFBE4-CCD7-4E44-A28F-0A44FFB05FD6}" type="presParOf" srcId="{70177B98-EB5B-4918-A104-A1F7E1FCDC13}" destId="{F7092CA8-C073-4A98-B2F3-A6553DA7B82A}" srcOrd="7" destOrd="0" presId="urn:microsoft.com/office/officeart/2005/8/layout/list1"/>
    <dgm:cxn modelId="{A5F15775-C273-4438-A3C8-76BB2EEE6E1A}" type="presParOf" srcId="{70177B98-EB5B-4918-A104-A1F7E1FCDC13}" destId="{0D35439A-127D-45C4-BDFA-7437842792D8}" srcOrd="8" destOrd="0" presId="urn:microsoft.com/office/officeart/2005/8/layout/list1"/>
    <dgm:cxn modelId="{D26D0A69-29C8-4998-A871-F0D34DC1D97A}" type="presParOf" srcId="{0D35439A-127D-45C4-BDFA-7437842792D8}" destId="{AD4348BA-5452-4472-929F-F4D65741E6AC}" srcOrd="0" destOrd="0" presId="urn:microsoft.com/office/officeart/2005/8/layout/list1"/>
    <dgm:cxn modelId="{2473829F-26C8-4889-881D-7612915DB243}" type="presParOf" srcId="{0D35439A-127D-45C4-BDFA-7437842792D8}" destId="{F0801681-A7D5-48A3-AF5D-EB4B48B2F226}" srcOrd="1" destOrd="0" presId="urn:microsoft.com/office/officeart/2005/8/layout/list1"/>
    <dgm:cxn modelId="{275105EB-AF27-4451-BE0C-01955004373F}" type="presParOf" srcId="{70177B98-EB5B-4918-A104-A1F7E1FCDC13}" destId="{BF980184-71FD-4158-AB11-19170476C93B}" srcOrd="9" destOrd="0" presId="urn:microsoft.com/office/officeart/2005/8/layout/list1"/>
    <dgm:cxn modelId="{481D9639-D0F7-4276-BFC1-7C88D89A2C26}" type="presParOf" srcId="{70177B98-EB5B-4918-A104-A1F7E1FCDC13}" destId="{AD8531B9-DA5C-472A-AABA-9E85B50C0F0B}" srcOrd="10" destOrd="0" presId="urn:microsoft.com/office/officeart/2005/8/layout/list1"/>
    <dgm:cxn modelId="{67E46A4D-C2B6-44BD-B00F-58E8C5422DA9}" type="presParOf" srcId="{70177B98-EB5B-4918-A104-A1F7E1FCDC13}" destId="{47EF8173-64A3-4B4F-A79F-AE8B87986B93}" srcOrd="11" destOrd="0" presId="urn:microsoft.com/office/officeart/2005/8/layout/list1"/>
    <dgm:cxn modelId="{CF43E9E1-A480-465D-80CA-CBA71969C621}" type="presParOf" srcId="{70177B98-EB5B-4918-A104-A1F7E1FCDC13}" destId="{A1BC7C8A-3646-4004-A53C-7F9165B87FAE}" srcOrd="12" destOrd="0" presId="urn:microsoft.com/office/officeart/2005/8/layout/list1"/>
    <dgm:cxn modelId="{FF70EE3B-E02B-4C4E-9EE3-64E49A79A1A8}" type="presParOf" srcId="{A1BC7C8A-3646-4004-A53C-7F9165B87FAE}" destId="{1F7AD201-6316-43DA-8D45-87B702CDEDDC}" srcOrd="0" destOrd="0" presId="urn:microsoft.com/office/officeart/2005/8/layout/list1"/>
    <dgm:cxn modelId="{2F746202-4A4A-4DD6-B446-2E8B5871452D}" type="presParOf" srcId="{A1BC7C8A-3646-4004-A53C-7F9165B87FAE}" destId="{CC3C746B-436B-4964-8AE8-442266F53D9E}" srcOrd="1" destOrd="0" presId="urn:microsoft.com/office/officeart/2005/8/layout/list1"/>
    <dgm:cxn modelId="{0572F14B-532C-4F0E-A0E7-BDF3653F53D2}" type="presParOf" srcId="{70177B98-EB5B-4918-A104-A1F7E1FCDC13}" destId="{7FB052F0-471B-44FB-A860-A98A0ACDDB0E}" srcOrd="13" destOrd="0" presId="urn:microsoft.com/office/officeart/2005/8/layout/list1"/>
    <dgm:cxn modelId="{95BF661E-6375-4D8D-9EF1-CCB4A6DD5408}" type="presParOf" srcId="{70177B98-EB5B-4918-A104-A1F7E1FCDC13}" destId="{A0FF00BD-59F3-4424-A740-8FCDF0A6BAB1}" srcOrd="14" destOrd="0" presId="urn:microsoft.com/office/officeart/2005/8/layout/list1"/>
    <dgm:cxn modelId="{43F4E8BE-715A-4E58-A074-2E4FA49DD8CF}" type="presParOf" srcId="{70177B98-EB5B-4918-A104-A1F7E1FCDC13}" destId="{04A46580-2DEC-4454-8482-D1CD6EB4BC6F}" srcOrd="15" destOrd="0" presId="urn:microsoft.com/office/officeart/2005/8/layout/list1"/>
    <dgm:cxn modelId="{6D252B76-3183-4E11-9444-54403266E056}" type="presParOf" srcId="{70177B98-EB5B-4918-A104-A1F7E1FCDC13}" destId="{81DB796B-59DE-458C-8ECC-5CDEB5E01C2C}" srcOrd="16" destOrd="0" presId="urn:microsoft.com/office/officeart/2005/8/layout/list1"/>
    <dgm:cxn modelId="{B7EBD3F4-CEAE-4228-A618-BA61D087D70C}" type="presParOf" srcId="{81DB796B-59DE-458C-8ECC-5CDEB5E01C2C}" destId="{CF0F29A6-72B1-4E41-B339-F2679DCCF573}" srcOrd="0" destOrd="0" presId="urn:microsoft.com/office/officeart/2005/8/layout/list1"/>
    <dgm:cxn modelId="{669E4785-0FD9-4B1A-BE7B-A85EA303ACF4}" type="presParOf" srcId="{81DB796B-59DE-458C-8ECC-5CDEB5E01C2C}" destId="{6376CF4F-569F-401D-B548-2DCE6BF14678}" srcOrd="1" destOrd="0" presId="urn:microsoft.com/office/officeart/2005/8/layout/list1"/>
    <dgm:cxn modelId="{25DDE714-6CCE-49F7-9005-BC78FFFACEE1}" type="presParOf" srcId="{70177B98-EB5B-4918-A104-A1F7E1FCDC13}" destId="{B597128F-45F2-41BE-B2AF-E669DAF6C9A1}" srcOrd="17" destOrd="0" presId="urn:microsoft.com/office/officeart/2005/8/layout/list1"/>
    <dgm:cxn modelId="{BF67DDA5-ED6E-485B-B1C1-5CBB46B34560}" type="presParOf" srcId="{70177B98-EB5B-4918-A104-A1F7E1FCDC13}" destId="{FF579B30-DB13-431C-AF7A-B26D09C4037C}" srcOrd="18" destOrd="0" presId="urn:microsoft.com/office/officeart/2005/8/layout/list1"/>
    <dgm:cxn modelId="{5E2D6AA3-6137-4DD6-AD96-1BF92E3B813D}" type="presParOf" srcId="{70177B98-EB5B-4918-A104-A1F7E1FCDC13}" destId="{9BC7352F-54BC-42A2-9FA9-E94BD47198D6}" srcOrd="19" destOrd="0" presId="urn:microsoft.com/office/officeart/2005/8/layout/list1"/>
    <dgm:cxn modelId="{9413C433-EFA4-4599-A375-BA5BD78A1680}" type="presParOf" srcId="{70177B98-EB5B-4918-A104-A1F7E1FCDC13}" destId="{EC256308-34BC-4EE6-A24B-7B41E228C279}" srcOrd="20" destOrd="0" presId="urn:microsoft.com/office/officeart/2005/8/layout/list1"/>
    <dgm:cxn modelId="{21FBA6C9-7673-4D1D-A50F-ADAC6A496319}" type="presParOf" srcId="{EC256308-34BC-4EE6-A24B-7B41E228C279}" destId="{4905DBF5-188A-49AA-BFA3-1132806B0754}" srcOrd="0" destOrd="0" presId="urn:microsoft.com/office/officeart/2005/8/layout/list1"/>
    <dgm:cxn modelId="{59279836-3FC7-4D03-AB55-2CD2B4D13F09}" type="presParOf" srcId="{EC256308-34BC-4EE6-A24B-7B41E228C279}" destId="{CC8DEAF6-DE1F-4041-A09F-DCF5E07C2172}" srcOrd="1" destOrd="0" presId="urn:microsoft.com/office/officeart/2005/8/layout/list1"/>
    <dgm:cxn modelId="{2D4AE98F-D20B-472B-BEEE-184F69E52810}" type="presParOf" srcId="{70177B98-EB5B-4918-A104-A1F7E1FCDC13}" destId="{95560169-972D-4700-8015-2D66987F24F5}" srcOrd="21" destOrd="0" presId="urn:microsoft.com/office/officeart/2005/8/layout/list1"/>
    <dgm:cxn modelId="{4F7C5D6B-550A-4205-8C61-57D0E65166C6}" type="presParOf" srcId="{70177B98-EB5B-4918-A104-A1F7E1FCDC13}" destId="{9BDA192B-C80A-49A7-98F9-B52979000F4E}" srcOrd="22" destOrd="0" presId="urn:microsoft.com/office/officeart/2005/8/layout/list1"/>
    <dgm:cxn modelId="{2D760FCE-26C3-4E8D-A086-8A937B165C01}" type="presParOf" srcId="{70177B98-EB5B-4918-A104-A1F7E1FCDC13}" destId="{FFD49A5F-0FF5-4F86-9F52-CDF5E71E419E}" srcOrd="23" destOrd="0" presId="urn:microsoft.com/office/officeart/2005/8/layout/list1"/>
    <dgm:cxn modelId="{23E265DD-2391-45F4-9258-9540E98A12EE}" type="presParOf" srcId="{70177B98-EB5B-4918-A104-A1F7E1FCDC13}" destId="{A52A3CFA-9865-49F7-84AE-4DD9F876C150}" srcOrd="24" destOrd="0" presId="urn:microsoft.com/office/officeart/2005/8/layout/list1"/>
    <dgm:cxn modelId="{C6DE8699-34F8-44D3-BAF1-99E8F83CA75B}" type="presParOf" srcId="{A52A3CFA-9865-49F7-84AE-4DD9F876C150}" destId="{A247B891-0513-4251-ACD1-AF60C11B9A71}" srcOrd="0" destOrd="0" presId="urn:microsoft.com/office/officeart/2005/8/layout/list1"/>
    <dgm:cxn modelId="{459C65D2-31A1-4F56-BB89-BDC440FA2424}" type="presParOf" srcId="{A52A3CFA-9865-49F7-84AE-4DD9F876C150}" destId="{FC1AB27C-D210-4446-ACD0-0D0924191FCD}" srcOrd="1" destOrd="0" presId="urn:microsoft.com/office/officeart/2005/8/layout/list1"/>
    <dgm:cxn modelId="{8CB8A450-B74E-4E44-B111-340A8D147825}" type="presParOf" srcId="{70177B98-EB5B-4918-A104-A1F7E1FCDC13}" destId="{92533C8A-3E18-4EC4-BABF-4650D4521098}" srcOrd="25" destOrd="0" presId="urn:microsoft.com/office/officeart/2005/8/layout/list1"/>
    <dgm:cxn modelId="{3A802F2B-1614-4048-9B10-31D93112CDD4}" type="presParOf" srcId="{70177B98-EB5B-4918-A104-A1F7E1FCDC13}" destId="{F2454AFB-B80E-4620-929D-EA931EF9ED92}" srcOrd="26" destOrd="0" presId="urn:microsoft.com/office/officeart/2005/8/layout/list1"/>
    <dgm:cxn modelId="{098148E8-575F-4644-A701-F1E3760430FE}" type="presParOf" srcId="{70177B98-EB5B-4918-A104-A1F7E1FCDC13}" destId="{9B0B063D-EEEA-42C6-8880-A87502E79675}" srcOrd="27" destOrd="0" presId="urn:microsoft.com/office/officeart/2005/8/layout/list1"/>
    <dgm:cxn modelId="{75A3EF61-4EF8-434A-93B1-52415A7AB6A4}" type="presParOf" srcId="{70177B98-EB5B-4918-A104-A1F7E1FCDC13}" destId="{109A591E-21E7-48F3-92F0-0E468C6C9D6B}" srcOrd="28" destOrd="0" presId="urn:microsoft.com/office/officeart/2005/8/layout/list1"/>
    <dgm:cxn modelId="{890E09B5-823B-4C38-9D9B-00B758FCC6EE}" type="presParOf" srcId="{109A591E-21E7-48F3-92F0-0E468C6C9D6B}" destId="{E75B23D5-6A67-409B-9132-30F823B09CCC}" srcOrd="0" destOrd="0" presId="urn:microsoft.com/office/officeart/2005/8/layout/list1"/>
    <dgm:cxn modelId="{8D15864A-0632-4D2D-9C8B-525038ADF3C3}" type="presParOf" srcId="{109A591E-21E7-48F3-92F0-0E468C6C9D6B}" destId="{FCA86F86-6453-4082-B2A7-6040894863E3}" srcOrd="1" destOrd="0" presId="urn:microsoft.com/office/officeart/2005/8/layout/list1"/>
    <dgm:cxn modelId="{2FA701D4-59E4-4537-8FC4-B7F5DA0A8025}" type="presParOf" srcId="{70177B98-EB5B-4918-A104-A1F7E1FCDC13}" destId="{2A4D1A3A-341A-42AA-AC19-DE736EE000C8}" srcOrd="29" destOrd="0" presId="urn:microsoft.com/office/officeart/2005/8/layout/list1"/>
    <dgm:cxn modelId="{7792FAE8-3B72-4806-9212-C29263B46487}" type="presParOf" srcId="{70177B98-EB5B-4918-A104-A1F7E1FCDC13}" destId="{B4741114-47C0-4374-B7EF-8ED5A09B4794}" srcOrd="30" destOrd="0" presId="urn:microsoft.com/office/officeart/2005/8/layout/list1"/>
    <dgm:cxn modelId="{BAB3AFAB-0FB4-456C-A097-9C0A556BA711}" type="presParOf" srcId="{70177B98-EB5B-4918-A104-A1F7E1FCDC13}" destId="{CFC6B9EC-ACFA-4DDD-9E62-603B0B07C656}" srcOrd="31" destOrd="0" presId="urn:microsoft.com/office/officeart/2005/8/layout/list1"/>
    <dgm:cxn modelId="{60F845A5-1A79-413C-9D40-2ACDAB16E1DA}" type="presParOf" srcId="{70177B98-EB5B-4918-A104-A1F7E1FCDC13}" destId="{DC91AA3D-2FC4-47EA-89D8-571EA9474DAF}" srcOrd="32" destOrd="0" presId="urn:microsoft.com/office/officeart/2005/8/layout/list1"/>
    <dgm:cxn modelId="{296C5430-CC5A-466C-8EC7-D99D772A349E}" type="presParOf" srcId="{DC91AA3D-2FC4-47EA-89D8-571EA9474DAF}" destId="{6867220F-D085-4325-B30E-D92A1E2E97E4}" srcOrd="0" destOrd="0" presId="urn:microsoft.com/office/officeart/2005/8/layout/list1"/>
    <dgm:cxn modelId="{1041275E-C243-4EA4-A9EB-CB44638CEE26}" type="presParOf" srcId="{DC91AA3D-2FC4-47EA-89D8-571EA9474DAF}" destId="{69C6D125-0B89-41F7-B232-545B3595F5B5}" srcOrd="1" destOrd="0" presId="urn:microsoft.com/office/officeart/2005/8/layout/list1"/>
    <dgm:cxn modelId="{7CAAFA2A-A5E6-4284-9D5A-6E226F180BF2}" type="presParOf" srcId="{70177B98-EB5B-4918-A104-A1F7E1FCDC13}" destId="{AE6D2124-F3B3-4D78-917D-C22E14D2DFF4}" srcOrd="33" destOrd="0" presId="urn:microsoft.com/office/officeart/2005/8/layout/list1"/>
    <dgm:cxn modelId="{F49BCB67-5FDC-4274-88E9-39BD042CE8A5}" type="presParOf" srcId="{70177B98-EB5B-4918-A104-A1F7E1FCDC13}" destId="{EF5F1991-A49F-40FF-9B38-63FFCF784FCF}" srcOrd="34" destOrd="0" presId="urn:microsoft.com/office/officeart/2005/8/layout/list1"/>
    <dgm:cxn modelId="{A2774D7C-051E-4FC6-9997-1851E5C650AF}" type="presParOf" srcId="{70177B98-EB5B-4918-A104-A1F7E1FCDC13}" destId="{E7F74C93-FF19-43DD-B6ED-09D584E5DAC7}" srcOrd="35" destOrd="0" presId="urn:microsoft.com/office/officeart/2005/8/layout/list1"/>
    <dgm:cxn modelId="{CF6283CB-2D56-4643-A093-027C7EF13750}" type="presParOf" srcId="{70177B98-EB5B-4918-A104-A1F7E1FCDC13}" destId="{ACC198D4-81A0-44EB-B21B-A251F8466577}" srcOrd="36" destOrd="0" presId="urn:microsoft.com/office/officeart/2005/8/layout/list1"/>
    <dgm:cxn modelId="{9788E252-4FCA-4714-9503-FD87F4A2818D}" type="presParOf" srcId="{ACC198D4-81A0-44EB-B21B-A251F8466577}" destId="{2D203A09-146D-48C1-8E76-F4B51CF22B89}" srcOrd="0" destOrd="0" presId="urn:microsoft.com/office/officeart/2005/8/layout/list1"/>
    <dgm:cxn modelId="{698E32DE-C591-4A03-BD50-1CFB559D4991}" type="presParOf" srcId="{ACC198D4-81A0-44EB-B21B-A251F8466577}" destId="{7DABF2F6-502D-4FE6-ABC0-5651EB5CC325}" srcOrd="1" destOrd="0" presId="urn:microsoft.com/office/officeart/2005/8/layout/list1"/>
    <dgm:cxn modelId="{B376A08B-E1AF-4E94-9A71-A0BE021563A9}" type="presParOf" srcId="{70177B98-EB5B-4918-A104-A1F7E1FCDC13}" destId="{635552AE-0B2F-42C6-ACBD-C3177B1DB24E}" srcOrd="37" destOrd="0" presId="urn:microsoft.com/office/officeart/2005/8/layout/list1"/>
    <dgm:cxn modelId="{D0E07800-689E-484C-8665-3A7B543A09D1}" type="presParOf" srcId="{70177B98-EB5B-4918-A104-A1F7E1FCDC13}" destId="{43E09554-B6F1-4DD0-BF0D-51D46C1869CF}" srcOrd="38"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92F873-8316-447B-8FF7-600A27C90BBD}">
      <dsp:nvSpPr>
        <dsp:cNvPr id="0" name=""/>
        <dsp:cNvSpPr/>
      </dsp:nvSpPr>
      <dsp:spPr>
        <a:xfrm>
          <a:off x="0" y="297072"/>
          <a:ext cx="11411712" cy="352800"/>
        </a:xfrm>
        <a:prstGeom prst="rect">
          <a:avLst/>
        </a:prstGeom>
        <a:solidFill>
          <a:schemeClr val="lt2">
            <a:alpha val="90000"/>
            <a:hueOff val="0"/>
            <a:satOff val="0"/>
            <a:lumOff val="0"/>
            <a:alphaOff val="0"/>
          </a:schemeClr>
        </a:solidFill>
        <a:ln w="9525" cap="rnd" cmpd="sng" algn="ctr">
          <a:solidFill>
            <a:schemeClr val="dk2">
              <a:hueOff val="0"/>
              <a:satOff val="0"/>
              <a:lumOff val="0"/>
              <a:alphaOff val="0"/>
            </a:schemeClr>
          </a:solidFill>
          <a:prstDash val="solid"/>
        </a:ln>
        <a:effectLst>
          <a:innerShdw blurRad="50800" dist="25400" dir="13500000">
            <a:srgbClr val="000000">
              <a:alpha val="55000"/>
            </a:srgbClr>
          </a:innerShdw>
        </a:effectLst>
      </dsp:spPr>
      <dsp:style>
        <a:lnRef idx="1">
          <a:scrgbClr r="0" g="0" b="0"/>
        </a:lnRef>
        <a:fillRef idx="1">
          <a:scrgbClr r="0" g="0" b="0"/>
        </a:fillRef>
        <a:effectRef idx="2">
          <a:scrgbClr r="0" g="0" b="0"/>
        </a:effectRef>
        <a:fontRef idx="minor"/>
      </dsp:style>
    </dsp:sp>
    <dsp:sp modelId="{1FB28777-F5CE-4735-A49D-2FBBE977D8A8}">
      <dsp:nvSpPr>
        <dsp:cNvPr id="0" name=""/>
        <dsp:cNvSpPr/>
      </dsp:nvSpPr>
      <dsp:spPr>
        <a:xfrm>
          <a:off x="570585" y="90432"/>
          <a:ext cx="7988198" cy="413280"/>
        </a:xfrm>
        <a:prstGeom prst="roundRect">
          <a:avLst/>
        </a:prstGeom>
        <a:solidFill>
          <a:srgbClr val="002060"/>
        </a:solidFill>
        <a:ln>
          <a:noFill/>
        </a:ln>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dsp:spPr>
      <dsp:style>
        <a:lnRef idx="0">
          <a:scrgbClr r="0" g="0" b="0"/>
        </a:lnRef>
        <a:fillRef idx="3">
          <a:scrgbClr r="0" g="0" b="0"/>
        </a:fillRef>
        <a:effectRef idx="3">
          <a:scrgbClr r="0" g="0" b="0"/>
        </a:effectRef>
        <a:fontRef idx="minor">
          <a:schemeClr val="lt1"/>
        </a:fontRef>
      </dsp:style>
      <dsp:txBody>
        <a:bodyPr spcFirstLastPara="0" vert="horz" wrap="square" lIns="301935" tIns="0" rIns="301935" bIns="0" numCol="1" spcCol="1270" anchor="ctr" anchorCtr="0">
          <a:noAutofit/>
        </a:bodyPr>
        <a:lstStyle/>
        <a:p>
          <a:pPr marL="0" lvl="0" indent="0" algn="l" defTabSz="622300">
            <a:lnSpc>
              <a:spcPct val="90000"/>
            </a:lnSpc>
            <a:spcBef>
              <a:spcPct val="0"/>
            </a:spcBef>
            <a:spcAft>
              <a:spcPct val="35000"/>
            </a:spcAft>
            <a:buNone/>
          </a:pPr>
          <a:r>
            <a:rPr lang="en-US" sz="1400" kern="1200" dirty="0">
              <a:solidFill>
                <a:schemeClr val="tx1"/>
              </a:solidFill>
              <a:latin typeface="Times New Roman" panose="02020603050405020304" pitchFamily="18" charset="0"/>
              <a:cs typeface="Times New Roman" panose="02020603050405020304" pitchFamily="18" charset="0"/>
            </a:rPr>
            <a:t>The Compendious Book on Calculation by Completion and Balancing    (Al-Jabr)</a:t>
          </a:r>
          <a:endParaRPr lang="ru-RU" sz="1400" kern="1200" dirty="0"/>
        </a:p>
      </dsp:txBody>
      <dsp:txXfrm>
        <a:off x="590760" y="110607"/>
        <a:ext cx="7947848" cy="372930"/>
      </dsp:txXfrm>
    </dsp:sp>
    <dsp:sp modelId="{EDBFBDBA-D0FD-4899-9E87-800AB42744F7}">
      <dsp:nvSpPr>
        <dsp:cNvPr id="0" name=""/>
        <dsp:cNvSpPr/>
      </dsp:nvSpPr>
      <dsp:spPr>
        <a:xfrm>
          <a:off x="0" y="932112"/>
          <a:ext cx="11411712" cy="352800"/>
        </a:xfrm>
        <a:prstGeom prst="rect">
          <a:avLst/>
        </a:prstGeom>
        <a:solidFill>
          <a:schemeClr val="lt2">
            <a:alpha val="90000"/>
            <a:hueOff val="0"/>
            <a:satOff val="0"/>
            <a:lumOff val="0"/>
            <a:alphaOff val="0"/>
          </a:schemeClr>
        </a:solidFill>
        <a:ln w="9525" cap="rnd" cmpd="sng" algn="ctr">
          <a:solidFill>
            <a:schemeClr val="dk2">
              <a:hueOff val="0"/>
              <a:satOff val="0"/>
              <a:lumOff val="0"/>
              <a:alphaOff val="0"/>
            </a:schemeClr>
          </a:solidFill>
          <a:prstDash val="solid"/>
        </a:ln>
        <a:effectLst>
          <a:innerShdw blurRad="50800" dist="25400" dir="13500000">
            <a:srgbClr val="000000">
              <a:alpha val="55000"/>
            </a:srgbClr>
          </a:innerShdw>
        </a:effectLst>
      </dsp:spPr>
      <dsp:style>
        <a:lnRef idx="1">
          <a:scrgbClr r="0" g="0" b="0"/>
        </a:lnRef>
        <a:fillRef idx="1">
          <a:scrgbClr r="0" g="0" b="0"/>
        </a:fillRef>
        <a:effectRef idx="2">
          <a:scrgbClr r="0" g="0" b="0"/>
        </a:effectRef>
        <a:fontRef idx="minor"/>
      </dsp:style>
    </dsp:sp>
    <dsp:sp modelId="{31D88933-456C-4E6E-8490-D1E2C064F8C8}">
      <dsp:nvSpPr>
        <dsp:cNvPr id="0" name=""/>
        <dsp:cNvSpPr/>
      </dsp:nvSpPr>
      <dsp:spPr>
        <a:xfrm>
          <a:off x="570585" y="725472"/>
          <a:ext cx="7988198" cy="413280"/>
        </a:xfrm>
        <a:prstGeom prst="roundRect">
          <a:avLst/>
        </a:prstGeom>
        <a:solidFill>
          <a:srgbClr val="002060"/>
        </a:solidFill>
        <a:ln>
          <a:noFill/>
        </a:ln>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dsp:spPr>
      <dsp:style>
        <a:lnRef idx="0">
          <a:scrgbClr r="0" g="0" b="0"/>
        </a:lnRef>
        <a:fillRef idx="3">
          <a:scrgbClr r="0" g="0" b="0"/>
        </a:fillRef>
        <a:effectRef idx="3">
          <a:scrgbClr r="0" g="0" b="0"/>
        </a:effectRef>
        <a:fontRef idx="minor">
          <a:schemeClr val="lt1"/>
        </a:fontRef>
      </dsp:style>
      <dsp:txBody>
        <a:bodyPr spcFirstLastPara="0" vert="horz" wrap="square" lIns="301935" tIns="0" rIns="301935" bIns="0" numCol="1" spcCol="1270" anchor="ctr" anchorCtr="0">
          <a:noAutofit/>
        </a:bodyPr>
        <a:lstStyle/>
        <a:p>
          <a:pPr marL="0" lvl="0" indent="0" algn="l" defTabSz="622300">
            <a:lnSpc>
              <a:spcPct val="90000"/>
            </a:lnSpc>
            <a:spcBef>
              <a:spcPct val="0"/>
            </a:spcBef>
            <a:spcAft>
              <a:spcPct val="35000"/>
            </a:spcAft>
            <a:buNone/>
          </a:pPr>
          <a:r>
            <a:rPr lang="en-US" sz="1400" kern="1200" dirty="0">
              <a:solidFill>
                <a:schemeClr val="tx1"/>
              </a:solidFill>
              <a:latin typeface="Times New Roman" panose="02020603050405020304" pitchFamily="18" charset="0"/>
              <a:cs typeface="Times New Roman" panose="02020603050405020304" pitchFamily="18" charset="0"/>
            </a:rPr>
            <a:t>The Book on Indian Calculation” or “The Book on Addition and Subtraction</a:t>
          </a:r>
          <a:endParaRPr lang="ru-RU" sz="1400" kern="1200" dirty="0"/>
        </a:p>
      </dsp:txBody>
      <dsp:txXfrm>
        <a:off x="590760" y="745647"/>
        <a:ext cx="7947848" cy="372930"/>
      </dsp:txXfrm>
    </dsp:sp>
    <dsp:sp modelId="{AD8531B9-DA5C-472A-AABA-9E85B50C0F0B}">
      <dsp:nvSpPr>
        <dsp:cNvPr id="0" name=""/>
        <dsp:cNvSpPr/>
      </dsp:nvSpPr>
      <dsp:spPr>
        <a:xfrm>
          <a:off x="0" y="1567152"/>
          <a:ext cx="11411712" cy="352800"/>
        </a:xfrm>
        <a:prstGeom prst="rect">
          <a:avLst/>
        </a:prstGeom>
        <a:solidFill>
          <a:schemeClr val="lt2">
            <a:alpha val="90000"/>
            <a:hueOff val="0"/>
            <a:satOff val="0"/>
            <a:lumOff val="0"/>
            <a:alphaOff val="0"/>
          </a:schemeClr>
        </a:solidFill>
        <a:ln w="9525" cap="rnd" cmpd="sng" algn="ctr">
          <a:solidFill>
            <a:schemeClr val="dk2">
              <a:hueOff val="0"/>
              <a:satOff val="0"/>
              <a:lumOff val="0"/>
              <a:alphaOff val="0"/>
            </a:schemeClr>
          </a:solidFill>
          <a:prstDash val="solid"/>
        </a:ln>
        <a:effectLst>
          <a:innerShdw blurRad="50800" dist="25400" dir="13500000">
            <a:srgbClr val="000000">
              <a:alpha val="55000"/>
            </a:srgbClr>
          </a:innerShdw>
        </a:effectLst>
      </dsp:spPr>
      <dsp:style>
        <a:lnRef idx="1">
          <a:scrgbClr r="0" g="0" b="0"/>
        </a:lnRef>
        <a:fillRef idx="1">
          <a:scrgbClr r="0" g="0" b="0"/>
        </a:fillRef>
        <a:effectRef idx="2">
          <a:scrgbClr r="0" g="0" b="0"/>
        </a:effectRef>
        <a:fontRef idx="minor"/>
      </dsp:style>
    </dsp:sp>
    <dsp:sp modelId="{F0801681-A7D5-48A3-AF5D-EB4B48B2F226}">
      <dsp:nvSpPr>
        <dsp:cNvPr id="0" name=""/>
        <dsp:cNvSpPr/>
      </dsp:nvSpPr>
      <dsp:spPr>
        <a:xfrm>
          <a:off x="570585" y="1360512"/>
          <a:ext cx="7988198" cy="413280"/>
        </a:xfrm>
        <a:prstGeom prst="roundRect">
          <a:avLst/>
        </a:prstGeom>
        <a:solidFill>
          <a:srgbClr val="002060"/>
        </a:solidFill>
        <a:ln>
          <a:noFill/>
        </a:ln>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dsp:spPr>
      <dsp:style>
        <a:lnRef idx="0">
          <a:scrgbClr r="0" g="0" b="0"/>
        </a:lnRef>
        <a:fillRef idx="3">
          <a:scrgbClr r="0" g="0" b="0"/>
        </a:fillRef>
        <a:effectRef idx="3">
          <a:scrgbClr r="0" g="0" b="0"/>
        </a:effectRef>
        <a:fontRef idx="minor">
          <a:schemeClr val="lt1"/>
        </a:fontRef>
      </dsp:style>
      <dsp:txBody>
        <a:bodyPr spcFirstLastPara="0" vert="horz" wrap="square" lIns="301935" tIns="0" rIns="301935" bIns="0" numCol="1" spcCol="1270" anchor="ctr" anchorCtr="0">
          <a:noAutofit/>
        </a:bodyPr>
        <a:lstStyle/>
        <a:p>
          <a:pPr marL="0" lvl="0" indent="0" algn="l" defTabSz="622300">
            <a:lnSpc>
              <a:spcPct val="90000"/>
            </a:lnSpc>
            <a:spcBef>
              <a:spcPct val="0"/>
            </a:spcBef>
            <a:spcAft>
              <a:spcPct val="35000"/>
            </a:spcAft>
            <a:buNone/>
          </a:pPr>
          <a:r>
            <a:rPr lang="en-US" sz="1400" kern="1200" dirty="0">
              <a:solidFill>
                <a:schemeClr val="tx1"/>
              </a:solidFill>
              <a:latin typeface="Times New Roman" panose="02020603050405020304" pitchFamily="18" charset="0"/>
              <a:cs typeface="Times New Roman" panose="02020603050405020304" pitchFamily="18" charset="0"/>
            </a:rPr>
            <a:t>Kitab Surat al-Ard</a:t>
          </a:r>
          <a:endParaRPr lang="ru-RU" sz="1400" kern="1200" dirty="0"/>
        </a:p>
      </dsp:txBody>
      <dsp:txXfrm>
        <a:off x="590760" y="1380687"/>
        <a:ext cx="7947848" cy="372930"/>
      </dsp:txXfrm>
    </dsp:sp>
    <dsp:sp modelId="{A0FF00BD-59F3-4424-A740-8FCDF0A6BAB1}">
      <dsp:nvSpPr>
        <dsp:cNvPr id="0" name=""/>
        <dsp:cNvSpPr/>
      </dsp:nvSpPr>
      <dsp:spPr>
        <a:xfrm>
          <a:off x="0" y="2202192"/>
          <a:ext cx="11411712" cy="352800"/>
        </a:xfrm>
        <a:prstGeom prst="rect">
          <a:avLst/>
        </a:prstGeom>
        <a:solidFill>
          <a:schemeClr val="lt2">
            <a:alpha val="90000"/>
            <a:hueOff val="0"/>
            <a:satOff val="0"/>
            <a:lumOff val="0"/>
            <a:alphaOff val="0"/>
          </a:schemeClr>
        </a:solidFill>
        <a:ln w="9525" cap="rnd" cmpd="sng" algn="ctr">
          <a:solidFill>
            <a:schemeClr val="dk2">
              <a:hueOff val="0"/>
              <a:satOff val="0"/>
              <a:lumOff val="0"/>
              <a:alphaOff val="0"/>
            </a:schemeClr>
          </a:solidFill>
          <a:prstDash val="solid"/>
        </a:ln>
        <a:effectLst>
          <a:innerShdw blurRad="50800" dist="25400" dir="13500000">
            <a:srgbClr val="000000">
              <a:alpha val="55000"/>
            </a:srgbClr>
          </a:innerShdw>
        </a:effectLst>
      </dsp:spPr>
      <dsp:style>
        <a:lnRef idx="1">
          <a:scrgbClr r="0" g="0" b="0"/>
        </a:lnRef>
        <a:fillRef idx="1">
          <a:scrgbClr r="0" g="0" b="0"/>
        </a:fillRef>
        <a:effectRef idx="2">
          <a:scrgbClr r="0" g="0" b="0"/>
        </a:effectRef>
        <a:fontRef idx="minor"/>
      </dsp:style>
    </dsp:sp>
    <dsp:sp modelId="{CC3C746B-436B-4964-8AE8-442266F53D9E}">
      <dsp:nvSpPr>
        <dsp:cNvPr id="0" name=""/>
        <dsp:cNvSpPr/>
      </dsp:nvSpPr>
      <dsp:spPr>
        <a:xfrm>
          <a:off x="570585" y="1995552"/>
          <a:ext cx="7988198" cy="413280"/>
        </a:xfrm>
        <a:prstGeom prst="roundRect">
          <a:avLst/>
        </a:prstGeom>
        <a:solidFill>
          <a:srgbClr val="002060"/>
        </a:solidFill>
        <a:ln>
          <a:noFill/>
        </a:ln>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dsp:spPr>
      <dsp:style>
        <a:lnRef idx="0">
          <a:scrgbClr r="0" g="0" b="0"/>
        </a:lnRef>
        <a:fillRef idx="3">
          <a:scrgbClr r="0" g="0" b="0"/>
        </a:fillRef>
        <a:effectRef idx="3">
          <a:scrgbClr r="0" g="0" b="0"/>
        </a:effectRef>
        <a:fontRef idx="minor">
          <a:schemeClr val="lt1"/>
        </a:fontRef>
      </dsp:style>
      <dsp:txBody>
        <a:bodyPr spcFirstLastPara="0" vert="horz" wrap="square" lIns="301935" tIns="0" rIns="301935" bIns="0" numCol="1" spcCol="1270" anchor="ctr" anchorCtr="0">
          <a:noAutofit/>
        </a:bodyPr>
        <a:lstStyle/>
        <a:p>
          <a:pPr marL="0" lvl="0" indent="0" algn="l" defTabSz="622300">
            <a:lnSpc>
              <a:spcPct val="90000"/>
            </a:lnSpc>
            <a:spcBef>
              <a:spcPct val="0"/>
            </a:spcBef>
            <a:spcAft>
              <a:spcPct val="35000"/>
            </a:spcAft>
            <a:buNone/>
          </a:pPr>
          <a:r>
            <a:rPr lang="en-US" sz="1400" kern="1200" dirty="0">
              <a:solidFill>
                <a:schemeClr val="tx1"/>
              </a:solidFill>
              <a:latin typeface="Times New Roman" panose="02020603050405020304" pitchFamily="18" charset="0"/>
              <a:cs typeface="Times New Roman" panose="02020603050405020304" pitchFamily="18" charset="0"/>
            </a:rPr>
            <a:t>Zij (astronomical tables)</a:t>
          </a:r>
          <a:endParaRPr lang="ru-RU" sz="1400" kern="1200" dirty="0"/>
        </a:p>
      </dsp:txBody>
      <dsp:txXfrm>
        <a:off x="590760" y="2015727"/>
        <a:ext cx="7947848" cy="372930"/>
      </dsp:txXfrm>
    </dsp:sp>
    <dsp:sp modelId="{FF579B30-DB13-431C-AF7A-B26D09C4037C}">
      <dsp:nvSpPr>
        <dsp:cNvPr id="0" name=""/>
        <dsp:cNvSpPr/>
      </dsp:nvSpPr>
      <dsp:spPr>
        <a:xfrm>
          <a:off x="0" y="2837232"/>
          <a:ext cx="11411712" cy="352800"/>
        </a:xfrm>
        <a:prstGeom prst="rect">
          <a:avLst/>
        </a:prstGeom>
        <a:solidFill>
          <a:schemeClr val="lt2">
            <a:alpha val="90000"/>
            <a:hueOff val="0"/>
            <a:satOff val="0"/>
            <a:lumOff val="0"/>
            <a:alphaOff val="0"/>
          </a:schemeClr>
        </a:solidFill>
        <a:ln w="9525" cap="rnd" cmpd="sng" algn="ctr">
          <a:solidFill>
            <a:schemeClr val="dk2">
              <a:hueOff val="0"/>
              <a:satOff val="0"/>
              <a:lumOff val="0"/>
              <a:alphaOff val="0"/>
            </a:schemeClr>
          </a:solidFill>
          <a:prstDash val="solid"/>
        </a:ln>
        <a:effectLst>
          <a:innerShdw blurRad="50800" dist="25400" dir="13500000">
            <a:srgbClr val="000000">
              <a:alpha val="55000"/>
            </a:srgbClr>
          </a:innerShdw>
        </a:effectLst>
      </dsp:spPr>
      <dsp:style>
        <a:lnRef idx="1">
          <a:scrgbClr r="0" g="0" b="0"/>
        </a:lnRef>
        <a:fillRef idx="1">
          <a:scrgbClr r="0" g="0" b="0"/>
        </a:fillRef>
        <a:effectRef idx="2">
          <a:scrgbClr r="0" g="0" b="0"/>
        </a:effectRef>
        <a:fontRef idx="minor"/>
      </dsp:style>
    </dsp:sp>
    <dsp:sp modelId="{6376CF4F-569F-401D-B548-2DCE6BF14678}">
      <dsp:nvSpPr>
        <dsp:cNvPr id="0" name=""/>
        <dsp:cNvSpPr/>
      </dsp:nvSpPr>
      <dsp:spPr>
        <a:xfrm>
          <a:off x="570585" y="2630592"/>
          <a:ext cx="7988198" cy="413280"/>
        </a:xfrm>
        <a:prstGeom prst="roundRect">
          <a:avLst/>
        </a:prstGeom>
        <a:solidFill>
          <a:srgbClr val="002060"/>
        </a:solidFill>
        <a:ln>
          <a:noFill/>
        </a:ln>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dsp:spPr>
      <dsp:style>
        <a:lnRef idx="0">
          <a:scrgbClr r="0" g="0" b="0"/>
        </a:lnRef>
        <a:fillRef idx="3">
          <a:scrgbClr r="0" g="0" b="0"/>
        </a:fillRef>
        <a:effectRef idx="3">
          <a:scrgbClr r="0" g="0" b="0"/>
        </a:effectRef>
        <a:fontRef idx="minor">
          <a:schemeClr val="lt1"/>
        </a:fontRef>
      </dsp:style>
      <dsp:txBody>
        <a:bodyPr spcFirstLastPara="0" vert="horz" wrap="square" lIns="301935" tIns="0" rIns="301935" bIns="0" numCol="1" spcCol="1270" anchor="ctr" anchorCtr="0">
          <a:noAutofit/>
        </a:bodyPr>
        <a:lstStyle/>
        <a:p>
          <a:pPr marL="0" lvl="0" indent="0" algn="l" defTabSz="622300">
            <a:lnSpc>
              <a:spcPct val="90000"/>
            </a:lnSpc>
            <a:spcBef>
              <a:spcPct val="0"/>
            </a:spcBef>
            <a:spcAft>
              <a:spcPct val="35000"/>
            </a:spcAft>
            <a:buNone/>
          </a:pPr>
          <a:r>
            <a:rPr lang="en-US" sz="1400" kern="1200" dirty="0">
              <a:solidFill>
                <a:schemeClr val="tx1"/>
              </a:solidFill>
              <a:latin typeface="Times New Roman" panose="02020603050405020304" pitchFamily="18" charset="0"/>
              <a:cs typeface="Times New Roman" panose="02020603050405020304" pitchFamily="18" charset="0"/>
            </a:rPr>
            <a:t>Book on the Use of the Astrolabe</a:t>
          </a:r>
          <a:endParaRPr lang="ru-RU" sz="1400" kern="1200" dirty="0"/>
        </a:p>
      </dsp:txBody>
      <dsp:txXfrm>
        <a:off x="590760" y="2650767"/>
        <a:ext cx="7947848" cy="372930"/>
      </dsp:txXfrm>
    </dsp:sp>
    <dsp:sp modelId="{9BDA192B-C80A-49A7-98F9-B52979000F4E}">
      <dsp:nvSpPr>
        <dsp:cNvPr id="0" name=""/>
        <dsp:cNvSpPr/>
      </dsp:nvSpPr>
      <dsp:spPr>
        <a:xfrm>
          <a:off x="0" y="3472272"/>
          <a:ext cx="11411712" cy="352800"/>
        </a:xfrm>
        <a:prstGeom prst="rect">
          <a:avLst/>
        </a:prstGeom>
        <a:solidFill>
          <a:schemeClr val="lt2">
            <a:alpha val="90000"/>
            <a:hueOff val="0"/>
            <a:satOff val="0"/>
            <a:lumOff val="0"/>
            <a:alphaOff val="0"/>
          </a:schemeClr>
        </a:solidFill>
        <a:ln w="9525" cap="rnd" cmpd="sng" algn="ctr">
          <a:solidFill>
            <a:schemeClr val="dk2">
              <a:hueOff val="0"/>
              <a:satOff val="0"/>
              <a:lumOff val="0"/>
              <a:alphaOff val="0"/>
            </a:schemeClr>
          </a:solidFill>
          <a:prstDash val="solid"/>
        </a:ln>
        <a:effectLst>
          <a:innerShdw blurRad="50800" dist="25400" dir="13500000">
            <a:srgbClr val="000000">
              <a:alpha val="55000"/>
            </a:srgbClr>
          </a:innerShdw>
        </a:effectLst>
      </dsp:spPr>
      <dsp:style>
        <a:lnRef idx="1">
          <a:scrgbClr r="0" g="0" b="0"/>
        </a:lnRef>
        <a:fillRef idx="1">
          <a:scrgbClr r="0" g="0" b="0"/>
        </a:fillRef>
        <a:effectRef idx="2">
          <a:scrgbClr r="0" g="0" b="0"/>
        </a:effectRef>
        <a:fontRef idx="minor"/>
      </dsp:style>
    </dsp:sp>
    <dsp:sp modelId="{CC8DEAF6-DE1F-4041-A09F-DCF5E07C2172}">
      <dsp:nvSpPr>
        <dsp:cNvPr id="0" name=""/>
        <dsp:cNvSpPr/>
      </dsp:nvSpPr>
      <dsp:spPr>
        <a:xfrm>
          <a:off x="570585" y="3265632"/>
          <a:ext cx="7988198" cy="413280"/>
        </a:xfrm>
        <a:prstGeom prst="roundRect">
          <a:avLst/>
        </a:prstGeom>
        <a:solidFill>
          <a:srgbClr val="002060"/>
        </a:solidFill>
        <a:ln>
          <a:noFill/>
        </a:ln>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dsp:spPr>
      <dsp:style>
        <a:lnRef idx="0">
          <a:scrgbClr r="0" g="0" b="0"/>
        </a:lnRef>
        <a:fillRef idx="3">
          <a:scrgbClr r="0" g="0" b="0"/>
        </a:fillRef>
        <a:effectRef idx="3">
          <a:scrgbClr r="0" g="0" b="0"/>
        </a:effectRef>
        <a:fontRef idx="minor">
          <a:schemeClr val="lt1"/>
        </a:fontRef>
      </dsp:style>
      <dsp:txBody>
        <a:bodyPr spcFirstLastPara="0" vert="horz" wrap="square" lIns="301935" tIns="0" rIns="301935" bIns="0" numCol="1" spcCol="1270" anchor="ctr" anchorCtr="0">
          <a:noAutofit/>
        </a:bodyPr>
        <a:lstStyle/>
        <a:p>
          <a:pPr marL="0" lvl="0" indent="0" algn="l" defTabSz="622300">
            <a:lnSpc>
              <a:spcPct val="90000"/>
            </a:lnSpc>
            <a:spcBef>
              <a:spcPct val="0"/>
            </a:spcBef>
            <a:spcAft>
              <a:spcPct val="35000"/>
            </a:spcAft>
            <a:buNone/>
          </a:pPr>
          <a:r>
            <a:rPr lang="en-US" sz="1400" kern="1200" dirty="0">
              <a:solidFill>
                <a:schemeClr val="tx1"/>
              </a:solidFill>
              <a:latin typeface="Times New Roman" panose="02020603050405020304" pitchFamily="18" charset="0"/>
              <a:cs typeface="Times New Roman" panose="02020603050405020304" pitchFamily="18" charset="0"/>
            </a:rPr>
            <a:t>Book on the Construction of the Astrolabe</a:t>
          </a:r>
          <a:endParaRPr lang="ru-RU" sz="1400" kern="1200" dirty="0"/>
        </a:p>
      </dsp:txBody>
      <dsp:txXfrm>
        <a:off x="590760" y="3285807"/>
        <a:ext cx="7947848" cy="372930"/>
      </dsp:txXfrm>
    </dsp:sp>
    <dsp:sp modelId="{F2454AFB-B80E-4620-929D-EA931EF9ED92}">
      <dsp:nvSpPr>
        <dsp:cNvPr id="0" name=""/>
        <dsp:cNvSpPr/>
      </dsp:nvSpPr>
      <dsp:spPr>
        <a:xfrm>
          <a:off x="0" y="4107312"/>
          <a:ext cx="11411712" cy="352800"/>
        </a:xfrm>
        <a:prstGeom prst="rect">
          <a:avLst/>
        </a:prstGeom>
        <a:solidFill>
          <a:schemeClr val="lt2">
            <a:alpha val="90000"/>
            <a:hueOff val="0"/>
            <a:satOff val="0"/>
            <a:lumOff val="0"/>
            <a:alphaOff val="0"/>
          </a:schemeClr>
        </a:solidFill>
        <a:ln w="9525" cap="rnd" cmpd="sng" algn="ctr">
          <a:solidFill>
            <a:schemeClr val="dk2">
              <a:hueOff val="0"/>
              <a:satOff val="0"/>
              <a:lumOff val="0"/>
              <a:alphaOff val="0"/>
            </a:schemeClr>
          </a:solidFill>
          <a:prstDash val="solid"/>
        </a:ln>
        <a:effectLst>
          <a:innerShdw blurRad="50800" dist="25400" dir="13500000">
            <a:srgbClr val="000000">
              <a:alpha val="55000"/>
            </a:srgbClr>
          </a:innerShdw>
        </a:effectLst>
      </dsp:spPr>
      <dsp:style>
        <a:lnRef idx="1">
          <a:scrgbClr r="0" g="0" b="0"/>
        </a:lnRef>
        <a:fillRef idx="1">
          <a:scrgbClr r="0" g="0" b="0"/>
        </a:fillRef>
        <a:effectRef idx="2">
          <a:scrgbClr r="0" g="0" b="0"/>
        </a:effectRef>
        <a:fontRef idx="minor"/>
      </dsp:style>
    </dsp:sp>
    <dsp:sp modelId="{FC1AB27C-D210-4446-ACD0-0D0924191FCD}">
      <dsp:nvSpPr>
        <dsp:cNvPr id="0" name=""/>
        <dsp:cNvSpPr/>
      </dsp:nvSpPr>
      <dsp:spPr>
        <a:xfrm>
          <a:off x="570585" y="3900672"/>
          <a:ext cx="7988198" cy="413280"/>
        </a:xfrm>
        <a:prstGeom prst="roundRect">
          <a:avLst/>
        </a:prstGeom>
        <a:solidFill>
          <a:srgbClr val="002060"/>
        </a:solidFill>
        <a:ln>
          <a:noFill/>
        </a:ln>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dsp:spPr>
      <dsp:style>
        <a:lnRef idx="0">
          <a:scrgbClr r="0" g="0" b="0"/>
        </a:lnRef>
        <a:fillRef idx="3">
          <a:scrgbClr r="0" g="0" b="0"/>
        </a:fillRef>
        <a:effectRef idx="3">
          <a:scrgbClr r="0" g="0" b="0"/>
        </a:effectRef>
        <a:fontRef idx="minor">
          <a:schemeClr val="lt1"/>
        </a:fontRef>
      </dsp:style>
      <dsp:txBody>
        <a:bodyPr spcFirstLastPara="0" vert="horz" wrap="square" lIns="301935" tIns="0" rIns="301935" bIns="0" numCol="1" spcCol="1270" anchor="ctr" anchorCtr="0">
          <a:noAutofit/>
        </a:bodyPr>
        <a:lstStyle/>
        <a:p>
          <a:pPr marL="0" lvl="0" indent="0" algn="l" defTabSz="622300">
            <a:lnSpc>
              <a:spcPct val="90000"/>
            </a:lnSpc>
            <a:spcBef>
              <a:spcPct val="0"/>
            </a:spcBef>
            <a:spcAft>
              <a:spcPct val="35000"/>
            </a:spcAft>
            <a:buNone/>
          </a:pPr>
          <a:r>
            <a:rPr lang="en-US" sz="1400" kern="1200" dirty="0">
              <a:solidFill>
                <a:schemeClr val="tx1"/>
              </a:solidFill>
              <a:latin typeface="Times New Roman" panose="02020603050405020304" pitchFamily="18" charset="0"/>
              <a:cs typeface="Times New Roman" panose="02020603050405020304" pitchFamily="18" charset="0"/>
            </a:rPr>
            <a:t>Determining the Azimuth by Means of the Astrolabe</a:t>
          </a:r>
          <a:endParaRPr lang="ru-RU" sz="1400" kern="1200" dirty="0"/>
        </a:p>
      </dsp:txBody>
      <dsp:txXfrm>
        <a:off x="590760" y="3920847"/>
        <a:ext cx="7947848" cy="372930"/>
      </dsp:txXfrm>
    </dsp:sp>
    <dsp:sp modelId="{B4741114-47C0-4374-B7EF-8ED5A09B4794}">
      <dsp:nvSpPr>
        <dsp:cNvPr id="0" name=""/>
        <dsp:cNvSpPr/>
      </dsp:nvSpPr>
      <dsp:spPr>
        <a:xfrm>
          <a:off x="0" y="4742352"/>
          <a:ext cx="11411712" cy="352800"/>
        </a:xfrm>
        <a:prstGeom prst="rect">
          <a:avLst/>
        </a:prstGeom>
        <a:solidFill>
          <a:schemeClr val="lt2">
            <a:alpha val="90000"/>
            <a:hueOff val="0"/>
            <a:satOff val="0"/>
            <a:lumOff val="0"/>
            <a:alphaOff val="0"/>
          </a:schemeClr>
        </a:solidFill>
        <a:ln w="9525" cap="rnd" cmpd="sng" algn="ctr">
          <a:solidFill>
            <a:schemeClr val="dk2">
              <a:hueOff val="0"/>
              <a:satOff val="0"/>
              <a:lumOff val="0"/>
              <a:alphaOff val="0"/>
            </a:schemeClr>
          </a:solidFill>
          <a:prstDash val="solid"/>
        </a:ln>
        <a:effectLst>
          <a:innerShdw blurRad="50800" dist="25400" dir="13500000">
            <a:srgbClr val="000000">
              <a:alpha val="55000"/>
            </a:srgbClr>
          </a:innerShdw>
        </a:effectLst>
      </dsp:spPr>
      <dsp:style>
        <a:lnRef idx="1">
          <a:scrgbClr r="0" g="0" b="0"/>
        </a:lnRef>
        <a:fillRef idx="1">
          <a:scrgbClr r="0" g="0" b="0"/>
        </a:fillRef>
        <a:effectRef idx="2">
          <a:scrgbClr r="0" g="0" b="0"/>
        </a:effectRef>
        <a:fontRef idx="minor"/>
      </dsp:style>
    </dsp:sp>
    <dsp:sp modelId="{FCA86F86-6453-4082-B2A7-6040894863E3}">
      <dsp:nvSpPr>
        <dsp:cNvPr id="0" name=""/>
        <dsp:cNvSpPr/>
      </dsp:nvSpPr>
      <dsp:spPr>
        <a:xfrm>
          <a:off x="570585" y="4535712"/>
          <a:ext cx="7988198" cy="413280"/>
        </a:xfrm>
        <a:prstGeom prst="roundRect">
          <a:avLst/>
        </a:prstGeom>
        <a:solidFill>
          <a:srgbClr val="002060"/>
        </a:solidFill>
        <a:ln>
          <a:noFill/>
        </a:ln>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dsp:spPr>
      <dsp:style>
        <a:lnRef idx="0">
          <a:scrgbClr r="0" g="0" b="0"/>
        </a:lnRef>
        <a:fillRef idx="3">
          <a:scrgbClr r="0" g="0" b="0"/>
        </a:fillRef>
        <a:effectRef idx="3">
          <a:scrgbClr r="0" g="0" b="0"/>
        </a:effectRef>
        <a:fontRef idx="minor">
          <a:schemeClr val="lt1"/>
        </a:fontRef>
      </dsp:style>
      <dsp:txBody>
        <a:bodyPr spcFirstLastPara="0" vert="horz" wrap="square" lIns="301935" tIns="0" rIns="301935" bIns="0" numCol="1" spcCol="1270" anchor="ctr" anchorCtr="0">
          <a:noAutofit/>
        </a:bodyPr>
        <a:lstStyle/>
        <a:p>
          <a:pPr marL="0" lvl="0" indent="0" algn="l" defTabSz="622300">
            <a:lnSpc>
              <a:spcPct val="90000"/>
            </a:lnSpc>
            <a:spcBef>
              <a:spcPct val="0"/>
            </a:spcBef>
            <a:spcAft>
              <a:spcPct val="35000"/>
            </a:spcAft>
            <a:buNone/>
          </a:pPr>
          <a:r>
            <a:rPr lang="en-US" sz="1400" kern="1200" dirty="0">
              <a:solidFill>
                <a:schemeClr val="tx1"/>
              </a:solidFill>
              <a:latin typeface="Times New Roman" panose="02020603050405020304" pitchFamily="18" charset="0"/>
              <a:cs typeface="Times New Roman" panose="02020603050405020304" pitchFamily="18" charset="0"/>
            </a:rPr>
            <a:t>Kitab </a:t>
          </a:r>
          <a:r>
            <a:rPr lang="en-US" sz="1400" kern="1200" dirty="0" err="1">
              <a:solidFill>
                <a:schemeClr val="tx1"/>
              </a:solidFill>
              <a:latin typeface="Times New Roman" panose="02020603050405020304" pitchFamily="18" charset="0"/>
              <a:cs typeface="Times New Roman" panose="02020603050405020304" pitchFamily="18" charset="0"/>
            </a:rPr>
            <a:t>ar</a:t>
          </a:r>
          <a:r>
            <a:rPr lang="en-US" sz="1400" kern="1200" dirty="0">
              <a:solidFill>
                <a:schemeClr val="tx1"/>
              </a:solidFill>
              <a:latin typeface="Times New Roman" panose="02020603050405020304" pitchFamily="18" charset="0"/>
              <a:cs typeface="Times New Roman" panose="02020603050405020304" pitchFamily="18" charset="0"/>
            </a:rPr>
            <a:t>- </a:t>
          </a:r>
          <a:r>
            <a:rPr lang="en-US" sz="1400" kern="1200" dirty="0" err="1">
              <a:solidFill>
                <a:schemeClr val="tx1"/>
              </a:solidFill>
              <a:latin typeface="Times New Roman" panose="02020603050405020304" pitchFamily="18" charset="0"/>
              <a:cs typeface="Times New Roman" panose="02020603050405020304" pitchFamily="18" charset="0"/>
            </a:rPr>
            <a:t>Rukhama</a:t>
          </a:r>
          <a:endParaRPr lang="ru-RU" sz="1400" kern="1200" dirty="0"/>
        </a:p>
      </dsp:txBody>
      <dsp:txXfrm>
        <a:off x="590760" y="4555887"/>
        <a:ext cx="7947848" cy="372930"/>
      </dsp:txXfrm>
    </dsp:sp>
    <dsp:sp modelId="{EF5F1991-A49F-40FF-9B38-63FFCF784FCF}">
      <dsp:nvSpPr>
        <dsp:cNvPr id="0" name=""/>
        <dsp:cNvSpPr/>
      </dsp:nvSpPr>
      <dsp:spPr>
        <a:xfrm>
          <a:off x="0" y="5377392"/>
          <a:ext cx="11411712" cy="352800"/>
        </a:xfrm>
        <a:prstGeom prst="rect">
          <a:avLst/>
        </a:prstGeom>
        <a:solidFill>
          <a:schemeClr val="lt2">
            <a:alpha val="90000"/>
            <a:hueOff val="0"/>
            <a:satOff val="0"/>
            <a:lumOff val="0"/>
            <a:alphaOff val="0"/>
          </a:schemeClr>
        </a:solidFill>
        <a:ln w="9525" cap="rnd" cmpd="sng" algn="ctr">
          <a:solidFill>
            <a:schemeClr val="dk2">
              <a:hueOff val="0"/>
              <a:satOff val="0"/>
              <a:lumOff val="0"/>
              <a:alphaOff val="0"/>
            </a:schemeClr>
          </a:solidFill>
          <a:prstDash val="solid"/>
        </a:ln>
        <a:effectLst>
          <a:innerShdw blurRad="50800" dist="25400" dir="13500000">
            <a:srgbClr val="000000">
              <a:alpha val="55000"/>
            </a:srgbClr>
          </a:innerShdw>
        </a:effectLst>
      </dsp:spPr>
      <dsp:style>
        <a:lnRef idx="1">
          <a:scrgbClr r="0" g="0" b="0"/>
        </a:lnRef>
        <a:fillRef idx="1">
          <a:scrgbClr r="0" g="0" b="0"/>
        </a:fillRef>
        <a:effectRef idx="2">
          <a:scrgbClr r="0" g="0" b="0"/>
        </a:effectRef>
        <a:fontRef idx="minor"/>
      </dsp:style>
    </dsp:sp>
    <dsp:sp modelId="{69C6D125-0B89-41F7-B232-545B3595F5B5}">
      <dsp:nvSpPr>
        <dsp:cNvPr id="0" name=""/>
        <dsp:cNvSpPr/>
      </dsp:nvSpPr>
      <dsp:spPr>
        <a:xfrm>
          <a:off x="570585" y="5170752"/>
          <a:ext cx="7988198" cy="413280"/>
        </a:xfrm>
        <a:prstGeom prst="roundRect">
          <a:avLst/>
        </a:prstGeom>
        <a:solidFill>
          <a:srgbClr val="002060"/>
        </a:solidFill>
        <a:ln>
          <a:noFill/>
        </a:ln>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dsp:spPr>
      <dsp:style>
        <a:lnRef idx="0">
          <a:scrgbClr r="0" g="0" b="0"/>
        </a:lnRef>
        <a:fillRef idx="3">
          <a:scrgbClr r="0" g="0" b="0"/>
        </a:fillRef>
        <a:effectRef idx="3">
          <a:scrgbClr r="0" g="0" b="0"/>
        </a:effectRef>
        <a:fontRef idx="minor">
          <a:schemeClr val="lt1"/>
        </a:fontRef>
      </dsp:style>
      <dsp:txBody>
        <a:bodyPr spcFirstLastPara="0" vert="horz" wrap="square" lIns="301935" tIns="0" rIns="301935" bIns="0" numCol="1" spcCol="1270" anchor="ctr" anchorCtr="0">
          <a:noAutofit/>
        </a:bodyPr>
        <a:lstStyle/>
        <a:p>
          <a:pPr marL="0" lvl="0" indent="0" algn="l" defTabSz="622300">
            <a:lnSpc>
              <a:spcPct val="90000"/>
            </a:lnSpc>
            <a:spcBef>
              <a:spcPct val="0"/>
            </a:spcBef>
            <a:spcAft>
              <a:spcPct val="35000"/>
            </a:spcAft>
            <a:buNone/>
          </a:pPr>
          <a:r>
            <a:rPr lang="en-US" sz="1400" kern="1200" dirty="0">
              <a:solidFill>
                <a:schemeClr val="tx1"/>
              </a:solidFill>
              <a:latin typeface="Times New Roman" panose="02020603050405020304" pitchFamily="18" charset="0"/>
              <a:cs typeface="Times New Roman" panose="02020603050405020304" pitchFamily="18" charset="0"/>
            </a:rPr>
            <a:t>Kitab at-Tarikh</a:t>
          </a:r>
          <a:endParaRPr lang="ru-RU" sz="1400" kern="1200" dirty="0"/>
        </a:p>
      </dsp:txBody>
      <dsp:txXfrm>
        <a:off x="590760" y="5190927"/>
        <a:ext cx="7947848" cy="372930"/>
      </dsp:txXfrm>
    </dsp:sp>
    <dsp:sp modelId="{43E09554-B6F1-4DD0-BF0D-51D46C1869CF}">
      <dsp:nvSpPr>
        <dsp:cNvPr id="0" name=""/>
        <dsp:cNvSpPr/>
      </dsp:nvSpPr>
      <dsp:spPr>
        <a:xfrm>
          <a:off x="0" y="6012432"/>
          <a:ext cx="11411712" cy="352800"/>
        </a:xfrm>
        <a:prstGeom prst="rect">
          <a:avLst/>
        </a:prstGeom>
        <a:solidFill>
          <a:schemeClr val="lt2">
            <a:alpha val="90000"/>
            <a:hueOff val="0"/>
            <a:satOff val="0"/>
            <a:lumOff val="0"/>
            <a:alphaOff val="0"/>
          </a:schemeClr>
        </a:solidFill>
        <a:ln w="9525" cap="rnd" cmpd="sng" algn="ctr">
          <a:solidFill>
            <a:schemeClr val="dk2">
              <a:hueOff val="0"/>
              <a:satOff val="0"/>
              <a:lumOff val="0"/>
              <a:alphaOff val="0"/>
            </a:schemeClr>
          </a:solidFill>
          <a:prstDash val="solid"/>
        </a:ln>
        <a:effectLst>
          <a:innerShdw blurRad="50800" dist="25400" dir="13500000">
            <a:srgbClr val="000000">
              <a:alpha val="55000"/>
            </a:srgbClr>
          </a:innerShdw>
        </a:effectLst>
      </dsp:spPr>
      <dsp:style>
        <a:lnRef idx="1">
          <a:scrgbClr r="0" g="0" b="0"/>
        </a:lnRef>
        <a:fillRef idx="1">
          <a:scrgbClr r="0" g="0" b="0"/>
        </a:fillRef>
        <a:effectRef idx="2">
          <a:scrgbClr r="0" g="0" b="0"/>
        </a:effectRef>
        <a:fontRef idx="minor"/>
      </dsp:style>
    </dsp:sp>
    <dsp:sp modelId="{7DABF2F6-502D-4FE6-ABC0-5651EB5CC325}">
      <dsp:nvSpPr>
        <dsp:cNvPr id="0" name=""/>
        <dsp:cNvSpPr/>
      </dsp:nvSpPr>
      <dsp:spPr>
        <a:xfrm>
          <a:off x="570585" y="5805792"/>
          <a:ext cx="7988198" cy="413280"/>
        </a:xfrm>
        <a:prstGeom prst="roundRect">
          <a:avLst/>
        </a:prstGeom>
        <a:solidFill>
          <a:srgbClr val="002060"/>
        </a:solidFill>
        <a:ln>
          <a:noFill/>
        </a:ln>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dsp:spPr>
      <dsp:style>
        <a:lnRef idx="0">
          <a:scrgbClr r="0" g="0" b="0"/>
        </a:lnRef>
        <a:fillRef idx="3">
          <a:scrgbClr r="0" g="0" b="0"/>
        </a:fillRef>
        <a:effectRef idx="3">
          <a:scrgbClr r="0" g="0" b="0"/>
        </a:effectRef>
        <a:fontRef idx="minor">
          <a:schemeClr val="lt1"/>
        </a:fontRef>
      </dsp:style>
      <dsp:txBody>
        <a:bodyPr spcFirstLastPara="0" vert="horz" wrap="square" lIns="301935" tIns="0" rIns="301935" bIns="0" numCol="1" spcCol="1270" anchor="ctr" anchorCtr="0">
          <a:noAutofit/>
        </a:bodyPr>
        <a:lstStyle/>
        <a:p>
          <a:pPr marL="0" lvl="0" indent="0" algn="l" defTabSz="622300">
            <a:lnSpc>
              <a:spcPct val="90000"/>
            </a:lnSpc>
            <a:spcBef>
              <a:spcPct val="0"/>
            </a:spcBef>
            <a:spcAft>
              <a:spcPct val="35000"/>
            </a:spcAft>
            <a:buNone/>
          </a:pPr>
          <a:r>
            <a:rPr lang="en-US" sz="1400" kern="1200" dirty="0">
              <a:solidFill>
                <a:schemeClr val="tx1"/>
              </a:solidFill>
              <a:latin typeface="Times New Roman" panose="02020603050405020304" pitchFamily="18" charset="0"/>
              <a:cs typeface="Times New Roman" panose="02020603050405020304" pitchFamily="18" charset="0"/>
            </a:rPr>
            <a:t>Treatise on the Jewish Calendar and the Determination of Their Festivals</a:t>
          </a:r>
          <a:endParaRPr lang="ru-RU" sz="1400" kern="1200" dirty="0"/>
        </a:p>
      </dsp:txBody>
      <dsp:txXfrm>
        <a:off x="590760" y="5825967"/>
        <a:ext cx="7947848" cy="37293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0NoLn">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1NoLn">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ltNode1NoLn">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NoLn">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NoLn">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NoLn">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gradFill flip="none" rotWithShape="1">
                  <a:gsLst>
                    <a:gs pos="0">
                      <a:schemeClr val="tx1"/>
                    </a:gs>
                    <a:gs pos="100000">
                      <a:schemeClr val="tx1">
                        <a:lumMod val="75000"/>
                      </a:schemeClr>
                    </a:gs>
                  </a:gsLst>
                  <a:lin ang="5400000" scaled="0"/>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8624D31-43A5-475A-80CF-332C9F6DCF35}" type="datetimeFigureOut">
              <a:rPr lang="en-US" smtClean="0"/>
              <a:t>9/24/2026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2389796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624D31-43A5-475A-80CF-332C9F6DCF35}" type="datetimeFigureOut">
              <a:rPr lang="en-US" smtClean="0"/>
              <a:t>9/24/2026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4119348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624D31-43A5-475A-80CF-332C9F6DCF35}" type="datetimeFigureOut">
              <a:rPr lang="en-US" smtClean="0"/>
              <a:t>9/24/2026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7311093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8624D31-43A5-475A-80CF-332C9F6DCF35}" type="datetimeFigureOut">
              <a:rPr lang="en-US" smtClean="0"/>
              <a:t>9/24/2026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1965267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8624D31-43A5-475A-80CF-332C9F6DCF35}" type="datetimeFigureOut">
              <a:rPr lang="en-US" smtClean="0"/>
              <a:t>9/24/2026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7035006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8C39B41-D8B5-4052-B551-9B5525EAA8B6}" type="datetimeFigureOut">
              <a:rPr lang="en-US" smtClean="0"/>
              <a:t>9/24/2026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42739511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8624D31-43A5-475A-80CF-332C9F6DCF35}" type="datetimeFigureOut">
              <a:rPr lang="en-US" smtClean="0"/>
              <a:t>9/24/2026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0075072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8624D31-43A5-475A-80CF-332C9F6DCF35}" type="datetimeFigureOut">
              <a:rPr lang="en-US" smtClean="0"/>
              <a:t>9/24/2026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5467762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399212" y="5883275"/>
            <a:ext cx="914400" cy="365125"/>
          </a:xfrm>
        </p:spPr>
        <p:txBody>
          <a:bodyPr/>
          <a:lstStyle/>
          <a:p>
            <a:fld id="{98624D31-43A5-475A-80CF-332C9F6DCF35}" type="datetimeFigureOut">
              <a:rPr lang="en-US" smtClean="0"/>
              <a:t>9/24/2026</a:t>
            </a:fld>
            <a:endParaRPr lang="en-US" dirty="0"/>
          </a:p>
        </p:txBody>
      </p:sp>
      <p:sp>
        <p:nvSpPr>
          <p:cNvPr id="6" name="Footer Placeholder 5"/>
          <p:cNvSpPr>
            <a:spLocks noGrp="1"/>
          </p:cNvSpPr>
          <p:nvPr>
            <p:ph type="ftr" sz="quarter" idx="11"/>
          </p:nvPr>
        </p:nvSpPr>
        <p:spPr>
          <a:xfrm>
            <a:off x="1141412" y="5883275"/>
            <a:ext cx="5105400" cy="365125"/>
          </a:xfrm>
        </p:spPr>
        <p:txBody>
          <a:bodyPr/>
          <a:lstStyle/>
          <a:p>
            <a:endParaRPr lang="en-US" dirty="0"/>
          </a:p>
        </p:txBody>
      </p:sp>
      <p:sp>
        <p:nvSpPr>
          <p:cNvPr id="7" name="Slide Number Placeholder 6"/>
          <p:cNvSpPr>
            <a:spLocks noGrp="1"/>
          </p:cNvSpPr>
          <p:nvPr>
            <p:ph type="sldNum" sz="quarter" idx="12"/>
          </p:nvPr>
        </p:nvSpPr>
        <p:spPr>
          <a:xfrm>
            <a:off x="10742612" y="5883275"/>
            <a:ext cx="322567" cy="365125"/>
          </a:xfrm>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0398711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8624D31-43A5-475A-80CF-332C9F6DCF35}" type="datetimeFigureOut">
              <a:rPr lang="en-US" smtClean="0"/>
              <a:t>9/24/2026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6858110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624D31-43A5-475A-80CF-332C9F6DCF35}" type="datetimeFigureOut">
              <a:rPr lang="en-US" smtClean="0"/>
              <a:t>9/24/2026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5590422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41411" y="4343400"/>
            <a:ext cx="9906000" cy="1447800"/>
          </a:xfrm>
        </p:spPr>
        <p:txBody>
          <a:bodyPr vert="horz" lIns="91440" tIns="45720" rIns="91440" bIns="45720" rtlCol="0" anchor="ctr">
            <a:normAutofit/>
          </a:bodyPr>
          <a:lstStyle>
            <a:lvl1pPr>
              <a:buNone/>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98624D31-43A5-475A-80CF-332C9F6DCF35}" type="datetimeFigureOut">
              <a:rPr lang="en-US" smtClean="0"/>
              <a:t>9/24/2026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7362834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0" y="4777381"/>
            <a:ext cx="9906001" cy="860400"/>
          </a:xfrm>
        </p:spPr>
        <p:txBody>
          <a:bodyPr vert="horz" lIns="91440" tIns="45720" rIns="91440" bIns="45720" rtlCol="0" anchor="t">
            <a:normAutofit/>
          </a:bodyPr>
          <a:lstStyle>
            <a:lvl1pPr>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98624D31-43A5-475A-80CF-332C9F6DCF35}" type="datetimeFigureOut">
              <a:rPr lang="en-US" smtClean="0"/>
              <a:t>9/24/2026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44300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gradFill flip="none" rotWithShape="1">
                  <a:gsLst>
                    <a:gs pos="0">
                      <a:schemeClr val="tx1"/>
                    </a:gs>
                    <a:gs pos="100000">
                      <a:schemeClr val="tx1">
                        <a:lumMod val="75000"/>
                      </a:schemeClr>
                    </a:gs>
                  </a:gsLst>
                  <a:lin ang="5400000" scaled="0"/>
                  <a:tileRect/>
                </a:gra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624D31-43A5-475A-80CF-332C9F6DCF35}" type="datetimeFigureOut">
              <a:rPr lang="en-US" smtClean="0"/>
              <a:t>9/24/2026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0889314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624D31-43A5-475A-80CF-332C9F6DCF35}" type="datetimeFigureOut">
              <a:rPr lang="en-US" smtClean="0"/>
              <a:t>9/24/2026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0223457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624D31-43A5-475A-80CF-332C9F6DCF35}" type="datetimeFigureOut">
              <a:rPr lang="en-US" smtClean="0"/>
              <a:t>9/24/2026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8427469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624D31-43A5-475A-80CF-332C9F6DCF35}" type="datetimeFigureOut">
              <a:rPr lang="en-US" smtClean="0"/>
              <a:t>9/24/2026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0033249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98624D31-43A5-475A-80CF-332C9F6DCF35}" type="datetimeFigureOut">
              <a:rPr lang="en-US" smtClean="0"/>
              <a:t>9/24/2026</a:t>
            </a:fld>
            <a:endParaRPr lang="en-US" dirty="0"/>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US" dirty="0"/>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835008726"/>
      </p:ext>
    </p:extLst>
  </p:cSld>
  <p:clrMap bg1="dk1" tx1="lt1" bg2="dk2" tx2="lt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 id="2147483774" r:id="rId12"/>
    <p:sldLayoutId id="2147483775" r:id="rId13"/>
    <p:sldLayoutId id="2147483776" r:id="rId14"/>
    <p:sldLayoutId id="2147483777" r:id="rId15"/>
    <p:sldLayoutId id="2147483778" r:id="rId16"/>
    <p:sldLayoutId id="2147483779" r:id="rId17"/>
  </p:sldLayoutIdLst>
  <p:txStyles>
    <p:title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en.wikipedia.org/wiki/Gerald_J._Toomer" TargetMode="External"/><Relationship Id="rId2" Type="http://schemas.openxmlformats.org/officeDocument/2006/relationships/hyperlink" Target="https://en.wiktionary.org/wiki/%D9%88#Etymology_2" TargetMode="Externa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digital.bodleian.ox.ac.uk/objects/1597877d-50cf-46d4-8d46-18f89ee943cf/surfaces/86bc3d01-5ec2-4005-8366-88f3a7b9a599/"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iiif.biblissima.fr/collections/manifest/604c42f4a572601c9208159764b74335d60ca77a"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mailto:google.com/maps/@41.818631,-34.6097067,8185117m/data=!3m1!1e3?authuser=0&amp;entry=ttu&amp;g_ep=EgoyMDI2MDkyMS4wIKXMDSoASAFQAw%3D%3D"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11" name="Rounded Rectangle 7">
            <a:extLst>
              <a:ext uri="{FF2B5EF4-FFF2-40B4-BE49-F238E27FC236}">
                <a16:creationId xmlns:a16="http://schemas.microsoft.com/office/drawing/2014/main" id="{BB8CA088-A193-488D-A459-7D9D554173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0477" y="799063"/>
            <a:ext cx="7009395" cy="5260058"/>
          </a:xfrm>
          <a:prstGeom prst="roundRect">
            <a:avLst>
              <a:gd name="adj" fmla="val 3812"/>
            </a:avLst>
          </a:prstGeom>
          <a:solidFill>
            <a:srgbClr val="FFFFFF"/>
          </a:solidFill>
          <a:ln w="38100">
            <a:gradFill flip="none" rotWithShape="1">
              <a:gsLst>
                <a:gs pos="0">
                  <a:srgbClr val="363D46"/>
                </a:gs>
                <a:gs pos="100000">
                  <a:srgbClr val="363D46">
                    <a:lumMod val="75000"/>
                  </a:srgbClr>
                </a:gs>
              </a:gsLst>
              <a:lin ang="5400000" scaled="0"/>
              <a:tileRect/>
            </a:gradFill>
          </a:ln>
          <a:effectLst>
            <a:innerShdw blurRad="57150" dist="38100" dir="14460000">
              <a:srgbClr val="000000">
                <a:alpha val="70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5A2C5471-9690-BBFF-D9EC-559FFA452568}"/>
              </a:ext>
            </a:extLst>
          </p:cNvPr>
          <p:cNvPicPr>
            <a:picLocks noChangeAspect="1"/>
          </p:cNvPicPr>
          <p:nvPr/>
        </p:nvPicPr>
        <p:blipFill>
          <a:blip r:embed="rId3"/>
          <a:stretch>
            <a:fillRect/>
          </a:stretch>
        </p:blipFill>
        <p:spPr>
          <a:xfrm>
            <a:off x="1442210" y="1224889"/>
            <a:ext cx="6365929" cy="4408405"/>
          </a:xfrm>
          <a:prstGeom prst="rect">
            <a:avLst/>
          </a:prstGeom>
        </p:spPr>
      </p:pic>
      <p:sp>
        <p:nvSpPr>
          <p:cNvPr id="2" name="TextBox 1">
            <a:extLst>
              <a:ext uri="{FF2B5EF4-FFF2-40B4-BE49-F238E27FC236}">
                <a16:creationId xmlns:a16="http://schemas.microsoft.com/office/drawing/2014/main" id="{E114738D-A1E0-ECFF-05A1-F50FE537E1E3}"/>
              </a:ext>
            </a:extLst>
          </p:cNvPr>
          <p:cNvSpPr txBox="1"/>
          <p:nvPr/>
        </p:nvSpPr>
        <p:spPr>
          <a:xfrm>
            <a:off x="8223005" y="2800957"/>
            <a:ext cx="3591043" cy="830997"/>
          </a:xfrm>
          <a:prstGeom prst="rect">
            <a:avLst/>
          </a:prstGeom>
          <a:noFill/>
        </p:spPr>
        <p:txBody>
          <a:bodyPr wrap="square" rtlCol="0">
            <a:spAutoFit/>
          </a:bodyPr>
          <a:lstStyle/>
          <a:p>
            <a:r>
              <a:rPr lang="en-GB" sz="2400" b="1" dirty="0">
                <a:latin typeface="Times New Roman" panose="02020603050405020304" pitchFamily="18" charset="0"/>
                <a:cs typeface="Times New Roman" panose="02020603050405020304" pitchFamily="18" charset="0"/>
              </a:rPr>
              <a:t>AL KHWARIZMI – BIRTH OF ALGEBRA</a:t>
            </a:r>
          </a:p>
        </p:txBody>
      </p:sp>
    </p:spTree>
    <p:extLst>
      <p:ext uri="{BB962C8B-B14F-4D97-AF65-F5344CB8AC3E}">
        <p14:creationId xmlns:p14="http://schemas.microsoft.com/office/powerpoint/2010/main" val="24348591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2A790-2725-CA09-35BE-6C93A0F46BD9}"/>
              </a:ext>
            </a:extLst>
          </p:cNvPr>
          <p:cNvSpPr>
            <a:spLocks noGrp="1"/>
          </p:cNvSpPr>
          <p:nvPr>
            <p:ph type="title"/>
          </p:nvPr>
        </p:nvSpPr>
        <p:spPr>
          <a:xfrm>
            <a:off x="7744968" y="1768970"/>
            <a:ext cx="3931920" cy="3168790"/>
          </a:xfrm>
          <a:scene3d>
            <a:camera prst="orthographicFront">
              <a:rot lat="0" lon="0" rev="0"/>
            </a:camera>
            <a:lightRig rig="soft" dir="t">
              <a:rot lat="0" lon="0" rev="0"/>
            </a:lightRig>
          </a:scene3d>
        </p:spPr>
        <p:txBody>
          <a:bodyPr vert="horz" lIns="91440" tIns="45720" rIns="91440" bIns="45720" rtlCol="0" anchor="b">
            <a:normAutofit/>
          </a:bodyPr>
          <a:lstStyle/>
          <a:p>
            <a:pPr algn="ctr">
              <a:lnSpc>
                <a:spcPct val="90000"/>
              </a:lnSpc>
            </a:pPr>
            <a:r>
              <a:rPr lang="en-US" sz="1900" b="1" dirty="0">
                <a:effectLst>
                  <a:glow rad="38100">
                    <a:schemeClr val="bg1">
                      <a:lumMod val="65000"/>
                      <a:lumOff val="35000"/>
                      <a:alpha val="50000"/>
                    </a:schemeClr>
                  </a:glow>
                  <a:outerShdw blurRad="28575" dist="31750" dir="13200000" algn="tl" rotWithShape="0">
                    <a:srgbClr val="000000">
                      <a:alpha val="25000"/>
                    </a:srgbClr>
                  </a:outerShdw>
                </a:effectLst>
                <a:latin typeface="Times New Roman" panose="02020603050405020304" pitchFamily="18" charset="0"/>
                <a:cs typeface="Times New Roman" panose="02020603050405020304" pitchFamily="18" charset="0"/>
              </a:rPr>
              <a:t>Al-Khwarizmi was born and raised in the region of Khwarazm. The year 783 is accepted as his year of birth. It is believed that he received his initial education and knowledge in various fields mainly in his homeland. </a:t>
            </a:r>
            <a:br>
              <a:rPr lang="en-US" sz="1900" b="1" dirty="0">
                <a:effectLst>
                  <a:glow rad="38100">
                    <a:schemeClr val="bg1">
                      <a:lumMod val="65000"/>
                      <a:lumOff val="35000"/>
                      <a:alpha val="50000"/>
                    </a:schemeClr>
                  </a:glow>
                  <a:outerShdw blurRad="28575" dist="31750" dir="13200000" algn="tl" rotWithShape="0">
                    <a:srgbClr val="000000">
                      <a:alpha val="25000"/>
                    </a:srgbClr>
                  </a:outerShdw>
                </a:effectLst>
                <a:latin typeface="Times New Roman" panose="02020603050405020304" pitchFamily="18" charset="0"/>
                <a:cs typeface="Times New Roman" panose="02020603050405020304" pitchFamily="18" charset="0"/>
              </a:rPr>
            </a:br>
            <a:endParaRPr lang="en-US" sz="1900" b="1" dirty="0">
              <a:effectLst>
                <a:glow rad="38100">
                  <a:schemeClr val="bg1">
                    <a:lumMod val="65000"/>
                    <a:lumOff val="35000"/>
                    <a:alpha val="50000"/>
                  </a:schemeClr>
                </a:glow>
                <a:outerShdw blurRad="28575" dist="31750" dir="13200000" algn="tl" rotWithShape="0">
                  <a:srgbClr val="000000">
                    <a:alpha val="25000"/>
                  </a:srgbClr>
                </a:outerShdw>
              </a:effectLst>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FD3EE8B-58A9-20C3-BE17-C0D282D22379}"/>
              </a:ext>
            </a:extLst>
          </p:cNvPr>
          <p:cNvPicPr>
            <a:picLocks noChangeAspect="1"/>
          </p:cNvPicPr>
          <p:nvPr/>
        </p:nvPicPr>
        <p:blipFill>
          <a:blip r:embed="rId3"/>
          <a:stretch>
            <a:fillRect/>
          </a:stretch>
        </p:blipFill>
        <p:spPr>
          <a:xfrm>
            <a:off x="636915" y="1174609"/>
            <a:ext cx="6915663" cy="4512470"/>
          </a:xfrm>
          <a:prstGeom prst="roundRect">
            <a:avLst>
              <a:gd name="adj" fmla="val 3517"/>
            </a:avLst>
          </a:prstGeom>
          <a:ln w="38100">
            <a:gradFill flip="none" rotWithShape="1">
              <a:gsLst>
                <a:gs pos="0">
                  <a:srgbClr val="363D46"/>
                </a:gs>
                <a:gs pos="100000">
                  <a:srgbClr val="363D46">
                    <a:lumMod val="75000"/>
                  </a:srgbClr>
                </a:gs>
              </a:gsLst>
              <a:lin ang="5400000" scaled="0"/>
              <a:tileRect/>
            </a:gradFill>
          </a:ln>
          <a:effectLst>
            <a:innerShdw blurRad="57150" dist="38100" dir="14460000">
              <a:srgbClr val="000000">
                <a:alpha val="70000"/>
              </a:srgbClr>
            </a:innerShdw>
          </a:effectLst>
        </p:spPr>
      </p:pic>
    </p:spTree>
    <p:extLst>
      <p:ext uri="{BB962C8B-B14F-4D97-AF65-F5344CB8AC3E}">
        <p14:creationId xmlns:p14="http://schemas.microsoft.com/office/powerpoint/2010/main" val="13874074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750F3-A98F-93C8-1B12-3E4EBFFD2192}"/>
              </a:ext>
            </a:extLst>
          </p:cNvPr>
          <p:cNvSpPr>
            <a:spLocks noGrp="1"/>
          </p:cNvSpPr>
          <p:nvPr>
            <p:ph type="title"/>
          </p:nvPr>
        </p:nvSpPr>
        <p:spPr>
          <a:xfrm>
            <a:off x="524257" y="399288"/>
            <a:ext cx="2865914" cy="3035808"/>
          </a:xfrm>
        </p:spPr>
        <p:txBody>
          <a:bodyPr>
            <a:normAutofit/>
          </a:bodyPr>
          <a:lstStyle/>
          <a:p>
            <a:r>
              <a:rPr lang="en-US" sz="2000" b="1" dirty="0">
                <a:latin typeface="Times New Roman" panose="02020603050405020304" pitchFamily="18" charset="0"/>
                <a:cs typeface="Times New Roman" panose="02020603050405020304" pitchFamily="18" charset="0"/>
              </a:rPr>
              <a:t>In historical sources, additional titles such as                   </a:t>
            </a:r>
            <a:r>
              <a:rPr lang="en-US" sz="2000" b="1" dirty="0">
                <a:highlight>
                  <a:srgbClr val="008080"/>
                </a:highlight>
                <a:latin typeface="Times New Roman" panose="02020603050405020304" pitchFamily="18" charset="0"/>
                <a:cs typeface="Times New Roman" panose="02020603050405020304" pitchFamily="18" charset="0"/>
              </a:rPr>
              <a:t>al-</a:t>
            </a:r>
            <a:r>
              <a:rPr lang="en-US" sz="2000" b="1" dirty="0" err="1">
                <a:highlight>
                  <a:srgbClr val="008080"/>
                </a:highlight>
                <a:latin typeface="Times New Roman" panose="02020603050405020304" pitchFamily="18" charset="0"/>
                <a:cs typeface="Times New Roman" panose="02020603050405020304" pitchFamily="18" charset="0"/>
              </a:rPr>
              <a:t>Majusi</a:t>
            </a:r>
            <a:r>
              <a:rPr lang="en-US" sz="2000" b="1" dirty="0">
                <a:latin typeface="Times New Roman" panose="02020603050405020304" pitchFamily="18" charset="0"/>
                <a:cs typeface="Times New Roman" panose="02020603050405020304" pitchFamily="18" charset="0"/>
              </a:rPr>
              <a:t>     and                                  </a:t>
            </a:r>
            <a:r>
              <a:rPr lang="en-US" sz="2000" b="1" dirty="0">
                <a:highlight>
                  <a:srgbClr val="008080"/>
                </a:highlight>
                <a:latin typeface="Times New Roman" panose="02020603050405020304" pitchFamily="18" charset="0"/>
                <a:cs typeface="Times New Roman" panose="02020603050405020304" pitchFamily="18" charset="0"/>
              </a:rPr>
              <a:t>al-</a:t>
            </a:r>
            <a:r>
              <a:rPr lang="en-US" sz="2000" b="1" dirty="0" err="1">
                <a:highlight>
                  <a:srgbClr val="008080"/>
                </a:highlight>
                <a:latin typeface="Times New Roman" panose="02020603050405020304" pitchFamily="18" charset="0"/>
                <a:cs typeface="Times New Roman" panose="02020603050405020304" pitchFamily="18" charset="0"/>
              </a:rPr>
              <a:t>Qutrubbuli</a:t>
            </a:r>
            <a:r>
              <a:rPr lang="en-US" sz="2000" b="1" dirty="0">
                <a:latin typeface="Times New Roman" panose="02020603050405020304" pitchFamily="18" charset="0"/>
                <a:cs typeface="Times New Roman" panose="02020603050405020304" pitchFamily="18" charset="0"/>
              </a:rPr>
              <a:t> </a:t>
            </a:r>
            <a:br>
              <a:rPr lang="en-US" sz="2000" b="1"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are attached to his name. </a:t>
            </a:r>
            <a:endParaRPr lang="ru-RU" sz="20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1A3BAB82-AB09-DCEF-2832-FBB09D39515A}"/>
              </a:ext>
            </a:extLst>
          </p:cNvPr>
          <p:cNvSpPr txBox="1"/>
          <p:nvPr/>
        </p:nvSpPr>
        <p:spPr>
          <a:xfrm>
            <a:off x="7178040" y="911120"/>
            <a:ext cx="4489703" cy="1938992"/>
          </a:xfrm>
          <a:prstGeom prst="rect">
            <a:avLst/>
          </a:prstGeom>
          <a:noFill/>
        </p:spPr>
        <p:txBody>
          <a:bodyPr wrap="square" rtlCol="0">
            <a:spAutoFit/>
          </a:bodyPr>
          <a:lstStyle/>
          <a:p>
            <a:pPr algn="ctr"/>
            <a:r>
              <a:rPr lang="es-US" sz="2400" b="1" dirty="0">
                <a:latin typeface="Times New Roman" panose="02020603050405020304" pitchFamily="18" charset="0"/>
                <a:cs typeface="Times New Roman" panose="02020603050405020304" pitchFamily="18" charset="0"/>
              </a:rPr>
              <a:t>AL-TABARI GIVES HIS NAME AS MUHAMMAD IBN MUSA  AL-KHWARIZMI     AL-MAJUSI                            AL-QUTRUBBULLI. </a:t>
            </a:r>
            <a:endParaRPr lang="ru-RU" sz="2400"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19E1CB96-A5EE-111F-FC09-F01BF0497019}"/>
              </a:ext>
            </a:extLst>
          </p:cNvPr>
          <p:cNvPicPr>
            <a:picLocks noChangeAspect="1"/>
          </p:cNvPicPr>
          <p:nvPr/>
        </p:nvPicPr>
        <p:blipFill>
          <a:blip r:embed="rId2"/>
          <a:stretch>
            <a:fillRect/>
          </a:stretch>
        </p:blipFill>
        <p:spPr>
          <a:xfrm>
            <a:off x="4557903" y="536448"/>
            <a:ext cx="2381250" cy="3048000"/>
          </a:xfrm>
          <a:prstGeom prst="rect">
            <a:avLst/>
          </a:prstGeom>
        </p:spPr>
      </p:pic>
      <p:sp>
        <p:nvSpPr>
          <p:cNvPr id="8" name="TextBox 7">
            <a:extLst>
              <a:ext uri="{FF2B5EF4-FFF2-40B4-BE49-F238E27FC236}">
                <a16:creationId xmlns:a16="http://schemas.microsoft.com/office/drawing/2014/main" id="{0A264356-1820-EF7F-4508-17A8BECC587F}"/>
              </a:ext>
            </a:extLst>
          </p:cNvPr>
          <p:cNvSpPr txBox="1"/>
          <p:nvPr/>
        </p:nvSpPr>
        <p:spPr>
          <a:xfrm>
            <a:off x="365760" y="4727448"/>
            <a:ext cx="6647688" cy="707886"/>
          </a:xfrm>
          <a:custGeom>
            <a:avLst/>
            <a:gdLst>
              <a:gd name="csX0" fmla="*/ 0 w 6121178"/>
              <a:gd name="csY0" fmla="*/ 0 h 790182"/>
              <a:gd name="csX1" fmla="*/ 6121178 w 6121178"/>
              <a:gd name="csY1" fmla="*/ 228600 h 790182"/>
              <a:gd name="csX2" fmla="*/ 6121178 w 6121178"/>
              <a:gd name="csY2" fmla="*/ 790182 h 790182"/>
              <a:gd name="csX3" fmla="*/ 45720 w 6121178"/>
              <a:gd name="csY3" fmla="*/ 762750 h 790182"/>
              <a:gd name="csX4" fmla="*/ 0 w 6121178"/>
              <a:gd name="csY4" fmla="*/ 0 h 790182"/>
            </a:gdLst>
            <a:ahLst/>
            <a:cxnLst>
              <a:cxn ang="0">
                <a:pos x="csX0" y="csY0"/>
              </a:cxn>
              <a:cxn ang="0">
                <a:pos x="csX1" y="csY1"/>
              </a:cxn>
              <a:cxn ang="0">
                <a:pos x="csX2" y="csY2"/>
              </a:cxn>
              <a:cxn ang="0">
                <a:pos x="csX3" y="csY3"/>
              </a:cxn>
              <a:cxn ang="0">
                <a:pos x="csX4" y="csY4"/>
              </a:cxn>
            </a:cxnLst>
            <a:rect l="l" t="t" r="r" b="b"/>
            <a:pathLst>
              <a:path w="6121178" h="790182">
                <a:moveTo>
                  <a:pt x="0" y="0"/>
                </a:moveTo>
                <a:lnTo>
                  <a:pt x="6121178" y="228600"/>
                </a:lnTo>
                <a:lnTo>
                  <a:pt x="6121178" y="790182"/>
                </a:lnTo>
                <a:lnTo>
                  <a:pt x="45720" y="762750"/>
                </a:lnTo>
                <a:lnTo>
                  <a:pt x="0" y="0"/>
                </a:lnTo>
                <a:close/>
              </a:path>
            </a:pathLst>
          </a:custGeom>
          <a:noFill/>
        </p:spPr>
        <p:txBody>
          <a:bodyPr wrap="square">
            <a:spAutoFit/>
          </a:bodyPr>
          <a:lstStyle/>
          <a:p>
            <a:pPr algn="ctr"/>
            <a:r>
              <a:rPr lang="en-US" sz="2000" b="1" dirty="0">
                <a:latin typeface="Times New Roman" panose="02020603050405020304" pitchFamily="18" charset="0"/>
                <a:cs typeface="Times New Roman" panose="02020603050405020304" pitchFamily="18" charset="0"/>
              </a:rPr>
              <a:t> Zoroastrian family</a:t>
            </a:r>
          </a:p>
          <a:p>
            <a:pPr algn="ctr"/>
            <a:r>
              <a:rPr lang="en-US" sz="2000" b="1" dirty="0">
                <a:latin typeface="Times New Roman" panose="02020603050405020304" pitchFamily="18" charset="0"/>
                <a:cs typeface="Times New Roman" panose="02020603050405020304" pitchFamily="18" charset="0"/>
              </a:rPr>
              <a:t>(the Arabic word “Majus” means “fire-worshipper”)</a:t>
            </a:r>
            <a:endParaRPr lang="ru-RU" sz="2000"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F2DF13D1-9CA2-A701-1476-4E38DB6E50BA}"/>
              </a:ext>
            </a:extLst>
          </p:cNvPr>
          <p:cNvSpPr txBox="1"/>
          <p:nvPr/>
        </p:nvSpPr>
        <p:spPr>
          <a:xfrm>
            <a:off x="7242048" y="3429000"/>
            <a:ext cx="4876935" cy="1477328"/>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It was customary among Arabs to give a person several nisbas (descriptive names) based on their distinctive traits, professions, favorite habits, or places of residence. Thus, al-Khwarizmi’s title al-</a:t>
            </a:r>
            <a:r>
              <a:rPr lang="en-US" dirty="0" err="1">
                <a:latin typeface="Times New Roman" panose="02020603050405020304" pitchFamily="18" charset="0"/>
                <a:cs typeface="Times New Roman" panose="02020603050405020304" pitchFamily="18" charset="0"/>
              </a:rPr>
              <a:t>Qutrubbuli</a:t>
            </a:r>
            <a:r>
              <a:rPr lang="en-US" dirty="0">
                <a:latin typeface="Times New Roman" panose="02020603050405020304" pitchFamily="18" charset="0"/>
                <a:cs typeface="Times New Roman" panose="02020603050405020304" pitchFamily="18" charset="0"/>
              </a:rPr>
              <a:t> also appeared in this manner.</a:t>
            </a:r>
          </a:p>
        </p:txBody>
      </p:sp>
    </p:spTree>
    <p:extLst>
      <p:ext uri="{BB962C8B-B14F-4D97-AF65-F5344CB8AC3E}">
        <p14:creationId xmlns:p14="http://schemas.microsoft.com/office/powerpoint/2010/main" val="33149017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F2C718-C0AF-4550-8903-207C856DA999}"/>
              </a:ext>
            </a:extLst>
          </p:cNvPr>
          <p:cNvSpPr>
            <a:spLocks noGrp="1"/>
          </p:cNvSpPr>
          <p:nvPr>
            <p:ph idx="1"/>
          </p:nvPr>
        </p:nvSpPr>
        <p:spPr>
          <a:xfrm>
            <a:off x="338329" y="210312"/>
            <a:ext cx="10780775" cy="813816"/>
          </a:xfrm>
        </p:spPr>
        <p:txBody>
          <a:bodyPr>
            <a:normAutofit fontScale="92500" lnSpcReduction="20000"/>
          </a:bodyPr>
          <a:lstStyle/>
          <a:p>
            <a:pPr algn="ctr"/>
            <a:r>
              <a:rPr lang="en-US" b="1" dirty="0">
                <a:solidFill>
                  <a:schemeClr val="tx1"/>
                </a:solidFill>
                <a:latin typeface="Times New Roman" panose="02020603050405020304" pitchFamily="18" charset="0"/>
                <a:cs typeface="Times New Roman" panose="02020603050405020304" pitchFamily="18" charset="0"/>
              </a:rPr>
              <a:t>The second title, al-</a:t>
            </a:r>
            <a:r>
              <a:rPr lang="en-US" b="1" dirty="0" err="1">
                <a:solidFill>
                  <a:schemeClr val="tx1"/>
                </a:solidFill>
                <a:latin typeface="Times New Roman" panose="02020603050405020304" pitchFamily="18" charset="0"/>
                <a:cs typeface="Times New Roman" panose="02020603050405020304" pitchFamily="18" charset="0"/>
              </a:rPr>
              <a:t>Qutrubbuli</a:t>
            </a:r>
            <a:r>
              <a:rPr lang="en-US" b="1" dirty="0">
                <a:solidFill>
                  <a:schemeClr val="tx1"/>
                </a:solidFill>
                <a:latin typeface="Times New Roman" panose="02020603050405020304" pitchFamily="18" charset="0"/>
                <a:cs typeface="Times New Roman" panose="02020603050405020304" pitchFamily="18" charset="0"/>
              </a:rPr>
              <a:t>, indicates that al-Khwarizmi spent his later years or born near Baghdad, in al-</a:t>
            </a:r>
            <a:r>
              <a:rPr lang="en-US" b="1" dirty="0" err="1">
                <a:solidFill>
                  <a:schemeClr val="tx1"/>
                </a:solidFill>
                <a:latin typeface="Times New Roman" panose="02020603050405020304" pitchFamily="18" charset="0"/>
                <a:cs typeface="Times New Roman" panose="02020603050405020304" pitchFamily="18" charset="0"/>
              </a:rPr>
              <a:t>Qutrubbul</a:t>
            </a:r>
            <a:r>
              <a:rPr lang="en-US" b="1" dirty="0">
                <a:solidFill>
                  <a:schemeClr val="tx1"/>
                </a:solidFill>
                <a:latin typeface="Times New Roman" panose="02020603050405020304" pitchFamily="18" charset="0"/>
                <a:cs typeface="Times New Roman" panose="02020603050405020304" pitchFamily="18" charset="0"/>
              </a:rPr>
              <a:t>, located by the Tigris River. However, this ideas could be altogether wrong</a:t>
            </a:r>
            <a:endParaRPr lang="ru-RU" sz="1800" b="1" dirty="0">
              <a:solidFill>
                <a:schemeClr val="tx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77BDF546-BAF4-F732-FF4C-A4A6F0176D02}"/>
              </a:ext>
            </a:extLst>
          </p:cNvPr>
          <p:cNvPicPr>
            <a:picLocks noChangeAspect="1"/>
          </p:cNvPicPr>
          <p:nvPr/>
        </p:nvPicPr>
        <p:blipFill>
          <a:blip r:embed="rId2"/>
          <a:stretch>
            <a:fillRect/>
          </a:stretch>
        </p:blipFill>
        <p:spPr>
          <a:xfrm>
            <a:off x="5166360" y="1252728"/>
            <a:ext cx="6388879" cy="5116094"/>
          </a:xfrm>
          <a:prstGeom prst="rect">
            <a:avLst/>
          </a:prstGeom>
        </p:spPr>
      </p:pic>
      <p:sp>
        <p:nvSpPr>
          <p:cNvPr id="8" name="TextBox 7">
            <a:extLst>
              <a:ext uri="{FF2B5EF4-FFF2-40B4-BE49-F238E27FC236}">
                <a16:creationId xmlns:a16="http://schemas.microsoft.com/office/drawing/2014/main" id="{298B3487-50BC-A741-1576-528807127D45}"/>
              </a:ext>
            </a:extLst>
          </p:cNvPr>
          <p:cNvSpPr txBox="1"/>
          <p:nvPr/>
        </p:nvSpPr>
        <p:spPr>
          <a:xfrm>
            <a:off x="512065" y="3500366"/>
            <a:ext cx="4462271" cy="646331"/>
          </a:xfrm>
          <a:prstGeom prst="rect">
            <a:avLst/>
          </a:prstGeom>
          <a:noFill/>
        </p:spPr>
        <p:txBody>
          <a:bodyPr wrap="square">
            <a:spAutoFit/>
          </a:bodyPr>
          <a:lstStyle/>
          <a:p>
            <a:r>
              <a:rPr lang="en-GB" b="1" dirty="0"/>
              <a:t>The Tigris River is known as Dajla </a:t>
            </a:r>
            <a:r>
              <a:rPr lang="ar-AE" b="1" dirty="0"/>
              <a:t>دجلة) </a:t>
            </a:r>
            <a:r>
              <a:rPr lang="en-GB" b="1" dirty="0"/>
              <a:t> ) in Arabic</a:t>
            </a:r>
            <a:endParaRPr lang="ru-RU" b="1" dirty="0"/>
          </a:p>
        </p:txBody>
      </p:sp>
    </p:spTree>
    <p:extLst>
      <p:ext uri="{BB962C8B-B14F-4D97-AF65-F5344CB8AC3E}">
        <p14:creationId xmlns:p14="http://schemas.microsoft.com/office/powerpoint/2010/main" val="27719739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BE80D-64A4-4C43-5D09-6230DF68297F}"/>
              </a:ext>
            </a:extLst>
          </p:cNvPr>
          <p:cNvSpPr>
            <a:spLocks noGrp="1"/>
          </p:cNvSpPr>
          <p:nvPr>
            <p:ph type="title"/>
          </p:nvPr>
        </p:nvSpPr>
        <p:spPr>
          <a:xfrm>
            <a:off x="559308" y="893064"/>
            <a:ext cx="5960364" cy="5013960"/>
          </a:xfrm>
        </p:spPr>
        <p:txBody>
          <a:bodyPr>
            <a:normAutofit/>
          </a:bodyPr>
          <a:lstStyle/>
          <a:p>
            <a:pPr algn="ctr"/>
            <a:r>
              <a:rPr lang="en-US" cap="none" dirty="0">
                <a:solidFill>
                  <a:schemeClr val="tx1"/>
                </a:solidFill>
                <a:latin typeface="Times New Roman" panose="02020603050405020304" pitchFamily="18" charset="0"/>
                <a:cs typeface="Times New Roman" panose="02020603050405020304" pitchFamily="18" charset="0"/>
              </a:rPr>
              <a:t>Al-Tabari</a:t>
            </a:r>
            <a:r>
              <a:rPr lang="en-US" dirty="0">
                <a:solidFill>
                  <a:schemeClr val="tx1"/>
                </a:solidFill>
                <a:latin typeface="Times New Roman" panose="02020603050405020304" pitchFamily="18" charset="0"/>
                <a:cs typeface="Times New Roman" panose="02020603050405020304" pitchFamily="18" charset="0"/>
              </a:rPr>
              <a:t> </a:t>
            </a:r>
            <a:r>
              <a:rPr lang="en-US" cap="none" dirty="0">
                <a:solidFill>
                  <a:schemeClr val="tx1"/>
                </a:solidFill>
                <a:latin typeface="Times New Roman" panose="02020603050405020304" pitchFamily="18" charset="0"/>
                <a:cs typeface="Times New Roman" panose="02020603050405020304" pitchFamily="18" charset="0"/>
              </a:rPr>
              <a:t>himself explicitly stated in the introduction to his famous historical chronicle (Tarikh Al-Tabari) that his method was to transmit reports as he received them from others, leaving the task of authentication to the reader or future scholars.</a:t>
            </a:r>
            <a:endParaRPr lang="ru-RU" dirty="0">
              <a:solidFill>
                <a:schemeClr val="tx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209E6DF-D712-85F5-EE64-49B375C57B94}"/>
              </a:ext>
            </a:extLst>
          </p:cNvPr>
          <p:cNvPicPr>
            <a:picLocks noChangeAspect="1"/>
          </p:cNvPicPr>
          <p:nvPr/>
        </p:nvPicPr>
        <p:blipFill>
          <a:blip r:embed="rId2"/>
          <a:stretch>
            <a:fillRect/>
          </a:stretch>
        </p:blipFill>
        <p:spPr>
          <a:xfrm>
            <a:off x="6836664" y="1097280"/>
            <a:ext cx="4663440" cy="4663440"/>
          </a:xfrm>
          <a:prstGeom prst="rect">
            <a:avLst/>
          </a:prstGeom>
        </p:spPr>
      </p:pic>
    </p:spTree>
    <p:extLst>
      <p:ext uri="{BB962C8B-B14F-4D97-AF65-F5344CB8AC3E}">
        <p14:creationId xmlns:p14="http://schemas.microsoft.com/office/powerpoint/2010/main" val="25574515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E6C289-AE8C-4C3B-90DE-87790399B4B9}"/>
              </a:ext>
            </a:extLst>
          </p:cNvPr>
          <p:cNvSpPr>
            <a:spLocks noGrp="1"/>
          </p:cNvSpPr>
          <p:nvPr>
            <p:ph idx="1"/>
          </p:nvPr>
        </p:nvSpPr>
        <p:spPr>
          <a:xfrm>
            <a:off x="2916936" y="348355"/>
            <a:ext cx="6094366" cy="5996697"/>
          </a:xfrm>
        </p:spPr>
        <p:txBody>
          <a:bodyPr>
            <a:normAutofit/>
          </a:bodyPr>
          <a:lstStyle/>
          <a:p>
            <a:r>
              <a:rPr lang="en-US" dirty="0">
                <a:solidFill>
                  <a:schemeClr val="tx1"/>
                </a:solidFill>
                <a:latin typeface="Times New Roman" panose="02020603050405020304" pitchFamily="18" charset="0"/>
                <a:cs typeface="Times New Roman" panose="02020603050405020304" pitchFamily="18" charset="0"/>
              </a:rPr>
              <a:t>The epithet al-</a:t>
            </a:r>
            <a:r>
              <a:rPr lang="en-US" dirty="0" err="1">
                <a:solidFill>
                  <a:schemeClr val="tx1"/>
                </a:solidFill>
                <a:latin typeface="Times New Roman" panose="02020603050405020304" pitchFamily="18" charset="0"/>
                <a:cs typeface="Times New Roman" panose="02020603050405020304" pitchFamily="18" charset="0"/>
              </a:rPr>
              <a:t>Qutrubbulli</a:t>
            </a:r>
            <a:r>
              <a:rPr lang="en-US" dirty="0">
                <a:solidFill>
                  <a:schemeClr val="tx1"/>
                </a:solidFill>
                <a:latin typeface="Times New Roman" panose="02020603050405020304" pitchFamily="18" charset="0"/>
                <a:cs typeface="Times New Roman" panose="02020603050405020304" pitchFamily="18" charset="0"/>
              </a:rPr>
              <a:t> could indicate he might instead have come from </a:t>
            </a:r>
            <a:r>
              <a:rPr lang="en-US" dirty="0" err="1">
                <a:solidFill>
                  <a:schemeClr val="tx1"/>
                </a:solidFill>
                <a:latin typeface="Times New Roman" panose="02020603050405020304" pitchFamily="18" charset="0"/>
                <a:cs typeface="Times New Roman" panose="02020603050405020304" pitchFamily="18" charset="0"/>
              </a:rPr>
              <a:t>Qutrubbul</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Qatrabbul</a:t>
            </a:r>
            <a:r>
              <a:rPr lang="en-US" dirty="0">
                <a:solidFill>
                  <a:schemeClr val="tx1"/>
                </a:solidFill>
                <a:latin typeface="Times New Roman" panose="02020603050405020304" pitchFamily="18" charset="0"/>
                <a:cs typeface="Times New Roman" panose="02020603050405020304" pitchFamily="18" charset="0"/>
              </a:rPr>
              <a:t>), near Baghdad.</a:t>
            </a:r>
          </a:p>
          <a:p>
            <a:r>
              <a:rPr lang="uz-Latn-UZ" b="0" i="0" dirty="0">
                <a:solidFill>
                  <a:schemeClr val="tx1"/>
                </a:solidFill>
                <a:effectLst/>
                <a:latin typeface="Times New Roman" panose="02020603050405020304" pitchFamily="18" charset="0"/>
                <a:cs typeface="Times New Roman" panose="02020603050405020304" pitchFamily="18" charset="0"/>
              </a:rPr>
              <a:t>There is no need to be an expert on the period or a philologist to see that al-Tabari's second citation should read "Muhammad ibn Mūsa al-Khwārizmī </a:t>
            </a:r>
            <a:r>
              <a:rPr lang="uz-Latn-UZ" b="0" i="1" dirty="0">
                <a:solidFill>
                  <a:schemeClr val="tx1"/>
                </a:solidFill>
                <a:effectLst/>
                <a:latin typeface="Times New Roman" panose="02020603050405020304" pitchFamily="18" charset="0"/>
                <a:cs typeface="Times New Roman" panose="02020603050405020304" pitchFamily="18" charset="0"/>
              </a:rPr>
              <a:t>and</a:t>
            </a:r>
            <a:r>
              <a:rPr lang="uz-Latn-UZ" b="0" i="0" dirty="0">
                <a:solidFill>
                  <a:schemeClr val="tx1"/>
                </a:solidFill>
                <a:effectLst/>
                <a:latin typeface="Times New Roman" panose="02020603050405020304" pitchFamily="18" charset="0"/>
                <a:cs typeface="Times New Roman" panose="02020603050405020304" pitchFamily="18" charset="0"/>
              </a:rPr>
              <a:t> al-Majūsi al-Qutrubbulli," and that there are two people (al-Khwārizmī and al-Majūsi al-Qutrubbulli) between whom the letter </a:t>
            </a:r>
            <a:r>
              <a:rPr lang="uz-Latn-UZ" b="0" i="1" dirty="0">
                <a:solidFill>
                  <a:schemeClr val="tx1"/>
                </a:solidFill>
                <a:effectLst/>
                <a:latin typeface="Times New Roman" panose="02020603050405020304" pitchFamily="18" charset="0"/>
                <a:cs typeface="Times New Roman" panose="02020603050405020304" pitchFamily="18" charset="0"/>
              </a:rPr>
              <a:t>wa</a:t>
            </a:r>
            <a:r>
              <a:rPr lang="uz-Latn-UZ" b="0" i="0" dirty="0">
                <a:solidFill>
                  <a:schemeClr val="tx1"/>
                </a:solidFill>
                <a:effectLst/>
                <a:latin typeface="Times New Roman" panose="02020603050405020304" pitchFamily="18" charset="0"/>
                <a:cs typeface="Times New Roman" panose="02020603050405020304" pitchFamily="18" charset="0"/>
              </a:rPr>
              <a:t> [Arabic '</a:t>
            </a:r>
            <a:r>
              <a:rPr lang="ar-AE" b="0" i="0" dirty="0">
                <a:solidFill>
                  <a:schemeClr val="tx1"/>
                </a:solidFill>
                <a:effectLst/>
                <a:latin typeface="Times New Roman" panose="02020603050405020304" pitchFamily="18" charset="0"/>
                <a:cs typeface="Times New Roman" panose="02020603050405020304" pitchFamily="18" charset="0"/>
              </a:rPr>
              <a:t>' و</a:t>
            </a:r>
            <a:r>
              <a:rPr lang="uz-Latn-UZ" b="0" i="0" dirty="0">
                <a:solidFill>
                  <a:schemeClr val="tx1"/>
                </a:solidFill>
                <a:effectLst/>
                <a:latin typeface="Times New Roman" panose="02020603050405020304" pitchFamily="18" charset="0"/>
                <a:cs typeface="Times New Roman" panose="02020603050405020304" pitchFamily="18" charset="0"/>
              </a:rPr>
              <a:t>for the conjunction '</a:t>
            </a:r>
            <a:r>
              <a:rPr lang="uz-Latn-UZ" b="0" i="0" u="none" strike="noStrike" dirty="0">
                <a:solidFill>
                  <a:schemeClr val="tx1"/>
                </a:solidFill>
                <a:effectLst/>
                <a:latin typeface="Times New Roman" panose="02020603050405020304" pitchFamily="18" charset="0"/>
                <a:cs typeface="Times New Roman" panose="02020603050405020304" pitchFamily="18" charset="0"/>
                <a:hlinkClick r:id="rId2" tooltip="wikt:و">
                  <a:extLst>
                    <a:ext uri="{A12FA001-AC4F-418D-AE19-62706E023703}">
                      <ahyp:hlinkClr xmlns:ahyp="http://schemas.microsoft.com/office/drawing/2018/hyperlinkcolor" val="tx"/>
                    </a:ext>
                  </a:extLst>
                </a:hlinkClick>
              </a:rPr>
              <a:t>and</a:t>
            </a:r>
            <a:r>
              <a:rPr lang="uz-Latn-UZ" b="0" i="0" dirty="0">
                <a:solidFill>
                  <a:schemeClr val="tx1"/>
                </a:solidFill>
                <a:effectLst/>
                <a:latin typeface="Times New Roman" panose="02020603050405020304" pitchFamily="18" charset="0"/>
                <a:cs typeface="Times New Roman" panose="02020603050405020304" pitchFamily="18" charset="0"/>
              </a:rPr>
              <a:t>'] has been omitted in an early copy. This would not be worth mentioning if a series of errors concerning the personality of al-Khwārizmī, occasionally even the origins of his knowledge, had not been made. Recently, </a:t>
            </a:r>
            <a:r>
              <a:rPr lang="uz-Latn-UZ" b="0" i="0" u="none" strike="noStrike" dirty="0">
                <a:solidFill>
                  <a:schemeClr val="tx1"/>
                </a:solidFill>
                <a:effectLst/>
                <a:latin typeface="Times New Roman" panose="02020603050405020304" pitchFamily="18" charset="0"/>
                <a:cs typeface="Times New Roman" panose="02020603050405020304" pitchFamily="18" charset="0"/>
                <a:hlinkClick r:id="rId3" tooltip="Gerald J. Toomer">
                  <a:extLst>
                    <a:ext uri="{A12FA001-AC4F-418D-AE19-62706E023703}">
                      <ahyp:hlinkClr xmlns:ahyp="http://schemas.microsoft.com/office/drawing/2018/hyperlinkcolor" val="tx"/>
                    </a:ext>
                  </a:extLst>
                </a:hlinkClick>
              </a:rPr>
              <a:t>G.J. Toomer</a:t>
            </a:r>
            <a:r>
              <a:rPr lang="uz-Latn-UZ" b="0" i="0" dirty="0">
                <a:solidFill>
                  <a:schemeClr val="tx1"/>
                </a:solidFill>
                <a:effectLst/>
                <a:latin typeface="Times New Roman" panose="02020603050405020304" pitchFamily="18" charset="0"/>
                <a:cs typeface="Times New Roman" panose="02020603050405020304" pitchFamily="18" charset="0"/>
              </a:rPr>
              <a:t> ... with naive confidence constructed an entire fantasy on the error which cannot be denied the merit of amusing the reader.</a:t>
            </a:r>
            <a:endParaRPr lang="ru-RU" dirty="0">
              <a:solidFill>
                <a:schemeClr val="tx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11912964-39F9-4248-9987-0B16B49F6D19}"/>
              </a:ext>
            </a:extLst>
          </p:cNvPr>
          <p:cNvPicPr>
            <a:picLocks noChangeAspect="1"/>
          </p:cNvPicPr>
          <p:nvPr/>
        </p:nvPicPr>
        <p:blipFill>
          <a:blip r:embed="rId4"/>
          <a:stretch>
            <a:fillRect/>
          </a:stretch>
        </p:blipFill>
        <p:spPr>
          <a:xfrm>
            <a:off x="279175" y="1069848"/>
            <a:ext cx="2440093" cy="2440093"/>
          </a:xfrm>
          <a:prstGeom prst="rect">
            <a:avLst/>
          </a:prstGeom>
        </p:spPr>
      </p:pic>
      <p:pic>
        <p:nvPicPr>
          <p:cNvPr id="6" name="Picture 5">
            <a:extLst>
              <a:ext uri="{FF2B5EF4-FFF2-40B4-BE49-F238E27FC236}">
                <a16:creationId xmlns:a16="http://schemas.microsoft.com/office/drawing/2014/main" id="{CBD12B5A-0BC7-4363-9469-1C17D152AD73}"/>
              </a:ext>
            </a:extLst>
          </p:cNvPr>
          <p:cNvPicPr>
            <a:picLocks noChangeAspect="1"/>
          </p:cNvPicPr>
          <p:nvPr/>
        </p:nvPicPr>
        <p:blipFill>
          <a:blip r:embed="rId5"/>
          <a:stretch>
            <a:fillRect/>
          </a:stretch>
        </p:blipFill>
        <p:spPr>
          <a:xfrm>
            <a:off x="9079031" y="1576183"/>
            <a:ext cx="2970954" cy="2151859"/>
          </a:xfrm>
          <a:prstGeom prst="rect">
            <a:avLst/>
          </a:prstGeom>
        </p:spPr>
      </p:pic>
      <p:sp>
        <p:nvSpPr>
          <p:cNvPr id="14" name="TextBox 13">
            <a:extLst>
              <a:ext uri="{FF2B5EF4-FFF2-40B4-BE49-F238E27FC236}">
                <a16:creationId xmlns:a16="http://schemas.microsoft.com/office/drawing/2014/main" id="{EDEC45FD-6F9D-4CCB-BEBD-761E0DBEEB92}"/>
              </a:ext>
            </a:extLst>
          </p:cNvPr>
          <p:cNvSpPr txBox="1"/>
          <p:nvPr/>
        </p:nvSpPr>
        <p:spPr>
          <a:xfrm>
            <a:off x="9079031" y="4043022"/>
            <a:ext cx="2970954" cy="923330"/>
          </a:xfrm>
          <a:prstGeom prst="rect">
            <a:avLst/>
          </a:prstGeom>
          <a:noFill/>
        </p:spPr>
        <p:txBody>
          <a:bodyPr wrap="square" rtlCol="0">
            <a:spAutoFit/>
          </a:bodyPr>
          <a:lstStyle/>
          <a:p>
            <a:r>
              <a:rPr lang="uz-Latn-UZ" dirty="0"/>
              <a:t>Gerald J. Toomer</a:t>
            </a:r>
            <a:r>
              <a:rPr lang="en-US" dirty="0"/>
              <a:t>, British historian of astronomy and mathematics</a:t>
            </a:r>
            <a:endParaRPr lang="ru-RU" dirty="0"/>
          </a:p>
        </p:txBody>
      </p:sp>
      <p:sp>
        <p:nvSpPr>
          <p:cNvPr id="15" name="TextBox 14">
            <a:extLst>
              <a:ext uri="{FF2B5EF4-FFF2-40B4-BE49-F238E27FC236}">
                <a16:creationId xmlns:a16="http://schemas.microsoft.com/office/drawing/2014/main" id="{AA4A463B-31CF-4201-AD36-1F5B43CCDAA0}"/>
              </a:ext>
            </a:extLst>
          </p:cNvPr>
          <p:cNvSpPr txBox="1"/>
          <p:nvPr/>
        </p:nvSpPr>
        <p:spPr>
          <a:xfrm>
            <a:off x="346902" y="3728042"/>
            <a:ext cx="2304637" cy="1754326"/>
          </a:xfrm>
          <a:prstGeom prst="rect">
            <a:avLst/>
          </a:prstGeom>
          <a:noFill/>
        </p:spPr>
        <p:txBody>
          <a:bodyPr wrap="square" rtlCol="0">
            <a:spAutoFit/>
          </a:bodyPr>
          <a:lstStyle/>
          <a:p>
            <a:r>
              <a:rPr lang="uz-Latn-UZ" dirty="0"/>
              <a:t>Roshdi Rashed</a:t>
            </a:r>
            <a:r>
              <a:rPr lang="en-US" dirty="0"/>
              <a:t>, Egyptian mathematician, </a:t>
            </a:r>
            <a:r>
              <a:rPr lang="ru-RU" dirty="0"/>
              <a:t>philosopher and historian of science</a:t>
            </a:r>
          </a:p>
        </p:txBody>
      </p:sp>
    </p:spTree>
    <p:extLst>
      <p:ext uri="{BB962C8B-B14F-4D97-AF65-F5344CB8AC3E}">
        <p14:creationId xmlns:p14="http://schemas.microsoft.com/office/powerpoint/2010/main" val="31773522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C002366-F8A5-37FE-05DC-675330106E3D}"/>
              </a:ext>
            </a:extLst>
          </p:cNvPr>
          <p:cNvSpPr txBox="1"/>
          <p:nvPr/>
        </p:nvSpPr>
        <p:spPr>
          <a:xfrm>
            <a:off x="1704667" y="929563"/>
            <a:ext cx="4350258" cy="923330"/>
          </a:xfrm>
          <a:prstGeom prst="rect">
            <a:avLst/>
          </a:prstGeom>
          <a:noFill/>
        </p:spPr>
        <p:txBody>
          <a:bodyPr wrap="square">
            <a:spAutoFit/>
          </a:bodyPr>
          <a:lstStyle/>
          <a:p>
            <a:r>
              <a:rPr lang="en-US" dirty="0"/>
              <a:t>Ibn al-Nadim's Al- </a:t>
            </a:r>
            <a:r>
              <a:rPr lang="en-US" dirty="0" err="1"/>
              <a:t>Fihrist</a:t>
            </a:r>
            <a:r>
              <a:rPr lang="en-US" dirty="0"/>
              <a:t> includes a short biography on al-Khwarizmi together with a list of his books. </a:t>
            </a:r>
            <a:endParaRPr lang="ru-RU" dirty="0"/>
          </a:p>
        </p:txBody>
      </p:sp>
      <p:pic>
        <p:nvPicPr>
          <p:cNvPr id="7" name="Picture 6">
            <a:extLst>
              <a:ext uri="{FF2B5EF4-FFF2-40B4-BE49-F238E27FC236}">
                <a16:creationId xmlns:a16="http://schemas.microsoft.com/office/drawing/2014/main" id="{6845DE29-4DD2-DB08-BDC2-3749419A0B5C}"/>
              </a:ext>
            </a:extLst>
          </p:cNvPr>
          <p:cNvPicPr>
            <a:picLocks noChangeAspect="1"/>
          </p:cNvPicPr>
          <p:nvPr/>
        </p:nvPicPr>
        <p:blipFill>
          <a:blip r:embed="rId2"/>
          <a:stretch>
            <a:fillRect/>
          </a:stretch>
        </p:blipFill>
        <p:spPr>
          <a:xfrm>
            <a:off x="2076943" y="2597276"/>
            <a:ext cx="2959115" cy="3593211"/>
          </a:xfrm>
          <a:prstGeom prst="rect">
            <a:avLst/>
          </a:prstGeom>
        </p:spPr>
      </p:pic>
      <p:pic>
        <p:nvPicPr>
          <p:cNvPr id="9" name="Picture 8">
            <a:extLst>
              <a:ext uri="{FF2B5EF4-FFF2-40B4-BE49-F238E27FC236}">
                <a16:creationId xmlns:a16="http://schemas.microsoft.com/office/drawing/2014/main" id="{5A674429-A49B-20DF-FAF1-6A69942B1AE1}"/>
              </a:ext>
            </a:extLst>
          </p:cNvPr>
          <p:cNvPicPr>
            <a:picLocks noChangeAspect="1"/>
          </p:cNvPicPr>
          <p:nvPr/>
        </p:nvPicPr>
        <p:blipFill>
          <a:blip r:embed="rId3"/>
          <a:stretch>
            <a:fillRect/>
          </a:stretch>
        </p:blipFill>
        <p:spPr>
          <a:xfrm>
            <a:off x="7073791" y="298514"/>
            <a:ext cx="3770993" cy="6041516"/>
          </a:xfrm>
          <a:prstGeom prst="rect">
            <a:avLst/>
          </a:prstGeom>
        </p:spPr>
      </p:pic>
    </p:spTree>
    <p:extLst>
      <p:ext uri="{BB962C8B-B14F-4D97-AF65-F5344CB8AC3E}">
        <p14:creationId xmlns:p14="http://schemas.microsoft.com/office/powerpoint/2010/main" val="15878906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16895A4-EC34-9D3F-222A-FC282AFEA3C7}"/>
              </a:ext>
            </a:extLst>
          </p:cNvPr>
          <p:cNvSpPr/>
          <p:nvPr/>
        </p:nvSpPr>
        <p:spPr>
          <a:xfrm>
            <a:off x="3772569" y="349758"/>
            <a:ext cx="4187365" cy="923330"/>
          </a:xfrm>
          <a:prstGeom prst="rect">
            <a:avLst/>
          </a:prstGeom>
          <a:noFill/>
        </p:spPr>
        <p:txBody>
          <a:bodyPr wrap="none" lIns="91440" tIns="45720" rIns="91440" bIns="45720">
            <a:spAutoFit/>
          </a:bodyPr>
          <a:lstStyle/>
          <a:p>
            <a:pPr algn="ctr"/>
            <a:r>
              <a:rPr lang="en-US"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813-833</a:t>
            </a:r>
            <a:r>
              <a:rPr lang="en-US" sz="5400" b="1" dirty="0">
                <a:ln w="9525">
                  <a:solidFill>
                    <a:schemeClr val="bg1"/>
                  </a:solidFill>
                  <a:prstDash val="solid"/>
                </a:ln>
                <a:effectLst>
                  <a:outerShdw blurRad="12700" dist="38100" dir="2700000" algn="tl" rotWithShape="0">
                    <a:schemeClr val="bg1">
                      <a:lumMod val="50000"/>
                    </a:schemeClr>
                  </a:outerShdw>
                </a:effectLst>
              </a:rPr>
              <a:t> A.D</a:t>
            </a:r>
            <a:endParaRPr lang="en-US"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7" name="Rectangle 6">
            <a:extLst>
              <a:ext uri="{FF2B5EF4-FFF2-40B4-BE49-F238E27FC236}">
                <a16:creationId xmlns:a16="http://schemas.microsoft.com/office/drawing/2014/main" id="{080E9472-2C56-BDFE-6AC2-507636A1F629}"/>
              </a:ext>
            </a:extLst>
          </p:cNvPr>
          <p:cNvSpPr/>
          <p:nvPr/>
        </p:nvSpPr>
        <p:spPr>
          <a:xfrm>
            <a:off x="4499530" y="1376172"/>
            <a:ext cx="2733441" cy="923330"/>
          </a:xfrm>
          <a:prstGeom prst="rect">
            <a:avLst/>
          </a:prstGeom>
          <a:noFill/>
        </p:spPr>
        <p:txBody>
          <a:bodyPr wrap="none" lIns="91440" tIns="45720" rIns="91440" bIns="45720">
            <a:spAutoFit/>
          </a:bodyPr>
          <a:lstStyle/>
          <a:p>
            <a:pPr algn="ctr"/>
            <a:r>
              <a:rPr lang="en-US" sz="5400" b="1" dirty="0">
                <a:ln w="9525">
                  <a:solidFill>
                    <a:schemeClr val="bg1"/>
                  </a:solidFill>
                  <a:prstDash val="solid"/>
                </a:ln>
                <a:effectLst>
                  <a:outerShdw blurRad="12700" dist="38100" dir="2700000" algn="tl" rotWithShape="0">
                    <a:schemeClr val="bg1">
                      <a:lumMod val="50000"/>
                    </a:schemeClr>
                  </a:outerShdw>
                </a:effectLst>
              </a:rPr>
              <a:t>820 A.D</a:t>
            </a:r>
          </a:p>
        </p:txBody>
      </p:sp>
      <p:sp>
        <p:nvSpPr>
          <p:cNvPr id="8" name="Rectangle 7">
            <a:extLst>
              <a:ext uri="{FF2B5EF4-FFF2-40B4-BE49-F238E27FC236}">
                <a16:creationId xmlns:a16="http://schemas.microsoft.com/office/drawing/2014/main" id="{EED188DD-A800-FE85-95F2-B33D52A305A9}"/>
              </a:ext>
            </a:extLst>
          </p:cNvPr>
          <p:cNvSpPr/>
          <p:nvPr/>
        </p:nvSpPr>
        <p:spPr>
          <a:xfrm>
            <a:off x="4356638" y="2505670"/>
            <a:ext cx="3275256" cy="923330"/>
          </a:xfrm>
          <a:prstGeom prst="rect">
            <a:avLst/>
          </a:prstGeom>
          <a:noFill/>
        </p:spPr>
        <p:txBody>
          <a:bodyPr wrap="none" lIns="91440" tIns="45720" rIns="91440" bIns="45720">
            <a:spAutoFit/>
          </a:bodyPr>
          <a:lstStyle/>
          <a:p>
            <a:pPr algn="ctr"/>
            <a:r>
              <a:rPr lang="en-US"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20 works </a:t>
            </a:r>
          </a:p>
        </p:txBody>
      </p:sp>
      <p:sp>
        <p:nvSpPr>
          <p:cNvPr id="9" name="Rectangle 8">
            <a:extLst>
              <a:ext uri="{FF2B5EF4-FFF2-40B4-BE49-F238E27FC236}">
                <a16:creationId xmlns:a16="http://schemas.microsoft.com/office/drawing/2014/main" id="{047A540D-5C8D-79B1-4BDA-1823B6D8EA99}"/>
              </a:ext>
            </a:extLst>
          </p:cNvPr>
          <p:cNvSpPr/>
          <p:nvPr/>
        </p:nvSpPr>
        <p:spPr>
          <a:xfrm>
            <a:off x="2394578" y="4867750"/>
            <a:ext cx="7199376" cy="923330"/>
          </a:xfrm>
          <a:prstGeom prst="rect">
            <a:avLst/>
          </a:prstGeom>
          <a:noFill/>
        </p:spPr>
        <p:txBody>
          <a:bodyPr wrap="square" lIns="91440" tIns="45720" rIns="91440" bIns="45720">
            <a:spAutoFit/>
          </a:bodyPr>
          <a:lstStyle/>
          <a:p>
            <a:pPr algn="ctr"/>
            <a:r>
              <a:rPr lang="en-US"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7</a:t>
            </a:r>
            <a:r>
              <a:rPr lang="en-US" sz="5400" b="1" dirty="0">
                <a:ln w="9525">
                  <a:solidFill>
                    <a:schemeClr val="bg1"/>
                  </a:solidFill>
                  <a:prstDash val="solid"/>
                </a:ln>
                <a:effectLst>
                  <a:outerShdw blurRad="12700" dist="38100" dir="2700000" algn="tl" rotWithShape="0">
                    <a:schemeClr val="bg1">
                      <a:lumMod val="50000"/>
                    </a:schemeClr>
                  </a:outerShdw>
                </a:effectLst>
              </a:rPr>
              <a:t> </a:t>
            </a:r>
            <a:r>
              <a:rPr lang="en-US"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survived</a:t>
            </a:r>
          </a:p>
        </p:txBody>
      </p:sp>
      <p:sp>
        <p:nvSpPr>
          <p:cNvPr id="11" name="Rectangle 10">
            <a:extLst>
              <a:ext uri="{FF2B5EF4-FFF2-40B4-BE49-F238E27FC236}">
                <a16:creationId xmlns:a16="http://schemas.microsoft.com/office/drawing/2014/main" id="{268F2189-93F4-16B3-2A41-6F58D7AE75D6}"/>
              </a:ext>
            </a:extLst>
          </p:cNvPr>
          <p:cNvSpPr/>
          <p:nvPr/>
        </p:nvSpPr>
        <p:spPr>
          <a:xfrm>
            <a:off x="4246031" y="3635168"/>
            <a:ext cx="3385863" cy="923330"/>
          </a:xfrm>
          <a:prstGeom prst="rect">
            <a:avLst/>
          </a:prstGeom>
          <a:noFill/>
        </p:spPr>
        <p:txBody>
          <a:bodyPr wrap="none" lIns="91440" tIns="45720" rIns="91440" bIns="45720">
            <a:spAutoFit/>
          </a:bodyPr>
          <a:lstStyle/>
          <a:p>
            <a:pPr algn="ctr"/>
            <a:r>
              <a:rPr lang="en-US"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10 known</a:t>
            </a:r>
          </a:p>
        </p:txBody>
      </p:sp>
    </p:spTree>
    <p:extLst>
      <p:ext uri="{BB962C8B-B14F-4D97-AF65-F5344CB8AC3E}">
        <p14:creationId xmlns:p14="http://schemas.microsoft.com/office/powerpoint/2010/main" val="36037054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FA5279-352E-480C-8A60-CE4FBD1D9527}"/>
              </a:ext>
            </a:extLst>
          </p:cNvPr>
          <p:cNvSpPr>
            <a:spLocks noGrp="1"/>
          </p:cNvSpPr>
          <p:nvPr>
            <p:ph idx="1"/>
          </p:nvPr>
        </p:nvSpPr>
        <p:spPr>
          <a:xfrm>
            <a:off x="102704" y="849381"/>
            <a:ext cx="11757991" cy="4721087"/>
          </a:xfrm>
        </p:spPr>
        <p:txBody>
          <a:bodyPr>
            <a:normAutofit/>
          </a:bodyPr>
          <a:lstStyle/>
          <a:p>
            <a:r>
              <a:rPr lang="en-US" dirty="0"/>
              <a:t>Four of these works are preserved in Arabic, one survives as part of al-</a:t>
            </a:r>
            <a:r>
              <a:rPr lang="en-US" dirty="0" err="1"/>
              <a:t>Farghani’s</a:t>
            </a:r>
            <a:r>
              <a:rPr lang="en-US" dirty="0"/>
              <a:t> writings, two are available in Latin translation, and the remaining three have not yet been found. </a:t>
            </a:r>
            <a:endParaRPr lang="ru-RU" dirty="0"/>
          </a:p>
        </p:txBody>
      </p:sp>
    </p:spTree>
    <p:extLst>
      <p:ext uri="{BB962C8B-B14F-4D97-AF65-F5344CB8AC3E}">
        <p14:creationId xmlns:p14="http://schemas.microsoft.com/office/powerpoint/2010/main" val="24878731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BDFB9E20-EDD5-81C7-C4D0-FEE908C4346B}"/>
              </a:ext>
            </a:extLst>
          </p:cNvPr>
          <p:cNvGraphicFramePr/>
          <p:nvPr>
            <p:extLst>
              <p:ext uri="{D42A27DB-BD31-4B8C-83A1-F6EECF244321}">
                <p14:modId xmlns:p14="http://schemas.microsoft.com/office/powerpoint/2010/main" val="2778355770"/>
              </p:ext>
            </p:extLst>
          </p:nvPr>
        </p:nvGraphicFramePr>
        <p:xfrm>
          <a:off x="493776" y="210312"/>
          <a:ext cx="11411712" cy="64556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861702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5D0ECA86-9880-661A-7638-4EE1F2B31E6C}"/>
              </a:ext>
            </a:extLst>
          </p:cNvPr>
          <p:cNvSpPr/>
          <p:nvPr/>
        </p:nvSpPr>
        <p:spPr>
          <a:xfrm>
            <a:off x="4235196" y="2423374"/>
            <a:ext cx="3721608" cy="170992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Rectangle 3">
            <a:extLst>
              <a:ext uri="{FF2B5EF4-FFF2-40B4-BE49-F238E27FC236}">
                <a16:creationId xmlns:a16="http://schemas.microsoft.com/office/drawing/2014/main" id="{B10012D4-E26D-26B7-0198-9AFF61A85CD4}"/>
              </a:ext>
            </a:extLst>
          </p:cNvPr>
          <p:cNvSpPr/>
          <p:nvPr/>
        </p:nvSpPr>
        <p:spPr>
          <a:xfrm>
            <a:off x="4625084" y="2743521"/>
            <a:ext cx="2941831" cy="923330"/>
          </a:xfrm>
          <a:prstGeom prst="rect">
            <a:avLst/>
          </a:prstGeom>
          <a:noFill/>
        </p:spPr>
        <p:txBody>
          <a:bodyPr wrap="none" lIns="91440" tIns="45720" rIns="91440" bIns="45720">
            <a:spAutoFit/>
          </a:bodyPr>
          <a:lstStyle/>
          <a:p>
            <a:pPr algn="ctr"/>
            <a:r>
              <a:rPr lang="en-US"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AL-JABR</a:t>
            </a:r>
          </a:p>
        </p:txBody>
      </p:sp>
      <p:sp>
        <p:nvSpPr>
          <p:cNvPr id="6" name="Rectangle: Rounded Corners 5">
            <a:extLst>
              <a:ext uri="{FF2B5EF4-FFF2-40B4-BE49-F238E27FC236}">
                <a16:creationId xmlns:a16="http://schemas.microsoft.com/office/drawing/2014/main" id="{4DC74033-E318-E538-772C-7E902BEF3FAD}"/>
              </a:ext>
            </a:extLst>
          </p:cNvPr>
          <p:cNvSpPr/>
          <p:nvPr/>
        </p:nvSpPr>
        <p:spPr>
          <a:xfrm>
            <a:off x="8430768" y="822960"/>
            <a:ext cx="2779776" cy="115214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first systematic exposition of algebra</a:t>
            </a:r>
          </a:p>
        </p:txBody>
      </p:sp>
      <p:sp>
        <p:nvSpPr>
          <p:cNvPr id="7" name="Rectangle: Rounded Corners 6">
            <a:extLst>
              <a:ext uri="{FF2B5EF4-FFF2-40B4-BE49-F238E27FC236}">
                <a16:creationId xmlns:a16="http://schemas.microsoft.com/office/drawing/2014/main" id="{4FCE2941-D3D6-4AAD-70E7-39C7E54F1558}"/>
              </a:ext>
            </a:extLst>
          </p:cNvPr>
          <p:cNvSpPr/>
          <p:nvPr/>
        </p:nvSpPr>
        <p:spPr>
          <a:xfrm>
            <a:off x="8430768" y="4306825"/>
            <a:ext cx="2779776" cy="106984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chemeClr val="bg1"/>
                </a:solidFill>
              </a:rPr>
              <a:t>entirely in words</a:t>
            </a:r>
            <a:endParaRPr lang="ru-RU" b="1">
              <a:solidFill>
                <a:schemeClr val="bg1"/>
              </a:solidFill>
            </a:endParaRPr>
          </a:p>
        </p:txBody>
      </p:sp>
      <p:sp>
        <p:nvSpPr>
          <p:cNvPr id="8" name="Rectangle: Rounded Corners 7">
            <a:extLst>
              <a:ext uri="{FF2B5EF4-FFF2-40B4-BE49-F238E27FC236}">
                <a16:creationId xmlns:a16="http://schemas.microsoft.com/office/drawing/2014/main" id="{F2281736-C93C-36EE-BCBE-ADEB897BF6E9}"/>
              </a:ext>
            </a:extLst>
          </p:cNvPr>
          <p:cNvSpPr/>
          <p:nvPr/>
        </p:nvSpPr>
        <p:spPr>
          <a:xfrm>
            <a:off x="685800" y="813816"/>
            <a:ext cx="2660904" cy="107899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 name="Rectangle: Rounded Corners 8">
            <a:extLst>
              <a:ext uri="{FF2B5EF4-FFF2-40B4-BE49-F238E27FC236}">
                <a16:creationId xmlns:a16="http://schemas.microsoft.com/office/drawing/2014/main" id="{64D40BB1-F871-143D-E034-652F8A16B847}"/>
              </a:ext>
            </a:extLst>
          </p:cNvPr>
          <p:cNvSpPr/>
          <p:nvPr/>
        </p:nvSpPr>
        <p:spPr>
          <a:xfrm>
            <a:off x="685800" y="4306825"/>
            <a:ext cx="2660904" cy="106984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TextBox 10">
            <a:extLst>
              <a:ext uri="{FF2B5EF4-FFF2-40B4-BE49-F238E27FC236}">
                <a16:creationId xmlns:a16="http://schemas.microsoft.com/office/drawing/2014/main" id="{CB9E807E-6A17-8471-DA46-F931AAA08226}"/>
              </a:ext>
            </a:extLst>
          </p:cNvPr>
          <p:cNvSpPr txBox="1"/>
          <p:nvPr/>
        </p:nvSpPr>
        <p:spPr>
          <a:xfrm>
            <a:off x="1239012" y="1168646"/>
            <a:ext cx="1540764" cy="369332"/>
          </a:xfrm>
          <a:prstGeom prst="rect">
            <a:avLst/>
          </a:prstGeom>
          <a:noFill/>
        </p:spPr>
        <p:txBody>
          <a:bodyPr wrap="square" rtlCol="0">
            <a:spAutoFit/>
          </a:bodyPr>
          <a:lstStyle/>
          <a:p>
            <a:r>
              <a:rPr lang="en-GB" b="1" dirty="0">
                <a:solidFill>
                  <a:schemeClr val="bg1"/>
                </a:solidFill>
              </a:rPr>
              <a:t>813 and 833 </a:t>
            </a:r>
            <a:endParaRPr lang="ru-RU" b="1" dirty="0">
              <a:solidFill>
                <a:schemeClr val="bg1"/>
              </a:solidFill>
            </a:endParaRPr>
          </a:p>
        </p:txBody>
      </p:sp>
      <p:sp>
        <p:nvSpPr>
          <p:cNvPr id="12" name="TextBox 11">
            <a:extLst>
              <a:ext uri="{FF2B5EF4-FFF2-40B4-BE49-F238E27FC236}">
                <a16:creationId xmlns:a16="http://schemas.microsoft.com/office/drawing/2014/main" id="{78D01020-29D8-7529-CE34-772D7E4CE531}"/>
              </a:ext>
            </a:extLst>
          </p:cNvPr>
          <p:cNvSpPr txBox="1"/>
          <p:nvPr/>
        </p:nvSpPr>
        <p:spPr>
          <a:xfrm>
            <a:off x="1152144" y="4657083"/>
            <a:ext cx="1856232" cy="369332"/>
          </a:xfrm>
          <a:prstGeom prst="rect">
            <a:avLst/>
          </a:prstGeom>
          <a:noFill/>
        </p:spPr>
        <p:txBody>
          <a:bodyPr wrap="square" rtlCol="0">
            <a:spAutoFit/>
          </a:bodyPr>
          <a:lstStyle/>
          <a:p>
            <a:r>
              <a:rPr lang="en-GB" b="1" dirty="0">
                <a:solidFill>
                  <a:schemeClr val="bg1"/>
                </a:solidFill>
              </a:rPr>
              <a:t>daily events</a:t>
            </a:r>
            <a:endParaRPr lang="ru-RU" b="1" dirty="0">
              <a:solidFill>
                <a:schemeClr val="bg1"/>
              </a:solidFill>
            </a:endParaRPr>
          </a:p>
        </p:txBody>
      </p:sp>
    </p:spTree>
    <p:extLst>
      <p:ext uri="{BB962C8B-B14F-4D97-AF65-F5344CB8AC3E}">
        <p14:creationId xmlns:p14="http://schemas.microsoft.com/office/powerpoint/2010/main" val="6852978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peech Bubble: Oval 13">
            <a:extLst>
              <a:ext uri="{FF2B5EF4-FFF2-40B4-BE49-F238E27FC236}">
                <a16:creationId xmlns:a16="http://schemas.microsoft.com/office/drawing/2014/main" id="{EC6AE060-3C87-4B40-2375-2D4F9145EA73}"/>
              </a:ext>
            </a:extLst>
          </p:cNvPr>
          <p:cNvSpPr/>
          <p:nvPr/>
        </p:nvSpPr>
        <p:spPr>
          <a:xfrm>
            <a:off x="4679442" y="2095310"/>
            <a:ext cx="2833116" cy="1975104"/>
          </a:xfrm>
          <a:prstGeom prst="wedgeEllipseCallout">
            <a:avLst>
              <a:gd name="adj1" fmla="val -40345"/>
              <a:gd name="adj2" fmla="val 6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The geometric part</a:t>
            </a:r>
            <a:endParaRPr lang="ru-RU" b="1" dirty="0">
              <a:solidFill>
                <a:schemeClr val="bg1"/>
              </a:solidFill>
            </a:endParaRPr>
          </a:p>
        </p:txBody>
      </p:sp>
      <p:sp>
        <p:nvSpPr>
          <p:cNvPr id="7" name="Speech Bubble: Oval 6">
            <a:extLst>
              <a:ext uri="{FF2B5EF4-FFF2-40B4-BE49-F238E27FC236}">
                <a16:creationId xmlns:a16="http://schemas.microsoft.com/office/drawing/2014/main" id="{003C78D7-66E0-4194-ACDF-A6DF6D8981CF}"/>
              </a:ext>
            </a:extLst>
          </p:cNvPr>
          <p:cNvSpPr/>
          <p:nvPr/>
        </p:nvSpPr>
        <p:spPr>
          <a:xfrm>
            <a:off x="835152" y="504254"/>
            <a:ext cx="2648712" cy="1699450"/>
          </a:xfrm>
          <a:prstGeom prst="wedgeEllipseCallout">
            <a:avLst>
              <a:gd name="adj1" fmla="val -42140"/>
              <a:gd name="adj2" fmla="val 8317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The algebraic part</a:t>
            </a:r>
            <a:endParaRPr lang="ru-RU" b="1" dirty="0">
              <a:solidFill>
                <a:schemeClr val="bg1"/>
              </a:solidFill>
            </a:endParaRPr>
          </a:p>
        </p:txBody>
      </p:sp>
      <p:sp>
        <p:nvSpPr>
          <p:cNvPr id="15" name="Speech Bubble: Oval 14">
            <a:extLst>
              <a:ext uri="{FF2B5EF4-FFF2-40B4-BE49-F238E27FC236}">
                <a16:creationId xmlns:a16="http://schemas.microsoft.com/office/drawing/2014/main" id="{DAAD10B8-45DA-79AC-762A-FC1394386BB6}"/>
              </a:ext>
            </a:extLst>
          </p:cNvPr>
          <p:cNvSpPr>
            <a:spLocks/>
          </p:cNvSpPr>
          <p:nvPr/>
        </p:nvSpPr>
        <p:spPr>
          <a:xfrm>
            <a:off x="8449056" y="4253294"/>
            <a:ext cx="2944368" cy="1975104"/>
          </a:xfrm>
          <a:prstGeom prst="wedgeEllipseCallout">
            <a:avLst>
              <a:gd name="adj1" fmla="val -38163"/>
              <a:gd name="adj2" fmla="val 7129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bg1"/>
                </a:solidFill>
              </a:rPr>
              <a:t>The part on inheritance laws</a:t>
            </a:r>
            <a:endParaRPr lang="ru-RU" b="1">
              <a:solidFill>
                <a:schemeClr val="bg1"/>
              </a:solidFill>
            </a:endParaRPr>
          </a:p>
        </p:txBody>
      </p:sp>
    </p:spTree>
    <p:extLst>
      <p:ext uri="{BB962C8B-B14F-4D97-AF65-F5344CB8AC3E}">
        <p14:creationId xmlns:p14="http://schemas.microsoft.com/office/powerpoint/2010/main" val="5290319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524F2013-9970-4C2C-43BB-8FDCD56D381D}"/>
              </a:ext>
            </a:extLst>
          </p:cNvPr>
          <p:cNvPicPr>
            <a:picLocks noChangeAspect="1"/>
          </p:cNvPicPr>
          <p:nvPr/>
        </p:nvPicPr>
        <p:blipFill>
          <a:blip r:embed="rId2"/>
          <a:stretch>
            <a:fillRect/>
          </a:stretch>
        </p:blipFill>
        <p:spPr>
          <a:xfrm>
            <a:off x="1281494" y="4960955"/>
            <a:ext cx="2176461" cy="664522"/>
          </a:xfrm>
          <a:prstGeom prst="rect">
            <a:avLst/>
          </a:prstGeom>
        </p:spPr>
      </p:pic>
      <p:pic>
        <p:nvPicPr>
          <p:cNvPr id="5" name="Picture 4">
            <a:extLst>
              <a:ext uri="{FF2B5EF4-FFF2-40B4-BE49-F238E27FC236}">
                <a16:creationId xmlns:a16="http://schemas.microsoft.com/office/drawing/2014/main" id="{B0B61BBA-531C-BDDD-7AF8-D456726AD4D0}"/>
              </a:ext>
            </a:extLst>
          </p:cNvPr>
          <p:cNvPicPr>
            <a:picLocks noChangeAspect="1"/>
          </p:cNvPicPr>
          <p:nvPr/>
        </p:nvPicPr>
        <p:blipFill>
          <a:blip r:embed="rId3"/>
          <a:stretch>
            <a:fillRect/>
          </a:stretch>
        </p:blipFill>
        <p:spPr>
          <a:xfrm>
            <a:off x="555498" y="369864"/>
            <a:ext cx="3737172" cy="1725318"/>
          </a:xfrm>
          <a:prstGeom prst="rect">
            <a:avLst/>
          </a:prstGeom>
        </p:spPr>
      </p:pic>
      <p:pic>
        <p:nvPicPr>
          <p:cNvPr id="7" name="Picture 6">
            <a:extLst>
              <a:ext uri="{FF2B5EF4-FFF2-40B4-BE49-F238E27FC236}">
                <a16:creationId xmlns:a16="http://schemas.microsoft.com/office/drawing/2014/main" id="{EAED4C11-08E8-20BD-810F-AC7B91D7A2CD}"/>
              </a:ext>
            </a:extLst>
          </p:cNvPr>
          <p:cNvPicPr>
            <a:picLocks noChangeAspect="1"/>
          </p:cNvPicPr>
          <p:nvPr/>
        </p:nvPicPr>
        <p:blipFill>
          <a:blip r:embed="rId4"/>
          <a:stretch>
            <a:fillRect/>
          </a:stretch>
        </p:blipFill>
        <p:spPr>
          <a:xfrm>
            <a:off x="954820" y="691820"/>
            <a:ext cx="2938527" cy="926672"/>
          </a:xfrm>
          <a:prstGeom prst="rect">
            <a:avLst/>
          </a:prstGeom>
        </p:spPr>
      </p:pic>
      <p:pic>
        <p:nvPicPr>
          <p:cNvPr id="9" name="Picture 8">
            <a:extLst>
              <a:ext uri="{FF2B5EF4-FFF2-40B4-BE49-F238E27FC236}">
                <a16:creationId xmlns:a16="http://schemas.microsoft.com/office/drawing/2014/main" id="{9D96E110-7A97-43E1-2146-87B6CD8F9053}"/>
              </a:ext>
            </a:extLst>
          </p:cNvPr>
          <p:cNvPicPr>
            <a:picLocks noChangeAspect="1"/>
          </p:cNvPicPr>
          <p:nvPr/>
        </p:nvPicPr>
        <p:blipFill>
          <a:blip r:embed="rId5"/>
          <a:stretch>
            <a:fillRect/>
          </a:stretch>
        </p:blipFill>
        <p:spPr>
          <a:xfrm>
            <a:off x="7903083" y="4605506"/>
            <a:ext cx="3737172" cy="1731414"/>
          </a:xfrm>
          <a:prstGeom prst="rect">
            <a:avLst/>
          </a:prstGeom>
        </p:spPr>
      </p:pic>
      <p:sp>
        <p:nvSpPr>
          <p:cNvPr id="12" name="Rectangle 11">
            <a:extLst>
              <a:ext uri="{FF2B5EF4-FFF2-40B4-BE49-F238E27FC236}">
                <a16:creationId xmlns:a16="http://schemas.microsoft.com/office/drawing/2014/main" id="{E2826143-369A-EBBB-CC86-B153E03584AF}"/>
              </a:ext>
            </a:extLst>
          </p:cNvPr>
          <p:cNvSpPr/>
          <p:nvPr/>
        </p:nvSpPr>
        <p:spPr>
          <a:xfrm>
            <a:off x="7761469" y="5101881"/>
            <a:ext cx="4020400" cy="646331"/>
          </a:xfrm>
          <a:prstGeom prst="rect">
            <a:avLst/>
          </a:prstGeom>
          <a:noFill/>
        </p:spPr>
        <p:txBody>
          <a:bodyPr wrap="square" lIns="91440" tIns="45720" rIns="91440" bIns="45720">
            <a:spAutoFit/>
          </a:bodyPr>
          <a:lstStyle/>
          <a:p>
            <a:pPr algn="ctr"/>
            <a:r>
              <a:rPr lang="en-US" sz="36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AL-</a:t>
            </a:r>
            <a:r>
              <a:rPr lang="en-US" sz="3600" b="1" dirty="0">
                <a:ln w="9525">
                  <a:solidFill>
                    <a:schemeClr val="bg1"/>
                  </a:solidFill>
                  <a:prstDash val="solid"/>
                </a:ln>
                <a:effectLst>
                  <a:outerShdw blurRad="12700" dist="38100" dir="2700000" algn="tl" rotWithShape="0">
                    <a:schemeClr val="bg1">
                      <a:lumMod val="50000"/>
                    </a:schemeClr>
                  </a:outerShdw>
                </a:effectLst>
              </a:rPr>
              <a:t>M</a:t>
            </a:r>
            <a:r>
              <a:rPr lang="en-US" sz="36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UQABALA</a:t>
            </a:r>
          </a:p>
        </p:txBody>
      </p:sp>
      <p:sp>
        <p:nvSpPr>
          <p:cNvPr id="18" name="TextBox 17">
            <a:extLst>
              <a:ext uri="{FF2B5EF4-FFF2-40B4-BE49-F238E27FC236}">
                <a16:creationId xmlns:a16="http://schemas.microsoft.com/office/drawing/2014/main" id="{FD41F9B4-7E41-95C4-5175-3396FF7515A7}"/>
              </a:ext>
            </a:extLst>
          </p:cNvPr>
          <p:cNvSpPr txBox="1"/>
          <p:nvPr/>
        </p:nvSpPr>
        <p:spPr>
          <a:xfrm>
            <a:off x="555498" y="2900610"/>
            <a:ext cx="4299966" cy="646331"/>
          </a:xfrm>
          <a:prstGeom prst="rect">
            <a:avLst/>
          </a:prstGeom>
          <a:noFill/>
        </p:spPr>
        <p:txBody>
          <a:bodyPr wrap="square">
            <a:spAutoFit/>
          </a:bodyPr>
          <a:lstStyle/>
          <a:p>
            <a:r>
              <a:rPr lang="en-US" dirty="0"/>
              <a:t>The goal is to eliminate negative terms </a:t>
            </a:r>
            <a:endParaRPr lang="ru-RU" dirty="0"/>
          </a:p>
        </p:txBody>
      </p:sp>
      <p:sp>
        <p:nvSpPr>
          <p:cNvPr id="19" name="Arrow: Down 18">
            <a:extLst>
              <a:ext uri="{FF2B5EF4-FFF2-40B4-BE49-F238E27FC236}">
                <a16:creationId xmlns:a16="http://schemas.microsoft.com/office/drawing/2014/main" id="{EC9FB3CE-874D-ED2F-A23C-B07FDE42322F}"/>
              </a:ext>
            </a:extLst>
          </p:cNvPr>
          <p:cNvSpPr/>
          <p:nvPr/>
        </p:nvSpPr>
        <p:spPr>
          <a:xfrm>
            <a:off x="2255519" y="4423265"/>
            <a:ext cx="246888" cy="43774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 name="TextBox 15">
            <a:extLst>
              <a:ext uri="{FF2B5EF4-FFF2-40B4-BE49-F238E27FC236}">
                <a16:creationId xmlns:a16="http://schemas.microsoft.com/office/drawing/2014/main" id="{D0FD3AF3-A6AB-2EA0-21E1-C4C6893BED94}"/>
              </a:ext>
            </a:extLst>
          </p:cNvPr>
          <p:cNvSpPr txBox="1"/>
          <p:nvPr/>
        </p:nvSpPr>
        <p:spPr>
          <a:xfrm>
            <a:off x="1740026" y="5101881"/>
            <a:ext cx="1524762" cy="369332"/>
          </a:xfrm>
          <a:prstGeom prst="rect">
            <a:avLst/>
          </a:prstGeom>
          <a:noFill/>
        </p:spPr>
        <p:txBody>
          <a:bodyPr wrap="square">
            <a:spAutoFit/>
          </a:bodyPr>
          <a:lstStyle/>
          <a:p>
            <a:r>
              <a:rPr lang="en-GB" b="1" dirty="0">
                <a:solidFill>
                  <a:schemeClr val="bg2"/>
                </a:solidFill>
              </a:rPr>
              <a:t>5x² = 40x </a:t>
            </a:r>
            <a:endParaRPr lang="ru-RU" b="1" dirty="0">
              <a:solidFill>
                <a:schemeClr val="bg2"/>
              </a:solidFill>
            </a:endParaRPr>
          </a:p>
        </p:txBody>
      </p:sp>
      <p:sp>
        <p:nvSpPr>
          <p:cNvPr id="21" name="Wave 20">
            <a:extLst>
              <a:ext uri="{FF2B5EF4-FFF2-40B4-BE49-F238E27FC236}">
                <a16:creationId xmlns:a16="http://schemas.microsoft.com/office/drawing/2014/main" id="{70331D7C-6541-C15D-324F-B1C3AFFB3235}"/>
              </a:ext>
            </a:extLst>
          </p:cNvPr>
          <p:cNvSpPr/>
          <p:nvPr/>
        </p:nvSpPr>
        <p:spPr>
          <a:xfrm>
            <a:off x="1299971" y="3704419"/>
            <a:ext cx="2157984" cy="646331"/>
          </a:xfrm>
          <a:prstGeom prst="wav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TextBox 13">
            <a:extLst>
              <a:ext uri="{FF2B5EF4-FFF2-40B4-BE49-F238E27FC236}">
                <a16:creationId xmlns:a16="http://schemas.microsoft.com/office/drawing/2014/main" id="{060484DA-1C84-EA17-0873-EE10A972C906}"/>
              </a:ext>
            </a:extLst>
          </p:cNvPr>
          <p:cNvSpPr txBox="1"/>
          <p:nvPr/>
        </p:nvSpPr>
        <p:spPr>
          <a:xfrm>
            <a:off x="1506854" y="3842918"/>
            <a:ext cx="1757934" cy="369332"/>
          </a:xfrm>
          <a:prstGeom prst="rect">
            <a:avLst/>
          </a:prstGeom>
          <a:noFill/>
        </p:spPr>
        <p:txBody>
          <a:bodyPr wrap="square">
            <a:spAutoFit/>
          </a:bodyPr>
          <a:lstStyle/>
          <a:p>
            <a:r>
              <a:rPr lang="en-GB" b="1" dirty="0">
                <a:solidFill>
                  <a:schemeClr val="bg2"/>
                </a:solidFill>
              </a:rPr>
              <a:t>x² = 40x - 4x² </a:t>
            </a:r>
            <a:endParaRPr lang="ru-RU" b="1" dirty="0">
              <a:solidFill>
                <a:schemeClr val="bg2"/>
              </a:solidFill>
            </a:endParaRPr>
          </a:p>
        </p:txBody>
      </p:sp>
      <p:sp>
        <p:nvSpPr>
          <p:cNvPr id="25" name="TextBox 24">
            <a:extLst>
              <a:ext uri="{FF2B5EF4-FFF2-40B4-BE49-F238E27FC236}">
                <a16:creationId xmlns:a16="http://schemas.microsoft.com/office/drawing/2014/main" id="{C1E6DB26-CEA0-478D-F18D-14C2375165F3}"/>
              </a:ext>
            </a:extLst>
          </p:cNvPr>
          <p:cNvSpPr txBox="1"/>
          <p:nvPr/>
        </p:nvSpPr>
        <p:spPr>
          <a:xfrm>
            <a:off x="8181358" y="368655"/>
            <a:ext cx="3047238" cy="646331"/>
          </a:xfrm>
          <a:prstGeom prst="rect">
            <a:avLst/>
          </a:prstGeom>
          <a:noFill/>
        </p:spPr>
        <p:txBody>
          <a:bodyPr wrap="square">
            <a:spAutoFit/>
          </a:bodyPr>
          <a:lstStyle/>
          <a:p>
            <a:r>
              <a:rPr lang="en-US" dirty="0"/>
              <a:t>simplification of terms of the same power </a:t>
            </a:r>
            <a:r>
              <a:rPr lang="en-GB" dirty="0"/>
              <a:t> of terms </a:t>
            </a:r>
            <a:endParaRPr lang="ru-RU" dirty="0"/>
          </a:p>
        </p:txBody>
      </p:sp>
      <p:sp>
        <p:nvSpPr>
          <p:cNvPr id="27" name="TextBox 26">
            <a:extLst>
              <a:ext uri="{FF2B5EF4-FFF2-40B4-BE49-F238E27FC236}">
                <a16:creationId xmlns:a16="http://schemas.microsoft.com/office/drawing/2014/main" id="{08A8F9BE-EF36-51B0-D731-06BA6FC6D6CB}"/>
              </a:ext>
            </a:extLst>
          </p:cNvPr>
          <p:cNvSpPr txBox="1"/>
          <p:nvPr/>
        </p:nvSpPr>
        <p:spPr>
          <a:xfrm>
            <a:off x="8181358" y="1188195"/>
            <a:ext cx="3186718" cy="369332"/>
          </a:xfrm>
          <a:prstGeom prst="rect">
            <a:avLst/>
          </a:prstGeom>
          <a:noFill/>
        </p:spPr>
        <p:txBody>
          <a:bodyPr wrap="square">
            <a:spAutoFit/>
          </a:bodyPr>
          <a:lstStyle/>
          <a:p>
            <a:r>
              <a:rPr lang="en-GB" dirty="0"/>
              <a:t>cancellation of like terms </a:t>
            </a:r>
            <a:endParaRPr lang="ru-RU" dirty="0"/>
          </a:p>
        </p:txBody>
      </p:sp>
      <p:pic>
        <p:nvPicPr>
          <p:cNvPr id="29" name="Picture 28">
            <a:extLst>
              <a:ext uri="{FF2B5EF4-FFF2-40B4-BE49-F238E27FC236}">
                <a16:creationId xmlns:a16="http://schemas.microsoft.com/office/drawing/2014/main" id="{1E2793F6-074A-DB4F-B89D-8CE3EF01C11D}"/>
              </a:ext>
            </a:extLst>
          </p:cNvPr>
          <p:cNvPicPr>
            <a:picLocks noChangeAspect="1"/>
          </p:cNvPicPr>
          <p:nvPr/>
        </p:nvPicPr>
        <p:blipFill>
          <a:blip r:embed="rId6"/>
          <a:stretch>
            <a:fillRect/>
          </a:stretch>
        </p:blipFill>
        <p:spPr>
          <a:xfrm>
            <a:off x="8500776" y="3178395"/>
            <a:ext cx="2627470" cy="802225"/>
          </a:xfrm>
          <a:prstGeom prst="rect">
            <a:avLst/>
          </a:prstGeom>
        </p:spPr>
      </p:pic>
      <p:pic>
        <p:nvPicPr>
          <p:cNvPr id="31" name="Picture 30">
            <a:extLst>
              <a:ext uri="{FF2B5EF4-FFF2-40B4-BE49-F238E27FC236}">
                <a16:creationId xmlns:a16="http://schemas.microsoft.com/office/drawing/2014/main" id="{55E53B70-6591-C3B4-A8DC-25EA543BF237}"/>
              </a:ext>
            </a:extLst>
          </p:cNvPr>
          <p:cNvPicPr>
            <a:picLocks noChangeAspect="1"/>
          </p:cNvPicPr>
          <p:nvPr/>
        </p:nvPicPr>
        <p:blipFill>
          <a:blip r:embed="rId6"/>
          <a:stretch>
            <a:fillRect/>
          </a:stretch>
        </p:blipFill>
        <p:spPr>
          <a:xfrm>
            <a:off x="8500777" y="1681204"/>
            <a:ext cx="2627470" cy="802225"/>
          </a:xfrm>
          <a:prstGeom prst="rect">
            <a:avLst/>
          </a:prstGeom>
        </p:spPr>
      </p:pic>
      <p:pic>
        <p:nvPicPr>
          <p:cNvPr id="33" name="Picture 32">
            <a:extLst>
              <a:ext uri="{FF2B5EF4-FFF2-40B4-BE49-F238E27FC236}">
                <a16:creationId xmlns:a16="http://schemas.microsoft.com/office/drawing/2014/main" id="{C7D02414-CD64-38DF-9D7B-12C08A51B726}"/>
              </a:ext>
            </a:extLst>
          </p:cNvPr>
          <p:cNvPicPr>
            <a:picLocks noChangeAspect="1"/>
          </p:cNvPicPr>
          <p:nvPr/>
        </p:nvPicPr>
        <p:blipFill>
          <a:blip r:embed="rId7"/>
          <a:stretch>
            <a:fillRect/>
          </a:stretch>
        </p:blipFill>
        <p:spPr>
          <a:xfrm>
            <a:off x="9807899" y="2587337"/>
            <a:ext cx="298730" cy="457240"/>
          </a:xfrm>
          <a:prstGeom prst="rect">
            <a:avLst/>
          </a:prstGeom>
        </p:spPr>
      </p:pic>
      <p:sp>
        <p:nvSpPr>
          <p:cNvPr id="35" name="TextBox 34">
            <a:extLst>
              <a:ext uri="{FF2B5EF4-FFF2-40B4-BE49-F238E27FC236}">
                <a16:creationId xmlns:a16="http://schemas.microsoft.com/office/drawing/2014/main" id="{7AC22031-E273-2176-C7DC-2F70DE54D35E}"/>
              </a:ext>
            </a:extLst>
          </p:cNvPr>
          <p:cNvSpPr txBox="1"/>
          <p:nvPr/>
        </p:nvSpPr>
        <p:spPr>
          <a:xfrm>
            <a:off x="8500776" y="1883161"/>
            <a:ext cx="2912977" cy="369333"/>
          </a:xfrm>
          <a:prstGeom prst="rect">
            <a:avLst/>
          </a:prstGeom>
          <a:noFill/>
        </p:spPr>
        <p:txBody>
          <a:bodyPr wrap="square">
            <a:spAutoFit/>
          </a:bodyPr>
          <a:lstStyle/>
          <a:p>
            <a:r>
              <a:rPr lang="en-GB" b="1" dirty="0">
                <a:solidFill>
                  <a:schemeClr val="bg2"/>
                </a:solidFill>
              </a:rPr>
              <a:t>50 + 3x + x² = 29 + 10x </a:t>
            </a:r>
            <a:endParaRPr lang="ru-RU" b="1" dirty="0">
              <a:solidFill>
                <a:schemeClr val="bg2"/>
              </a:solidFill>
            </a:endParaRPr>
          </a:p>
        </p:txBody>
      </p:sp>
      <p:sp>
        <p:nvSpPr>
          <p:cNvPr id="37" name="TextBox 36">
            <a:extLst>
              <a:ext uri="{FF2B5EF4-FFF2-40B4-BE49-F238E27FC236}">
                <a16:creationId xmlns:a16="http://schemas.microsoft.com/office/drawing/2014/main" id="{48467FE9-C396-330F-9F7D-19D9BB999C3C}"/>
              </a:ext>
            </a:extLst>
          </p:cNvPr>
          <p:cNvSpPr txBox="1"/>
          <p:nvPr/>
        </p:nvSpPr>
        <p:spPr>
          <a:xfrm>
            <a:off x="9083803" y="3359801"/>
            <a:ext cx="1808226" cy="369332"/>
          </a:xfrm>
          <a:prstGeom prst="rect">
            <a:avLst/>
          </a:prstGeom>
          <a:noFill/>
        </p:spPr>
        <p:txBody>
          <a:bodyPr wrap="square">
            <a:spAutoFit/>
          </a:bodyPr>
          <a:lstStyle/>
          <a:p>
            <a:r>
              <a:rPr lang="en-GB" b="1" dirty="0">
                <a:solidFill>
                  <a:schemeClr val="bg2"/>
                </a:solidFill>
              </a:rPr>
              <a:t>21 + x² = 7x </a:t>
            </a:r>
            <a:endParaRPr lang="ru-RU" b="1" dirty="0">
              <a:solidFill>
                <a:schemeClr val="bg2"/>
              </a:solidFill>
            </a:endParaRPr>
          </a:p>
        </p:txBody>
      </p:sp>
      <p:sp>
        <p:nvSpPr>
          <p:cNvPr id="38" name="Flowchart: Collate 37">
            <a:extLst>
              <a:ext uri="{FF2B5EF4-FFF2-40B4-BE49-F238E27FC236}">
                <a16:creationId xmlns:a16="http://schemas.microsoft.com/office/drawing/2014/main" id="{20161229-AF21-2AB8-B10D-E03F51AF8B18}"/>
              </a:ext>
            </a:extLst>
          </p:cNvPr>
          <p:cNvSpPr/>
          <p:nvPr/>
        </p:nvSpPr>
        <p:spPr>
          <a:xfrm>
            <a:off x="5483362" y="213016"/>
            <a:ext cx="1225275" cy="6123904"/>
          </a:xfrm>
          <a:prstGeom prst="flowChartCol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Tree>
    <p:extLst>
      <p:ext uri="{BB962C8B-B14F-4D97-AF65-F5344CB8AC3E}">
        <p14:creationId xmlns:p14="http://schemas.microsoft.com/office/powerpoint/2010/main" val="36226392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8B1AB-12E1-F9DF-3B83-80C34182C806}"/>
              </a:ext>
            </a:extLst>
          </p:cNvPr>
          <p:cNvSpPr>
            <a:spLocks noGrp="1"/>
          </p:cNvSpPr>
          <p:nvPr>
            <p:ph type="title"/>
          </p:nvPr>
        </p:nvSpPr>
        <p:spPr>
          <a:xfrm>
            <a:off x="976821" y="2346960"/>
            <a:ext cx="9905998" cy="1905000"/>
          </a:xfrm>
        </p:spPr>
        <p:txBody>
          <a:bodyPr/>
          <a:lstStyle/>
          <a:p>
            <a:pPr algn="ctr"/>
            <a:r>
              <a:rPr lang="en-US" b="1" dirty="0">
                <a:solidFill>
                  <a:schemeClr val="tx1"/>
                </a:solidFill>
              </a:rPr>
              <a:t>He called the unknown number "shay," which means "thing."</a:t>
            </a:r>
            <a:endParaRPr lang="ru-RU" b="1" dirty="0">
              <a:solidFill>
                <a:schemeClr val="tx1"/>
              </a:solidFill>
            </a:endParaRPr>
          </a:p>
        </p:txBody>
      </p:sp>
    </p:spTree>
    <p:extLst>
      <p:ext uri="{BB962C8B-B14F-4D97-AF65-F5344CB8AC3E}">
        <p14:creationId xmlns:p14="http://schemas.microsoft.com/office/powerpoint/2010/main" val="3824829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EF7E523-69AB-6EB2-7EB2-F3C334914504}"/>
              </a:ext>
            </a:extLst>
          </p:cNvPr>
          <p:cNvSpPr txBox="1"/>
          <p:nvPr/>
        </p:nvSpPr>
        <p:spPr>
          <a:xfrm>
            <a:off x="5659643" y="2547754"/>
            <a:ext cx="5346954" cy="1200329"/>
          </a:xfrm>
          <a:prstGeom prst="rect">
            <a:avLst/>
          </a:prstGeom>
          <a:noFill/>
        </p:spPr>
        <p:txBody>
          <a:bodyPr wrap="square">
            <a:spAutoFit/>
          </a:bodyPr>
          <a:lstStyle/>
          <a:p>
            <a:pPr algn="ctr"/>
            <a:r>
              <a:rPr lang="en-US" b="1" dirty="0">
                <a:latin typeface="Times New Roman" panose="02020603050405020304" pitchFamily="18" charset="0"/>
                <a:cs typeface="Times New Roman" panose="02020603050405020304" pitchFamily="18" charset="0"/>
              </a:rPr>
              <a:t>THE BOOK WAS TRANSLATED IN LATIN AS “LIBER ALGEBRAE ET ALMUCABALA” BY ROBERT OF CHESTER (SEGOVIA, 1145) HENCE "ALGEBRA"</a:t>
            </a:r>
            <a:endParaRPr lang="ru-RU" b="1"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BF821DEC-38E0-88CE-8EB9-5F8C95CAC782}"/>
              </a:ext>
            </a:extLst>
          </p:cNvPr>
          <p:cNvPicPr>
            <a:picLocks noChangeAspect="1"/>
          </p:cNvPicPr>
          <p:nvPr/>
        </p:nvPicPr>
        <p:blipFill>
          <a:blip r:embed="rId2"/>
          <a:srcRect t="-15868" r="-14114" b="-9604"/>
          <a:stretch>
            <a:fillRect/>
          </a:stretch>
        </p:blipFill>
        <p:spPr>
          <a:xfrm>
            <a:off x="1185403" y="643508"/>
            <a:ext cx="3165438" cy="5008823"/>
          </a:xfrm>
          <a:prstGeom prst="rect">
            <a:avLst/>
          </a:prstGeom>
        </p:spPr>
      </p:pic>
    </p:spTree>
    <p:extLst>
      <p:ext uri="{BB962C8B-B14F-4D97-AF65-F5344CB8AC3E}">
        <p14:creationId xmlns:p14="http://schemas.microsoft.com/office/powerpoint/2010/main" val="41792422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0522176E-82BA-1A18-0A0E-E35C0E344E4F}"/>
              </a:ext>
            </a:extLst>
          </p:cNvPr>
          <p:cNvSpPr>
            <a:spLocks noGrp="1"/>
          </p:cNvSpPr>
          <p:nvPr>
            <p:ph idx="1"/>
          </p:nvPr>
        </p:nvSpPr>
        <p:spPr>
          <a:xfrm>
            <a:off x="256164" y="2318057"/>
            <a:ext cx="5413116" cy="2221885"/>
          </a:xfrm>
        </p:spPr>
        <p:txBody>
          <a:bodyPr>
            <a:normAutofit/>
          </a:bodyPr>
          <a:lstStyle/>
          <a:p>
            <a:pPr marL="0" indent="0" algn="ctr">
              <a:buNone/>
            </a:pPr>
            <a:r>
              <a:rPr lang="en-US" b="1" dirty="0">
                <a:solidFill>
                  <a:schemeClr val="tx1"/>
                </a:solidFill>
                <a:latin typeface="Times New Roman" panose="02020603050405020304" pitchFamily="18" charset="0"/>
                <a:cs typeface="Times New Roman" panose="02020603050405020304" pitchFamily="18" charset="0"/>
              </a:rPr>
              <a:t>surviving Arabic copy of the text is preserved at the Bodleian library at the university of oxford. </a:t>
            </a:r>
            <a:r>
              <a:rPr lang="ru-RU" b="1" dirty="0">
                <a:solidFill>
                  <a:schemeClr val="tx1"/>
                </a:solidFill>
                <a:latin typeface="Times New Roman" panose="02020603050405020304" pitchFamily="18" charset="0"/>
                <a:cs typeface="Times New Roman" panose="02020603050405020304" pitchFamily="18" charset="0"/>
              </a:rPr>
              <a:t>manuscript was transcribed in </a:t>
            </a:r>
            <a:r>
              <a:rPr lang="ru-RU" b="1" dirty="0">
                <a:solidFill>
                  <a:schemeClr val="tx1"/>
                </a:solidFill>
                <a:effectLst/>
                <a:latin typeface="Times New Roman" panose="02020603050405020304" pitchFamily="18" charset="0"/>
                <a:cs typeface="Times New Roman" panose="02020603050405020304" pitchFamily="18" charset="0"/>
              </a:rPr>
              <a:t>1342 </a:t>
            </a:r>
            <a:r>
              <a:rPr lang="ru-RU" b="1" dirty="0">
                <a:solidFill>
                  <a:schemeClr val="tx1"/>
                </a:solidFill>
                <a:latin typeface="Times New Roman" panose="02020603050405020304" pitchFamily="18" charset="0"/>
                <a:cs typeface="Times New Roman" panose="02020603050405020304" pitchFamily="18" charset="0"/>
              </a:rPr>
              <a:t>(over 500 years after al-khwarizmi wrote the original)</a:t>
            </a:r>
            <a:r>
              <a:rPr lang="en-GB" b="1" dirty="0">
                <a:solidFill>
                  <a:schemeClr val="tx1"/>
                </a:solidFill>
                <a:latin typeface="Times New Roman" panose="02020603050405020304" pitchFamily="18" charset="0"/>
                <a:cs typeface="Times New Roman" panose="02020603050405020304" pitchFamily="18" charset="0"/>
              </a:rPr>
              <a:t>.</a:t>
            </a:r>
            <a:r>
              <a:rPr lang="en-US" b="1" dirty="0">
                <a:solidFill>
                  <a:schemeClr val="tx1"/>
                </a:solidFill>
                <a:latin typeface="Times New Roman" panose="02020603050405020304" pitchFamily="18" charset="0"/>
                <a:cs typeface="Times New Roman" panose="02020603050405020304" pitchFamily="18" charset="0"/>
              </a:rPr>
              <a:t> </a:t>
            </a:r>
            <a:endParaRPr lang="ru-RU" b="1" dirty="0">
              <a:solidFill>
                <a:schemeClr val="tx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F7A96D5E-5D0D-CF6E-E2F5-0FB7A8345CCB}"/>
              </a:ext>
            </a:extLst>
          </p:cNvPr>
          <p:cNvSpPr txBox="1"/>
          <p:nvPr/>
        </p:nvSpPr>
        <p:spPr>
          <a:xfrm>
            <a:off x="5910453" y="2994768"/>
            <a:ext cx="6094476" cy="1200329"/>
          </a:xfrm>
          <a:prstGeom prst="rect">
            <a:avLst/>
          </a:prstGeom>
          <a:noFill/>
        </p:spPr>
        <p:txBody>
          <a:bodyPr wrap="square">
            <a:spAutoFit/>
          </a:bodyPr>
          <a:lstStyle/>
          <a:p>
            <a:r>
              <a:rPr lang="en-GB" dirty="0">
                <a:solidFill>
                  <a:srgbClr val="00B050"/>
                </a:solidFill>
                <a:hlinkClick r:id="rId2">
                  <a:extLst>
                    <a:ext uri="{A12FA001-AC4F-418D-AE19-62706E023703}">
                      <ahyp:hlinkClr xmlns:ahyp="http://schemas.microsoft.com/office/drawing/2018/hyperlinkcolor" val="tx"/>
                    </a:ext>
                  </a:extLst>
                </a:hlinkClick>
              </a:rPr>
              <a:t>https://digital.bodleian.ox.ac.uk/objects/1597877d-50cf-46d4-8d46-18f89ee943cf/surfaces/86bc3d01-5ec2-4005-8366-88f3a7b9a599/</a:t>
            </a:r>
            <a:endParaRPr lang="en-GB" dirty="0">
              <a:solidFill>
                <a:srgbClr val="00B050"/>
              </a:solidFill>
            </a:endParaRPr>
          </a:p>
          <a:p>
            <a:endParaRPr lang="ru-RU" dirty="0"/>
          </a:p>
        </p:txBody>
      </p:sp>
    </p:spTree>
    <p:extLst>
      <p:ext uri="{BB962C8B-B14F-4D97-AF65-F5344CB8AC3E}">
        <p14:creationId xmlns:p14="http://schemas.microsoft.com/office/powerpoint/2010/main" val="5913828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5CCFB-8E11-3BC2-FBC7-CEC4A6BE9927}"/>
              </a:ext>
            </a:extLst>
          </p:cNvPr>
          <p:cNvSpPr>
            <a:spLocks noGrp="1"/>
          </p:cNvSpPr>
          <p:nvPr>
            <p:ph type="title"/>
          </p:nvPr>
        </p:nvSpPr>
        <p:spPr>
          <a:xfrm>
            <a:off x="809974" y="2301240"/>
            <a:ext cx="10572051" cy="1822704"/>
          </a:xfrm>
        </p:spPr>
        <p:txBody>
          <a:bodyPr/>
          <a:lstStyle/>
          <a:p>
            <a:pPr algn="ctr"/>
            <a:r>
              <a:rPr lang="en-GB" b="1" dirty="0">
                <a:solidFill>
                  <a:schemeClr val="tx1"/>
                </a:solidFill>
                <a:latin typeface="Times New Roman" panose="02020603050405020304" pitchFamily="18" charset="0"/>
                <a:cs typeface="Times New Roman" panose="02020603050405020304" pitchFamily="18" charset="0"/>
              </a:rPr>
              <a:t>This operations was known well before al-Khwarizmi. What do you think make al Khwarizmi and his work so special? </a:t>
            </a:r>
            <a:endParaRPr lang="ru-RU"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923229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D03D76-6BF0-4744-95FB-63B769B395CE}"/>
              </a:ext>
            </a:extLst>
          </p:cNvPr>
          <p:cNvSpPr>
            <a:spLocks noGrp="1"/>
          </p:cNvSpPr>
          <p:nvPr>
            <p:ph idx="1"/>
          </p:nvPr>
        </p:nvSpPr>
        <p:spPr>
          <a:xfrm>
            <a:off x="142460" y="884583"/>
            <a:ext cx="11639965" cy="4201767"/>
          </a:xfrm>
        </p:spPr>
        <p:txBody>
          <a:bodyPr>
            <a:normAutofit fontScale="85000" lnSpcReduction="20000"/>
          </a:bodyPr>
          <a:lstStyle/>
          <a:p>
            <a:pPr>
              <a:lnSpc>
                <a:spcPct val="110000"/>
              </a:lnSpc>
            </a:pPr>
            <a:r>
              <a:rPr lang="en-US" sz="3200" dirty="0">
                <a:solidFill>
                  <a:schemeClr val="tx1"/>
                </a:solidFill>
                <a:latin typeface="Times New Roman" panose="02020603050405020304" pitchFamily="18" charset="0"/>
                <a:cs typeface="Times New Roman" panose="02020603050405020304" pitchFamily="18" charset="0"/>
              </a:rPr>
              <a:t>The exact date when al-Khwarizmi wrote his arithmetic treatise is unknown. However, since he refers to his algebraic treatise in it, the arithmetic work was written after the algebraic one. The treatise was translated into Latin in Spain in the 12th century. When the work was translated into Latin in the 12th century as </a:t>
            </a:r>
            <a:r>
              <a:rPr lang="en-US" sz="3200" dirty="0" err="1">
                <a:solidFill>
                  <a:schemeClr val="tx1"/>
                </a:solidFill>
                <a:latin typeface="Times New Roman" panose="02020603050405020304" pitchFamily="18" charset="0"/>
                <a:cs typeface="Times New Roman" panose="02020603050405020304" pitchFamily="18" charset="0"/>
              </a:rPr>
              <a:t>Algoritmi</a:t>
            </a:r>
            <a:r>
              <a:rPr lang="en-US" sz="3200" dirty="0">
                <a:solidFill>
                  <a:schemeClr val="tx1"/>
                </a:solidFill>
                <a:latin typeface="Times New Roman" panose="02020603050405020304" pitchFamily="18" charset="0"/>
                <a:cs typeface="Times New Roman" panose="02020603050405020304" pitchFamily="18" charset="0"/>
              </a:rPr>
              <a:t> de </a:t>
            </a:r>
            <a:r>
              <a:rPr lang="en-US" sz="3200" dirty="0" err="1">
                <a:solidFill>
                  <a:schemeClr val="tx1"/>
                </a:solidFill>
                <a:latin typeface="Times New Roman" panose="02020603050405020304" pitchFamily="18" charset="0"/>
                <a:cs typeface="Times New Roman" panose="02020603050405020304" pitchFamily="18" charset="0"/>
              </a:rPr>
              <a:t>numero</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Indorum</a:t>
            </a:r>
            <a:r>
              <a:rPr lang="en-US" sz="3200" dirty="0">
                <a:solidFill>
                  <a:schemeClr val="tx1"/>
                </a:solidFill>
                <a:latin typeface="Times New Roman" panose="02020603050405020304" pitchFamily="18" charset="0"/>
                <a:cs typeface="Times New Roman" panose="02020603050405020304" pitchFamily="18" charset="0"/>
              </a:rPr>
              <a:t> (Al-Khwarizmi on the Hindu art of reckoning), the term "algorithm" was introduced to the Western world. The only surviving Latin manuscript, copied in the 14th century, is kept at the Cambridge University Library. The text begins with the phrase “Dixit </a:t>
            </a:r>
            <a:r>
              <a:rPr lang="en-US" sz="3200" dirty="0" err="1">
                <a:solidFill>
                  <a:schemeClr val="tx1"/>
                </a:solidFill>
                <a:latin typeface="Times New Roman" panose="02020603050405020304" pitchFamily="18" charset="0"/>
                <a:cs typeface="Times New Roman" panose="02020603050405020304" pitchFamily="18" charset="0"/>
              </a:rPr>
              <a:t>Algorithmi</a:t>
            </a:r>
            <a:r>
              <a:rPr lang="en-US" sz="3200" dirty="0">
                <a:solidFill>
                  <a:schemeClr val="tx1"/>
                </a:solidFill>
                <a:latin typeface="Times New Roman" panose="02020603050405020304" pitchFamily="18" charset="0"/>
                <a:cs typeface="Times New Roman" panose="02020603050405020304" pitchFamily="18" charset="0"/>
              </a:rPr>
              <a:t>”, meaning “Al-Khwarizmi said.”</a:t>
            </a:r>
            <a:endParaRPr lang="ru-RU" sz="3200" dirty="0">
              <a:solidFill>
                <a:schemeClr val="tx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D397A1A3-C254-8AF5-BE2B-0497C20995CA}"/>
              </a:ext>
            </a:extLst>
          </p:cNvPr>
          <p:cNvSpPr txBox="1"/>
          <p:nvPr/>
        </p:nvSpPr>
        <p:spPr>
          <a:xfrm>
            <a:off x="2706035" y="5086350"/>
            <a:ext cx="6512814" cy="646331"/>
          </a:xfrm>
          <a:prstGeom prst="rect">
            <a:avLst/>
          </a:prstGeom>
          <a:noFill/>
        </p:spPr>
        <p:txBody>
          <a:bodyPr wrap="square">
            <a:spAutoFit/>
          </a:bodyPr>
          <a:lstStyle/>
          <a:p>
            <a:r>
              <a:rPr lang="en-GB" dirty="0">
                <a:solidFill>
                  <a:srgbClr val="0070C0"/>
                </a:solidFill>
              </a:rPr>
              <a:t>https://cudl.lib.cam.ac.uk/view/MS-II-00006-00005/7\</a:t>
            </a:r>
          </a:p>
          <a:p>
            <a:endParaRPr lang="ru-RU" dirty="0">
              <a:solidFill>
                <a:srgbClr val="0070C0"/>
              </a:solidFill>
            </a:endParaRPr>
          </a:p>
        </p:txBody>
      </p:sp>
    </p:spTree>
    <p:extLst>
      <p:ext uri="{BB962C8B-B14F-4D97-AF65-F5344CB8AC3E}">
        <p14:creationId xmlns:p14="http://schemas.microsoft.com/office/powerpoint/2010/main" val="6362035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1FF9E9-F6EB-4E99-A427-DF8E6739D06E}"/>
              </a:ext>
            </a:extLst>
          </p:cNvPr>
          <p:cNvSpPr>
            <a:spLocks noGrp="1"/>
          </p:cNvSpPr>
          <p:nvPr>
            <p:ph idx="1"/>
          </p:nvPr>
        </p:nvSpPr>
        <p:spPr>
          <a:xfrm>
            <a:off x="415787" y="347472"/>
            <a:ext cx="5509525" cy="5925312"/>
          </a:xfrm>
        </p:spPr>
        <p:txBody>
          <a:bodyPr>
            <a:normAutofit/>
          </a:bodyPr>
          <a:lstStyle/>
          <a:p>
            <a:r>
              <a:rPr lang="en-US" dirty="0">
                <a:solidFill>
                  <a:schemeClr val="tx1"/>
                </a:solidFill>
                <a:latin typeface="Times New Roman" panose="02020603050405020304" pitchFamily="18" charset="0"/>
                <a:cs typeface="Times New Roman" panose="02020603050405020304" pitchFamily="18" charset="0"/>
              </a:rPr>
              <a:t>In this work, al-Khwarizmi explains the advantages of the nine Indian numerals in representing numbers, stating that with their help, any number can be written briefly and easily. He emphasizes importance of using zero. He then proceeds to explain arithmetic operations, advising readers to pay close attention to the placement of digits (their positional value) and to never forget to write zero — otherwise, the result will be incorrect. At the beginning of the treatise, al-Khwarizmi notes that the problems and examples included in the work were written in response to the practical needs of his time.</a:t>
            </a:r>
            <a:endParaRPr lang="ru-RU" dirty="0">
              <a:solidFill>
                <a:schemeClr val="tx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36F66ECE-28CB-D534-8964-91A5C17046D4}"/>
              </a:ext>
            </a:extLst>
          </p:cNvPr>
          <p:cNvPicPr>
            <a:picLocks noChangeAspect="1"/>
          </p:cNvPicPr>
          <p:nvPr/>
        </p:nvPicPr>
        <p:blipFill>
          <a:blip r:embed="rId2"/>
          <a:stretch>
            <a:fillRect/>
          </a:stretch>
        </p:blipFill>
        <p:spPr>
          <a:xfrm>
            <a:off x="6096001" y="52578"/>
            <a:ext cx="5680212" cy="6457950"/>
          </a:xfrm>
          <a:prstGeom prst="rect">
            <a:avLst/>
          </a:prstGeom>
        </p:spPr>
      </p:pic>
      <p:pic>
        <p:nvPicPr>
          <p:cNvPr id="6" name="Picture 5">
            <a:extLst>
              <a:ext uri="{FF2B5EF4-FFF2-40B4-BE49-F238E27FC236}">
                <a16:creationId xmlns:a16="http://schemas.microsoft.com/office/drawing/2014/main" id="{724C95B8-1FF2-85C0-C49A-FA21B567F95E}"/>
              </a:ext>
            </a:extLst>
          </p:cNvPr>
          <p:cNvPicPr>
            <a:picLocks noChangeAspect="1"/>
          </p:cNvPicPr>
          <p:nvPr/>
        </p:nvPicPr>
        <p:blipFill>
          <a:blip r:embed="rId3"/>
          <a:stretch>
            <a:fillRect/>
          </a:stretch>
        </p:blipFill>
        <p:spPr>
          <a:xfrm>
            <a:off x="6408321" y="1527578"/>
            <a:ext cx="4854020" cy="3111098"/>
          </a:xfrm>
          <a:prstGeom prst="rect">
            <a:avLst/>
          </a:prstGeom>
        </p:spPr>
      </p:pic>
    </p:spTree>
    <p:extLst>
      <p:ext uri="{BB962C8B-B14F-4D97-AF65-F5344CB8AC3E}">
        <p14:creationId xmlns:p14="http://schemas.microsoft.com/office/powerpoint/2010/main" val="30025803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2CE9B2E-0DA2-B73C-5313-470AB7FC3F41}"/>
              </a:ext>
            </a:extLst>
          </p:cNvPr>
          <p:cNvSpPr txBox="1"/>
          <p:nvPr/>
        </p:nvSpPr>
        <p:spPr>
          <a:xfrm>
            <a:off x="1751012" y="4363271"/>
            <a:ext cx="8676222" cy="1066801"/>
          </a:xfrm>
          <a:prstGeom prst="rect">
            <a:avLst/>
          </a:prstGeom>
        </p:spPr>
        <p:txBody>
          <a:bodyPr vert="horz" lIns="91440" tIns="45720" rIns="91440" bIns="45720" rtlCol="0" anchor="b">
            <a:normAutofit/>
          </a:bodyPr>
          <a:lstStyle/>
          <a:p>
            <a:pPr algn="ctr">
              <a:spcBef>
                <a:spcPct val="0"/>
              </a:spcBef>
              <a:spcAft>
                <a:spcPts val="600"/>
              </a:spcAft>
            </a:pPr>
            <a:r>
              <a:rPr lang="en-US" sz="4800" b="1"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50000"/>
                    </a:schemeClr>
                  </a:glow>
                  <a:outerShdw blurRad="28575" dist="31750" dir="13200000" algn="tl" rotWithShape="0">
                    <a:srgbClr val="000000">
                      <a:alpha val="25000"/>
                    </a:srgbClr>
                  </a:outerShdw>
                </a:effectLst>
                <a:latin typeface="+mj-lt"/>
                <a:ea typeface="+mj-ea"/>
                <a:cs typeface="+mj-cs"/>
              </a:rPr>
              <a:t>Abjad numeral system</a:t>
            </a:r>
          </a:p>
        </p:txBody>
      </p:sp>
      <p:pic>
        <p:nvPicPr>
          <p:cNvPr id="7" name="Picture 6">
            <a:extLst>
              <a:ext uri="{FF2B5EF4-FFF2-40B4-BE49-F238E27FC236}">
                <a16:creationId xmlns:a16="http://schemas.microsoft.com/office/drawing/2014/main" id="{8AB3192D-A9E3-3E59-3A1C-87235C1F76A7}"/>
              </a:ext>
            </a:extLst>
          </p:cNvPr>
          <p:cNvPicPr>
            <a:picLocks noChangeAspect="1"/>
          </p:cNvPicPr>
          <p:nvPr/>
        </p:nvPicPr>
        <p:blipFill>
          <a:blip r:embed="rId3"/>
          <a:stretch>
            <a:fillRect/>
          </a:stretch>
        </p:blipFill>
        <p:spPr>
          <a:xfrm>
            <a:off x="2710837" y="640080"/>
            <a:ext cx="6765702" cy="3602736"/>
          </a:xfrm>
          <a:prstGeom prst="roundRect">
            <a:avLst>
              <a:gd name="adj" fmla="val 3517"/>
            </a:avLst>
          </a:prstGeom>
          <a:ln w="38100">
            <a:gradFill flip="none" rotWithShape="1">
              <a:gsLst>
                <a:gs pos="0">
                  <a:srgbClr val="363D46"/>
                </a:gs>
                <a:gs pos="100000">
                  <a:srgbClr val="363D46">
                    <a:lumMod val="75000"/>
                  </a:srgbClr>
                </a:gs>
              </a:gsLst>
              <a:lin ang="5400000" scaled="0"/>
              <a:tileRect/>
            </a:gradFill>
          </a:ln>
          <a:effectLst>
            <a:innerShdw blurRad="57150" dist="38100" dir="14460000">
              <a:srgbClr val="000000">
                <a:alpha val="70000"/>
              </a:srgbClr>
            </a:innerShdw>
          </a:effectLst>
        </p:spPr>
      </p:pic>
    </p:spTree>
    <p:extLst>
      <p:ext uri="{BB962C8B-B14F-4D97-AF65-F5344CB8AC3E}">
        <p14:creationId xmlns:p14="http://schemas.microsoft.com/office/powerpoint/2010/main" val="17842108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tar: 5 Points 3">
            <a:extLst>
              <a:ext uri="{FF2B5EF4-FFF2-40B4-BE49-F238E27FC236}">
                <a16:creationId xmlns:a16="http://schemas.microsoft.com/office/drawing/2014/main" id="{296C4368-BB40-CF14-0F9A-649D82723949}"/>
              </a:ext>
            </a:extLst>
          </p:cNvPr>
          <p:cNvSpPr/>
          <p:nvPr/>
        </p:nvSpPr>
        <p:spPr>
          <a:xfrm>
            <a:off x="4518660" y="2039111"/>
            <a:ext cx="3154680" cy="2615184"/>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 name="TextBox 4">
            <a:extLst>
              <a:ext uri="{FF2B5EF4-FFF2-40B4-BE49-F238E27FC236}">
                <a16:creationId xmlns:a16="http://schemas.microsoft.com/office/drawing/2014/main" id="{31C2666E-7354-A466-CDA5-CCDC1F3804F4}"/>
              </a:ext>
            </a:extLst>
          </p:cNvPr>
          <p:cNvSpPr txBox="1"/>
          <p:nvPr/>
        </p:nvSpPr>
        <p:spPr>
          <a:xfrm>
            <a:off x="5815584" y="3198167"/>
            <a:ext cx="987552" cy="461665"/>
          </a:xfrm>
          <a:prstGeom prst="rect">
            <a:avLst/>
          </a:prstGeom>
          <a:noFill/>
        </p:spPr>
        <p:txBody>
          <a:bodyPr wrap="square" rtlCol="0">
            <a:spAutoFit/>
          </a:bodyPr>
          <a:lstStyle/>
          <a:p>
            <a:r>
              <a:rPr lang="en-GB" sz="2400" b="1" dirty="0">
                <a:solidFill>
                  <a:schemeClr val="bg2"/>
                </a:solidFill>
              </a:rPr>
              <a:t>ZIJ</a:t>
            </a:r>
            <a:endParaRPr lang="ru-RU" sz="2400" b="1" dirty="0">
              <a:solidFill>
                <a:schemeClr val="bg2"/>
              </a:solidFill>
            </a:endParaRPr>
          </a:p>
        </p:txBody>
      </p:sp>
      <p:sp>
        <p:nvSpPr>
          <p:cNvPr id="6" name="Cloud 5">
            <a:extLst>
              <a:ext uri="{FF2B5EF4-FFF2-40B4-BE49-F238E27FC236}">
                <a16:creationId xmlns:a16="http://schemas.microsoft.com/office/drawing/2014/main" id="{6E277CE4-986E-8411-B2C2-1B886F1D3AEE}"/>
              </a:ext>
            </a:extLst>
          </p:cNvPr>
          <p:cNvSpPr/>
          <p:nvPr/>
        </p:nvSpPr>
        <p:spPr>
          <a:xfrm>
            <a:off x="1475232" y="883919"/>
            <a:ext cx="1463040" cy="960120"/>
          </a:xfrm>
          <a:prstGeom prst="clou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b="1">
                <a:solidFill>
                  <a:schemeClr val="bg2"/>
                </a:solidFill>
              </a:rPr>
              <a:t>830</a:t>
            </a:r>
          </a:p>
        </p:txBody>
      </p:sp>
      <p:sp>
        <p:nvSpPr>
          <p:cNvPr id="10" name="Cloud 9">
            <a:extLst>
              <a:ext uri="{FF2B5EF4-FFF2-40B4-BE49-F238E27FC236}">
                <a16:creationId xmlns:a16="http://schemas.microsoft.com/office/drawing/2014/main" id="{0FF747DD-6ADF-FFA7-02BE-B48DF6183EAD}"/>
              </a:ext>
            </a:extLst>
          </p:cNvPr>
          <p:cNvSpPr/>
          <p:nvPr/>
        </p:nvSpPr>
        <p:spPr>
          <a:xfrm>
            <a:off x="1044702" y="4631439"/>
            <a:ext cx="2644140" cy="1342642"/>
          </a:xfrm>
          <a:prstGeom prst="clou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bg2"/>
                </a:solidFill>
              </a:rPr>
              <a:t>converting dates between the eras </a:t>
            </a:r>
            <a:endParaRPr lang="ru-RU" b="1">
              <a:solidFill>
                <a:schemeClr val="bg2"/>
              </a:solidFill>
            </a:endParaRPr>
          </a:p>
        </p:txBody>
      </p:sp>
      <p:sp>
        <p:nvSpPr>
          <p:cNvPr id="12" name="Cloud 11">
            <a:extLst>
              <a:ext uri="{FF2B5EF4-FFF2-40B4-BE49-F238E27FC236}">
                <a16:creationId xmlns:a16="http://schemas.microsoft.com/office/drawing/2014/main" id="{7549E745-1D06-D12C-E213-9B763416AB83}"/>
              </a:ext>
            </a:extLst>
          </p:cNvPr>
          <p:cNvSpPr/>
          <p:nvPr/>
        </p:nvSpPr>
        <p:spPr>
          <a:xfrm>
            <a:off x="9006840" y="635508"/>
            <a:ext cx="1837944" cy="960120"/>
          </a:xfrm>
          <a:prstGeom prst="clou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2"/>
                </a:solidFill>
              </a:rPr>
              <a:t>37 chapters </a:t>
            </a:r>
            <a:endParaRPr lang="ru-RU" b="1" dirty="0">
              <a:solidFill>
                <a:schemeClr val="bg2"/>
              </a:solidFill>
            </a:endParaRPr>
          </a:p>
        </p:txBody>
      </p:sp>
      <p:sp>
        <p:nvSpPr>
          <p:cNvPr id="14" name="Cloud 13">
            <a:extLst>
              <a:ext uri="{FF2B5EF4-FFF2-40B4-BE49-F238E27FC236}">
                <a16:creationId xmlns:a16="http://schemas.microsoft.com/office/drawing/2014/main" id="{F1542CD6-3201-79E2-CE2D-49EC771E4E55}"/>
              </a:ext>
            </a:extLst>
          </p:cNvPr>
          <p:cNvSpPr/>
          <p:nvPr/>
        </p:nvSpPr>
        <p:spPr>
          <a:xfrm>
            <a:off x="9332976" y="4645153"/>
            <a:ext cx="1703832" cy="960120"/>
          </a:xfrm>
          <a:prstGeom prst="clou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chemeClr val="bg2"/>
                </a:solidFill>
              </a:rPr>
              <a:t>116 tables</a:t>
            </a:r>
            <a:endParaRPr lang="ru-RU" b="1">
              <a:solidFill>
                <a:schemeClr val="bg2"/>
              </a:solidFill>
            </a:endParaRPr>
          </a:p>
        </p:txBody>
      </p:sp>
    </p:spTree>
    <p:extLst>
      <p:ext uri="{BB962C8B-B14F-4D97-AF65-F5344CB8AC3E}">
        <p14:creationId xmlns:p14="http://schemas.microsoft.com/office/powerpoint/2010/main" val="20745432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F51CDA-7D5E-4563-BA49-BE96681BDD32}"/>
              </a:ext>
            </a:extLst>
          </p:cNvPr>
          <p:cNvSpPr>
            <a:spLocks noGrp="1"/>
          </p:cNvSpPr>
          <p:nvPr>
            <p:ph idx="1"/>
          </p:nvPr>
        </p:nvSpPr>
        <p:spPr>
          <a:xfrm>
            <a:off x="239268" y="1389888"/>
            <a:ext cx="11713464" cy="3730752"/>
          </a:xfrm>
        </p:spPr>
        <p:txBody>
          <a:bodyPr>
            <a:noAutofit/>
          </a:bodyPr>
          <a:lstStyle/>
          <a:p>
            <a:pPr algn="ctr"/>
            <a:r>
              <a:rPr lang="en-US" sz="2400" dirty="0">
                <a:solidFill>
                  <a:schemeClr val="tx1"/>
                </a:solidFill>
                <a:latin typeface="Times New Roman" panose="02020603050405020304" pitchFamily="18" charset="0"/>
                <a:cs typeface="Times New Roman" panose="02020603050405020304" pitchFamily="18" charset="0"/>
              </a:rPr>
              <a:t>There is only one surviving copy of </a:t>
            </a:r>
            <a:r>
              <a:rPr lang="en-US" sz="2400" dirty="0" err="1">
                <a:solidFill>
                  <a:schemeClr val="tx1"/>
                </a:solidFill>
                <a:latin typeface="Times New Roman" panose="02020603050405020304" pitchFamily="18" charset="0"/>
                <a:cs typeface="Times New Roman" panose="02020603050405020304" pitchFamily="18" charset="0"/>
              </a:rPr>
              <a:t>Kitāb</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Ṣūrat</a:t>
            </a:r>
            <a:r>
              <a:rPr lang="en-US" sz="2400" dirty="0">
                <a:solidFill>
                  <a:schemeClr val="tx1"/>
                </a:solidFill>
                <a:latin typeface="Times New Roman" panose="02020603050405020304" pitchFamily="18" charset="0"/>
                <a:cs typeface="Times New Roman" panose="02020603050405020304" pitchFamily="18" charset="0"/>
              </a:rPr>
              <a:t> al-</a:t>
            </a:r>
            <a:r>
              <a:rPr lang="en-US" sz="2400" dirty="0" err="1">
                <a:solidFill>
                  <a:schemeClr val="tx1"/>
                </a:solidFill>
                <a:latin typeface="Times New Roman" panose="02020603050405020304" pitchFamily="18" charset="0"/>
                <a:cs typeface="Times New Roman" panose="02020603050405020304" pitchFamily="18" charset="0"/>
              </a:rPr>
              <a:t>Arḍ</a:t>
            </a:r>
            <a:r>
              <a:rPr lang="en-US" sz="2400" dirty="0">
                <a:solidFill>
                  <a:schemeClr val="tx1"/>
                </a:solidFill>
                <a:latin typeface="Times New Roman" panose="02020603050405020304" pitchFamily="18" charset="0"/>
                <a:cs typeface="Times New Roman" panose="02020603050405020304" pitchFamily="18" charset="0"/>
              </a:rPr>
              <a:t> (“The Book of the Image of the Earth”), which is kept at Strasbourg University Library. A Latin translation of it is preserved at the National Library of Spain in Madrid.</a:t>
            </a:r>
          </a:p>
          <a:p>
            <a:r>
              <a:rPr lang="en-US" sz="2400" dirty="0">
                <a:solidFill>
                  <a:srgbClr val="0070C0"/>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https://iiif.biblissima.fr/collections/manifest/604c42f4a572601c9208159764b74335d60ca77a</a:t>
            </a:r>
            <a:r>
              <a:rPr lang="en-US" sz="2400" dirty="0">
                <a:solidFill>
                  <a:srgbClr val="0070C0"/>
                </a:solidFill>
                <a:latin typeface="Times New Roman" panose="02020603050405020304" pitchFamily="18" charset="0"/>
                <a:cs typeface="Times New Roman" panose="02020603050405020304" pitchFamily="18" charset="0"/>
              </a:rPr>
              <a:t> </a:t>
            </a:r>
          </a:p>
          <a:p>
            <a:endParaRPr lang="ru-RU" sz="700" dirty="0">
              <a:solidFill>
                <a:schemeClr val="tx1"/>
              </a:solidFill>
            </a:endParaRPr>
          </a:p>
        </p:txBody>
      </p:sp>
    </p:spTree>
    <p:extLst>
      <p:ext uri="{BB962C8B-B14F-4D97-AF65-F5344CB8AC3E}">
        <p14:creationId xmlns:p14="http://schemas.microsoft.com/office/powerpoint/2010/main" val="30845326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482D8-06F3-D538-18AB-4C080173C7DF}"/>
              </a:ext>
            </a:extLst>
          </p:cNvPr>
          <p:cNvSpPr>
            <a:spLocks noGrp="1"/>
          </p:cNvSpPr>
          <p:nvPr>
            <p:ph type="title"/>
          </p:nvPr>
        </p:nvSpPr>
        <p:spPr>
          <a:xfrm>
            <a:off x="950976" y="1408176"/>
            <a:ext cx="10213848" cy="4151376"/>
          </a:xfrm>
        </p:spPr>
        <p:txBody>
          <a:bodyPr>
            <a:normAutofit fontScale="90000"/>
          </a:bodyPr>
          <a:lstStyle/>
          <a:p>
            <a:pPr algn="ctr"/>
            <a:r>
              <a:rPr lang="en-US" dirty="0">
                <a:solidFill>
                  <a:schemeClr val="tx1"/>
                </a:solidFill>
                <a:latin typeface="Times New Roman" panose="02020603050405020304" pitchFamily="18" charset="0"/>
                <a:cs typeface="Times New Roman" panose="02020603050405020304" pitchFamily="18" charset="0"/>
              </a:rPr>
              <a:t>Al-Khwarizmi also corrected Ptolemy’s major mistake about the length of the Mediterranean Sea. Ptolemy had estimated it as 63° of longitude, but Al-Khwarizmi measured it more accurately at about 50°. He also showed that the Atlantic and Indian Oceans were open seas, not closed bodies of water as Ptolemy had drawn.</a:t>
            </a:r>
            <a:br>
              <a:rPr lang="en-US" dirty="0">
                <a:solidFill>
                  <a:schemeClr val="tx1"/>
                </a:solidFill>
                <a:latin typeface="Times New Roman" panose="02020603050405020304" pitchFamily="18" charset="0"/>
                <a:cs typeface="Times New Roman" panose="02020603050405020304" pitchFamily="18" charset="0"/>
              </a:rPr>
            </a:br>
            <a:endParaRPr lang="ru-RU"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02493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1E35518-EDE7-432E-AEA4-AC37B6A1014B}"/>
              </a:ext>
            </a:extLst>
          </p:cNvPr>
          <p:cNvPicPr>
            <a:picLocks noChangeAspect="1"/>
          </p:cNvPicPr>
          <p:nvPr/>
        </p:nvPicPr>
        <p:blipFill>
          <a:blip r:embed="rId2"/>
          <a:stretch>
            <a:fillRect/>
          </a:stretch>
        </p:blipFill>
        <p:spPr>
          <a:xfrm>
            <a:off x="673173" y="123461"/>
            <a:ext cx="10627618" cy="6611077"/>
          </a:xfrm>
          <a:prstGeom prst="rect">
            <a:avLst/>
          </a:prstGeom>
        </p:spPr>
      </p:pic>
    </p:spTree>
    <p:extLst>
      <p:ext uri="{BB962C8B-B14F-4D97-AF65-F5344CB8AC3E}">
        <p14:creationId xmlns:p14="http://schemas.microsoft.com/office/powerpoint/2010/main" val="32693604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BF874-E0A6-27A7-DB58-3DEF9009C7EE}"/>
              </a:ext>
            </a:extLst>
          </p:cNvPr>
          <p:cNvSpPr>
            <a:spLocks noGrp="1"/>
          </p:cNvSpPr>
          <p:nvPr>
            <p:ph type="title"/>
          </p:nvPr>
        </p:nvSpPr>
        <p:spPr>
          <a:xfrm>
            <a:off x="768096" y="1106424"/>
            <a:ext cx="10280903" cy="4992624"/>
          </a:xfrm>
        </p:spPr>
        <p:txBody>
          <a:bodyPr>
            <a:normAutofit/>
          </a:bodyPr>
          <a:lstStyle/>
          <a:p>
            <a:pPr algn="ctr"/>
            <a:r>
              <a:rPr lang="en-US" sz="2400" dirty="0">
                <a:solidFill>
                  <a:schemeClr val="tx1"/>
                </a:solidFill>
                <a:latin typeface="Times New Roman" panose="02020603050405020304" pitchFamily="18" charset="0"/>
                <a:cs typeface="Times New Roman" panose="02020603050405020304" pitchFamily="18" charset="0"/>
              </a:rPr>
              <a:t>Neither the Arabic original nor the Latin translation includes the world map itself. However, scholar Hubert </a:t>
            </a:r>
            <a:r>
              <a:rPr lang="en-US" sz="2400" dirty="0" err="1">
                <a:solidFill>
                  <a:schemeClr val="tx1"/>
                </a:solidFill>
                <a:latin typeface="Times New Roman" panose="02020603050405020304" pitchFamily="18" charset="0"/>
                <a:cs typeface="Times New Roman" panose="02020603050405020304" pitchFamily="18" charset="0"/>
              </a:rPr>
              <a:t>Daunicht</a:t>
            </a:r>
            <a:r>
              <a:rPr lang="en-US" sz="2400" dirty="0">
                <a:solidFill>
                  <a:schemeClr val="tx1"/>
                </a:solidFill>
                <a:latin typeface="Times New Roman" panose="02020603050405020304" pitchFamily="18" charset="0"/>
                <a:cs typeface="Times New Roman" panose="02020603050405020304" pitchFamily="18" charset="0"/>
              </a:rPr>
              <a:t> was able to reconstruct the missing map using the coordinate lists. He plotted the readable coastal, river, and city coordinates on graph paper and connected them with lines, recreating an approximate version of Al-Khwarizmi’s original map.</a:t>
            </a:r>
            <a:br>
              <a:rPr lang="en-US" sz="2400" dirty="0">
                <a:solidFill>
                  <a:schemeClr val="tx1"/>
                </a:solidFill>
                <a:latin typeface="Times New Roman" panose="02020603050405020304" pitchFamily="18" charset="0"/>
                <a:cs typeface="Times New Roman" panose="02020603050405020304" pitchFamily="18" charset="0"/>
              </a:rPr>
            </a:br>
            <a:endParaRPr lang="ru-RU"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725543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350EB8E-44ED-47F2-9A91-08E7D7F84A2C}"/>
              </a:ext>
            </a:extLst>
          </p:cNvPr>
          <p:cNvPicPr>
            <a:picLocks noChangeAspect="1"/>
          </p:cNvPicPr>
          <p:nvPr/>
        </p:nvPicPr>
        <p:blipFill>
          <a:blip r:embed="rId2"/>
          <a:stretch>
            <a:fillRect/>
          </a:stretch>
        </p:blipFill>
        <p:spPr>
          <a:xfrm>
            <a:off x="381000" y="533400"/>
            <a:ext cx="11430000" cy="5791200"/>
          </a:xfrm>
          <a:prstGeom prst="rect">
            <a:avLst/>
          </a:prstGeom>
        </p:spPr>
      </p:pic>
    </p:spTree>
    <p:extLst>
      <p:ext uri="{BB962C8B-B14F-4D97-AF65-F5344CB8AC3E}">
        <p14:creationId xmlns:p14="http://schemas.microsoft.com/office/powerpoint/2010/main" val="621407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E3050-1DB5-3EB5-87E4-894812684F7B}"/>
              </a:ext>
            </a:extLst>
          </p:cNvPr>
          <p:cNvSpPr>
            <a:spLocks noGrp="1"/>
          </p:cNvSpPr>
          <p:nvPr>
            <p:ph type="title"/>
          </p:nvPr>
        </p:nvSpPr>
        <p:spPr>
          <a:xfrm>
            <a:off x="979932" y="402336"/>
            <a:ext cx="10579608" cy="5349240"/>
          </a:xfrm>
        </p:spPr>
        <p:txBody>
          <a:bodyPr>
            <a:normAutofit fontScale="90000"/>
          </a:bodyPr>
          <a:lstStyle/>
          <a:p>
            <a:pPr algn="ctr"/>
            <a:r>
              <a:rPr lang="en-US" dirty="0">
                <a:solidFill>
                  <a:schemeClr val="tx1"/>
                </a:solidFill>
              </a:rPr>
              <a:t>His Prime Meridian (the zero line of longitude) ran through the Fortunate Isles (Canary Islands), about 10° east of the one used by Ptolemy and Marinus. Later medieval Muslim geographers continued to use Al-Khwarizmi’s system.</a:t>
            </a:r>
            <a:br>
              <a:rPr lang="en-US" dirty="0">
                <a:solidFill>
                  <a:schemeClr val="tx1"/>
                </a:solidFill>
              </a:rPr>
            </a:br>
            <a:br>
              <a:rPr lang="en-US" dirty="0">
                <a:solidFill>
                  <a:schemeClr val="tx1"/>
                </a:solidFill>
              </a:rPr>
            </a:br>
            <a:r>
              <a:rPr lang="en-US" dirty="0">
                <a:solidFill>
                  <a:srgbClr val="0070C0"/>
                </a:solidFill>
                <a:hlinkClick r:id="rId2">
                  <a:extLst>
                    <a:ext uri="{A12FA001-AC4F-418D-AE19-62706E023703}">
                      <ahyp:hlinkClr xmlns:ahyp="http://schemas.microsoft.com/office/drawing/2018/hyperlinkcolor" val="tx"/>
                    </a:ext>
                  </a:extLst>
                </a:hlinkClick>
              </a:rPr>
              <a:t>google.com/maps/@41.818631,-34.6097067,8185117m/data=!3m1!1e3?authuser=0&amp;entry=ttu&amp;g_ep=EgoyMDI2MDkyMS4wIKXMDSoASAFQAw%3D%3D</a:t>
            </a:r>
            <a:r>
              <a:rPr lang="en-US" dirty="0">
                <a:solidFill>
                  <a:srgbClr val="0070C0"/>
                </a:solidFill>
              </a:rPr>
              <a:t> </a:t>
            </a:r>
            <a:br>
              <a:rPr lang="en-US" dirty="0">
                <a:solidFill>
                  <a:schemeClr val="tx1"/>
                </a:solidFill>
              </a:rPr>
            </a:br>
            <a:endParaRPr lang="ru-RU" dirty="0">
              <a:solidFill>
                <a:schemeClr val="tx1"/>
              </a:solidFill>
            </a:endParaRPr>
          </a:p>
        </p:txBody>
      </p:sp>
    </p:spTree>
    <p:extLst>
      <p:ext uri="{BB962C8B-B14F-4D97-AF65-F5344CB8AC3E}">
        <p14:creationId xmlns:p14="http://schemas.microsoft.com/office/powerpoint/2010/main" val="23872609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479DD-646A-EF85-F994-F6889D0D9279}"/>
              </a:ext>
            </a:extLst>
          </p:cNvPr>
          <p:cNvSpPr>
            <a:spLocks noGrp="1"/>
          </p:cNvSpPr>
          <p:nvPr>
            <p:ph type="title"/>
          </p:nvPr>
        </p:nvSpPr>
        <p:spPr/>
        <p:txBody>
          <a:bodyPr/>
          <a:lstStyle/>
          <a:p>
            <a:endParaRPr lang="ru-RU"/>
          </a:p>
        </p:txBody>
      </p:sp>
      <p:sp>
        <p:nvSpPr>
          <p:cNvPr id="3" name="Content Placeholder 2">
            <a:extLst>
              <a:ext uri="{FF2B5EF4-FFF2-40B4-BE49-F238E27FC236}">
                <a16:creationId xmlns:a16="http://schemas.microsoft.com/office/drawing/2014/main" id="{7D3726FE-D50D-41DE-8A17-9492AA3E3C1E}"/>
              </a:ext>
            </a:extLst>
          </p:cNvPr>
          <p:cNvSpPr>
            <a:spLocks noGrp="1"/>
          </p:cNvSpPr>
          <p:nvPr>
            <p:ph idx="1"/>
          </p:nvPr>
        </p:nvSpPr>
        <p:spPr/>
        <p:txBody>
          <a:bodyPr/>
          <a:lstStyle/>
          <a:p>
            <a:endParaRPr lang="ru-RU"/>
          </a:p>
        </p:txBody>
      </p:sp>
    </p:spTree>
    <p:extLst>
      <p:ext uri="{BB962C8B-B14F-4D97-AF65-F5344CB8AC3E}">
        <p14:creationId xmlns:p14="http://schemas.microsoft.com/office/powerpoint/2010/main" val="336165204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sh">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docProps/app.xml><?xml version="1.0" encoding="utf-8"?>
<Properties xmlns="http://schemas.openxmlformats.org/officeDocument/2006/extended-properties" xmlns:vt="http://schemas.openxmlformats.org/officeDocument/2006/docPropsVTypes">
  <Template>Modulo</Template>
  <TotalTime>2971</TotalTime>
  <Words>1218</Words>
  <Application>Microsoft Office PowerPoint</Application>
  <PresentationFormat>Widescreen</PresentationFormat>
  <Paragraphs>66</Paragraphs>
  <Slides>28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Century Gothic</vt:lpstr>
      <vt:lpstr>Times New Roman</vt:lpstr>
      <vt:lpstr>Mesh</vt:lpstr>
      <vt:lpstr>PowerPoint Presentation</vt:lpstr>
      <vt:lpstr>Al-Khwarizmi was born and raised in the region of Khwarazm. The year 783 is accepted as his year of birth. It is believed that he received his initial education and knowledge in various fields mainly in his homeland.  </vt:lpstr>
      <vt:lpstr>In historical sources, additional titles such as                   al-Majusi     and                                  al-Qutrubbuli  are attached to his name. </vt:lpstr>
      <vt:lpstr>PowerPoint Presentation</vt:lpstr>
      <vt:lpstr>Al-Tabari himself explicitly stated in the introduction to his famous historical chronicle (Tarikh Al-Tabari) that his method was to transmit reports as he received them from others, leaving the task of authentication to the reader or future scholars.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He called the unknown number "shay," which means "thing."</vt:lpstr>
      <vt:lpstr>PowerPoint Presentation</vt:lpstr>
      <vt:lpstr>PowerPoint Presentation</vt:lpstr>
      <vt:lpstr>This operations was known well before al-Khwarizmi. What do you think make al Khwarizmi and his work so special? </vt:lpstr>
      <vt:lpstr>PowerPoint Presentation</vt:lpstr>
      <vt:lpstr>PowerPoint Presentation</vt:lpstr>
      <vt:lpstr>PowerPoint Presentation</vt:lpstr>
      <vt:lpstr>PowerPoint Presentation</vt:lpstr>
      <vt:lpstr>PowerPoint Presentation</vt:lpstr>
      <vt:lpstr>Al-Khwarizmi also corrected Ptolemy’s major mistake about the length of the Mediterranean Sea. Ptolemy had estimated it as 63° of longitude, but Al-Khwarizmi measured it more accurately at about 50°. He also showed that the Atlantic and Indian Oceans were open seas, not closed bodies of water as Ptolemy had drawn. </vt:lpstr>
      <vt:lpstr>PowerPoint Presentation</vt:lpstr>
      <vt:lpstr>Neither the Arabic original nor the Latin translation includes the world map itself. However, scholar Hubert Daunicht was able to reconstruct the missing map using the coordinate lists. He plotted the readable coastal, river, and city coordinates on graph paper and connected them with lines, recreating an approximate version of Al-Khwarizmi’s original map. </vt:lpstr>
      <vt:lpstr>PowerPoint Presentation</vt:lpstr>
      <vt:lpstr>His Prime Meridian (the zero line of longitude) ran through the Fortunate Isles (Canary Islands), about 10° east of the one used by Ptolemy and Marinus. Later medieval Muslim geographers continued to use Al-Khwarizmi’s system.  google.com/maps/@41.818631,-34.6097067,8185117m/data=!3m1!1e3?authuser=0&amp;entry=ttu&amp;g_ep=EgoyMDI2MDkyMS4wIKXMDSoASAFQAw%3D%3D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Rahimbergan Rustamov</dc:creator>
  <cp:lastModifiedBy>Admin</cp:lastModifiedBy>
  <cp:revision>21</cp:revision>
  <dcterms:created xsi:type="dcterms:W3CDTF">2025-10-06T05:40:16Z</dcterms:created>
  <dcterms:modified xsi:type="dcterms:W3CDTF">2026-09-24T05:58:02Z</dcterms:modified>
</cp:coreProperties>
</file>