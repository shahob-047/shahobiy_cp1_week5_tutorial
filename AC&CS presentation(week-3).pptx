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89" r:id="rId22"/>
    <p:sldId id="276" r:id="rId23"/>
    <p:sldId id="277" r:id="rId24"/>
    <p:sldId id="278" r:id="rId25"/>
    <p:sldId id="279" r:id="rId26"/>
    <p:sldId id="280" r:id="rId27"/>
    <p:sldId id="290" r:id="rId28"/>
    <p:sldId id="281" r:id="rId29"/>
    <p:sldId id="282" r:id="rId30"/>
    <p:sldId id="283" r:id="rId31"/>
    <p:sldId id="284" r:id="rId32"/>
    <p:sldId id="286" r:id="rId33"/>
    <p:sldId id="287" r:id="rId34"/>
    <p:sldId id="288" r:id="rId3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0170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session has two parts: first how to LISTEN actively, then how to turn what you hear and read into useful NOTES. About 2 hours with a break after 50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outcomes aloud. Point out that Part 1 is listening and Part 2 is note-taking systems.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game: play a 30-second audio twice. First time students write what they heard. Second time they listen for meaning. Ask what changed.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with a quick example. Emphasize that concentration begins before class, with anticipation.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Comprehensive listening is a feedback loop. Stress that asking questions is a sign of engagement, not weakness.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three techniques. Ask students which one they use most naturally.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50/70 rule. Model it yourself while students speak. Remind them that eye-contact norms differ across cultures.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nodding with a student volunteer. Practice the small verbal affirmations in pairs.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rewrite two accusatory questions into respectful ones. Point out that open questions start with how, what, or tell me more.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all twelve. Ask students to pick the two they find hardest, then discuss.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10-15 minutes. Pairs. Students A and B swap roles after 2 minutes. End with the three reflection questions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Cards can be printed and cut out. Students may swap cards for a second round.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Lecturers condense years of reading into 50 minutes. Two problems: information goes by once, and it is hard to tell main points from secondary ones.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Anticipation activates prior knowledge, so the lecture becomes easier to follow.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example aloud in a sentence. Ask students what they would do with their notes when they hear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repeated points and lists are strong clues. Show the shorthand table and let students invent two of their own.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the lecturer sentence and ask them to write a note in 10 seconds. Compare with the two examples.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layout on the board first. Right column = notes, left column = cues, bottom = summary. It also works on lined paper: ignore the red margin and draw your own line.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sample page. Ask: which cue would help you recall each note? Then show how to self-test by covering the notes column.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handwritten page (Causes of WWI). Ask students to find the cues, the arrows, the stars and the margin comment. Point out that the topics on the left work as recall cues.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it for textbook reading. Distribute a short paragraph and walk through each step. Mention SQ4R as an alternative and let students try both.</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highlight in pairs first. Compare: no two sets of notes look the same, and that's fine. Sample answers are a guide only.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 the process with the second paragraph. Then use the reflection questions from the worksheet: what was easy or hard about deciding what to highlight?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draw a mind map of today's lesson in two minutes using three colors. Compare maps and notice different structures.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students: simple shapes and stick figures are enough. Show one real sketchnote if you have one. Listen first, draw second.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no single best method. Ask students to vote for the one they will try this week and say why.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shows we forget rapidly. Editing notes soon after is as important as attending the lecture itself.</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two skills to practice this week and share them with a partner next class.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have 10 seconds to correct each statement aloud. One point per correct answer. Cover the right column before revealing.</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5 minutes for writing. Ask 3-4 volunteers to share. Explain the homework and share the video link.</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two equations from the lesson plan. Thank students and remind them of the homework.</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quote taken from the original lesson deck.</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hyperlink" Target="https://youtu.be/OPnQGLdeOnA" TargetMode="External"/><Relationship Id="rId4" Type="http://schemas.openxmlformats.org/officeDocument/2006/relationships/image" Target="../media/image36.jp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4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s>
</file>

<file path=ppt/slides/_rels/slide2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3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hyperlink" Target="https://youtu.be/OPnQGLdeOnA" TargetMode="External"/><Relationship Id="rId4" Type="http://schemas.openxmlformats.org/officeDocument/2006/relationships/image" Target="../media/image64.png"/></Relationships>
</file>

<file path=ppt/slides/_rels/slide33.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ome/claude/deck/assets/waves.jpg"/>
          <p:cNvPicPr>
            <a:picLocks noChangeAspect="1"/>
          </p:cNvPicPr>
          <p:nvPr/>
        </p:nvPicPr>
        <p:blipFill>
          <a:blip r:embed="rId3"/>
          <a:stretch>
            <a:fillRect/>
          </a:stretch>
        </p:blipFill>
        <p:spPr>
          <a:xfrm>
            <a:off x="0" y="0"/>
            <a:ext cx="3429000" cy="5143500"/>
          </a:xfrm>
          <a:prstGeom prst="rect">
            <a:avLst/>
          </a:prstGeom>
        </p:spPr>
      </p:pic>
      <p:sp>
        <p:nvSpPr>
          <p:cNvPr id="3" name="Shape 0"/>
          <p:cNvSpPr/>
          <p:nvPr/>
        </p:nvSpPr>
        <p:spPr>
          <a:xfrm>
            <a:off x="3429000" y="4901184"/>
            <a:ext cx="5715000" cy="242316"/>
          </a:xfrm>
          <a:prstGeom prst="hexagon">
            <a:avLst/>
          </a:prstGeom>
          <a:solidFill>
            <a:srgbClr val="A9C1E8"/>
          </a:solidFill>
          <a:ln w="12700">
            <a:solidFill>
              <a:srgbClr val="5B8AD0"/>
            </a:solidFill>
            <a:prstDash val="solid"/>
          </a:ln>
        </p:spPr>
        <p:txBody>
          <a:bodyPr/>
          <a:lstStyle/>
          <a:p>
            <a:endParaRPr lang="en-US"/>
          </a:p>
        </p:txBody>
      </p:sp>
      <p:sp>
        <p:nvSpPr>
          <p:cNvPr id="5" name="Text 2"/>
          <p:cNvSpPr txBox="1"/>
          <p:nvPr/>
        </p:nvSpPr>
        <p:spPr>
          <a:xfrm>
            <a:off x="3931920" y="1325880"/>
            <a:ext cx="4754880" cy="1188720"/>
          </a:xfrm>
          <a:prstGeom prst="rect">
            <a:avLst/>
          </a:prstGeom>
          <a:noFill/>
          <a:ln/>
        </p:spPr>
        <p:txBody>
          <a:bodyPr wrap="square" lIns="0" tIns="0" rIns="0" bIns="0" rtlCol="0" anchor="t"/>
          <a:lstStyle/>
          <a:p>
            <a:pPr marL="0" indent="0">
              <a:buNone/>
            </a:pPr>
            <a:r>
              <a:rPr lang="en-US" sz="3800" dirty="0">
                <a:solidFill>
                  <a:srgbClr val="44546A"/>
                </a:solidFill>
                <a:latin typeface="Calibri" pitchFamily="34" charset="0"/>
                <a:ea typeface="Calibri" pitchFamily="34" charset="-122"/>
                <a:cs typeface="Calibri" pitchFamily="34" charset="-120"/>
              </a:rPr>
              <a:t>Listening and note-taking</a:t>
            </a:r>
            <a:endParaRPr lang="en-US" sz="3800" dirty="0"/>
          </a:p>
        </p:txBody>
      </p:sp>
      <p:sp>
        <p:nvSpPr>
          <p:cNvPr id="6" name="Text 3"/>
          <p:cNvSpPr txBox="1"/>
          <p:nvPr/>
        </p:nvSpPr>
        <p:spPr>
          <a:xfrm>
            <a:off x="3931920" y="2697480"/>
            <a:ext cx="4572000" cy="731520"/>
          </a:xfrm>
          <a:prstGeom prst="rect">
            <a:avLst/>
          </a:prstGeom>
          <a:noFill/>
          <a:ln/>
        </p:spPr>
        <p:txBody>
          <a:bodyPr wrap="square" lIns="0" tIns="0" rIns="0" bIns="0" rtlCol="0" anchor="t"/>
          <a:lstStyle/>
          <a:p>
            <a:pPr marL="0" indent="0">
              <a:buNone/>
            </a:pPr>
            <a:r>
              <a:rPr lang="en-US" sz="1500" dirty="0">
                <a:solidFill>
                  <a:srgbClr val="66758A"/>
                </a:solidFill>
                <a:latin typeface="Calibri" pitchFamily="34" charset="0"/>
                <a:ea typeface="Calibri" pitchFamily="34" charset="-122"/>
                <a:cs typeface="Calibri" pitchFamily="34" charset="-120"/>
              </a:rPr>
              <a:t>Hearing is a spontaneous act. Listening, by contrast, is something you choose to do.</a:t>
            </a:r>
            <a:endParaRPr lang="en-US" sz="1500" dirty="0"/>
          </a:p>
        </p:txBody>
      </p:sp>
      <p:sp>
        <p:nvSpPr>
          <p:cNvPr id="7" name="Text 4"/>
          <p:cNvSpPr txBox="1"/>
          <p:nvPr/>
        </p:nvSpPr>
        <p:spPr>
          <a:xfrm>
            <a:off x="3931920" y="3611880"/>
            <a:ext cx="4572000" cy="548640"/>
          </a:xfrm>
          <a:prstGeom prst="rect">
            <a:avLst/>
          </a:prstGeom>
          <a:noFill/>
          <a:ln/>
        </p:spPr>
        <p:txBody>
          <a:bodyPr wrap="square" lIns="0" tIns="0" rIns="0" bIns="0" rtlCol="0" anchor="t"/>
          <a:lstStyle/>
          <a:p>
            <a:pPr marL="0" indent="0">
              <a:buNone/>
            </a:pPr>
            <a:r>
              <a:rPr lang="en-US" sz="1250" i="1" dirty="0">
                <a:solidFill>
                  <a:srgbClr val="4472C4"/>
                </a:solidFill>
                <a:latin typeface="Calibri" pitchFamily="34" charset="0"/>
                <a:ea typeface="Calibri" pitchFamily="34" charset="-122"/>
                <a:cs typeface="Calibri" pitchFamily="34" charset="-120"/>
              </a:rPr>
              <a:t>Active listening · Cornell notes · Soprano technique · Mind maps · Sketchnotes</a:t>
            </a:r>
            <a:endParaRPr lang="en-US" sz="1250" dirty="0"/>
          </a:p>
        </p:txBody>
      </p:sp>
      <p:sp>
        <p:nvSpPr>
          <p:cNvPr id="8" name="Text 5"/>
          <p:cNvSpPr txBox="1"/>
          <p:nvPr/>
        </p:nvSpPr>
        <p:spPr>
          <a:xfrm>
            <a:off x="3429000" y="4901184"/>
            <a:ext cx="5715000" cy="242316"/>
          </a:xfrm>
          <a:prstGeom prst="rect">
            <a:avLst/>
          </a:prstGeom>
          <a:noFill/>
          <a:ln/>
        </p:spPr>
        <p:txBody>
          <a:bodyPr wrap="square" lIns="0" tIns="0" rIns="0" bIns="0" rtlCol="0" anchor="ctr"/>
          <a:lstStyle/>
          <a:p>
            <a:pPr marL="0" indent="0" algn="ctr">
              <a:buNone/>
            </a:pPr>
            <a:r>
              <a:rPr lang="en-US" sz="1150" b="1" dirty="0">
                <a:solidFill>
                  <a:srgbClr val="44546A"/>
                </a:solidFill>
                <a:latin typeface="Calibri" pitchFamily="34" charset="0"/>
                <a:ea typeface="Calibri" pitchFamily="34" charset="-122"/>
                <a:cs typeface="Calibri" pitchFamily="34" charset="-120"/>
              </a:rPr>
              <a:t>Academic writing and communication skills</a:t>
            </a:r>
            <a:endParaRPr lang="en-US" sz="1150" dirty="0"/>
          </a:p>
        </p:txBody>
      </p:sp>
      <p:sp>
        <p:nvSpPr>
          <p:cNvPr id="10" name="Text 0">
            <a:extLst>
              <a:ext uri="{FF2B5EF4-FFF2-40B4-BE49-F238E27FC236}">
                <a16:creationId xmlns:a16="http://schemas.microsoft.com/office/drawing/2014/main" id="{911189F9-B1C4-4FD8-08F7-2037AEA6073B}"/>
              </a:ext>
            </a:extLst>
          </p:cNvPr>
          <p:cNvSpPr txBox="1"/>
          <p:nvPr/>
        </p:nvSpPr>
        <p:spPr>
          <a:xfrm>
            <a:off x="3664127" y="585216"/>
            <a:ext cx="5199022" cy="320040"/>
          </a:xfrm>
          <a:prstGeom prst="rect">
            <a:avLst/>
          </a:prstGeom>
          <a:noFill/>
          <a:ln/>
        </p:spPr>
        <p:txBody>
          <a:bodyPr wrap="square" lIns="0" tIns="0" rIns="0" bIns="0" rtlCol="0" anchor="t"/>
          <a:lstStyle/>
          <a:p>
            <a:pPr marL="0" indent="0" algn="ctr">
              <a:buNone/>
            </a:pPr>
            <a:r>
              <a:rPr lang="en-US" sz="1300" b="1" kern="0" spc="150" dirty="0">
                <a:solidFill>
                  <a:srgbClr val="3E63B5"/>
                </a:solidFill>
                <a:latin typeface="Calibri" pitchFamily="34" charset="0"/>
                <a:ea typeface="Calibri" pitchFamily="34" charset="-122"/>
                <a:cs typeface="Calibri" pitchFamily="34" charset="-120"/>
              </a:rPr>
              <a:t>HASS 101|ACADEMIC AND COMMUNICATION SKILLS|WEEK 3</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TODAY'S PLAN</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What you will be able to do</a:t>
            </a:r>
            <a:endParaRPr lang="en-US" sz="3000" dirty="0"/>
          </a:p>
        </p:txBody>
      </p:sp>
      <p:sp>
        <p:nvSpPr>
          <p:cNvPr id="6" name="Shape 3"/>
          <p:cNvSpPr/>
          <p:nvPr/>
        </p:nvSpPr>
        <p:spPr>
          <a:xfrm>
            <a:off x="457200" y="1280160"/>
            <a:ext cx="4023360" cy="1463040"/>
          </a:xfrm>
          <a:prstGeom prst="roundRect">
            <a:avLst>
              <a:gd name="adj" fmla="val 5000"/>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685800" y="1554480"/>
            <a:ext cx="685800" cy="685800"/>
          </a:xfrm>
          <a:prstGeom prst="ellipse">
            <a:avLst/>
          </a:prstGeom>
          <a:solidFill>
            <a:srgbClr val="D8641A"/>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857250" y="1725930"/>
            <a:ext cx="342900" cy="342900"/>
          </a:xfrm>
          <a:prstGeom prst="rect">
            <a:avLst/>
          </a:prstGeom>
        </p:spPr>
      </p:pic>
      <p:sp>
        <p:nvSpPr>
          <p:cNvPr id="9" name="Text 5"/>
          <p:cNvSpPr txBox="1"/>
          <p:nvPr/>
        </p:nvSpPr>
        <p:spPr>
          <a:xfrm>
            <a:off x="1554480" y="1508760"/>
            <a:ext cx="2743200" cy="365760"/>
          </a:xfrm>
          <a:prstGeom prst="rect">
            <a:avLst/>
          </a:prstGeom>
          <a:noFill/>
          <a:ln/>
        </p:spPr>
        <p:txBody>
          <a:bodyPr wrap="square" lIns="0" tIns="0" rIns="0" bIns="0" rtlCol="0" anchor="t"/>
          <a:lstStyle/>
          <a:p>
            <a:pPr marL="0" indent="0">
              <a:buNone/>
            </a:pPr>
            <a:r>
              <a:rPr lang="en-US" sz="1600" b="1" dirty="0">
                <a:solidFill>
                  <a:srgbClr val="44546A"/>
                </a:solidFill>
                <a:latin typeface="Calibri" pitchFamily="34" charset="0"/>
                <a:ea typeface="Calibri" pitchFamily="34" charset="-122"/>
                <a:cs typeface="Calibri" pitchFamily="34" charset="-120"/>
              </a:rPr>
              <a:t>Tell hearing from listening</a:t>
            </a:r>
            <a:endParaRPr lang="en-US" sz="1600" dirty="0"/>
          </a:p>
        </p:txBody>
      </p:sp>
      <p:sp>
        <p:nvSpPr>
          <p:cNvPr id="10" name="Text 6"/>
          <p:cNvSpPr txBox="1"/>
          <p:nvPr/>
        </p:nvSpPr>
        <p:spPr>
          <a:xfrm>
            <a:off x="1554480" y="1901952"/>
            <a:ext cx="2743200" cy="731520"/>
          </a:xfrm>
          <a:prstGeom prst="rect">
            <a:avLst/>
          </a:prstGeom>
          <a:noFill/>
          <a:ln/>
        </p:spPr>
        <p:txBody>
          <a:bodyPr wrap="square" lIns="0" tIns="0" rIns="0" bIns="0" rtlCol="0" anchor="t"/>
          <a:lstStyle/>
          <a:p>
            <a:pPr marL="0" indent="0">
              <a:buNone/>
            </a:pPr>
            <a:r>
              <a:rPr lang="en-US" sz="1250" dirty="0">
                <a:solidFill>
                  <a:srgbClr val="66758A"/>
                </a:solidFill>
                <a:latin typeface="Calibri" pitchFamily="34" charset="0"/>
                <a:ea typeface="Calibri" pitchFamily="34" charset="-122"/>
                <a:cs typeface="Calibri" pitchFamily="34" charset="-120"/>
              </a:rPr>
              <a:t>Understand why listening is a choice, not an accident.</a:t>
            </a:r>
            <a:endParaRPr lang="en-US" sz="1250" dirty="0"/>
          </a:p>
        </p:txBody>
      </p:sp>
      <p:sp>
        <p:nvSpPr>
          <p:cNvPr id="11" name="Shape 7"/>
          <p:cNvSpPr/>
          <p:nvPr/>
        </p:nvSpPr>
        <p:spPr>
          <a:xfrm>
            <a:off x="4663440" y="1280160"/>
            <a:ext cx="4023360" cy="1463040"/>
          </a:xfrm>
          <a:prstGeom prst="roundRect">
            <a:avLst>
              <a:gd name="adj" fmla="val 5000"/>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12" name="Shape 8"/>
          <p:cNvSpPr/>
          <p:nvPr/>
        </p:nvSpPr>
        <p:spPr>
          <a:xfrm>
            <a:off x="4892040" y="1554480"/>
            <a:ext cx="685800" cy="685800"/>
          </a:xfrm>
          <a:prstGeom prst="ellipse">
            <a:avLst/>
          </a:prstGeom>
          <a:solidFill>
            <a:srgbClr val="4472C4"/>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5063490" y="1725930"/>
            <a:ext cx="342900" cy="342900"/>
          </a:xfrm>
          <a:prstGeom prst="rect">
            <a:avLst/>
          </a:prstGeom>
        </p:spPr>
      </p:pic>
      <p:sp>
        <p:nvSpPr>
          <p:cNvPr id="14" name="Text 9"/>
          <p:cNvSpPr txBox="1"/>
          <p:nvPr/>
        </p:nvSpPr>
        <p:spPr>
          <a:xfrm>
            <a:off x="5760720" y="1508760"/>
            <a:ext cx="2743200" cy="365760"/>
          </a:xfrm>
          <a:prstGeom prst="rect">
            <a:avLst/>
          </a:prstGeom>
          <a:noFill/>
          <a:ln/>
        </p:spPr>
        <p:txBody>
          <a:bodyPr wrap="square" lIns="0" tIns="0" rIns="0" bIns="0" rtlCol="0" anchor="t"/>
          <a:lstStyle/>
          <a:p>
            <a:pPr marL="0" indent="0">
              <a:buNone/>
            </a:pPr>
            <a:r>
              <a:rPr lang="en-US" sz="1600" b="1" dirty="0">
                <a:solidFill>
                  <a:srgbClr val="44546A"/>
                </a:solidFill>
                <a:latin typeface="Calibri" pitchFamily="34" charset="0"/>
                <a:ea typeface="Calibri" pitchFamily="34" charset="-122"/>
                <a:cs typeface="Calibri" pitchFamily="34" charset="-120"/>
              </a:rPr>
              <a:t>Use active listening skills</a:t>
            </a:r>
            <a:endParaRPr lang="en-US" sz="1600" dirty="0"/>
          </a:p>
        </p:txBody>
      </p:sp>
      <p:sp>
        <p:nvSpPr>
          <p:cNvPr id="15" name="Text 10"/>
          <p:cNvSpPr txBox="1"/>
          <p:nvPr/>
        </p:nvSpPr>
        <p:spPr>
          <a:xfrm>
            <a:off x="5760720" y="1901952"/>
            <a:ext cx="2743200" cy="731520"/>
          </a:xfrm>
          <a:prstGeom prst="rect">
            <a:avLst/>
          </a:prstGeom>
          <a:noFill/>
          <a:ln/>
        </p:spPr>
        <p:txBody>
          <a:bodyPr wrap="square" lIns="0" tIns="0" rIns="0" bIns="0" rtlCol="0" anchor="t"/>
          <a:lstStyle/>
          <a:p>
            <a:pPr marL="0" indent="0">
              <a:buNone/>
            </a:pPr>
            <a:r>
              <a:rPr lang="en-US" sz="1250" dirty="0">
                <a:solidFill>
                  <a:srgbClr val="66758A"/>
                </a:solidFill>
                <a:latin typeface="Calibri" pitchFamily="34" charset="0"/>
                <a:ea typeface="Calibri" pitchFamily="34" charset="-122"/>
                <a:cs typeface="Calibri" pitchFamily="34" charset="-120"/>
              </a:rPr>
              <a:t>Eye contact, nodding and clarifying questions in real conversations.</a:t>
            </a:r>
            <a:endParaRPr lang="en-US" sz="1250" dirty="0"/>
          </a:p>
        </p:txBody>
      </p:sp>
      <p:sp>
        <p:nvSpPr>
          <p:cNvPr id="16" name="Shape 11"/>
          <p:cNvSpPr/>
          <p:nvPr/>
        </p:nvSpPr>
        <p:spPr>
          <a:xfrm>
            <a:off x="457200" y="2926080"/>
            <a:ext cx="4023360" cy="1463040"/>
          </a:xfrm>
          <a:prstGeom prst="roundRect">
            <a:avLst>
              <a:gd name="adj" fmla="val 5000"/>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17" name="Shape 12"/>
          <p:cNvSpPr/>
          <p:nvPr/>
        </p:nvSpPr>
        <p:spPr>
          <a:xfrm>
            <a:off x="685800" y="3200400"/>
            <a:ext cx="685800" cy="685800"/>
          </a:xfrm>
          <a:prstGeom prst="ellipse">
            <a:avLst/>
          </a:prstGeom>
          <a:solidFill>
            <a:srgbClr val="FFC000"/>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857250" y="3371850"/>
            <a:ext cx="342900" cy="342900"/>
          </a:xfrm>
          <a:prstGeom prst="rect">
            <a:avLst/>
          </a:prstGeom>
        </p:spPr>
      </p:pic>
      <p:sp>
        <p:nvSpPr>
          <p:cNvPr id="19" name="Text 13"/>
          <p:cNvSpPr txBox="1"/>
          <p:nvPr/>
        </p:nvSpPr>
        <p:spPr>
          <a:xfrm>
            <a:off x="1554480" y="3154680"/>
            <a:ext cx="2743200" cy="365760"/>
          </a:xfrm>
          <a:prstGeom prst="rect">
            <a:avLst/>
          </a:prstGeom>
          <a:noFill/>
          <a:ln/>
        </p:spPr>
        <p:txBody>
          <a:bodyPr wrap="square" lIns="0" tIns="0" rIns="0" bIns="0" rtlCol="0" anchor="t"/>
          <a:lstStyle/>
          <a:p>
            <a:pPr marL="0" indent="0">
              <a:buNone/>
            </a:pPr>
            <a:r>
              <a:rPr lang="en-US" sz="1600" b="1" dirty="0">
                <a:solidFill>
                  <a:srgbClr val="44546A"/>
                </a:solidFill>
                <a:latin typeface="Calibri" pitchFamily="34" charset="0"/>
                <a:ea typeface="Calibri" pitchFamily="34" charset="-122"/>
                <a:cs typeface="Calibri" pitchFamily="34" charset="-120"/>
              </a:rPr>
              <a:t>Apply note-taking systems</a:t>
            </a:r>
            <a:endParaRPr lang="en-US" sz="1600" dirty="0"/>
          </a:p>
        </p:txBody>
      </p:sp>
      <p:sp>
        <p:nvSpPr>
          <p:cNvPr id="20" name="Text 14"/>
          <p:cNvSpPr txBox="1"/>
          <p:nvPr/>
        </p:nvSpPr>
        <p:spPr>
          <a:xfrm>
            <a:off x="1554480" y="3547872"/>
            <a:ext cx="2743200" cy="731520"/>
          </a:xfrm>
          <a:prstGeom prst="rect">
            <a:avLst/>
          </a:prstGeom>
          <a:noFill/>
          <a:ln/>
        </p:spPr>
        <p:txBody>
          <a:bodyPr wrap="square" lIns="0" tIns="0" rIns="0" bIns="0" rtlCol="0" anchor="t"/>
          <a:lstStyle/>
          <a:p>
            <a:pPr marL="0" indent="0">
              <a:buNone/>
            </a:pPr>
            <a:r>
              <a:rPr lang="en-US" sz="1250" dirty="0">
                <a:solidFill>
                  <a:srgbClr val="66758A"/>
                </a:solidFill>
                <a:latin typeface="Calibri" pitchFamily="34" charset="0"/>
                <a:ea typeface="Calibri" pitchFamily="34" charset="-122"/>
                <a:cs typeface="Calibri" pitchFamily="34" charset="-120"/>
              </a:rPr>
              <a:t>Cornell, Soprano, mind maps and sketchnotes, and when to use each.</a:t>
            </a:r>
            <a:endParaRPr lang="en-US" sz="1250" dirty="0"/>
          </a:p>
        </p:txBody>
      </p:sp>
      <p:sp>
        <p:nvSpPr>
          <p:cNvPr id="21" name="Shape 15"/>
          <p:cNvSpPr/>
          <p:nvPr/>
        </p:nvSpPr>
        <p:spPr>
          <a:xfrm>
            <a:off x="4663440" y="2926080"/>
            <a:ext cx="4023360" cy="1463040"/>
          </a:xfrm>
          <a:prstGeom prst="roundRect">
            <a:avLst>
              <a:gd name="adj" fmla="val 5000"/>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22" name="Shape 16"/>
          <p:cNvSpPr/>
          <p:nvPr/>
        </p:nvSpPr>
        <p:spPr>
          <a:xfrm>
            <a:off x="4892040" y="3200400"/>
            <a:ext cx="685800" cy="685800"/>
          </a:xfrm>
          <a:prstGeom prst="ellipse">
            <a:avLst/>
          </a:prstGeom>
          <a:solidFill>
            <a:srgbClr val="4E8A2E"/>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5063490" y="3371850"/>
            <a:ext cx="342900" cy="342900"/>
          </a:xfrm>
          <a:prstGeom prst="rect">
            <a:avLst/>
          </a:prstGeom>
        </p:spPr>
      </p:pic>
      <p:sp>
        <p:nvSpPr>
          <p:cNvPr id="24" name="Text 17"/>
          <p:cNvSpPr txBox="1"/>
          <p:nvPr/>
        </p:nvSpPr>
        <p:spPr>
          <a:xfrm>
            <a:off x="5760720" y="3154680"/>
            <a:ext cx="2743200" cy="365760"/>
          </a:xfrm>
          <a:prstGeom prst="rect">
            <a:avLst/>
          </a:prstGeom>
          <a:noFill/>
          <a:ln/>
        </p:spPr>
        <p:txBody>
          <a:bodyPr wrap="square" lIns="0" tIns="0" rIns="0" bIns="0" rtlCol="0" anchor="t"/>
          <a:lstStyle/>
          <a:p>
            <a:pPr marL="0" indent="0">
              <a:buNone/>
            </a:pPr>
            <a:r>
              <a:rPr lang="en-US" sz="1600" b="1" dirty="0">
                <a:solidFill>
                  <a:srgbClr val="44546A"/>
                </a:solidFill>
                <a:latin typeface="Calibri" pitchFamily="34" charset="0"/>
                <a:ea typeface="Calibri" pitchFamily="34" charset="-122"/>
                <a:cs typeface="Calibri" pitchFamily="34" charset="-120"/>
              </a:rPr>
              <a:t>Reflect and improve</a:t>
            </a:r>
            <a:endParaRPr lang="en-US" sz="1600" dirty="0"/>
          </a:p>
        </p:txBody>
      </p:sp>
      <p:sp>
        <p:nvSpPr>
          <p:cNvPr id="25" name="Text 18"/>
          <p:cNvSpPr txBox="1"/>
          <p:nvPr/>
        </p:nvSpPr>
        <p:spPr>
          <a:xfrm>
            <a:off x="5760720" y="3547872"/>
            <a:ext cx="2743200" cy="731520"/>
          </a:xfrm>
          <a:prstGeom prst="rect">
            <a:avLst/>
          </a:prstGeom>
          <a:noFill/>
          <a:ln/>
        </p:spPr>
        <p:txBody>
          <a:bodyPr wrap="square" lIns="0" tIns="0" rIns="0" bIns="0" rtlCol="0" anchor="t"/>
          <a:lstStyle/>
          <a:p>
            <a:pPr marL="0" indent="0">
              <a:buNone/>
            </a:pPr>
            <a:r>
              <a:rPr lang="en-US" sz="1250" dirty="0">
                <a:solidFill>
                  <a:srgbClr val="66758A"/>
                </a:solidFill>
                <a:latin typeface="Calibri" pitchFamily="34" charset="0"/>
                <a:ea typeface="Calibri" pitchFamily="34" charset="-122"/>
                <a:cs typeface="Calibri" pitchFamily="34" charset="-120"/>
              </a:rPr>
              <a:t>Review your own notes and habits, then decide what works for you.</a:t>
            </a:r>
            <a:endParaRPr lang="en-US" sz="1250" dirty="0"/>
          </a:p>
        </p:txBody>
      </p:sp>
      <p:sp>
        <p:nvSpPr>
          <p:cNvPr id="26" name="Text 19"/>
          <p:cNvSpPr txBox="1"/>
          <p:nvPr/>
        </p:nvSpPr>
        <p:spPr>
          <a:xfrm>
            <a:off x="457200" y="4480560"/>
            <a:ext cx="8229600" cy="274320"/>
          </a:xfrm>
          <a:prstGeom prst="rect">
            <a:avLst/>
          </a:prstGeom>
          <a:noFill/>
          <a:ln/>
        </p:spPr>
        <p:txBody>
          <a:bodyPr wrap="square" lIns="0" tIns="0" rIns="0" bIns="0" rtlCol="0" anchor="t"/>
          <a:lstStyle/>
          <a:p>
            <a:pPr marL="0" indent="0" algn="ctr">
              <a:buNone/>
            </a:pPr>
            <a:r>
              <a:rPr lang="en-US" sz="1200" b="1" dirty="0">
                <a:solidFill>
                  <a:srgbClr val="66758A"/>
                </a:solidFill>
                <a:latin typeface="Calibri" pitchFamily="34" charset="0"/>
                <a:ea typeface="Calibri" pitchFamily="34" charset="-122"/>
                <a:cs typeface="Calibri" pitchFamily="34" charset="-120"/>
              </a:rPr>
              <a:t>Part 1: Listening skills          Part 2: Note-taking systems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PART 1 · LISTENING</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Hearing vs. listening</a:t>
            </a:r>
            <a:endParaRPr lang="en-US" sz="3000" dirty="0"/>
          </a:p>
        </p:txBody>
      </p:sp>
      <p:sp>
        <p:nvSpPr>
          <p:cNvPr id="6" name="Shape 3"/>
          <p:cNvSpPr/>
          <p:nvPr/>
        </p:nvSpPr>
        <p:spPr>
          <a:xfrm>
            <a:off x="457200" y="1280160"/>
            <a:ext cx="3931920" cy="2103120"/>
          </a:xfrm>
          <a:prstGeom prst="roundRect">
            <a:avLst>
              <a:gd name="adj" fmla="val 3478"/>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685800" y="1463040"/>
            <a:ext cx="548640" cy="548640"/>
          </a:xfrm>
          <a:prstGeom prst="ellipse">
            <a:avLst/>
          </a:prstGeom>
          <a:solidFill>
            <a:srgbClr val="66758A"/>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822960" y="1600200"/>
            <a:ext cx="274320" cy="274320"/>
          </a:xfrm>
          <a:prstGeom prst="rect">
            <a:avLst/>
          </a:prstGeom>
        </p:spPr>
      </p:pic>
      <p:sp>
        <p:nvSpPr>
          <p:cNvPr id="9" name="Text 5"/>
          <p:cNvSpPr txBox="1"/>
          <p:nvPr/>
        </p:nvSpPr>
        <p:spPr>
          <a:xfrm>
            <a:off x="1371600" y="1508760"/>
            <a:ext cx="2743200" cy="457200"/>
          </a:xfrm>
          <a:prstGeom prst="rect">
            <a:avLst/>
          </a:prstGeom>
          <a:noFill/>
          <a:ln/>
        </p:spPr>
        <p:txBody>
          <a:bodyPr wrap="square" lIns="0" tIns="0" rIns="0" bIns="0" rtlCol="0" anchor="t"/>
          <a:lstStyle/>
          <a:p>
            <a:pPr marL="0" indent="0">
              <a:buNone/>
            </a:pPr>
            <a:r>
              <a:rPr lang="en-US" sz="2200" b="1" dirty="0">
                <a:solidFill>
                  <a:srgbClr val="66758A"/>
                </a:solidFill>
                <a:latin typeface="Calibri" pitchFamily="34" charset="0"/>
                <a:ea typeface="Calibri" pitchFamily="34" charset="-122"/>
                <a:cs typeface="Calibri" pitchFamily="34" charset="-120"/>
              </a:rPr>
              <a:t>Hearing</a:t>
            </a:r>
            <a:endParaRPr lang="en-US" sz="2200" dirty="0"/>
          </a:p>
        </p:txBody>
      </p:sp>
      <p:sp>
        <p:nvSpPr>
          <p:cNvPr id="10" name="Text 6"/>
          <p:cNvSpPr txBox="1"/>
          <p:nvPr/>
        </p:nvSpPr>
        <p:spPr>
          <a:xfrm>
            <a:off x="685800" y="2194560"/>
            <a:ext cx="356616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22B36"/>
                </a:solidFill>
                <a:latin typeface="Calibri" pitchFamily="34" charset="0"/>
                <a:ea typeface="Calibri" pitchFamily="34" charset="-122"/>
                <a:cs typeface="Calibri" pitchFamily="34" charset="-120"/>
              </a:rPr>
              <a:t>Spontaneous: it just happens</a:t>
            </a:r>
            <a:endParaRPr lang="en-US" sz="1300" dirty="0"/>
          </a:p>
          <a:p>
            <a:pPr marL="342900" indent="-342900">
              <a:spcAft>
                <a:spcPts val="400"/>
              </a:spcAft>
              <a:buSzPct val="100000"/>
              <a:buChar char="•"/>
            </a:pPr>
            <a:r>
              <a:rPr lang="en-US" sz="1300" dirty="0">
                <a:solidFill>
                  <a:srgbClr val="222B36"/>
                </a:solidFill>
                <a:latin typeface="Calibri" pitchFamily="34" charset="0"/>
                <a:ea typeface="Calibri" pitchFamily="34" charset="-122"/>
                <a:cs typeface="Calibri" pitchFamily="34" charset="-120"/>
              </a:rPr>
              <a:t>Sound reaches your ears</a:t>
            </a:r>
            <a:endParaRPr lang="en-US" sz="1300" dirty="0"/>
          </a:p>
          <a:p>
            <a:pPr marL="342900" indent="-342900">
              <a:spcAft>
                <a:spcPts val="400"/>
              </a:spcAft>
              <a:buSzPct val="100000"/>
              <a:buChar char="•"/>
            </a:pPr>
            <a:r>
              <a:rPr lang="en-US" sz="1300" dirty="0">
                <a:solidFill>
                  <a:srgbClr val="222B36"/>
                </a:solidFill>
                <a:latin typeface="Calibri" pitchFamily="34" charset="0"/>
                <a:ea typeface="Calibri" pitchFamily="34" charset="-122"/>
                <a:cs typeface="Calibri" pitchFamily="34" charset="-120"/>
              </a:rPr>
              <a:t>No effort or understanding needed</a:t>
            </a:r>
            <a:endParaRPr lang="en-US" sz="1300" dirty="0"/>
          </a:p>
          <a:p>
            <a:pPr marL="342900" indent="-342900">
              <a:spcAft>
                <a:spcPts val="400"/>
              </a:spcAft>
              <a:buSzPct val="100000"/>
              <a:buChar char="•"/>
            </a:pPr>
            <a:r>
              <a:rPr lang="en-US" sz="1300" i="1" dirty="0">
                <a:solidFill>
                  <a:srgbClr val="222B36"/>
                </a:solidFill>
                <a:latin typeface="Calibri" pitchFamily="34" charset="0"/>
                <a:ea typeface="Calibri" pitchFamily="34" charset="-122"/>
                <a:cs typeface="Calibri" pitchFamily="34" charset="-120"/>
              </a:rPr>
              <a:t>Example: traffic noise while you study</a:t>
            </a:r>
            <a:endParaRPr lang="en-US" sz="1300" dirty="0"/>
          </a:p>
        </p:txBody>
      </p:sp>
      <p:sp>
        <p:nvSpPr>
          <p:cNvPr id="11" name="Shape 7"/>
          <p:cNvSpPr/>
          <p:nvPr/>
        </p:nvSpPr>
        <p:spPr>
          <a:xfrm>
            <a:off x="4754880" y="1280160"/>
            <a:ext cx="3931920" cy="2103120"/>
          </a:xfrm>
          <a:prstGeom prst="roundRect">
            <a:avLst>
              <a:gd name="adj" fmla="val 3478"/>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12" name="Shape 8"/>
          <p:cNvSpPr/>
          <p:nvPr/>
        </p:nvSpPr>
        <p:spPr>
          <a:xfrm>
            <a:off x="4983480" y="1463040"/>
            <a:ext cx="548640" cy="548640"/>
          </a:xfrm>
          <a:prstGeom prst="ellipse">
            <a:avLst/>
          </a:prstGeom>
          <a:solidFill>
            <a:srgbClr val="D8641A"/>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5120640" y="1600200"/>
            <a:ext cx="274320" cy="274320"/>
          </a:xfrm>
          <a:prstGeom prst="rect">
            <a:avLst/>
          </a:prstGeom>
        </p:spPr>
      </p:pic>
      <p:sp>
        <p:nvSpPr>
          <p:cNvPr id="14" name="Text 9"/>
          <p:cNvSpPr txBox="1"/>
          <p:nvPr/>
        </p:nvSpPr>
        <p:spPr>
          <a:xfrm>
            <a:off x="5669280" y="1508760"/>
            <a:ext cx="2743200" cy="457200"/>
          </a:xfrm>
          <a:prstGeom prst="rect">
            <a:avLst/>
          </a:prstGeom>
          <a:noFill/>
          <a:ln/>
        </p:spPr>
        <p:txBody>
          <a:bodyPr wrap="square" lIns="0" tIns="0" rIns="0" bIns="0" rtlCol="0" anchor="t"/>
          <a:lstStyle/>
          <a:p>
            <a:pPr marL="0" indent="0">
              <a:buNone/>
            </a:pPr>
            <a:r>
              <a:rPr lang="en-US" sz="2200" b="1" dirty="0">
                <a:solidFill>
                  <a:srgbClr val="D8641A"/>
                </a:solidFill>
                <a:latin typeface="Calibri" pitchFamily="34" charset="0"/>
                <a:ea typeface="Calibri" pitchFamily="34" charset="-122"/>
                <a:cs typeface="Calibri" pitchFamily="34" charset="-120"/>
              </a:rPr>
              <a:t>Listening</a:t>
            </a:r>
            <a:endParaRPr lang="en-US" sz="2200" dirty="0"/>
          </a:p>
        </p:txBody>
      </p:sp>
      <p:sp>
        <p:nvSpPr>
          <p:cNvPr id="15" name="Text 10"/>
          <p:cNvSpPr txBox="1"/>
          <p:nvPr/>
        </p:nvSpPr>
        <p:spPr>
          <a:xfrm>
            <a:off x="4983480" y="2194560"/>
            <a:ext cx="356616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22B36"/>
                </a:solidFill>
                <a:latin typeface="Calibri" pitchFamily="34" charset="0"/>
                <a:ea typeface="Calibri" pitchFamily="34" charset="-122"/>
                <a:cs typeface="Calibri" pitchFamily="34" charset="-120"/>
              </a:rPr>
              <a:t>A choice you make on purpose</a:t>
            </a:r>
            <a:endParaRPr lang="en-US" sz="1300" dirty="0"/>
          </a:p>
          <a:p>
            <a:pPr marL="342900" indent="-342900">
              <a:spcAft>
                <a:spcPts val="400"/>
              </a:spcAft>
              <a:buSzPct val="100000"/>
              <a:buChar char="•"/>
            </a:pPr>
            <a:r>
              <a:rPr lang="en-US" sz="1300" dirty="0">
                <a:solidFill>
                  <a:srgbClr val="222B36"/>
                </a:solidFill>
                <a:latin typeface="Calibri" pitchFamily="34" charset="0"/>
                <a:ea typeface="Calibri" pitchFamily="34" charset="-122"/>
                <a:cs typeface="Calibri" pitchFamily="34" charset="-120"/>
              </a:rPr>
              <a:t>You hear AND understand</a:t>
            </a:r>
            <a:endParaRPr lang="en-US" sz="1300" dirty="0"/>
          </a:p>
          <a:p>
            <a:pPr marL="342900" indent="-342900">
              <a:spcAft>
                <a:spcPts val="400"/>
              </a:spcAft>
              <a:buSzPct val="100000"/>
              <a:buChar char="•"/>
            </a:pPr>
            <a:r>
              <a:rPr lang="en-US" sz="1300" dirty="0">
                <a:solidFill>
                  <a:srgbClr val="222B36"/>
                </a:solidFill>
                <a:latin typeface="Calibri" pitchFamily="34" charset="0"/>
                <a:ea typeface="Calibri" pitchFamily="34" charset="-122"/>
                <a:cs typeface="Calibri" pitchFamily="34" charset="-120"/>
              </a:rPr>
              <a:t>Needs attention and effort</a:t>
            </a:r>
            <a:endParaRPr lang="en-US" sz="1300" dirty="0"/>
          </a:p>
          <a:p>
            <a:pPr marL="342900" indent="-342900">
              <a:spcAft>
                <a:spcPts val="400"/>
              </a:spcAft>
              <a:buSzPct val="100000"/>
              <a:buChar char="•"/>
            </a:pPr>
            <a:r>
              <a:rPr lang="en-US" sz="1300" i="1" dirty="0">
                <a:solidFill>
                  <a:srgbClr val="222B36"/>
                </a:solidFill>
                <a:latin typeface="Calibri" pitchFamily="34" charset="0"/>
                <a:ea typeface="Calibri" pitchFamily="34" charset="-122"/>
                <a:cs typeface="Calibri" pitchFamily="34" charset="-120"/>
              </a:rPr>
              <a:t>Example: following the main points of a lecture</a:t>
            </a:r>
            <a:endParaRPr lang="en-US" sz="1300" dirty="0"/>
          </a:p>
        </p:txBody>
      </p:sp>
      <p:sp>
        <p:nvSpPr>
          <p:cNvPr id="16" name="Shape 11"/>
          <p:cNvSpPr/>
          <p:nvPr/>
        </p:nvSpPr>
        <p:spPr>
          <a:xfrm>
            <a:off x="777240" y="3749040"/>
            <a:ext cx="1737360" cy="640080"/>
          </a:xfrm>
          <a:prstGeom prst="roundRect">
            <a:avLst>
              <a:gd name="adj" fmla="val 50000"/>
            </a:avLst>
          </a:prstGeom>
          <a:solidFill>
            <a:srgbClr val="44546A"/>
          </a:solidFill>
          <a:ln/>
        </p:spPr>
        <p:txBody>
          <a:bodyPr/>
          <a:lstStyle/>
          <a:p>
            <a:endParaRPr lang="en-US"/>
          </a:p>
        </p:txBody>
      </p:sp>
      <p:sp>
        <p:nvSpPr>
          <p:cNvPr id="17" name="Text 12"/>
          <p:cNvSpPr txBox="1"/>
          <p:nvPr/>
        </p:nvSpPr>
        <p:spPr>
          <a:xfrm>
            <a:off x="777240" y="3749040"/>
            <a:ext cx="173736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Listening</a:t>
            </a:r>
            <a:endParaRPr lang="en-US" sz="1600" dirty="0"/>
          </a:p>
        </p:txBody>
      </p:sp>
      <p:sp>
        <p:nvSpPr>
          <p:cNvPr id="18" name="Text 13"/>
          <p:cNvSpPr txBox="1"/>
          <p:nvPr/>
        </p:nvSpPr>
        <p:spPr>
          <a:xfrm>
            <a:off x="2514600" y="3749040"/>
            <a:ext cx="457200" cy="640080"/>
          </a:xfrm>
          <a:prstGeom prst="rect">
            <a:avLst/>
          </a:prstGeom>
          <a:noFill/>
          <a:ln/>
        </p:spPr>
        <p:txBody>
          <a:bodyPr wrap="square" lIns="0" tIns="0" rIns="0" bIns="0" rtlCol="0" anchor="ctr"/>
          <a:lstStyle/>
          <a:p>
            <a:pPr marL="0" indent="0" algn="ctr">
              <a:buNone/>
            </a:pPr>
            <a:r>
              <a:rPr lang="en-US" sz="2400" b="1" dirty="0">
                <a:solidFill>
                  <a:srgbClr val="D8641A"/>
                </a:solidFill>
                <a:latin typeface="Calibri" pitchFamily="34" charset="0"/>
                <a:ea typeface="Calibri" pitchFamily="34" charset="-122"/>
                <a:cs typeface="Calibri" pitchFamily="34" charset="-120"/>
              </a:rPr>
              <a:t>=</a:t>
            </a:r>
            <a:endParaRPr lang="en-US" sz="2400" dirty="0"/>
          </a:p>
        </p:txBody>
      </p:sp>
      <p:sp>
        <p:nvSpPr>
          <p:cNvPr id="19" name="Shape 14"/>
          <p:cNvSpPr/>
          <p:nvPr/>
        </p:nvSpPr>
        <p:spPr>
          <a:xfrm>
            <a:off x="2971800" y="3749040"/>
            <a:ext cx="1371600" cy="640080"/>
          </a:xfrm>
          <a:prstGeom prst="roundRect">
            <a:avLst>
              <a:gd name="adj" fmla="val 50000"/>
            </a:avLst>
          </a:prstGeom>
          <a:solidFill>
            <a:srgbClr val="DAE3F3"/>
          </a:solidFill>
          <a:ln/>
        </p:spPr>
        <p:txBody>
          <a:bodyPr/>
          <a:lstStyle/>
          <a:p>
            <a:endParaRPr lang="en-US"/>
          </a:p>
        </p:txBody>
      </p:sp>
      <p:sp>
        <p:nvSpPr>
          <p:cNvPr id="20" name="Text 15"/>
          <p:cNvSpPr txBox="1"/>
          <p:nvPr/>
        </p:nvSpPr>
        <p:spPr>
          <a:xfrm>
            <a:off x="2971800" y="3749040"/>
            <a:ext cx="1371600" cy="640080"/>
          </a:xfrm>
          <a:prstGeom prst="rect">
            <a:avLst/>
          </a:prstGeom>
          <a:noFill/>
          <a:ln/>
        </p:spPr>
        <p:txBody>
          <a:bodyPr wrap="square" lIns="0" tIns="0" rIns="0" bIns="0" rtlCol="0" anchor="ctr"/>
          <a:lstStyle/>
          <a:p>
            <a:pPr marL="0" indent="0" algn="ctr">
              <a:buNone/>
            </a:pPr>
            <a:r>
              <a:rPr lang="en-US" sz="1600" b="1" dirty="0">
                <a:solidFill>
                  <a:srgbClr val="44546A"/>
                </a:solidFill>
                <a:latin typeface="Calibri" pitchFamily="34" charset="0"/>
                <a:ea typeface="Calibri" pitchFamily="34" charset="-122"/>
                <a:cs typeface="Calibri" pitchFamily="34" charset="-120"/>
              </a:rPr>
              <a:t>Hearing</a:t>
            </a:r>
            <a:endParaRPr lang="en-US" sz="1600" dirty="0"/>
          </a:p>
        </p:txBody>
      </p:sp>
      <p:sp>
        <p:nvSpPr>
          <p:cNvPr id="21" name="Text 16"/>
          <p:cNvSpPr txBox="1"/>
          <p:nvPr/>
        </p:nvSpPr>
        <p:spPr>
          <a:xfrm>
            <a:off x="4343400" y="3749040"/>
            <a:ext cx="457200" cy="640080"/>
          </a:xfrm>
          <a:prstGeom prst="rect">
            <a:avLst/>
          </a:prstGeom>
          <a:noFill/>
          <a:ln/>
        </p:spPr>
        <p:txBody>
          <a:bodyPr wrap="square" lIns="0" tIns="0" rIns="0" bIns="0" rtlCol="0" anchor="ctr"/>
          <a:lstStyle/>
          <a:p>
            <a:pPr marL="0" indent="0" algn="ctr">
              <a:buNone/>
            </a:pPr>
            <a:r>
              <a:rPr lang="en-US" sz="2400" b="1" dirty="0">
                <a:solidFill>
                  <a:srgbClr val="D8641A"/>
                </a:solidFill>
                <a:latin typeface="Calibri" pitchFamily="34" charset="0"/>
                <a:ea typeface="Calibri" pitchFamily="34" charset="-122"/>
                <a:cs typeface="Calibri" pitchFamily="34" charset="-120"/>
              </a:rPr>
              <a:t>+</a:t>
            </a:r>
            <a:endParaRPr lang="en-US" sz="2400" dirty="0"/>
          </a:p>
        </p:txBody>
      </p:sp>
      <p:sp>
        <p:nvSpPr>
          <p:cNvPr id="22" name="Shape 17"/>
          <p:cNvSpPr/>
          <p:nvPr/>
        </p:nvSpPr>
        <p:spPr>
          <a:xfrm>
            <a:off x="4800600" y="3749040"/>
            <a:ext cx="1920240" cy="640080"/>
          </a:xfrm>
          <a:prstGeom prst="roundRect">
            <a:avLst>
              <a:gd name="adj" fmla="val 50000"/>
            </a:avLst>
          </a:prstGeom>
          <a:solidFill>
            <a:srgbClr val="DAE3F3"/>
          </a:solidFill>
          <a:ln/>
        </p:spPr>
        <p:txBody>
          <a:bodyPr/>
          <a:lstStyle/>
          <a:p>
            <a:endParaRPr lang="en-US"/>
          </a:p>
        </p:txBody>
      </p:sp>
      <p:sp>
        <p:nvSpPr>
          <p:cNvPr id="23" name="Text 18"/>
          <p:cNvSpPr txBox="1"/>
          <p:nvPr/>
        </p:nvSpPr>
        <p:spPr>
          <a:xfrm>
            <a:off x="4800600" y="3749040"/>
            <a:ext cx="1920240" cy="640080"/>
          </a:xfrm>
          <a:prstGeom prst="rect">
            <a:avLst/>
          </a:prstGeom>
          <a:noFill/>
          <a:ln/>
        </p:spPr>
        <p:txBody>
          <a:bodyPr wrap="square" lIns="0" tIns="0" rIns="0" bIns="0" rtlCol="0" anchor="ctr"/>
          <a:lstStyle/>
          <a:p>
            <a:pPr marL="0" indent="0" algn="ctr">
              <a:buNone/>
            </a:pPr>
            <a:r>
              <a:rPr lang="en-US" sz="1600" b="1" dirty="0">
                <a:solidFill>
                  <a:srgbClr val="44546A"/>
                </a:solidFill>
                <a:latin typeface="Calibri" pitchFamily="34" charset="0"/>
                <a:ea typeface="Calibri" pitchFamily="34" charset="-122"/>
                <a:cs typeface="Calibri" pitchFamily="34" charset="-120"/>
              </a:rPr>
              <a:t>Understanding</a:t>
            </a:r>
            <a:endParaRPr lang="en-US" sz="1600" dirty="0"/>
          </a:p>
        </p:txBody>
      </p:sp>
      <p:sp>
        <p:nvSpPr>
          <p:cNvPr id="24" name="Text 19"/>
          <p:cNvSpPr txBox="1"/>
          <p:nvPr/>
        </p:nvSpPr>
        <p:spPr>
          <a:xfrm>
            <a:off x="6720840" y="3749040"/>
            <a:ext cx="457200" cy="640080"/>
          </a:xfrm>
          <a:prstGeom prst="rect">
            <a:avLst/>
          </a:prstGeom>
          <a:noFill/>
          <a:ln/>
        </p:spPr>
        <p:txBody>
          <a:bodyPr wrap="square" lIns="0" tIns="0" rIns="0" bIns="0" rtlCol="0" anchor="ctr"/>
          <a:lstStyle/>
          <a:p>
            <a:pPr marL="0" indent="0" algn="ctr">
              <a:buNone/>
            </a:pPr>
            <a:r>
              <a:rPr lang="en-US" sz="2400" b="1" dirty="0">
                <a:solidFill>
                  <a:srgbClr val="D8641A"/>
                </a:solidFill>
                <a:latin typeface="Calibri" pitchFamily="34" charset="0"/>
                <a:ea typeface="Calibri" pitchFamily="34" charset="-122"/>
                <a:cs typeface="Calibri" pitchFamily="34" charset="-120"/>
              </a:rPr>
              <a:t>+</a:t>
            </a:r>
            <a:endParaRPr lang="en-US" sz="2400" dirty="0"/>
          </a:p>
        </p:txBody>
      </p:sp>
      <p:sp>
        <p:nvSpPr>
          <p:cNvPr id="25" name="Shape 20"/>
          <p:cNvSpPr/>
          <p:nvPr/>
        </p:nvSpPr>
        <p:spPr>
          <a:xfrm>
            <a:off x="7178040" y="3749040"/>
            <a:ext cx="1188720" cy="640080"/>
          </a:xfrm>
          <a:prstGeom prst="roundRect">
            <a:avLst>
              <a:gd name="adj" fmla="val 50000"/>
            </a:avLst>
          </a:prstGeom>
          <a:solidFill>
            <a:srgbClr val="DAE3F3"/>
          </a:solidFill>
          <a:ln/>
        </p:spPr>
        <p:txBody>
          <a:bodyPr/>
          <a:lstStyle/>
          <a:p>
            <a:endParaRPr lang="en-US"/>
          </a:p>
        </p:txBody>
      </p:sp>
      <p:sp>
        <p:nvSpPr>
          <p:cNvPr id="26" name="Text 21"/>
          <p:cNvSpPr txBox="1"/>
          <p:nvPr/>
        </p:nvSpPr>
        <p:spPr>
          <a:xfrm>
            <a:off x="7178040" y="3749040"/>
            <a:ext cx="1188720" cy="640080"/>
          </a:xfrm>
          <a:prstGeom prst="rect">
            <a:avLst/>
          </a:prstGeom>
          <a:noFill/>
          <a:ln/>
        </p:spPr>
        <p:txBody>
          <a:bodyPr wrap="square" lIns="0" tIns="0" rIns="0" bIns="0" rtlCol="0" anchor="ctr"/>
          <a:lstStyle/>
          <a:p>
            <a:pPr marL="0" indent="0" algn="ctr">
              <a:buNone/>
            </a:pPr>
            <a:r>
              <a:rPr lang="en-US" sz="1600" b="1" dirty="0">
                <a:solidFill>
                  <a:srgbClr val="44546A"/>
                </a:solidFill>
                <a:latin typeface="Calibri" pitchFamily="34" charset="0"/>
                <a:ea typeface="Calibri" pitchFamily="34" charset="-122"/>
                <a:cs typeface="Calibri" pitchFamily="34" charset="-120"/>
              </a:rPr>
              <a:t>Focus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PART 1 · LISTENING</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Understanding requires three activities</a:t>
            </a:r>
            <a:endParaRPr lang="en-US" sz="3000" dirty="0"/>
          </a:p>
        </p:txBody>
      </p:sp>
      <p:pic>
        <p:nvPicPr>
          <p:cNvPr id="6" name="Image 0" descr="/home/claude/deck/assets/headphones.jpg"/>
          <p:cNvPicPr>
            <a:picLocks noChangeAspect="1"/>
          </p:cNvPicPr>
          <p:nvPr/>
        </p:nvPicPr>
        <p:blipFill>
          <a:blip r:embed="rId3"/>
          <a:stretch>
            <a:fillRect/>
          </a:stretch>
        </p:blipFill>
        <p:spPr>
          <a:xfrm>
            <a:off x="457200" y="1280160"/>
            <a:ext cx="3108960" cy="1746504"/>
          </a:xfrm>
          <a:prstGeom prst="rect">
            <a:avLst/>
          </a:prstGeom>
        </p:spPr>
      </p:pic>
      <p:sp>
        <p:nvSpPr>
          <p:cNvPr id="7" name="Shape 3"/>
          <p:cNvSpPr/>
          <p:nvPr/>
        </p:nvSpPr>
        <p:spPr>
          <a:xfrm>
            <a:off x="457200" y="3200400"/>
            <a:ext cx="3108960" cy="1325880"/>
          </a:xfrm>
          <a:prstGeom prst="roundRect">
            <a:avLst>
              <a:gd name="adj" fmla="val 5517"/>
            </a:avLst>
          </a:prstGeom>
          <a:solidFill>
            <a:srgbClr val="44546A"/>
          </a:solidFill>
          <a:ln/>
        </p:spPr>
        <p:txBody>
          <a:bodyPr/>
          <a:lstStyle/>
          <a:p>
            <a:endParaRPr lang="en-US"/>
          </a:p>
        </p:txBody>
      </p:sp>
      <p:sp>
        <p:nvSpPr>
          <p:cNvPr id="8" name="Text 4"/>
          <p:cNvSpPr txBox="1"/>
          <p:nvPr/>
        </p:nvSpPr>
        <p:spPr>
          <a:xfrm>
            <a:off x="640080" y="3200400"/>
            <a:ext cx="2743200" cy="13258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Best way to concentrate: start with anticipation, before the lecture begins.</a:t>
            </a:r>
            <a:endParaRPr lang="en-US" sz="1400" dirty="0"/>
          </a:p>
        </p:txBody>
      </p:sp>
      <p:sp>
        <p:nvSpPr>
          <p:cNvPr id="9" name="Shape 5"/>
          <p:cNvSpPr/>
          <p:nvPr/>
        </p:nvSpPr>
        <p:spPr>
          <a:xfrm>
            <a:off x="3840480" y="1280160"/>
            <a:ext cx="4846320" cy="1005840"/>
          </a:xfrm>
          <a:prstGeom prst="roundRect">
            <a:avLst>
              <a:gd name="adj" fmla="val 7273"/>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10" name="Shape 6"/>
          <p:cNvSpPr/>
          <p:nvPr/>
        </p:nvSpPr>
        <p:spPr>
          <a:xfrm>
            <a:off x="4023360" y="1481328"/>
            <a:ext cx="594360" cy="594360"/>
          </a:xfrm>
          <a:prstGeom prst="ellipse">
            <a:avLst/>
          </a:prstGeom>
          <a:solidFill>
            <a:srgbClr val="D8641A"/>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4171950" y="1629918"/>
            <a:ext cx="297180" cy="297180"/>
          </a:xfrm>
          <a:prstGeom prst="rect">
            <a:avLst/>
          </a:prstGeom>
        </p:spPr>
      </p:pic>
      <p:sp>
        <p:nvSpPr>
          <p:cNvPr id="12" name="Text 7"/>
          <p:cNvSpPr txBox="1"/>
          <p:nvPr/>
        </p:nvSpPr>
        <p:spPr>
          <a:xfrm>
            <a:off x="4846320" y="1371600"/>
            <a:ext cx="3657600" cy="274320"/>
          </a:xfrm>
          <a:prstGeom prst="rect">
            <a:avLst/>
          </a:prstGeom>
          <a:noFill/>
          <a:ln/>
        </p:spPr>
        <p:txBody>
          <a:bodyPr wrap="square" lIns="0" tIns="0" rIns="0" bIns="0" rtlCol="0" anchor="t"/>
          <a:lstStyle/>
          <a:p>
            <a:pPr marL="0" indent="0">
              <a:buNone/>
            </a:pPr>
            <a:r>
              <a:rPr lang="en-US" sz="1500" b="1" dirty="0">
                <a:solidFill>
                  <a:srgbClr val="44546A"/>
                </a:solidFill>
                <a:latin typeface="Calibri" pitchFamily="34" charset="0"/>
                <a:ea typeface="Calibri" pitchFamily="34" charset="-122"/>
                <a:cs typeface="Calibri" pitchFamily="34" charset="-120"/>
              </a:rPr>
              <a:t>Dynamic listening</a:t>
            </a:r>
            <a:endParaRPr lang="en-US" sz="1500" dirty="0"/>
          </a:p>
        </p:txBody>
      </p:sp>
      <p:sp>
        <p:nvSpPr>
          <p:cNvPr id="13" name="Text 8"/>
          <p:cNvSpPr txBox="1"/>
          <p:nvPr/>
        </p:nvSpPr>
        <p:spPr>
          <a:xfrm>
            <a:off x="4846320" y="1664208"/>
            <a:ext cx="3703320" cy="594360"/>
          </a:xfrm>
          <a:prstGeom prst="rect">
            <a:avLst/>
          </a:prstGeom>
          <a:noFill/>
          <a:ln/>
        </p:spPr>
        <p:txBody>
          <a:bodyPr wrap="square" lIns="0" tIns="0" rIns="0" bIns="0" rtlCol="0" anchor="t"/>
          <a:lstStyle/>
          <a:p>
            <a:pPr marL="0" indent="0">
              <a:buNone/>
            </a:pPr>
            <a:r>
              <a:rPr lang="en-US" sz="1150" dirty="0">
                <a:solidFill>
                  <a:srgbClr val="222B36"/>
                </a:solidFill>
                <a:latin typeface="Calibri" pitchFamily="34" charset="0"/>
                <a:ea typeface="Calibri" pitchFamily="34" charset="-122"/>
                <a:cs typeface="Calibri" pitchFamily="34" charset="-120"/>
              </a:rPr>
              <a:t>Stay mentally active: predict the next point, ask yourself questions, link ideas.</a:t>
            </a:r>
            <a:endParaRPr lang="en-US" sz="1300" dirty="0"/>
          </a:p>
          <a:p>
            <a:pPr marL="0" indent="0">
              <a:buNone/>
            </a:pPr>
            <a:r>
              <a:rPr lang="en-US" sz="1050" i="1" dirty="0">
                <a:solidFill>
                  <a:srgbClr val="66758A"/>
                </a:solidFill>
                <a:latin typeface="Calibri" pitchFamily="34" charset="0"/>
                <a:ea typeface="Calibri" pitchFamily="34" charset="-122"/>
                <a:cs typeface="Calibri" pitchFamily="34" charset="-120"/>
              </a:rPr>
              <a:t>e.g. "Three causes? What might they be?"</a:t>
            </a:r>
            <a:endParaRPr lang="en-US" sz="1300" dirty="0"/>
          </a:p>
        </p:txBody>
      </p:sp>
      <p:sp>
        <p:nvSpPr>
          <p:cNvPr id="14" name="Shape 9"/>
          <p:cNvSpPr/>
          <p:nvPr/>
        </p:nvSpPr>
        <p:spPr>
          <a:xfrm>
            <a:off x="3840480" y="2377440"/>
            <a:ext cx="4846320" cy="1005840"/>
          </a:xfrm>
          <a:prstGeom prst="roundRect">
            <a:avLst>
              <a:gd name="adj" fmla="val 7273"/>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15" name="Shape 10"/>
          <p:cNvSpPr/>
          <p:nvPr/>
        </p:nvSpPr>
        <p:spPr>
          <a:xfrm>
            <a:off x="4023360" y="2578608"/>
            <a:ext cx="594360" cy="594360"/>
          </a:xfrm>
          <a:prstGeom prst="ellipse">
            <a:avLst/>
          </a:prstGeom>
          <a:solidFill>
            <a:srgbClr val="4472C4"/>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4171950" y="2727198"/>
            <a:ext cx="297180" cy="297180"/>
          </a:xfrm>
          <a:prstGeom prst="rect">
            <a:avLst/>
          </a:prstGeom>
        </p:spPr>
      </p:pic>
      <p:sp>
        <p:nvSpPr>
          <p:cNvPr id="17" name="Text 11"/>
          <p:cNvSpPr txBox="1"/>
          <p:nvPr/>
        </p:nvSpPr>
        <p:spPr>
          <a:xfrm>
            <a:off x="4846320" y="2468880"/>
            <a:ext cx="3657600" cy="274320"/>
          </a:xfrm>
          <a:prstGeom prst="rect">
            <a:avLst/>
          </a:prstGeom>
          <a:noFill/>
          <a:ln/>
        </p:spPr>
        <p:txBody>
          <a:bodyPr wrap="square" lIns="0" tIns="0" rIns="0" bIns="0" rtlCol="0" anchor="t"/>
          <a:lstStyle/>
          <a:p>
            <a:pPr marL="0" indent="0">
              <a:buNone/>
            </a:pPr>
            <a:r>
              <a:rPr lang="en-US" sz="1500" b="1" dirty="0">
                <a:solidFill>
                  <a:srgbClr val="44546A"/>
                </a:solidFill>
                <a:latin typeface="Calibri" pitchFamily="34" charset="0"/>
                <a:ea typeface="Calibri" pitchFamily="34" charset="-122"/>
                <a:cs typeface="Calibri" pitchFamily="34" charset="-120"/>
              </a:rPr>
              <a:t>Paying attention</a:t>
            </a:r>
            <a:endParaRPr lang="en-US" sz="1500" dirty="0"/>
          </a:p>
        </p:txBody>
      </p:sp>
      <p:sp>
        <p:nvSpPr>
          <p:cNvPr id="18" name="Text 12"/>
          <p:cNvSpPr txBox="1"/>
          <p:nvPr/>
        </p:nvSpPr>
        <p:spPr>
          <a:xfrm>
            <a:off x="4846320" y="2761488"/>
            <a:ext cx="3703320" cy="594360"/>
          </a:xfrm>
          <a:prstGeom prst="rect">
            <a:avLst/>
          </a:prstGeom>
          <a:noFill/>
          <a:ln/>
        </p:spPr>
        <p:txBody>
          <a:bodyPr wrap="square" lIns="0" tIns="0" rIns="0" bIns="0" rtlCol="0" anchor="t"/>
          <a:lstStyle/>
          <a:p>
            <a:pPr marL="0" indent="0">
              <a:buNone/>
            </a:pPr>
            <a:r>
              <a:rPr lang="en-US" sz="1150" dirty="0">
                <a:solidFill>
                  <a:srgbClr val="222B36"/>
                </a:solidFill>
                <a:latin typeface="Calibri" pitchFamily="34" charset="0"/>
                <a:ea typeface="Calibri" pitchFamily="34" charset="-122"/>
                <a:cs typeface="Calibri" pitchFamily="34" charset="-120"/>
              </a:rPr>
              <a:t>Give the speaker your eyes and mind. Phone away, distractions ignored.</a:t>
            </a:r>
            <a:endParaRPr lang="en-US" sz="1300" dirty="0"/>
          </a:p>
          <a:p>
            <a:pPr marL="0" indent="0">
              <a:buNone/>
            </a:pPr>
            <a:r>
              <a:rPr lang="en-US" sz="1050" i="1" dirty="0">
                <a:solidFill>
                  <a:srgbClr val="66758A"/>
                </a:solidFill>
                <a:latin typeface="Calibri" pitchFamily="34" charset="0"/>
                <a:ea typeface="Calibri" pitchFamily="34" charset="-122"/>
                <a:cs typeface="Calibri" pitchFamily="34" charset="-120"/>
              </a:rPr>
              <a:t>e.g. notes ready, phone in bag, eyes up</a:t>
            </a:r>
            <a:endParaRPr lang="en-US" sz="1300" dirty="0"/>
          </a:p>
        </p:txBody>
      </p:sp>
      <p:sp>
        <p:nvSpPr>
          <p:cNvPr id="19" name="Shape 13"/>
          <p:cNvSpPr/>
          <p:nvPr/>
        </p:nvSpPr>
        <p:spPr>
          <a:xfrm>
            <a:off x="3840480" y="3474720"/>
            <a:ext cx="4846320" cy="1005840"/>
          </a:xfrm>
          <a:prstGeom prst="roundRect">
            <a:avLst>
              <a:gd name="adj" fmla="val 7273"/>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20" name="Shape 14"/>
          <p:cNvSpPr/>
          <p:nvPr/>
        </p:nvSpPr>
        <p:spPr>
          <a:xfrm>
            <a:off x="4023360" y="3675888"/>
            <a:ext cx="594360" cy="594360"/>
          </a:xfrm>
          <a:prstGeom prst="ellipse">
            <a:avLst/>
          </a:prstGeom>
          <a:solidFill>
            <a:srgbClr val="FFC000"/>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4171950" y="3824478"/>
            <a:ext cx="297180" cy="297180"/>
          </a:xfrm>
          <a:prstGeom prst="rect">
            <a:avLst/>
          </a:prstGeom>
        </p:spPr>
      </p:pic>
      <p:sp>
        <p:nvSpPr>
          <p:cNvPr id="22" name="Text 15"/>
          <p:cNvSpPr txBox="1"/>
          <p:nvPr/>
        </p:nvSpPr>
        <p:spPr>
          <a:xfrm>
            <a:off x="4846320" y="3566160"/>
            <a:ext cx="3657600" cy="274320"/>
          </a:xfrm>
          <a:prstGeom prst="rect">
            <a:avLst/>
          </a:prstGeom>
          <a:noFill/>
          <a:ln/>
        </p:spPr>
        <p:txBody>
          <a:bodyPr wrap="square" lIns="0" tIns="0" rIns="0" bIns="0" rtlCol="0" anchor="t"/>
          <a:lstStyle/>
          <a:p>
            <a:pPr marL="0" indent="0">
              <a:buNone/>
            </a:pPr>
            <a:r>
              <a:rPr lang="en-US" sz="1500" b="1" dirty="0">
                <a:solidFill>
                  <a:srgbClr val="44546A"/>
                </a:solidFill>
                <a:latin typeface="Calibri" pitchFamily="34" charset="0"/>
                <a:ea typeface="Calibri" pitchFamily="34" charset="-122"/>
                <a:cs typeface="Calibri" pitchFamily="34" charset="-120"/>
              </a:rPr>
              <a:t>Concentration</a:t>
            </a:r>
            <a:endParaRPr lang="en-US" sz="1500" dirty="0"/>
          </a:p>
        </p:txBody>
      </p:sp>
      <p:sp>
        <p:nvSpPr>
          <p:cNvPr id="23" name="Text 16"/>
          <p:cNvSpPr txBox="1"/>
          <p:nvPr/>
        </p:nvSpPr>
        <p:spPr>
          <a:xfrm>
            <a:off x="4846320" y="3858768"/>
            <a:ext cx="3703320" cy="594360"/>
          </a:xfrm>
          <a:prstGeom prst="rect">
            <a:avLst/>
          </a:prstGeom>
          <a:noFill/>
          <a:ln/>
        </p:spPr>
        <p:txBody>
          <a:bodyPr wrap="square" lIns="0" tIns="0" rIns="0" bIns="0" rtlCol="0" anchor="t"/>
          <a:lstStyle/>
          <a:p>
            <a:pPr marL="0" indent="0">
              <a:buNone/>
            </a:pPr>
            <a:r>
              <a:rPr lang="en-US" sz="1150" dirty="0">
                <a:solidFill>
                  <a:srgbClr val="222B36"/>
                </a:solidFill>
                <a:latin typeface="Calibri" pitchFamily="34" charset="0"/>
                <a:ea typeface="Calibri" pitchFamily="34" charset="-122"/>
                <a:cs typeface="Calibri" pitchFamily="34" charset="-120"/>
              </a:rPr>
              <a:t>Hold your focus for the whole session. Start with anticipation.</a:t>
            </a:r>
            <a:endParaRPr lang="en-US" sz="1300" dirty="0"/>
          </a:p>
          <a:p>
            <a:pPr marL="0" indent="0">
              <a:buNone/>
            </a:pPr>
            <a:r>
              <a:rPr lang="en-US" sz="1050" i="1" dirty="0">
                <a:solidFill>
                  <a:srgbClr val="66758A"/>
                </a:solidFill>
                <a:latin typeface="Calibri" pitchFamily="34" charset="0"/>
                <a:ea typeface="Calibri" pitchFamily="34" charset="-122"/>
                <a:cs typeface="Calibri" pitchFamily="34" charset="-120"/>
              </a:rPr>
              <a:t>e.g. reread last notes, do the reading first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PART 1 · LISTENING</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Be a comprehensive listener</a:t>
            </a:r>
            <a:endParaRPr lang="en-US" sz="3000" dirty="0"/>
          </a:p>
        </p:txBody>
      </p:sp>
      <p:sp>
        <p:nvSpPr>
          <p:cNvPr id="6" name="Shape 3"/>
          <p:cNvSpPr/>
          <p:nvPr/>
        </p:nvSpPr>
        <p:spPr>
          <a:xfrm>
            <a:off x="457200" y="1280160"/>
            <a:ext cx="3383280" cy="2103120"/>
          </a:xfrm>
          <a:prstGeom prst="roundRect">
            <a:avLst>
              <a:gd name="adj" fmla="val 3478"/>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685800" y="1463040"/>
            <a:ext cx="548640" cy="548640"/>
          </a:xfrm>
          <a:prstGeom prst="ellipse">
            <a:avLst/>
          </a:prstGeom>
          <a:solidFill>
            <a:srgbClr val="4472C4"/>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822960" y="1600200"/>
            <a:ext cx="274320" cy="274320"/>
          </a:xfrm>
          <a:prstGeom prst="rect">
            <a:avLst/>
          </a:prstGeom>
        </p:spPr>
      </p:pic>
      <p:sp>
        <p:nvSpPr>
          <p:cNvPr id="9" name="Text 5"/>
          <p:cNvSpPr txBox="1"/>
          <p:nvPr/>
        </p:nvSpPr>
        <p:spPr>
          <a:xfrm>
            <a:off x="1371600" y="1554480"/>
            <a:ext cx="2377440" cy="365760"/>
          </a:xfrm>
          <a:prstGeom prst="rect">
            <a:avLst/>
          </a:prstGeom>
          <a:noFill/>
          <a:ln/>
        </p:spPr>
        <p:txBody>
          <a:bodyPr wrap="square" lIns="0" tIns="0" rIns="0" bIns="0" rtlCol="0" anchor="t"/>
          <a:lstStyle/>
          <a:p>
            <a:pPr marL="0" indent="0">
              <a:buNone/>
            </a:pPr>
            <a:r>
              <a:rPr lang="en-US" sz="1800" b="1" dirty="0">
                <a:solidFill>
                  <a:srgbClr val="44546A"/>
                </a:solidFill>
                <a:latin typeface="Calibri" pitchFamily="34" charset="0"/>
                <a:ea typeface="Calibri" pitchFamily="34" charset="-122"/>
                <a:cs typeface="Calibri" pitchFamily="34" charset="-120"/>
              </a:rPr>
              <a:t>The speaker</a:t>
            </a:r>
            <a:endParaRPr lang="en-US" sz="1800" dirty="0"/>
          </a:p>
        </p:txBody>
      </p:sp>
      <p:sp>
        <p:nvSpPr>
          <p:cNvPr id="10" name="Text 6"/>
          <p:cNvSpPr txBox="1"/>
          <p:nvPr/>
        </p:nvSpPr>
        <p:spPr>
          <a:xfrm>
            <a:off x="685800" y="2194560"/>
            <a:ext cx="2926080" cy="1097280"/>
          </a:xfrm>
          <a:prstGeom prst="rect">
            <a:avLst/>
          </a:prstGeom>
          <a:noFill/>
          <a:ln/>
        </p:spPr>
        <p:txBody>
          <a:bodyPr wrap="square" lIns="0" tIns="0" rIns="0" bIns="0" rtlCol="0" anchor="t"/>
          <a:lstStyle/>
          <a:p>
            <a:pPr marL="0" indent="0">
              <a:buNone/>
            </a:pPr>
            <a:r>
              <a:rPr lang="en-US" sz="1300" dirty="0">
                <a:solidFill>
                  <a:srgbClr val="222B36"/>
                </a:solidFill>
                <a:latin typeface="Calibri" pitchFamily="34" charset="0"/>
                <a:ea typeface="Calibri" pitchFamily="34" charset="-122"/>
                <a:cs typeface="Calibri" pitchFamily="34" charset="-120"/>
              </a:rPr>
              <a:t>Must make words comprehensible: clear structure, examples, and a check on your listeners' faces.</a:t>
            </a:r>
            <a:endParaRPr lang="en-US" sz="1300" dirty="0"/>
          </a:p>
        </p:txBody>
      </p:sp>
      <p:sp>
        <p:nvSpPr>
          <p:cNvPr id="11" name="Shape 7"/>
          <p:cNvSpPr/>
          <p:nvPr/>
        </p:nvSpPr>
        <p:spPr>
          <a:xfrm>
            <a:off x="4160520" y="1920240"/>
            <a:ext cx="822960" cy="822960"/>
          </a:xfrm>
          <a:prstGeom prst="ellipse">
            <a:avLst/>
          </a:prstGeom>
          <a:solidFill>
            <a:srgbClr val="D8641A"/>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366260" y="2125980"/>
            <a:ext cx="411480" cy="411480"/>
          </a:xfrm>
          <a:prstGeom prst="rect">
            <a:avLst/>
          </a:prstGeom>
        </p:spPr>
      </p:pic>
      <p:sp>
        <p:nvSpPr>
          <p:cNvPr id="13" name="Text 8"/>
          <p:cNvSpPr txBox="1"/>
          <p:nvPr/>
        </p:nvSpPr>
        <p:spPr>
          <a:xfrm>
            <a:off x="3840480" y="2788920"/>
            <a:ext cx="1463040" cy="274320"/>
          </a:xfrm>
          <a:prstGeom prst="rect">
            <a:avLst/>
          </a:prstGeom>
          <a:noFill/>
          <a:ln/>
        </p:spPr>
        <p:txBody>
          <a:bodyPr wrap="square" lIns="0" tIns="0" rIns="0" bIns="0" rtlCol="0" anchor="t"/>
          <a:lstStyle/>
          <a:p>
            <a:pPr marL="0" indent="0" algn="ctr">
              <a:buNone/>
            </a:pPr>
            <a:r>
              <a:rPr lang="en-US" sz="1100" i="1" dirty="0">
                <a:solidFill>
                  <a:srgbClr val="66758A"/>
                </a:solidFill>
                <a:latin typeface="Calibri" pitchFamily="34" charset="0"/>
                <a:ea typeface="Calibri" pitchFamily="34" charset="-122"/>
                <a:cs typeface="Calibri" pitchFamily="34" charset="-120"/>
              </a:rPr>
              <a:t>feedback</a:t>
            </a:r>
            <a:endParaRPr lang="en-US" sz="1100" dirty="0"/>
          </a:p>
        </p:txBody>
      </p:sp>
      <p:sp>
        <p:nvSpPr>
          <p:cNvPr id="14" name="Shape 9"/>
          <p:cNvSpPr/>
          <p:nvPr/>
        </p:nvSpPr>
        <p:spPr>
          <a:xfrm>
            <a:off x="5303520" y="1280160"/>
            <a:ext cx="3383280" cy="2103120"/>
          </a:xfrm>
          <a:prstGeom prst="roundRect">
            <a:avLst>
              <a:gd name="adj" fmla="val 3478"/>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15" name="Shape 10"/>
          <p:cNvSpPr/>
          <p:nvPr/>
        </p:nvSpPr>
        <p:spPr>
          <a:xfrm>
            <a:off x="5532120" y="1463040"/>
            <a:ext cx="548640" cy="548640"/>
          </a:xfrm>
          <a:prstGeom prst="ellipse">
            <a:avLst/>
          </a:prstGeom>
          <a:solidFill>
            <a:srgbClr val="D8641A"/>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5669280" y="1600200"/>
            <a:ext cx="274320" cy="274320"/>
          </a:xfrm>
          <a:prstGeom prst="rect">
            <a:avLst/>
          </a:prstGeom>
        </p:spPr>
      </p:pic>
      <p:sp>
        <p:nvSpPr>
          <p:cNvPr id="17" name="Text 11"/>
          <p:cNvSpPr txBox="1"/>
          <p:nvPr/>
        </p:nvSpPr>
        <p:spPr>
          <a:xfrm>
            <a:off x="6217920" y="1554480"/>
            <a:ext cx="2377440" cy="365760"/>
          </a:xfrm>
          <a:prstGeom prst="rect">
            <a:avLst/>
          </a:prstGeom>
          <a:noFill/>
          <a:ln/>
        </p:spPr>
        <p:txBody>
          <a:bodyPr wrap="square" lIns="0" tIns="0" rIns="0" bIns="0" rtlCol="0" anchor="t"/>
          <a:lstStyle/>
          <a:p>
            <a:pPr marL="0" indent="0">
              <a:buNone/>
            </a:pPr>
            <a:r>
              <a:rPr lang="en-US" sz="1800" b="1" dirty="0">
                <a:solidFill>
                  <a:srgbClr val="44546A"/>
                </a:solidFill>
                <a:latin typeface="Calibri" pitchFamily="34" charset="0"/>
                <a:ea typeface="Calibri" pitchFamily="34" charset="-122"/>
                <a:cs typeface="Calibri" pitchFamily="34" charset="-120"/>
              </a:rPr>
              <a:t>The listener</a:t>
            </a:r>
            <a:endParaRPr lang="en-US" sz="1800" dirty="0"/>
          </a:p>
        </p:txBody>
      </p:sp>
      <p:sp>
        <p:nvSpPr>
          <p:cNvPr id="18" name="Text 12"/>
          <p:cNvSpPr txBox="1"/>
          <p:nvPr/>
        </p:nvSpPr>
        <p:spPr>
          <a:xfrm>
            <a:off x="5532120" y="2194560"/>
            <a:ext cx="2926080" cy="1097280"/>
          </a:xfrm>
          <a:prstGeom prst="rect">
            <a:avLst/>
          </a:prstGeom>
          <a:noFill/>
          <a:ln/>
        </p:spPr>
        <p:txBody>
          <a:bodyPr wrap="square" lIns="0" tIns="0" rIns="0" bIns="0" rtlCol="0" anchor="t"/>
          <a:lstStyle/>
          <a:p>
            <a:pPr marL="0" indent="0">
              <a:buNone/>
            </a:pPr>
            <a:r>
              <a:rPr lang="en-US" sz="1300" dirty="0">
                <a:solidFill>
                  <a:srgbClr val="222B36"/>
                </a:solidFill>
                <a:latin typeface="Calibri" pitchFamily="34" charset="0"/>
                <a:ea typeface="Calibri" pitchFamily="34" charset="-122"/>
                <a:cs typeface="Calibri" pitchFamily="34" charset="-120"/>
              </a:rPr>
              <a:t>Must let the speaker know when something is unclear: ask questions and use facial expressions.</a:t>
            </a:r>
            <a:endParaRPr lang="en-US" sz="1300" dirty="0"/>
          </a:p>
        </p:txBody>
      </p:sp>
      <p:sp>
        <p:nvSpPr>
          <p:cNvPr id="19" name="Shape 13"/>
          <p:cNvSpPr/>
          <p:nvPr/>
        </p:nvSpPr>
        <p:spPr>
          <a:xfrm>
            <a:off x="457200" y="3657600"/>
            <a:ext cx="4023360" cy="960120"/>
          </a:xfrm>
          <a:prstGeom prst="roundRect">
            <a:avLst>
              <a:gd name="adj" fmla="val 7619"/>
            </a:avLst>
          </a:prstGeom>
          <a:solidFill>
            <a:srgbClr val="FFF2CC"/>
          </a:solidFill>
          <a:ln/>
        </p:spPr>
        <p:txBody>
          <a:bodyPr/>
          <a:lstStyle/>
          <a:p>
            <a:endParaRPr lang="en-US"/>
          </a:p>
        </p:txBody>
      </p:sp>
      <p:sp>
        <p:nvSpPr>
          <p:cNvPr id="20" name="Text 14"/>
          <p:cNvSpPr txBox="1"/>
          <p:nvPr/>
        </p:nvSpPr>
        <p:spPr>
          <a:xfrm>
            <a:off x="640080" y="3703320"/>
            <a:ext cx="3657600" cy="868680"/>
          </a:xfrm>
          <a:prstGeom prst="rect">
            <a:avLst/>
          </a:prstGeom>
          <a:noFill/>
          <a:ln/>
        </p:spPr>
        <p:txBody>
          <a:bodyPr wrap="square" lIns="0" tIns="0" rIns="0" bIns="0" rtlCol="0" anchor="ctr"/>
          <a:lstStyle/>
          <a:p>
            <a:pPr marL="0" indent="0">
              <a:buNone/>
            </a:pPr>
            <a:r>
              <a:rPr lang="en-US" sz="1300" b="1" dirty="0">
                <a:solidFill>
                  <a:srgbClr val="222B36"/>
                </a:solidFill>
                <a:latin typeface="Calibri" pitchFamily="34" charset="0"/>
                <a:ea typeface="Calibri" pitchFamily="34" charset="-122"/>
                <a:cs typeface="Calibri" pitchFamily="34" charset="-120"/>
              </a:rPr>
              <a:t>50/50, but 100% each. </a:t>
            </a:r>
            <a:r>
              <a:rPr lang="en-US" sz="1300" dirty="0">
                <a:solidFill>
                  <a:srgbClr val="222B36"/>
                </a:solidFill>
                <a:latin typeface="Calibri" pitchFamily="34" charset="0"/>
                <a:ea typeface="Calibri" pitchFamily="34" charset="-122"/>
                <a:cs typeface="Calibri" pitchFamily="34" charset="-120"/>
              </a:rPr>
              <a:t>Both sides must give their full effort for understanding to happen.</a:t>
            </a:r>
            <a:endParaRPr lang="en-US" sz="1300" dirty="0"/>
          </a:p>
        </p:txBody>
      </p:sp>
      <p:sp>
        <p:nvSpPr>
          <p:cNvPr id="21" name="Shape 15"/>
          <p:cNvSpPr/>
          <p:nvPr/>
        </p:nvSpPr>
        <p:spPr>
          <a:xfrm>
            <a:off x="4663440" y="3657600"/>
            <a:ext cx="4023360" cy="960120"/>
          </a:xfrm>
          <a:prstGeom prst="roundRect">
            <a:avLst>
              <a:gd name="adj" fmla="val 7619"/>
            </a:avLst>
          </a:prstGeom>
          <a:solidFill>
            <a:srgbClr val="44546A"/>
          </a:solidFill>
          <a:ln/>
        </p:spPr>
        <p:txBody>
          <a:bodyPr/>
          <a:lstStyle/>
          <a:p>
            <a:endParaRPr lang="en-US"/>
          </a:p>
        </p:txBody>
      </p:sp>
      <p:sp>
        <p:nvSpPr>
          <p:cNvPr id="22" name="Text 16"/>
          <p:cNvSpPr txBox="1"/>
          <p:nvPr/>
        </p:nvSpPr>
        <p:spPr>
          <a:xfrm>
            <a:off x="4846320" y="3703320"/>
            <a:ext cx="3657600" cy="868680"/>
          </a:xfrm>
          <a:prstGeom prst="rect">
            <a:avLst/>
          </a:prstGeom>
          <a:noFill/>
          <a:ln/>
        </p:spPr>
        <p:txBody>
          <a:bodyPr wrap="square" lIns="0" tIns="0" rIns="0" bIns="0" rtlCol="0" anchor="ctr"/>
          <a:lstStyle/>
          <a:p>
            <a:pPr marL="0" indent="0">
              <a:buNone/>
            </a:pPr>
            <a:r>
              <a:rPr lang="en-US" sz="1500" i="1" dirty="0">
                <a:solidFill>
                  <a:srgbClr val="FFFFFF"/>
                </a:solidFill>
                <a:latin typeface="Calibri" pitchFamily="34" charset="0"/>
                <a:ea typeface="Calibri" pitchFamily="34" charset="-122"/>
                <a:cs typeface="Calibri" pitchFamily="34" charset="-120"/>
              </a:rPr>
              <a:t>"The only dumb question is the one that goes unasked."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ACTIVE LISTENING</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Three techniques that show you are listening</a:t>
            </a:r>
            <a:endParaRPr lang="en-US" sz="3000" dirty="0"/>
          </a:p>
        </p:txBody>
      </p:sp>
      <p:sp>
        <p:nvSpPr>
          <p:cNvPr id="6" name="Shape 3"/>
          <p:cNvSpPr/>
          <p:nvPr/>
        </p:nvSpPr>
        <p:spPr>
          <a:xfrm>
            <a:off x="457200" y="1280160"/>
            <a:ext cx="2651760" cy="3108960"/>
          </a:xfrm>
          <a:prstGeom prst="roundRect">
            <a:avLst>
              <a:gd name="adj" fmla="val 2759"/>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1371600" y="1508760"/>
            <a:ext cx="822960" cy="822960"/>
          </a:xfrm>
          <a:prstGeom prst="ellipse">
            <a:avLst/>
          </a:prstGeom>
          <a:solidFill>
            <a:srgbClr val="D8641A"/>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577340" y="1714500"/>
            <a:ext cx="411480" cy="411480"/>
          </a:xfrm>
          <a:prstGeom prst="rect">
            <a:avLst/>
          </a:prstGeom>
        </p:spPr>
      </p:pic>
      <p:sp>
        <p:nvSpPr>
          <p:cNvPr id="9" name="Text 5"/>
          <p:cNvSpPr txBox="1"/>
          <p:nvPr/>
        </p:nvSpPr>
        <p:spPr>
          <a:xfrm>
            <a:off x="640080" y="2514600"/>
            <a:ext cx="2286000" cy="640080"/>
          </a:xfrm>
          <a:prstGeom prst="rect">
            <a:avLst/>
          </a:prstGeom>
          <a:noFill/>
          <a:ln/>
        </p:spPr>
        <p:txBody>
          <a:bodyPr wrap="square" lIns="0" tIns="0" rIns="0" bIns="0" rtlCol="0" anchor="t"/>
          <a:lstStyle/>
          <a:p>
            <a:pPr marL="0" indent="0" algn="ctr">
              <a:buNone/>
            </a:pPr>
            <a:r>
              <a:rPr lang="en-US" sz="1700" b="1" dirty="0">
                <a:solidFill>
                  <a:srgbClr val="44546A"/>
                </a:solidFill>
                <a:latin typeface="Calibri" pitchFamily="34" charset="0"/>
                <a:ea typeface="Calibri" pitchFamily="34" charset="-122"/>
                <a:cs typeface="Calibri" pitchFamily="34" charset="-120"/>
              </a:rPr>
              <a:t>Maintain eye contact</a:t>
            </a:r>
            <a:endParaRPr lang="en-US" sz="1700" dirty="0"/>
          </a:p>
        </p:txBody>
      </p:sp>
      <p:sp>
        <p:nvSpPr>
          <p:cNvPr id="10" name="Text 6"/>
          <p:cNvSpPr txBox="1"/>
          <p:nvPr/>
        </p:nvSpPr>
        <p:spPr>
          <a:xfrm>
            <a:off x="640080" y="3108960"/>
            <a:ext cx="2286000" cy="457200"/>
          </a:xfrm>
          <a:prstGeom prst="rect">
            <a:avLst/>
          </a:prstGeom>
          <a:noFill/>
          <a:ln/>
        </p:spPr>
        <p:txBody>
          <a:bodyPr wrap="square" lIns="0" tIns="0" rIns="0" bIns="0" rtlCol="0" anchor="t"/>
          <a:lstStyle/>
          <a:p>
            <a:pPr marL="0" indent="0" algn="ctr">
              <a:buNone/>
            </a:pPr>
            <a:r>
              <a:rPr lang="en-US" sz="1200" b="1" dirty="0">
                <a:solidFill>
                  <a:srgbClr val="D8641A"/>
                </a:solidFill>
                <a:latin typeface="Calibri" pitchFamily="34" charset="0"/>
                <a:ea typeface="Calibri" pitchFamily="34" charset="-122"/>
                <a:cs typeface="Calibri" pitchFamily="34" charset="-120"/>
              </a:rPr>
              <a:t>Shows attention and builds trust</a:t>
            </a:r>
            <a:endParaRPr lang="en-US" sz="1200" dirty="0"/>
          </a:p>
        </p:txBody>
      </p:sp>
      <p:sp>
        <p:nvSpPr>
          <p:cNvPr id="11" name="Text 7"/>
          <p:cNvSpPr txBox="1"/>
          <p:nvPr/>
        </p:nvSpPr>
        <p:spPr>
          <a:xfrm>
            <a:off x="685800" y="3611880"/>
            <a:ext cx="2194560" cy="731520"/>
          </a:xfrm>
          <a:prstGeom prst="rect">
            <a:avLst/>
          </a:prstGeom>
          <a:noFill/>
          <a:ln/>
        </p:spPr>
        <p:txBody>
          <a:bodyPr wrap="square" lIns="0" tIns="0" rIns="0" bIns="0" rtlCol="0" anchor="t"/>
          <a:lstStyle/>
          <a:p>
            <a:pPr marL="0" indent="0" algn="ctr">
              <a:buNone/>
            </a:pPr>
            <a:r>
              <a:rPr lang="en-US" sz="1200" dirty="0">
                <a:solidFill>
                  <a:srgbClr val="66758A"/>
                </a:solidFill>
                <a:latin typeface="Calibri" pitchFamily="34" charset="0"/>
                <a:ea typeface="Calibri" pitchFamily="34" charset="-122"/>
                <a:cs typeface="Calibri" pitchFamily="34" charset="-120"/>
              </a:rPr>
              <a:t>Look at the speaker, not your phone or the room.</a:t>
            </a:r>
            <a:endParaRPr lang="en-US" sz="1200" dirty="0"/>
          </a:p>
        </p:txBody>
      </p:sp>
      <p:sp>
        <p:nvSpPr>
          <p:cNvPr id="12" name="Shape 8"/>
          <p:cNvSpPr/>
          <p:nvPr/>
        </p:nvSpPr>
        <p:spPr>
          <a:xfrm>
            <a:off x="3246120" y="1280160"/>
            <a:ext cx="2651760" cy="3108960"/>
          </a:xfrm>
          <a:prstGeom prst="roundRect">
            <a:avLst>
              <a:gd name="adj" fmla="val 2759"/>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13" name="Shape 9"/>
          <p:cNvSpPr/>
          <p:nvPr/>
        </p:nvSpPr>
        <p:spPr>
          <a:xfrm>
            <a:off x="4160520" y="1508760"/>
            <a:ext cx="822960" cy="822960"/>
          </a:xfrm>
          <a:prstGeom prst="ellipse">
            <a:avLst/>
          </a:prstGeom>
          <a:solidFill>
            <a:srgbClr val="4472C4"/>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366260" y="1714500"/>
            <a:ext cx="411480" cy="411480"/>
          </a:xfrm>
          <a:prstGeom prst="rect">
            <a:avLst/>
          </a:prstGeom>
        </p:spPr>
      </p:pic>
      <p:sp>
        <p:nvSpPr>
          <p:cNvPr id="15" name="Text 10"/>
          <p:cNvSpPr txBox="1"/>
          <p:nvPr/>
        </p:nvSpPr>
        <p:spPr>
          <a:xfrm>
            <a:off x="3429000" y="2514600"/>
            <a:ext cx="2286000" cy="640080"/>
          </a:xfrm>
          <a:prstGeom prst="rect">
            <a:avLst/>
          </a:prstGeom>
          <a:noFill/>
          <a:ln/>
        </p:spPr>
        <p:txBody>
          <a:bodyPr wrap="square" lIns="0" tIns="0" rIns="0" bIns="0" rtlCol="0" anchor="t"/>
          <a:lstStyle/>
          <a:p>
            <a:pPr marL="0" indent="0" algn="ctr">
              <a:buNone/>
            </a:pPr>
            <a:r>
              <a:rPr lang="en-US" sz="1700" b="1" dirty="0">
                <a:solidFill>
                  <a:srgbClr val="44546A"/>
                </a:solidFill>
                <a:latin typeface="Calibri" pitchFamily="34" charset="0"/>
                <a:ea typeface="Calibri" pitchFamily="34" charset="-122"/>
                <a:cs typeface="Calibri" pitchFamily="34" charset="-120"/>
              </a:rPr>
              <a:t>Nod and respond</a:t>
            </a:r>
            <a:endParaRPr lang="en-US" sz="1700" dirty="0"/>
          </a:p>
        </p:txBody>
      </p:sp>
      <p:sp>
        <p:nvSpPr>
          <p:cNvPr id="16" name="Text 11"/>
          <p:cNvSpPr txBox="1"/>
          <p:nvPr/>
        </p:nvSpPr>
        <p:spPr>
          <a:xfrm>
            <a:off x="3429000" y="3108960"/>
            <a:ext cx="2286000" cy="457200"/>
          </a:xfrm>
          <a:prstGeom prst="rect">
            <a:avLst/>
          </a:prstGeom>
          <a:noFill/>
          <a:ln/>
        </p:spPr>
        <p:txBody>
          <a:bodyPr wrap="square" lIns="0" tIns="0" rIns="0" bIns="0" rtlCol="0" anchor="t"/>
          <a:lstStyle/>
          <a:p>
            <a:pPr marL="0" indent="0" algn="ctr">
              <a:buNone/>
            </a:pPr>
            <a:r>
              <a:rPr lang="en-US" sz="1200" b="1" dirty="0">
                <a:solidFill>
                  <a:srgbClr val="4472C4"/>
                </a:solidFill>
                <a:latin typeface="Calibri" pitchFamily="34" charset="0"/>
                <a:ea typeface="Calibri" pitchFamily="34" charset="-122"/>
                <a:cs typeface="Calibri" pitchFamily="34" charset="-120"/>
              </a:rPr>
              <a:t>Shows you are following</a:t>
            </a:r>
            <a:endParaRPr lang="en-US" sz="1200" dirty="0"/>
          </a:p>
        </p:txBody>
      </p:sp>
      <p:sp>
        <p:nvSpPr>
          <p:cNvPr id="17" name="Text 12"/>
          <p:cNvSpPr txBox="1"/>
          <p:nvPr/>
        </p:nvSpPr>
        <p:spPr>
          <a:xfrm>
            <a:off x="3474720" y="3611880"/>
            <a:ext cx="2194560" cy="731520"/>
          </a:xfrm>
          <a:prstGeom prst="rect">
            <a:avLst/>
          </a:prstGeom>
          <a:noFill/>
          <a:ln/>
        </p:spPr>
        <p:txBody>
          <a:bodyPr wrap="square" lIns="0" tIns="0" rIns="0" bIns="0" rtlCol="0" anchor="t"/>
          <a:lstStyle/>
          <a:p>
            <a:pPr marL="0" indent="0" algn="ctr">
              <a:buNone/>
            </a:pPr>
            <a:r>
              <a:rPr lang="en-US" sz="1200" dirty="0">
                <a:solidFill>
                  <a:srgbClr val="66758A"/>
                </a:solidFill>
                <a:latin typeface="Calibri" pitchFamily="34" charset="0"/>
                <a:ea typeface="Calibri" pitchFamily="34" charset="-122"/>
                <a:cs typeface="Calibri" pitchFamily="34" charset="-120"/>
              </a:rPr>
              <a:t>Small nods plus "I see" or "Yes" keep the speaker going.</a:t>
            </a:r>
            <a:endParaRPr lang="en-US" sz="1200" dirty="0"/>
          </a:p>
        </p:txBody>
      </p:sp>
      <p:sp>
        <p:nvSpPr>
          <p:cNvPr id="18" name="Shape 13"/>
          <p:cNvSpPr/>
          <p:nvPr/>
        </p:nvSpPr>
        <p:spPr>
          <a:xfrm>
            <a:off x="6035040" y="1280160"/>
            <a:ext cx="2651760" cy="3108960"/>
          </a:xfrm>
          <a:prstGeom prst="roundRect">
            <a:avLst>
              <a:gd name="adj" fmla="val 2759"/>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19" name="Shape 14"/>
          <p:cNvSpPr/>
          <p:nvPr/>
        </p:nvSpPr>
        <p:spPr>
          <a:xfrm>
            <a:off x="6949440" y="1508760"/>
            <a:ext cx="822960" cy="822960"/>
          </a:xfrm>
          <a:prstGeom prst="ellipse">
            <a:avLst/>
          </a:prstGeom>
          <a:solidFill>
            <a:srgbClr val="FFC000"/>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7155180" y="1714500"/>
            <a:ext cx="411480" cy="411480"/>
          </a:xfrm>
          <a:prstGeom prst="rect">
            <a:avLst/>
          </a:prstGeom>
        </p:spPr>
      </p:pic>
      <p:sp>
        <p:nvSpPr>
          <p:cNvPr id="21" name="Text 15"/>
          <p:cNvSpPr txBox="1"/>
          <p:nvPr/>
        </p:nvSpPr>
        <p:spPr>
          <a:xfrm>
            <a:off x="6217920" y="2514600"/>
            <a:ext cx="2286000" cy="640080"/>
          </a:xfrm>
          <a:prstGeom prst="rect">
            <a:avLst/>
          </a:prstGeom>
          <a:noFill/>
          <a:ln/>
        </p:spPr>
        <p:txBody>
          <a:bodyPr wrap="square" lIns="0" tIns="0" rIns="0" bIns="0" rtlCol="0" anchor="t"/>
          <a:lstStyle/>
          <a:p>
            <a:pPr marL="0" indent="0" algn="ctr">
              <a:buNone/>
            </a:pPr>
            <a:r>
              <a:rPr lang="en-US" sz="1700" b="1" dirty="0">
                <a:solidFill>
                  <a:srgbClr val="44546A"/>
                </a:solidFill>
                <a:latin typeface="Calibri" pitchFamily="34" charset="0"/>
                <a:ea typeface="Calibri" pitchFamily="34" charset="-122"/>
                <a:cs typeface="Calibri" pitchFamily="34" charset="-120"/>
              </a:rPr>
              <a:t>Ask clarifying questions</a:t>
            </a:r>
            <a:endParaRPr lang="en-US" sz="1700" dirty="0"/>
          </a:p>
        </p:txBody>
      </p:sp>
      <p:sp>
        <p:nvSpPr>
          <p:cNvPr id="22" name="Text 16"/>
          <p:cNvSpPr txBox="1"/>
          <p:nvPr/>
        </p:nvSpPr>
        <p:spPr>
          <a:xfrm>
            <a:off x="6217920" y="3108960"/>
            <a:ext cx="2286000" cy="457200"/>
          </a:xfrm>
          <a:prstGeom prst="rect">
            <a:avLst/>
          </a:prstGeom>
          <a:noFill/>
          <a:ln/>
        </p:spPr>
        <p:txBody>
          <a:bodyPr wrap="square" lIns="0" tIns="0" rIns="0" bIns="0" rtlCol="0" anchor="t"/>
          <a:lstStyle/>
          <a:p>
            <a:pPr marL="0" indent="0" algn="ctr">
              <a:buNone/>
            </a:pPr>
            <a:r>
              <a:rPr lang="en-US" sz="1200" b="1" dirty="0">
                <a:solidFill>
                  <a:srgbClr val="B5820F"/>
                </a:solidFill>
                <a:latin typeface="Calibri" pitchFamily="34" charset="0"/>
                <a:ea typeface="Calibri" pitchFamily="34" charset="-122"/>
                <a:cs typeface="Calibri" pitchFamily="34" charset="-120"/>
              </a:rPr>
              <a:t>Fills gaps and avoids misunderstanding</a:t>
            </a:r>
            <a:endParaRPr lang="en-US" sz="1200" dirty="0"/>
          </a:p>
        </p:txBody>
      </p:sp>
      <p:sp>
        <p:nvSpPr>
          <p:cNvPr id="23" name="Text 17"/>
          <p:cNvSpPr txBox="1"/>
          <p:nvPr/>
        </p:nvSpPr>
        <p:spPr>
          <a:xfrm>
            <a:off x="6263640" y="3611880"/>
            <a:ext cx="2194560" cy="731520"/>
          </a:xfrm>
          <a:prstGeom prst="rect">
            <a:avLst/>
          </a:prstGeom>
          <a:noFill/>
          <a:ln/>
        </p:spPr>
        <p:txBody>
          <a:bodyPr wrap="square" lIns="0" tIns="0" rIns="0" bIns="0" rtlCol="0" anchor="t"/>
          <a:lstStyle/>
          <a:p>
            <a:pPr marL="0" indent="0" algn="ctr">
              <a:buNone/>
            </a:pPr>
            <a:r>
              <a:rPr lang="en-US" sz="1200" dirty="0">
                <a:solidFill>
                  <a:srgbClr val="66758A"/>
                </a:solidFill>
                <a:latin typeface="Calibri" pitchFamily="34" charset="0"/>
                <a:ea typeface="Calibri" pitchFamily="34" charset="-122"/>
                <a:cs typeface="Calibri" pitchFamily="34" charset="-120"/>
              </a:rPr>
              <a:t>Rephrase, ask for detail, or ask an open question.</a:t>
            </a:r>
            <a:endParaRPr lang="en-US" sz="1200" dirty="0"/>
          </a:p>
        </p:txBody>
      </p:sp>
      <p:sp>
        <p:nvSpPr>
          <p:cNvPr id="24" name="Text 18"/>
          <p:cNvSpPr txBox="1"/>
          <p:nvPr/>
        </p:nvSpPr>
        <p:spPr>
          <a:xfrm>
            <a:off x="457200" y="4526280"/>
            <a:ext cx="8229600" cy="274320"/>
          </a:xfrm>
          <a:prstGeom prst="rect">
            <a:avLst/>
          </a:prstGeom>
          <a:noFill/>
          <a:ln/>
        </p:spPr>
        <p:txBody>
          <a:bodyPr wrap="square" lIns="0" tIns="0" rIns="0" bIns="0" rtlCol="0" anchor="t"/>
          <a:lstStyle/>
          <a:p>
            <a:pPr marL="0" indent="0" algn="ctr">
              <a:buNone/>
            </a:pPr>
            <a:r>
              <a:rPr lang="en-US" sz="1300" i="1" dirty="0">
                <a:solidFill>
                  <a:srgbClr val="66758A"/>
                </a:solidFill>
                <a:latin typeface="Calibri" pitchFamily="34" charset="0"/>
                <a:ea typeface="Calibri" pitchFamily="34" charset="-122"/>
                <a:cs typeface="Calibri" pitchFamily="34" charset="-120"/>
              </a:rPr>
              <a:t>Listening is not passive. We show it with body language and curiosity.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ACTIVE LISTENING · 1</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Maintaining eye contact</a:t>
            </a:r>
            <a:endParaRPr lang="en-US" sz="3000" dirty="0"/>
          </a:p>
        </p:txBody>
      </p:sp>
      <p:sp>
        <p:nvSpPr>
          <p:cNvPr id="6" name="Shape 3"/>
          <p:cNvSpPr/>
          <p:nvPr/>
        </p:nvSpPr>
        <p:spPr>
          <a:xfrm>
            <a:off x="457200" y="1280160"/>
            <a:ext cx="2651760" cy="1371600"/>
          </a:xfrm>
          <a:prstGeom prst="roundRect">
            <a:avLst>
              <a:gd name="adj" fmla="val 5333"/>
            </a:avLst>
          </a:prstGeom>
          <a:solidFill>
            <a:srgbClr val="44546A"/>
          </a:solidFill>
          <a:ln/>
        </p:spPr>
        <p:txBody>
          <a:bodyPr/>
          <a:lstStyle/>
          <a:p>
            <a:endParaRPr lang="en-US"/>
          </a:p>
        </p:txBody>
      </p:sp>
      <p:sp>
        <p:nvSpPr>
          <p:cNvPr id="7" name="Text 4"/>
          <p:cNvSpPr txBox="1"/>
          <p:nvPr/>
        </p:nvSpPr>
        <p:spPr>
          <a:xfrm>
            <a:off x="457200" y="1371600"/>
            <a:ext cx="2651760" cy="777240"/>
          </a:xfrm>
          <a:prstGeom prst="rect">
            <a:avLst/>
          </a:prstGeom>
          <a:noFill/>
          <a:ln/>
        </p:spPr>
        <p:txBody>
          <a:bodyPr wrap="square" lIns="0" tIns="0" rIns="0" bIns="0" rtlCol="0" anchor="ctr"/>
          <a:lstStyle/>
          <a:p>
            <a:pPr marL="0" indent="0" algn="ctr">
              <a:buNone/>
            </a:pPr>
            <a:r>
              <a:rPr lang="en-US" sz="4400" b="1" dirty="0">
                <a:solidFill>
                  <a:srgbClr val="FFC000"/>
                </a:solidFill>
                <a:latin typeface="Calibri" pitchFamily="34" charset="0"/>
                <a:ea typeface="Calibri" pitchFamily="34" charset="-122"/>
                <a:cs typeface="Calibri" pitchFamily="34" charset="-120"/>
              </a:rPr>
              <a:t>50%</a:t>
            </a:r>
            <a:endParaRPr lang="en-US" sz="4400" dirty="0"/>
          </a:p>
        </p:txBody>
      </p:sp>
      <p:sp>
        <p:nvSpPr>
          <p:cNvPr id="8" name="Text 5"/>
          <p:cNvSpPr txBox="1"/>
          <p:nvPr/>
        </p:nvSpPr>
        <p:spPr>
          <a:xfrm>
            <a:off x="640080" y="2103120"/>
            <a:ext cx="2286000" cy="502920"/>
          </a:xfrm>
          <a:prstGeom prst="rect">
            <a:avLst/>
          </a:prstGeom>
          <a:noFill/>
          <a:ln/>
        </p:spPr>
        <p:txBody>
          <a:bodyPr wrap="square" lIns="0" tIns="0" rIns="0" bIns="0" rtlCol="0" anchor="t"/>
          <a:lstStyle/>
          <a:p>
            <a:pPr marL="0" indent="0" algn="ctr">
              <a:buNone/>
            </a:pPr>
            <a:r>
              <a:rPr lang="en-US" sz="1200" dirty="0">
                <a:solidFill>
                  <a:srgbClr val="FFFFFF"/>
                </a:solidFill>
                <a:latin typeface="Calibri" pitchFamily="34" charset="0"/>
                <a:ea typeface="Calibri" pitchFamily="34" charset="-122"/>
                <a:cs typeface="Calibri" pitchFamily="34" charset="-120"/>
              </a:rPr>
              <a:t>of the time while you are speaking</a:t>
            </a:r>
            <a:endParaRPr lang="en-US" sz="1200" dirty="0"/>
          </a:p>
        </p:txBody>
      </p:sp>
      <p:sp>
        <p:nvSpPr>
          <p:cNvPr id="9" name="Shape 6"/>
          <p:cNvSpPr/>
          <p:nvPr/>
        </p:nvSpPr>
        <p:spPr>
          <a:xfrm>
            <a:off x="3246120" y="1280160"/>
            <a:ext cx="2651760" cy="1371600"/>
          </a:xfrm>
          <a:prstGeom prst="roundRect">
            <a:avLst>
              <a:gd name="adj" fmla="val 5333"/>
            </a:avLst>
          </a:prstGeom>
          <a:solidFill>
            <a:srgbClr val="44546A"/>
          </a:solidFill>
          <a:ln/>
        </p:spPr>
        <p:txBody>
          <a:bodyPr/>
          <a:lstStyle/>
          <a:p>
            <a:endParaRPr lang="en-US"/>
          </a:p>
        </p:txBody>
      </p:sp>
      <p:sp>
        <p:nvSpPr>
          <p:cNvPr id="10" name="Text 7"/>
          <p:cNvSpPr txBox="1"/>
          <p:nvPr/>
        </p:nvSpPr>
        <p:spPr>
          <a:xfrm>
            <a:off x="3246120" y="1371600"/>
            <a:ext cx="2651760" cy="777240"/>
          </a:xfrm>
          <a:prstGeom prst="rect">
            <a:avLst/>
          </a:prstGeom>
          <a:noFill/>
          <a:ln/>
        </p:spPr>
        <p:txBody>
          <a:bodyPr wrap="square" lIns="0" tIns="0" rIns="0" bIns="0" rtlCol="0" anchor="ctr"/>
          <a:lstStyle/>
          <a:p>
            <a:pPr marL="0" indent="0" algn="ctr">
              <a:buNone/>
            </a:pPr>
            <a:r>
              <a:rPr lang="en-US" sz="4400" b="1" dirty="0">
                <a:solidFill>
                  <a:srgbClr val="FFC000"/>
                </a:solidFill>
                <a:latin typeface="Calibri" pitchFamily="34" charset="0"/>
                <a:ea typeface="Calibri" pitchFamily="34" charset="-122"/>
                <a:cs typeface="Calibri" pitchFamily="34" charset="-120"/>
              </a:rPr>
              <a:t>70%</a:t>
            </a:r>
            <a:endParaRPr lang="en-US" sz="4400" dirty="0"/>
          </a:p>
        </p:txBody>
      </p:sp>
      <p:sp>
        <p:nvSpPr>
          <p:cNvPr id="11" name="Text 8"/>
          <p:cNvSpPr txBox="1"/>
          <p:nvPr/>
        </p:nvSpPr>
        <p:spPr>
          <a:xfrm>
            <a:off x="3429000" y="2103120"/>
            <a:ext cx="2286000" cy="502920"/>
          </a:xfrm>
          <a:prstGeom prst="rect">
            <a:avLst/>
          </a:prstGeom>
          <a:noFill/>
          <a:ln/>
        </p:spPr>
        <p:txBody>
          <a:bodyPr wrap="square" lIns="0" tIns="0" rIns="0" bIns="0" rtlCol="0" anchor="t"/>
          <a:lstStyle/>
          <a:p>
            <a:pPr marL="0" indent="0" algn="ctr">
              <a:buNone/>
            </a:pPr>
            <a:r>
              <a:rPr lang="en-US" sz="1200" dirty="0">
                <a:solidFill>
                  <a:srgbClr val="FFFFFF"/>
                </a:solidFill>
                <a:latin typeface="Calibri" pitchFamily="34" charset="0"/>
                <a:ea typeface="Calibri" pitchFamily="34" charset="-122"/>
                <a:cs typeface="Calibri" pitchFamily="34" charset="-120"/>
              </a:rPr>
              <a:t>of the time while you are listening</a:t>
            </a:r>
            <a:endParaRPr lang="en-US" sz="1200" dirty="0"/>
          </a:p>
        </p:txBody>
      </p:sp>
      <p:sp>
        <p:nvSpPr>
          <p:cNvPr id="12" name="Shape 9"/>
          <p:cNvSpPr/>
          <p:nvPr/>
        </p:nvSpPr>
        <p:spPr>
          <a:xfrm>
            <a:off x="6035040" y="1280160"/>
            <a:ext cx="2651760" cy="1371600"/>
          </a:xfrm>
          <a:prstGeom prst="roundRect">
            <a:avLst>
              <a:gd name="adj" fmla="val 5333"/>
            </a:avLst>
          </a:prstGeom>
          <a:solidFill>
            <a:srgbClr val="44546A"/>
          </a:solidFill>
          <a:ln/>
        </p:spPr>
        <p:txBody>
          <a:bodyPr/>
          <a:lstStyle/>
          <a:p>
            <a:endParaRPr lang="en-US"/>
          </a:p>
        </p:txBody>
      </p:sp>
      <p:sp>
        <p:nvSpPr>
          <p:cNvPr id="13" name="Text 10"/>
          <p:cNvSpPr txBox="1"/>
          <p:nvPr/>
        </p:nvSpPr>
        <p:spPr>
          <a:xfrm>
            <a:off x="6035040" y="1371600"/>
            <a:ext cx="2651760" cy="777240"/>
          </a:xfrm>
          <a:prstGeom prst="rect">
            <a:avLst/>
          </a:prstGeom>
          <a:noFill/>
          <a:ln/>
        </p:spPr>
        <p:txBody>
          <a:bodyPr wrap="square" lIns="0" tIns="0" rIns="0" bIns="0" rtlCol="0" anchor="ctr"/>
          <a:lstStyle/>
          <a:p>
            <a:pPr marL="0" indent="0" algn="ctr">
              <a:buNone/>
            </a:pPr>
            <a:r>
              <a:rPr lang="en-US" sz="4400" b="1" dirty="0">
                <a:solidFill>
                  <a:srgbClr val="FFC000"/>
                </a:solidFill>
                <a:latin typeface="Calibri" pitchFamily="34" charset="0"/>
                <a:ea typeface="Calibri" pitchFamily="34" charset="-122"/>
                <a:cs typeface="Calibri" pitchFamily="34" charset="-120"/>
              </a:rPr>
              <a:t>4–5 s</a:t>
            </a:r>
            <a:endParaRPr lang="en-US" sz="4400" dirty="0"/>
          </a:p>
        </p:txBody>
      </p:sp>
      <p:sp>
        <p:nvSpPr>
          <p:cNvPr id="14" name="Text 11"/>
          <p:cNvSpPr txBox="1"/>
          <p:nvPr/>
        </p:nvSpPr>
        <p:spPr>
          <a:xfrm>
            <a:off x="6217920" y="2103120"/>
            <a:ext cx="2286000" cy="502920"/>
          </a:xfrm>
          <a:prstGeom prst="rect">
            <a:avLst/>
          </a:prstGeom>
          <a:noFill/>
          <a:ln/>
        </p:spPr>
        <p:txBody>
          <a:bodyPr wrap="square" lIns="0" tIns="0" rIns="0" bIns="0" rtlCol="0" anchor="t"/>
          <a:lstStyle/>
          <a:p>
            <a:pPr marL="0" indent="0" algn="ctr">
              <a:buNone/>
            </a:pPr>
            <a:r>
              <a:rPr lang="en-US" sz="1200" dirty="0">
                <a:solidFill>
                  <a:srgbClr val="FFFFFF"/>
                </a:solidFill>
                <a:latin typeface="Calibri" pitchFamily="34" charset="0"/>
                <a:ea typeface="Calibri" pitchFamily="34" charset="-122"/>
                <a:cs typeface="Calibri" pitchFamily="34" charset="-120"/>
              </a:rPr>
              <a:t>hold eye contact, then look away briefly</a:t>
            </a:r>
            <a:endParaRPr lang="en-US" sz="1200" dirty="0"/>
          </a:p>
        </p:txBody>
      </p:sp>
      <p:sp>
        <p:nvSpPr>
          <p:cNvPr id="15" name="Text 12"/>
          <p:cNvSpPr txBox="1"/>
          <p:nvPr/>
        </p:nvSpPr>
        <p:spPr>
          <a:xfrm>
            <a:off x="457200" y="2788920"/>
            <a:ext cx="8229600" cy="274320"/>
          </a:xfrm>
          <a:prstGeom prst="rect">
            <a:avLst/>
          </a:prstGeom>
          <a:noFill/>
          <a:ln/>
        </p:spPr>
        <p:txBody>
          <a:bodyPr wrap="square" lIns="0" tIns="0" rIns="0" bIns="0" rtlCol="0" anchor="t"/>
          <a:lstStyle/>
          <a:p>
            <a:pPr marL="0" indent="0">
              <a:buNone/>
            </a:pPr>
            <a:r>
              <a:rPr lang="en-US" sz="1100" i="1" dirty="0">
                <a:solidFill>
                  <a:srgbClr val="66758A"/>
                </a:solidFill>
                <a:latin typeface="Calibri" pitchFamily="34" charset="0"/>
                <a:ea typeface="Calibri" pitchFamily="34" charset="-122"/>
                <a:cs typeface="Calibri" pitchFamily="34" charset="-120"/>
              </a:rPr>
              <a:t>The 50/70 rule in numbers</a:t>
            </a:r>
            <a:endParaRPr lang="en-US" sz="1100" dirty="0"/>
          </a:p>
        </p:txBody>
      </p:sp>
      <p:sp>
        <p:nvSpPr>
          <p:cNvPr id="16" name="Shape 13"/>
          <p:cNvSpPr/>
          <p:nvPr/>
        </p:nvSpPr>
        <p:spPr>
          <a:xfrm>
            <a:off x="457200" y="3108960"/>
            <a:ext cx="2651760" cy="1051560"/>
          </a:xfrm>
          <a:prstGeom prst="roundRect">
            <a:avLst>
              <a:gd name="adj" fmla="val 6957"/>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17" name="Shape 14"/>
          <p:cNvSpPr/>
          <p:nvPr/>
        </p:nvSpPr>
        <p:spPr>
          <a:xfrm>
            <a:off x="594360" y="3246120"/>
            <a:ext cx="457200" cy="457200"/>
          </a:xfrm>
          <a:prstGeom prst="ellipse">
            <a:avLst/>
          </a:prstGeom>
          <a:solidFill>
            <a:srgbClr val="4472C4"/>
          </a:solidFill>
          <a:ln/>
        </p:spPr>
        <p:txBody>
          <a:bodyPr/>
          <a:lstStyle/>
          <a:p>
            <a:endParaRPr lang="en-US"/>
          </a:p>
        </p:txBody>
      </p:sp>
      <p:pic>
        <p:nvPicPr>
          <p:cNvPr id="18" name="Image 0" descr="preencoded.png"/>
          <p:cNvPicPr>
            <a:picLocks noChangeAspect="1"/>
          </p:cNvPicPr>
          <p:nvPr/>
        </p:nvPicPr>
        <p:blipFill>
          <a:blip r:embed="rId3"/>
          <a:stretch>
            <a:fillRect/>
          </a:stretch>
        </p:blipFill>
        <p:spPr>
          <a:xfrm>
            <a:off x="708660" y="3360420"/>
            <a:ext cx="228600" cy="228600"/>
          </a:xfrm>
          <a:prstGeom prst="rect">
            <a:avLst/>
          </a:prstGeom>
        </p:spPr>
      </p:pic>
      <p:sp>
        <p:nvSpPr>
          <p:cNvPr id="19" name="Text 15"/>
          <p:cNvSpPr txBox="1"/>
          <p:nvPr/>
        </p:nvSpPr>
        <p:spPr>
          <a:xfrm>
            <a:off x="1188720" y="3246120"/>
            <a:ext cx="1828800" cy="274320"/>
          </a:xfrm>
          <a:prstGeom prst="rect">
            <a:avLst/>
          </a:prstGeom>
          <a:noFill/>
          <a:ln/>
        </p:spPr>
        <p:txBody>
          <a:bodyPr wrap="square" lIns="0" tIns="0" rIns="0" bIns="0" rtlCol="0" anchor="t"/>
          <a:lstStyle/>
          <a:p>
            <a:pPr marL="0" indent="0">
              <a:buNone/>
            </a:pPr>
            <a:r>
              <a:rPr lang="en-US" sz="1350" b="1" dirty="0">
                <a:solidFill>
                  <a:srgbClr val="44546A"/>
                </a:solidFill>
                <a:latin typeface="Calibri" pitchFamily="34" charset="0"/>
                <a:ea typeface="Calibri" pitchFamily="34" charset="-122"/>
                <a:cs typeface="Calibri" pitchFamily="34" charset="-120"/>
              </a:rPr>
              <a:t>Shows attention</a:t>
            </a:r>
            <a:endParaRPr lang="en-US" sz="1350" dirty="0"/>
          </a:p>
        </p:txBody>
      </p:sp>
      <p:sp>
        <p:nvSpPr>
          <p:cNvPr id="20" name="Text 16"/>
          <p:cNvSpPr txBox="1"/>
          <p:nvPr/>
        </p:nvSpPr>
        <p:spPr>
          <a:xfrm>
            <a:off x="1188720" y="3520440"/>
            <a:ext cx="1828800" cy="640080"/>
          </a:xfrm>
          <a:prstGeom prst="rect">
            <a:avLst/>
          </a:prstGeom>
          <a:noFill/>
          <a:ln/>
        </p:spPr>
        <p:txBody>
          <a:bodyPr wrap="square" lIns="0" tIns="0" rIns="0" bIns="0" rtlCol="0" anchor="t"/>
          <a:lstStyle/>
          <a:p>
            <a:pPr marL="0" indent="0">
              <a:buNone/>
            </a:pPr>
            <a:r>
              <a:rPr lang="en-US" sz="1050" dirty="0">
                <a:solidFill>
                  <a:srgbClr val="66758A"/>
                </a:solidFill>
                <a:latin typeface="Calibri" pitchFamily="34" charset="0"/>
                <a:ea typeface="Calibri" pitchFamily="34" charset="-122"/>
                <a:cs typeface="Calibri" pitchFamily="34" charset="-120"/>
              </a:rPr>
              <a:t>You look at the speaker, not at your phone or around the room.</a:t>
            </a:r>
            <a:endParaRPr lang="en-US" sz="1050" dirty="0"/>
          </a:p>
        </p:txBody>
      </p:sp>
      <p:sp>
        <p:nvSpPr>
          <p:cNvPr id="21" name="Shape 17"/>
          <p:cNvSpPr/>
          <p:nvPr/>
        </p:nvSpPr>
        <p:spPr>
          <a:xfrm>
            <a:off x="3246120" y="3108960"/>
            <a:ext cx="2651760" cy="1051560"/>
          </a:xfrm>
          <a:prstGeom prst="roundRect">
            <a:avLst>
              <a:gd name="adj" fmla="val 6957"/>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22" name="Shape 18"/>
          <p:cNvSpPr/>
          <p:nvPr/>
        </p:nvSpPr>
        <p:spPr>
          <a:xfrm>
            <a:off x="3383280" y="3246120"/>
            <a:ext cx="457200" cy="457200"/>
          </a:xfrm>
          <a:prstGeom prst="ellipse">
            <a:avLst/>
          </a:prstGeom>
          <a:solidFill>
            <a:srgbClr val="4472C4"/>
          </a:solidFill>
          <a:ln/>
        </p:spPr>
        <p:txBody>
          <a:bodyPr/>
          <a:lstStyle/>
          <a:p>
            <a:endParaRPr lang="en-US"/>
          </a:p>
        </p:txBody>
      </p:sp>
      <p:pic>
        <p:nvPicPr>
          <p:cNvPr id="23" name="Image 1" descr="preencoded.png"/>
          <p:cNvPicPr>
            <a:picLocks noChangeAspect="1"/>
          </p:cNvPicPr>
          <p:nvPr/>
        </p:nvPicPr>
        <p:blipFill>
          <a:blip r:embed="rId4"/>
          <a:stretch>
            <a:fillRect/>
          </a:stretch>
        </p:blipFill>
        <p:spPr>
          <a:xfrm>
            <a:off x="3497580" y="3360420"/>
            <a:ext cx="228600" cy="228600"/>
          </a:xfrm>
          <a:prstGeom prst="rect">
            <a:avLst/>
          </a:prstGeom>
        </p:spPr>
      </p:pic>
      <p:sp>
        <p:nvSpPr>
          <p:cNvPr id="24" name="Text 19"/>
          <p:cNvSpPr txBox="1"/>
          <p:nvPr/>
        </p:nvSpPr>
        <p:spPr>
          <a:xfrm>
            <a:off x="3977640" y="3246120"/>
            <a:ext cx="1828800" cy="274320"/>
          </a:xfrm>
          <a:prstGeom prst="rect">
            <a:avLst/>
          </a:prstGeom>
          <a:noFill/>
          <a:ln/>
        </p:spPr>
        <p:txBody>
          <a:bodyPr wrap="square" lIns="0" tIns="0" rIns="0" bIns="0" rtlCol="0" anchor="t"/>
          <a:lstStyle/>
          <a:p>
            <a:pPr marL="0" indent="0">
              <a:buNone/>
            </a:pPr>
            <a:r>
              <a:rPr lang="en-US" sz="1350" b="1" dirty="0">
                <a:solidFill>
                  <a:srgbClr val="44546A"/>
                </a:solidFill>
                <a:latin typeface="Calibri" pitchFamily="34" charset="0"/>
                <a:ea typeface="Calibri" pitchFamily="34" charset="-122"/>
                <a:cs typeface="Calibri" pitchFamily="34" charset="-120"/>
              </a:rPr>
              <a:t>Builds trust</a:t>
            </a:r>
            <a:endParaRPr lang="en-US" sz="1350" dirty="0"/>
          </a:p>
        </p:txBody>
      </p:sp>
      <p:sp>
        <p:nvSpPr>
          <p:cNvPr id="25" name="Text 20"/>
          <p:cNvSpPr txBox="1"/>
          <p:nvPr/>
        </p:nvSpPr>
        <p:spPr>
          <a:xfrm>
            <a:off x="3977640" y="3520440"/>
            <a:ext cx="1828800" cy="640080"/>
          </a:xfrm>
          <a:prstGeom prst="rect">
            <a:avLst/>
          </a:prstGeom>
          <a:noFill/>
          <a:ln/>
        </p:spPr>
        <p:txBody>
          <a:bodyPr wrap="square" lIns="0" tIns="0" rIns="0" bIns="0" rtlCol="0" anchor="t"/>
          <a:lstStyle/>
          <a:p>
            <a:pPr marL="0" indent="0">
              <a:buNone/>
            </a:pPr>
            <a:r>
              <a:rPr lang="en-US" sz="1050" dirty="0">
                <a:solidFill>
                  <a:srgbClr val="66758A"/>
                </a:solidFill>
                <a:latin typeface="Calibri" pitchFamily="34" charset="0"/>
                <a:ea typeface="Calibri" pitchFamily="34" charset="-122"/>
                <a:cs typeface="Calibri" pitchFamily="34" charset="-120"/>
              </a:rPr>
              <a:t>It signals sincerity and creates a sense of mutual understanding.</a:t>
            </a:r>
            <a:endParaRPr lang="en-US" sz="1050" dirty="0"/>
          </a:p>
        </p:txBody>
      </p:sp>
      <p:sp>
        <p:nvSpPr>
          <p:cNvPr id="26" name="Shape 21"/>
          <p:cNvSpPr/>
          <p:nvPr/>
        </p:nvSpPr>
        <p:spPr>
          <a:xfrm>
            <a:off x="6035040" y="3108960"/>
            <a:ext cx="2651760" cy="1051560"/>
          </a:xfrm>
          <a:prstGeom prst="roundRect">
            <a:avLst>
              <a:gd name="adj" fmla="val 6957"/>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27" name="Shape 22"/>
          <p:cNvSpPr/>
          <p:nvPr/>
        </p:nvSpPr>
        <p:spPr>
          <a:xfrm>
            <a:off x="6172200" y="3246120"/>
            <a:ext cx="457200" cy="457200"/>
          </a:xfrm>
          <a:prstGeom prst="ellipse">
            <a:avLst/>
          </a:prstGeom>
          <a:solidFill>
            <a:srgbClr val="4472C4"/>
          </a:solidFill>
          <a:ln/>
        </p:spPr>
        <p:txBody>
          <a:bodyPr/>
          <a:lstStyle/>
          <a:p>
            <a:endParaRPr lang="en-US"/>
          </a:p>
        </p:txBody>
      </p:sp>
      <p:pic>
        <p:nvPicPr>
          <p:cNvPr id="28" name="Image 2" descr="preencoded.png"/>
          <p:cNvPicPr>
            <a:picLocks noChangeAspect="1"/>
          </p:cNvPicPr>
          <p:nvPr/>
        </p:nvPicPr>
        <p:blipFill>
          <a:blip r:embed="rId5"/>
          <a:stretch>
            <a:fillRect/>
          </a:stretch>
        </p:blipFill>
        <p:spPr>
          <a:xfrm>
            <a:off x="6286500" y="3360420"/>
            <a:ext cx="228600" cy="228600"/>
          </a:xfrm>
          <a:prstGeom prst="rect">
            <a:avLst/>
          </a:prstGeom>
        </p:spPr>
      </p:pic>
      <p:sp>
        <p:nvSpPr>
          <p:cNvPr id="29" name="Text 23"/>
          <p:cNvSpPr txBox="1"/>
          <p:nvPr/>
        </p:nvSpPr>
        <p:spPr>
          <a:xfrm>
            <a:off x="6766560" y="3246120"/>
            <a:ext cx="1828800" cy="274320"/>
          </a:xfrm>
          <a:prstGeom prst="rect">
            <a:avLst/>
          </a:prstGeom>
          <a:noFill/>
          <a:ln/>
        </p:spPr>
        <p:txBody>
          <a:bodyPr wrap="square" lIns="0" tIns="0" rIns="0" bIns="0" rtlCol="0" anchor="t"/>
          <a:lstStyle/>
          <a:p>
            <a:pPr marL="0" indent="0">
              <a:buNone/>
            </a:pPr>
            <a:r>
              <a:rPr lang="en-US" sz="1350" b="1" dirty="0">
                <a:solidFill>
                  <a:srgbClr val="44546A"/>
                </a:solidFill>
                <a:latin typeface="Calibri" pitchFamily="34" charset="0"/>
                <a:ea typeface="Calibri" pitchFamily="34" charset="-122"/>
                <a:cs typeface="Calibri" pitchFamily="34" charset="-120"/>
              </a:rPr>
              <a:t>Reads emotions</a:t>
            </a:r>
            <a:endParaRPr lang="en-US" sz="1350" dirty="0"/>
          </a:p>
        </p:txBody>
      </p:sp>
      <p:sp>
        <p:nvSpPr>
          <p:cNvPr id="30" name="Text 24"/>
          <p:cNvSpPr txBox="1"/>
          <p:nvPr/>
        </p:nvSpPr>
        <p:spPr>
          <a:xfrm>
            <a:off x="6766560" y="3520440"/>
            <a:ext cx="1828800" cy="640080"/>
          </a:xfrm>
          <a:prstGeom prst="rect">
            <a:avLst/>
          </a:prstGeom>
          <a:noFill/>
          <a:ln/>
        </p:spPr>
        <p:txBody>
          <a:bodyPr wrap="square" lIns="0" tIns="0" rIns="0" bIns="0" rtlCol="0" anchor="t"/>
          <a:lstStyle/>
          <a:p>
            <a:pPr marL="0" indent="0">
              <a:buNone/>
            </a:pPr>
            <a:r>
              <a:rPr lang="en-US" sz="1050" dirty="0">
                <a:solidFill>
                  <a:srgbClr val="66758A"/>
                </a:solidFill>
                <a:latin typeface="Calibri" pitchFamily="34" charset="0"/>
                <a:ea typeface="Calibri" pitchFamily="34" charset="-122"/>
                <a:cs typeface="Calibri" pitchFamily="34" charset="-120"/>
              </a:rPr>
              <a:t>Your eyes pick up nonverbal cues that words alone do not show.</a:t>
            </a:r>
            <a:endParaRPr lang="en-US" sz="1050" dirty="0"/>
          </a:p>
        </p:txBody>
      </p:sp>
      <p:sp>
        <p:nvSpPr>
          <p:cNvPr id="31" name="Text 25"/>
          <p:cNvSpPr txBox="1"/>
          <p:nvPr/>
        </p:nvSpPr>
        <p:spPr>
          <a:xfrm>
            <a:off x="457200" y="4343400"/>
            <a:ext cx="8229600" cy="274320"/>
          </a:xfrm>
          <a:prstGeom prst="rect">
            <a:avLst/>
          </a:prstGeom>
          <a:noFill/>
          <a:ln/>
        </p:spPr>
        <p:txBody>
          <a:bodyPr wrap="square" lIns="0" tIns="0" rIns="0" bIns="0" rtlCol="0" anchor="t"/>
          <a:lstStyle/>
          <a:p>
            <a:pPr marL="0" indent="0">
              <a:buNone/>
            </a:pPr>
            <a:r>
              <a:rPr lang="en-US" sz="1200" b="1" i="1" dirty="0">
                <a:solidFill>
                  <a:srgbClr val="D8641A"/>
                </a:solidFill>
                <a:latin typeface="Calibri" pitchFamily="34" charset="0"/>
                <a:ea typeface="Calibri" pitchFamily="34" charset="-122"/>
                <a:cs typeface="Calibri" pitchFamily="34" charset="-120"/>
              </a:rPr>
              <a:t>Cultural note: eye-contact norms vary. Adapt respectfully.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ACTIVE LISTENING · 2</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Nodding and small responses</a:t>
            </a:r>
            <a:endParaRPr lang="en-US" sz="3000" dirty="0"/>
          </a:p>
        </p:txBody>
      </p:sp>
      <p:sp>
        <p:nvSpPr>
          <p:cNvPr id="6" name="Shape 3"/>
          <p:cNvSpPr/>
          <p:nvPr/>
        </p:nvSpPr>
        <p:spPr>
          <a:xfrm>
            <a:off x="457200" y="1280160"/>
            <a:ext cx="3840480" cy="3337560"/>
          </a:xfrm>
          <a:prstGeom prst="roundRect">
            <a:avLst>
              <a:gd name="adj" fmla="val 2192"/>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685800" y="1463040"/>
            <a:ext cx="502920" cy="502920"/>
          </a:xfrm>
          <a:prstGeom prst="ellipse">
            <a:avLst/>
          </a:prstGeom>
          <a:solidFill>
            <a:srgbClr val="4472C4"/>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811530" y="1588770"/>
            <a:ext cx="251460" cy="251460"/>
          </a:xfrm>
          <a:prstGeom prst="rect">
            <a:avLst/>
          </a:prstGeom>
        </p:spPr>
      </p:pic>
      <p:sp>
        <p:nvSpPr>
          <p:cNvPr id="9" name="Text 5"/>
          <p:cNvSpPr txBox="1"/>
          <p:nvPr/>
        </p:nvSpPr>
        <p:spPr>
          <a:xfrm>
            <a:off x="1325880" y="1508760"/>
            <a:ext cx="2743200" cy="365760"/>
          </a:xfrm>
          <a:prstGeom prst="rect">
            <a:avLst/>
          </a:prstGeom>
          <a:noFill/>
          <a:ln/>
        </p:spPr>
        <p:txBody>
          <a:bodyPr wrap="square" lIns="0" tIns="0" rIns="0" bIns="0" rtlCol="0" anchor="t"/>
          <a:lstStyle/>
          <a:p>
            <a:pPr marL="0" indent="0">
              <a:buNone/>
            </a:pPr>
            <a:r>
              <a:rPr lang="en-US" sz="1800" b="1" dirty="0">
                <a:solidFill>
                  <a:srgbClr val="44546A"/>
                </a:solidFill>
                <a:latin typeface="Calibri" pitchFamily="34" charset="0"/>
                <a:ea typeface="Calibri" pitchFamily="34" charset="-122"/>
                <a:cs typeface="Calibri" pitchFamily="34" charset="-120"/>
              </a:rPr>
              <a:t>Why nod?</a:t>
            </a:r>
            <a:endParaRPr lang="en-US" sz="1800" dirty="0"/>
          </a:p>
        </p:txBody>
      </p:sp>
      <p:sp>
        <p:nvSpPr>
          <p:cNvPr id="10" name="Text 6"/>
          <p:cNvSpPr txBox="1"/>
          <p:nvPr/>
        </p:nvSpPr>
        <p:spPr>
          <a:xfrm>
            <a:off x="685800" y="2194560"/>
            <a:ext cx="3429000" cy="1554480"/>
          </a:xfrm>
          <a:prstGeom prst="rect">
            <a:avLst/>
          </a:prstGeom>
          <a:noFill/>
          <a:ln/>
        </p:spPr>
        <p:txBody>
          <a:bodyPr wrap="square" lIns="0" tIns="0" rIns="0" bIns="0" rtlCol="0" anchor="t"/>
          <a:lstStyle/>
          <a:p>
            <a:pPr marL="342900" indent="-342900">
              <a:spcAft>
                <a:spcPts val="600"/>
              </a:spcAft>
              <a:buSzPct val="100000"/>
              <a:buChar char="•"/>
            </a:pPr>
            <a:r>
              <a:rPr lang="en-US" sz="1250" b="1" dirty="0">
                <a:solidFill>
                  <a:srgbClr val="222B36"/>
                </a:solidFill>
                <a:latin typeface="Calibri" pitchFamily="34" charset="0"/>
                <a:ea typeface="Calibri" pitchFamily="34" charset="-122"/>
                <a:cs typeface="Calibri" pitchFamily="34" charset="-120"/>
              </a:rPr>
              <a:t>Affirms understanding: </a:t>
            </a:r>
            <a:r>
              <a:rPr lang="en-US" sz="1250" dirty="0">
                <a:solidFill>
                  <a:srgbClr val="222B36"/>
                </a:solidFill>
                <a:latin typeface="Calibri" pitchFamily="34" charset="0"/>
                <a:ea typeface="Calibri" pitchFamily="34" charset="-122"/>
                <a:cs typeface="Calibri" pitchFamily="34" charset="-120"/>
              </a:rPr>
              <a:t>you are following and processing.</a:t>
            </a:r>
            <a:endParaRPr lang="en-US" sz="1250" dirty="0"/>
          </a:p>
          <a:p>
            <a:pPr marL="342900" indent="-342900">
              <a:spcAft>
                <a:spcPts val="600"/>
              </a:spcAft>
              <a:buSzPct val="100000"/>
              <a:buChar char="•"/>
            </a:pPr>
            <a:r>
              <a:rPr lang="en-US" sz="1250" b="1" dirty="0">
                <a:solidFill>
                  <a:srgbClr val="222B36"/>
                </a:solidFill>
                <a:latin typeface="Calibri" pitchFamily="34" charset="0"/>
                <a:ea typeface="Calibri" pitchFamily="34" charset="-122"/>
                <a:cs typeface="Calibri" pitchFamily="34" charset="-120"/>
              </a:rPr>
              <a:t>Expresses agreement: </a:t>
            </a:r>
            <a:r>
              <a:rPr lang="en-US" sz="1250" dirty="0">
                <a:solidFill>
                  <a:srgbClr val="222B36"/>
                </a:solidFill>
                <a:latin typeface="Calibri" pitchFamily="34" charset="0"/>
                <a:ea typeface="Calibri" pitchFamily="34" charset="-122"/>
                <a:cs typeface="Calibri" pitchFamily="34" charset="-120"/>
              </a:rPr>
              <a:t>a quick or slow nod says "I'm with you".</a:t>
            </a:r>
            <a:endParaRPr lang="en-US" sz="1250" dirty="0"/>
          </a:p>
          <a:p>
            <a:pPr marL="342900" indent="-342900">
              <a:spcAft>
                <a:spcPts val="600"/>
              </a:spcAft>
              <a:buSzPct val="100000"/>
              <a:buChar char="•"/>
            </a:pPr>
            <a:r>
              <a:rPr lang="en-US" sz="1250" b="1" dirty="0">
                <a:solidFill>
                  <a:srgbClr val="222B36"/>
                </a:solidFill>
                <a:latin typeface="Calibri" pitchFamily="34" charset="0"/>
                <a:ea typeface="Calibri" pitchFamily="34" charset="-122"/>
                <a:cs typeface="Calibri" pitchFamily="34" charset="-120"/>
              </a:rPr>
              <a:t>Encourages the speaker: </a:t>
            </a:r>
            <a:r>
              <a:rPr lang="en-US" sz="1250" dirty="0">
                <a:solidFill>
                  <a:srgbClr val="222B36"/>
                </a:solidFill>
                <a:latin typeface="Calibri" pitchFamily="34" charset="0"/>
                <a:ea typeface="Calibri" pitchFamily="34" charset="-122"/>
                <a:cs typeface="Calibri" pitchFamily="34" charset="-120"/>
              </a:rPr>
              <a:t>creates a positive feedback loop and helps them relax.</a:t>
            </a:r>
            <a:endParaRPr lang="en-US" sz="1250" dirty="0"/>
          </a:p>
        </p:txBody>
      </p:sp>
      <p:sp>
        <p:nvSpPr>
          <p:cNvPr id="11" name="Text 7"/>
          <p:cNvSpPr txBox="1"/>
          <p:nvPr/>
        </p:nvSpPr>
        <p:spPr>
          <a:xfrm>
            <a:off x="685800" y="3794760"/>
            <a:ext cx="3200400" cy="274320"/>
          </a:xfrm>
          <a:prstGeom prst="rect">
            <a:avLst/>
          </a:prstGeom>
          <a:noFill/>
          <a:ln/>
        </p:spPr>
        <p:txBody>
          <a:bodyPr wrap="square" lIns="0" tIns="0" rIns="0" bIns="0" rtlCol="0" anchor="t"/>
          <a:lstStyle/>
          <a:p>
            <a:pPr marL="0" indent="0">
              <a:buNone/>
            </a:pPr>
            <a:r>
              <a:rPr lang="en-US" sz="1150" b="1" dirty="0">
                <a:solidFill>
                  <a:srgbClr val="66758A"/>
                </a:solidFill>
                <a:latin typeface="Calibri" pitchFamily="34" charset="0"/>
                <a:ea typeface="Calibri" pitchFamily="34" charset="-122"/>
                <a:cs typeface="Calibri" pitchFamily="34" charset="-120"/>
              </a:rPr>
              <a:t>Verbal affirmations:</a:t>
            </a:r>
            <a:endParaRPr lang="en-US" sz="1150" dirty="0"/>
          </a:p>
        </p:txBody>
      </p:sp>
      <p:sp>
        <p:nvSpPr>
          <p:cNvPr id="12" name="Shape 8"/>
          <p:cNvSpPr/>
          <p:nvPr/>
        </p:nvSpPr>
        <p:spPr>
          <a:xfrm>
            <a:off x="685800" y="4114800"/>
            <a:ext cx="731520" cy="329184"/>
          </a:xfrm>
          <a:prstGeom prst="roundRect">
            <a:avLst>
              <a:gd name="adj" fmla="val 50000"/>
            </a:avLst>
          </a:prstGeom>
          <a:solidFill>
            <a:srgbClr val="FBE5D6"/>
          </a:solidFill>
          <a:ln/>
        </p:spPr>
        <p:txBody>
          <a:bodyPr/>
          <a:lstStyle/>
          <a:p>
            <a:endParaRPr lang="en-US"/>
          </a:p>
        </p:txBody>
      </p:sp>
      <p:sp>
        <p:nvSpPr>
          <p:cNvPr id="13" name="Text 9"/>
          <p:cNvSpPr txBox="1"/>
          <p:nvPr/>
        </p:nvSpPr>
        <p:spPr>
          <a:xfrm>
            <a:off x="685800" y="4114800"/>
            <a:ext cx="731520" cy="329184"/>
          </a:xfrm>
          <a:prstGeom prst="rect">
            <a:avLst/>
          </a:prstGeom>
          <a:noFill/>
          <a:ln/>
        </p:spPr>
        <p:txBody>
          <a:bodyPr wrap="square" lIns="0" tIns="0" rIns="0" bIns="0" rtlCol="0" anchor="ctr"/>
          <a:lstStyle/>
          <a:p>
            <a:pPr marL="0" indent="0" algn="ctr">
              <a:buNone/>
            </a:pPr>
            <a:r>
              <a:rPr lang="en-US" sz="1150" b="1" dirty="0">
                <a:solidFill>
                  <a:srgbClr val="D8641A"/>
                </a:solidFill>
                <a:latin typeface="Calibri" pitchFamily="34" charset="0"/>
                <a:ea typeface="Calibri" pitchFamily="34" charset="-122"/>
                <a:cs typeface="Calibri" pitchFamily="34" charset="-120"/>
              </a:rPr>
              <a:t>I see</a:t>
            </a:r>
            <a:endParaRPr lang="en-US" sz="1150" dirty="0"/>
          </a:p>
        </p:txBody>
      </p:sp>
      <p:sp>
        <p:nvSpPr>
          <p:cNvPr id="14" name="Shape 10"/>
          <p:cNvSpPr/>
          <p:nvPr/>
        </p:nvSpPr>
        <p:spPr>
          <a:xfrm>
            <a:off x="1508760" y="4114800"/>
            <a:ext cx="731520" cy="329184"/>
          </a:xfrm>
          <a:prstGeom prst="roundRect">
            <a:avLst>
              <a:gd name="adj" fmla="val 50000"/>
            </a:avLst>
          </a:prstGeom>
          <a:solidFill>
            <a:srgbClr val="FBE5D6"/>
          </a:solidFill>
          <a:ln/>
        </p:spPr>
        <p:txBody>
          <a:bodyPr/>
          <a:lstStyle/>
          <a:p>
            <a:endParaRPr lang="en-US"/>
          </a:p>
        </p:txBody>
      </p:sp>
      <p:sp>
        <p:nvSpPr>
          <p:cNvPr id="15" name="Text 11"/>
          <p:cNvSpPr txBox="1"/>
          <p:nvPr/>
        </p:nvSpPr>
        <p:spPr>
          <a:xfrm>
            <a:off x="1508760" y="4114800"/>
            <a:ext cx="731520" cy="329184"/>
          </a:xfrm>
          <a:prstGeom prst="rect">
            <a:avLst/>
          </a:prstGeom>
          <a:noFill/>
          <a:ln/>
        </p:spPr>
        <p:txBody>
          <a:bodyPr wrap="square" lIns="0" tIns="0" rIns="0" bIns="0" rtlCol="0" anchor="ctr"/>
          <a:lstStyle/>
          <a:p>
            <a:pPr marL="0" indent="0" algn="ctr">
              <a:buNone/>
            </a:pPr>
            <a:r>
              <a:rPr lang="en-US" sz="1150" b="1" dirty="0">
                <a:solidFill>
                  <a:srgbClr val="D8641A"/>
                </a:solidFill>
                <a:latin typeface="Calibri" pitchFamily="34" charset="0"/>
                <a:ea typeface="Calibri" pitchFamily="34" charset="-122"/>
                <a:cs typeface="Calibri" pitchFamily="34" charset="-120"/>
              </a:rPr>
              <a:t>Yes</a:t>
            </a:r>
            <a:endParaRPr lang="en-US" sz="1150" dirty="0"/>
          </a:p>
        </p:txBody>
      </p:sp>
      <p:sp>
        <p:nvSpPr>
          <p:cNvPr id="16" name="Shape 12"/>
          <p:cNvSpPr/>
          <p:nvPr/>
        </p:nvSpPr>
        <p:spPr>
          <a:xfrm>
            <a:off x="2331720" y="4114800"/>
            <a:ext cx="731520" cy="329184"/>
          </a:xfrm>
          <a:prstGeom prst="roundRect">
            <a:avLst>
              <a:gd name="adj" fmla="val 50000"/>
            </a:avLst>
          </a:prstGeom>
          <a:solidFill>
            <a:srgbClr val="FBE5D6"/>
          </a:solidFill>
          <a:ln/>
        </p:spPr>
        <p:txBody>
          <a:bodyPr/>
          <a:lstStyle/>
          <a:p>
            <a:endParaRPr lang="en-US"/>
          </a:p>
        </p:txBody>
      </p:sp>
      <p:sp>
        <p:nvSpPr>
          <p:cNvPr id="17" name="Text 13"/>
          <p:cNvSpPr txBox="1"/>
          <p:nvPr/>
        </p:nvSpPr>
        <p:spPr>
          <a:xfrm>
            <a:off x="2331720" y="4114800"/>
            <a:ext cx="731520" cy="329184"/>
          </a:xfrm>
          <a:prstGeom prst="rect">
            <a:avLst/>
          </a:prstGeom>
          <a:noFill/>
          <a:ln/>
        </p:spPr>
        <p:txBody>
          <a:bodyPr wrap="square" lIns="0" tIns="0" rIns="0" bIns="0" rtlCol="0" anchor="ctr"/>
          <a:lstStyle/>
          <a:p>
            <a:pPr marL="0" indent="0" algn="ctr">
              <a:buNone/>
            </a:pPr>
            <a:r>
              <a:rPr lang="en-US" sz="1150" b="1" dirty="0">
                <a:solidFill>
                  <a:srgbClr val="D8641A"/>
                </a:solidFill>
                <a:latin typeface="Calibri" pitchFamily="34" charset="0"/>
                <a:ea typeface="Calibri" pitchFamily="34" charset="-122"/>
                <a:cs typeface="Calibri" pitchFamily="34" charset="-120"/>
              </a:rPr>
              <a:t>Right</a:t>
            </a:r>
            <a:endParaRPr lang="en-US" sz="1150" dirty="0"/>
          </a:p>
        </p:txBody>
      </p:sp>
      <p:sp>
        <p:nvSpPr>
          <p:cNvPr id="18" name="Shape 14"/>
          <p:cNvSpPr/>
          <p:nvPr/>
        </p:nvSpPr>
        <p:spPr>
          <a:xfrm>
            <a:off x="3154680" y="4114800"/>
            <a:ext cx="731520" cy="329184"/>
          </a:xfrm>
          <a:prstGeom prst="roundRect">
            <a:avLst>
              <a:gd name="adj" fmla="val 50000"/>
            </a:avLst>
          </a:prstGeom>
          <a:solidFill>
            <a:srgbClr val="FBE5D6"/>
          </a:solidFill>
          <a:ln/>
        </p:spPr>
        <p:txBody>
          <a:bodyPr/>
          <a:lstStyle/>
          <a:p>
            <a:endParaRPr lang="en-US"/>
          </a:p>
        </p:txBody>
      </p:sp>
      <p:sp>
        <p:nvSpPr>
          <p:cNvPr id="19" name="Text 15"/>
          <p:cNvSpPr txBox="1"/>
          <p:nvPr/>
        </p:nvSpPr>
        <p:spPr>
          <a:xfrm>
            <a:off x="3154680" y="4114800"/>
            <a:ext cx="731520" cy="329184"/>
          </a:xfrm>
          <a:prstGeom prst="rect">
            <a:avLst/>
          </a:prstGeom>
          <a:noFill/>
          <a:ln/>
        </p:spPr>
        <p:txBody>
          <a:bodyPr wrap="square" lIns="0" tIns="0" rIns="0" bIns="0" rtlCol="0" anchor="ctr"/>
          <a:lstStyle/>
          <a:p>
            <a:pPr marL="0" indent="0" algn="ctr">
              <a:buNone/>
            </a:pPr>
            <a:r>
              <a:rPr lang="en-US" sz="1150" b="1" dirty="0">
                <a:solidFill>
                  <a:srgbClr val="D8641A"/>
                </a:solidFill>
                <a:latin typeface="Calibri" pitchFamily="34" charset="0"/>
                <a:ea typeface="Calibri" pitchFamily="34" charset="-122"/>
                <a:cs typeface="Calibri" pitchFamily="34" charset="-120"/>
              </a:rPr>
              <a:t>Go on</a:t>
            </a:r>
            <a:endParaRPr lang="en-US" sz="1150" dirty="0"/>
          </a:p>
        </p:txBody>
      </p:sp>
      <p:sp>
        <p:nvSpPr>
          <p:cNvPr id="20" name="Text 16"/>
          <p:cNvSpPr txBox="1"/>
          <p:nvPr/>
        </p:nvSpPr>
        <p:spPr>
          <a:xfrm>
            <a:off x="4572000" y="1280160"/>
            <a:ext cx="4114800" cy="320040"/>
          </a:xfrm>
          <a:prstGeom prst="rect">
            <a:avLst/>
          </a:prstGeom>
          <a:noFill/>
          <a:ln/>
        </p:spPr>
        <p:txBody>
          <a:bodyPr wrap="square" lIns="0" tIns="0" rIns="0" bIns="0" rtlCol="0" anchor="t"/>
          <a:lstStyle/>
          <a:p>
            <a:pPr marL="0" indent="0">
              <a:buNone/>
            </a:pPr>
            <a:r>
              <a:rPr lang="en-US" sz="1500" b="1" dirty="0">
                <a:solidFill>
                  <a:srgbClr val="44546A"/>
                </a:solidFill>
                <a:latin typeface="Calibri" pitchFamily="34" charset="0"/>
                <a:ea typeface="Calibri" pitchFamily="34" charset="-122"/>
                <a:cs typeface="Calibri" pitchFamily="34" charset="-120"/>
              </a:rPr>
              <a:t>Nodding in action</a:t>
            </a:r>
            <a:endParaRPr lang="en-US" sz="1500" dirty="0"/>
          </a:p>
        </p:txBody>
      </p:sp>
      <p:sp>
        <p:nvSpPr>
          <p:cNvPr id="21" name="Shape 17"/>
          <p:cNvSpPr/>
          <p:nvPr/>
        </p:nvSpPr>
        <p:spPr>
          <a:xfrm>
            <a:off x="4572000" y="1691640"/>
            <a:ext cx="4114800" cy="914400"/>
          </a:xfrm>
          <a:prstGeom prst="roundRect">
            <a:avLst>
              <a:gd name="adj" fmla="val 8000"/>
            </a:avLst>
          </a:prstGeom>
          <a:solidFill>
            <a:srgbClr val="DAE3F3"/>
          </a:solidFill>
          <a:ln/>
        </p:spPr>
        <p:txBody>
          <a:bodyPr/>
          <a:lstStyle/>
          <a:p>
            <a:endParaRPr lang="en-US"/>
          </a:p>
        </p:txBody>
      </p:sp>
      <p:sp>
        <p:nvSpPr>
          <p:cNvPr id="22" name="Text 18"/>
          <p:cNvSpPr txBox="1"/>
          <p:nvPr/>
        </p:nvSpPr>
        <p:spPr>
          <a:xfrm>
            <a:off x="4754880" y="1737360"/>
            <a:ext cx="3749040" cy="822960"/>
          </a:xfrm>
          <a:prstGeom prst="rect">
            <a:avLst/>
          </a:prstGeom>
          <a:noFill/>
          <a:ln/>
        </p:spPr>
        <p:txBody>
          <a:bodyPr wrap="square" lIns="0" tIns="0" rIns="0" bIns="0" rtlCol="0" anchor="ctr"/>
          <a:lstStyle/>
          <a:p>
            <a:pPr marL="0" indent="0">
              <a:buNone/>
            </a:pPr>
            <a:r>
              <a:rPr lang="en-US" sz="1250" b="1" dirty="0">
                <a:solidFill>
                  <a:srgbClr val="4472C4"/>
                </a:solidFill>
                <a:latin typeface="Calibri" pitchFamily="34" charset="0"/>
                <a:ea typeface="Calibri" pitchFamily="34" charset="-122"/>
                <a:cs typeface="Calibri" pitchFamily="34" charset="-120"/>
              </a:rPr>
              <a:t>Speaker: </a:t>
            </a:r>
            <a:r>
              <a:rPr lang="en-US" sz="1250" dirty="0">
                <a:solidFill>
                  <a:srgbClr val="222B36"/>
                </a:solidFill>
                <a:latin typeface="Calibri" pitchFamily="34" charset="0"/>
                <a:ea typeface="Calibri" pitchFamily="34" charset="-122"/>
                <a:cs typeface="Calibri" pitchFamily="34" charset="-120"/>
              </a:rPr>
              <a:t>"The deadline moved to Friday, so we need the draft by Thursday."</a:t>
            </a:r>
            <a:endParaRPr lang="en-US" sz="1250" dirty="0"/>
          </a:p>
        </p:txBody>
      </p:sp>
      <p:sp>
        <p:nvSpPr>
          <p:cNvPr id="23" name="Shape 19"/>
          <p:cNvSpPr/>
          <p:nvPr/>
        </p:nvSpPr>
        <p:spPr>
          <a:xfrm>
            <a:off x="4572000" y="2743200"/>
            <a:ext cx="4114800" cy="914400"/>
          </a:xfrm>
          <a:prstGeom prst="roundRect">
            <a:avLst>
              <a:gd name="adj" fmla="val 8000"/>
            </a:avLst>
          </a:prstGeom>
          <a:solidFill>
            <a:srgbClr val="FBE5D6"/>
          </a:solidFill>
          <a:ln/>
        </p:spPr>
        <p:txBody>
          <a:bodyPr/>
          <a:lstStyle/>
          <a:p>
            <a:endParaRPr lang="en-US"/>
          </a:p>
        </p:txBody>
      </p:sp>
      <p:sp>
        <p:nvSpPr>
          <p:cNvPr id="24" name="Text 20"/>
          <p:cNvSpPr txBox="1"/>
          <p:nvPr/>
        </p:nvSpPr>
        <p:spPr>
          <a:xfrm>
            <a:off x="4754880" y="2788920"/>
            <a:ext cx="3749040" cy="822960"/>
          </a:xfrm>
          <a:prstGeom prst="rect">
            <a:avLst/>
          </a:prstGeom>
          <a:noFill/>
          <a:ln/>
        </p:spPr>
        <p:txBody>
          <a:bodyPr wrap="square" lIns="0" tIns="0" rIns="0" bIns="0" rtlCol="0" anchor="ctr"/>
          <a:lstStyle/>
          <a:p>
            <a:pPr marL="0" indent="0">
              <a:buNone/>
            </a:pPr>
            <a:r>
              <a:rPr lang="en-US" sz="1250" b="1" dirty="0">
                <a:solidFill>
                  <a:srgbClr val="D8641A"/>
                </a:solidFill>
                <a:latin typeface="Calibri" pitchFamily="34" charset="0"/>
                <a:ea typeface="Calibri" pitchFamily="34" charset="-122"/>
                <a:cs typeface="Calibri" pitchFamily="34" charset="-120"/>
              </a:rPr>
              <a:t>Listener: </a:t>
            </a:r>
            <a:r>
              <a:rPr lang="en-US" sz="1250" dirty="0">
                <a:solidFill>
                  <a:srgbClr val="222B36"/>
                </a:solidFill>
                <a:latin typeface="Calibri" pitchFamily="34" charset="0"/>
                <a:ea typeface="Calibri" pitchFamily="34" charset="-122"/>
                <a:cs typeface="Calibri" pitchFamily="34" charset="-120"/>
              </a:rPr>
              <a:t>*nods slowly* "I see. Thursday, got it."</a:t>
            </a:r>
            <a:endParaRPr lang="en-US" sz="1250" dirty="0"/>
          </a:p>
        </p:txBody>
      </p:sp>
      <p:sp>
        <p:nvSpPr>
          <p:cNvPr id="25" name="Shape 21"/>
          <p:cNvSpPr/>
          <p:nvPr/>
        </p:nvSpPr>
        <p:spPr>
          <a:xfrm>
            <a:off x="4572000" y="3794760"/>
            <a:ext cx="4114800" cy="822960"/>
          </a:xfrm>
          <a:prstGeom prst="roundRect">
            <a:avLst>
              <a:gd name="adj" fmla="val 8889"/>
            </a:avLst>
          </a:prstGeom>
          <a:solidFill>
            <a:srgbClr val="FFF2CC"/>
          </a:solidFill>
          <a:ln/>
        </p:spPr>
        <p:txBody>
          <a:bodyPr/>
          <a:lstStyle/>
          <a:p>
            <a:endParaRPr lang="en-US"/>
          </a:p>
        </p:txBody>
      </p:sp>
      <p:sp>
        <p:nvSpPr>
          <p:cNvPr id="26" name="Text 22"/>
          <p:cNvSpPr txBox="1"/>
          <p:nvPr/>
        </p:nvSpPr>
        <p:spPr>
          <a:xfrm>
            <a:off x="4754880" y="3840480"/>
            <a:ext cx="3749040" cy="731520"/>
          </a:xfrm>
          <a:prstGeom prst="rect">
            <a:avLst/>
          </a:prstGeom>
          <a:noFill/>
          <a:ln/>
        </p:spPr>
        <p:txBody>
          <a:bodyPr wrap="square" lIns="0" tIns="0" rIns="0" bIns="0" rtlCol="0" anchor="ctr"/>
          <a:lstStyle/>
          <a:p>
            <a:pPr marL="0" indent="0">
              <a:buNone/>
            </a:pPr>
            <a:r>
              <a:rPr lang="en-US" sz="1150" b="1" dirty="0">
                <a:solidFill>
                  <a:srgbClr val="222B36"/>
                </a:solidFill>
                <a:latin typeface="Calibri" pitchFamily="34" charset="0"/>
                <a:ea typeface="Calibri" pitchFamily="34" charset="-122"/>
                <a:cs typeface="Calibri" pitchFamily="34" charset="-120"/>
              </a:rPr>
              <a:t>Tip: </a:t>
            </a:r>
            <a:r>
              <a:rPr lang="en-US" sz="1150" dirty="0">
                <a:solidFill>
                  <a:srgbClr val="222B36"/>
                </a:solidFill>
                <a:latin typeface="Calibri" pitchFamily="34" charset="0"/>
                <a:ea typeface="Calibri" pitchFamily="34" charset="-122"/>
                <a:cs typeface="Calibri" pitchFamily="34" charset="-120"/>
              </a:rPr>
              <a:t>a nod means "I'm following", not always "I agree". Pair it with eye contact and keep it natural.</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ACTIVE LISTENING · 3</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Asking clarifying questions</a:t>
            </a:r>
            <a:endParaRPr lang="en-US" sz="3000" dirty="0"/>
          </a:p>
        </p:txBody>
      </p:sp>
      <p:sp>
        <p:nvSpPr>
          <p:cNvPr id="6" name="Shape 3"/>
          <p:cNvSpPr/>
          <p:nvPr/>
        </p:nvSpPr>
        <p:spPr>
          <a:xfrm>
            <a:off x="457200" y="1280160"/>
            <a:ext cx="2651760" cy="1874520"/>
          </a:xfrm>
          <a:prstGeom prst="roundRect">
            <a:avLst>
              <a:gd name="adj" fmla="val 3902"/>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640080" y="1417320"/>
            <a:ext cx="457200" cy="457200"/>
          </a:xfrm>
          <a:prstGeom prst="ellipse">
            <a:avLst/>
          </a:prstGeom>
          <a:solidFill>
            <a:srgbClr val="4472C4"/>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754380" y="1531620"/>
            <a:ext cx="228600" cy="228600"/>
          </a:xfrm>
          <a:prstGeom prst="rect">
            <a:avLst/>
          </a:prstGeom>
        </p:spPr>
      </p:pic>
      <p:sp>
        <p:nvSpPr>
          <p:cNvPr id="9" name="Text 5"/>
          <p:cNvSpPr txBox="1"/>
          <p:nvPr/>
        </p:nvSpPr>
        <p:spPr>
          <a:xfrm>
            <a:off x="1234440" y="1463040"/>
            <a:ext cx="1737360" cy="365760"/>
          </a:xfrm>
          <a:prstGeom prst="rect">
            <a:avLst/>
          </a:prstGeom>
          <a:noFill/>
          <a:ln/>
        </p:spPr>
        <p:txBody>
          <a:bodyPr wrap="square" lIns="0" tIns="0" rIns="0" bIns="0" rtlCol="0" anchor="ctr"/>
          <a:lstStyle/>
          <a:p>
            <a:pPr marL="0" indent="0">
              <a:buNone/>
            </a:pPr>
            <a:r>
              <a:rPr lang="en-US" sz="1600" b="1" dirty="0">
                <a:solidFill>
                  <a:srgbClr val="44546A"/>
                </a:solidFill>
                <a:latin typeface="Calibri" pitchFamily="34" charset="0"/>
                <a:ea typeface="Calibri" pitchFamily="34" charset="-122"/>
                <a:cs typeface="Calibri" pitchFamily="34" charset="-120"/>
              </a:rPr>
              <a:t>Confirm</a:t>
            </a:r>
            <a:endParaRPr lang="en-US" sz="1600" dirty="0"/>
          </a:p>
        </p:txBody>
      </p:sp>
      <p:sp>
        <p:nvSpPr>
          <p:cNvPr id="10" name="Text 6"/>
          <p:cNvSpPr txBox="1"/>
          <p:nvPr/>
        </p:nvSpPr>
        <p:spPr>
          <a:xfrm>
            <a:off x="640080" y="2011680"/>
            <a:ext cx="2286000" cy="457200"/>
          </a:xfrm>
          <a:prstGeom prst="rect">
            <a:avLst/>
          </a:prstGeom>
          <a:noFill/>
          <a:ln/>
        </p:spPr>
        <p:txBody>
          <a:bodyPr wrap="square" lIns="0" tIns="0" rIns="0" bIns="0" rtlCol="0" anchor="t"/>
          <a:lstStyle/>
          <a:p>
            <a:pPr marL="0" indent="0">
              <a:buNone/>
            </a:pPr>
            <a:r>
              <a:rPr lang="en-US" sz="1150" dirty="0">
                <a:solidFill>
                  <a:srgbClr val="66758A"/>
                </a:solidFill>
                <a:latin typeface="Calibri" pitchFamily="34" charset="0"/>
                <a:ea typeface="Calibri" pitchFamily="34" charset="-122"/>
                <a:cs typeface="Calibri" pitchFamily="34" charset="-120"/>
              </a:rPr>
              <a:t>Rephrase or summarize to check accuracy.</a:t>
            </a:r>
            <a:endParaRPr lang="en-US" sz="1150" dirty="0"/>
          </a:p>
        </p:txBody>
      </p:sp>
      <p:sp>
        <p:nvSpPr>
          <p:cNvPr id="11" name="Text 7"/>
          <p:cNvSpPr txBox="1"/>
          <p:nvPr/>
        </p:nvSpPr>
        <p:spPr>
          <a:xfrm>
            <a:off x="640080" y="2468880"/>
            <a:ext cx="2286000" cy="640080"/>
          </a:xfrm>
          <a:prstGeom prst="rect">
            <a:avLst/>
          </a:prstGeom>
          <a:noFill/>
          <a:ln/>
        </p:spPr>
        <p:txBody>
          <a:bodyPr wrap="square" lIns="0" tIns="0" rIns="0" bIns="0" rtlCol="0" anchor="t"/>
          <a:lstStyle/>
          <a:p>
            <a:pPr marL="0" indent="0">
              <a:buNone/>
            </a:pPr>
            <a:r>
              <a:rPr lang="en-US" sz="1200" b="1" i="1" dirty="0">
                <a:solidFill>
                  <a:srgbClr val="222B36"/>
                </a:solidFill>
                <a:latin typeface="Calibri" pitchFamily="34" charset="0"/>
                <a:ea typeface="Calibri" pitchFamily="34" charset="-122"/>
                <a:cs typeface="Calibri" pitchFamily="34" charset="-120"/>
              </a:rPr>
              <a:t>"If I'm understanding you correctly, you're saying that…"</a:t>
            </a:r>
            <a:endParaRPr lang="en-US" sz="1200" dirty="0"/>
          </a:p>
        </p:txBody>
      </p:sp>
      <p:sp>
        <p:nvSpPr>
          <p:cNvPr id="12" name="Shape 8"/>
          <p:cNvSpPr/>
          <p:nvPr/>
        </p:nvSpPr>
        <p:spPr>
          <a:xfrm>
            <a:off x="3246120" y="1280160"/>
            <a:ext cx="2651760" cy="1874520"/>
          </a:xfrm>
          <a:prstGeom prst="roundRect">
            <a:avLst>
              <a:gd name="adj" fmla="val 3902"/>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13" name="Shape 9"/>
          <p:cNvSpPr/>
          <p:nvPr/>
        </p:nvSpPr>
        <p:spPr>
          <a:xfrm>
            <a:off x="3429000" y="1417320"/>
            <a:ext cx="457200" cy="457200"/>
          </a:xfrm>
          <a:prstGeom prst="ellipse">
            <a:avLst/>
          </a:prstGeom>
          <a:solidFill>
            <a:srgbClr val="D8641A"/>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3543300" y="1531620"/>
            <a:ext cx="228600" cy="228600"/>
          </a:xfrm>
          <a:prstGeom prst="rect">
            <a:avLst/>
          </a:prstGeom>
        </p:spPr>
      </p:pic>
      <p:sp>
        <p:nvSpPr>
          <p:cNvPr id="15" name="Text 10"/>
          <p:cNvSpPr txBox="1"/>
          <p:nvPr/>
        </p:nvSpPr>
        <p:spPr>
          <a:xfrm>
            <a:off x="4023360" y="1463040"/>
            <a:ext cx="1737360" cy="365760"/>
          </a:xfrm>
          <a:prstGeom prst="rect">
            <a:avLst/>
          </a:prstGeom>
          <a:noFill/>
          <a:ln/>
        </p:spPr>
        <p:txBody>
          <a:bodyPr wrap="square" lIns="0" tIns="0" rIns="0" bIns="0" rtlCol="0" anchor="ctr"/>
          <a:lstStyle/>
          <a:p>
            <a:pPr marL="0" indent="0">
              <a:buNone/>
            </a:pPr>
            <a:r>
              <a:rPr lang="en-US" sz="1600" b="1" dirty="0">
                <a:solidFill>
                  <a:srgbClr val="44546A"/>
                </a:solidFill>
                <a:latin typeface="Calibri" pitchFamily="34" charset="0"/>
                <a:ea typeface="Calibri" pitchFamily="34" charset="-122"/>
                <a:cs typeface="Calibri" pitchFamily="34" charset="-120"/>
              </a:rPr>
              <a:t>Fill in details</a:t>
            </a:r>
            <a:endParaRPr lang="en-US" sz="1600" dirty="0"/>
          </a:p>
        </p:txBody>
      </p:sp>
      <p:sp>
        <p:nvSpPr>
          <p:cNvPr id="16" name="Text 11"/>
          <p:cNvSpPr txBox="1"/>
          <p:nvPr/>
        </p:nvSpPr>
        <p:spPr>
          <a:xfrm>
            <a:off x="3429000" y="2011680"/>
            <a:ext cx="2286000" cy="457200"/>
          </a:xfrm>
          <a:prstGeom prst="rect">
            <a:avLst/>
          </a:prstGeom>
          <a:noFill/>
          <a:ln/>
        </p:spPr>
        <p:txBody>
          <a:bodyPr wrap="square" lIns="0" tIns="0" rIns="0" bIns="0" rtlCol="0" anchor="t"/>
          <a:lstStyle/>
          <a:p>
            <a:pPr marL="0" indent="0">
              <a:buNone/>
            </a:pPr>
            <a:r>
              <a:rPr lang="en-US" sz="1150" dirty="0">
                <a:solidFill>
                  <a:srgbClr val="66758A"/>
                </a:solidFill>
                <a:latin typeface="Calibri" pitchFamily="34" charset="0"/>
                <a:ea typeface="Calibri" pitchFamily="34" charset="-122"/>
                <a:cs typeface="Calibri" pitchFamily="34" charset="-120"/>
              </a:rPr>
              <a:t>Ask directly when a key piece is missing.</a:t>
            </a:r>
            <a:endParaRPr lang="en-US" sz="1150" dirty="0"/>
          </a:p>
        </p:txBody>
      </p:sp>
      <p:sp>
        <p:nvSpPr>
          <p:cNvPr id="17" name="Text 12"/>
          <p:cNvSpPr txBox="1"/>
          <p:nvPr/>
        </p:nvSpPr>
        <p:spPr>
          <a:xfrm>
            <a:off x="3429000" y="2468880"/>
            <a:ext cx="2286000" cy="640080"/>
          </a:xfrm>
          <a:prstGeom prst="rect">
            <a:avLst/>
          </a:prstGeom>
          <a:noFill/>
          <a:ln/>
        </p:spPr>
        <p:txBody>
          <a:bodyPr wrap="square" lIns="0" tIns="0" rIns="0" bIns="0" rtlCol="0" anchor="t"/>
          <a:lstStyle/>
          <a:p>
            <a:pPr marL="0" indent="0">
              <a:buNone/>
            </a:pPr>
            <a:r>
              <a:rPr lang="en-US" sz="1200" b="1" i="1" dirty="0">
                <a:solidFill>
                  <a:srgbClr val="222B36"/>
                </a:solidFill>
                <a:latin typeface="Calibri" pitchFamily="34" charset="0"/>
                <a:ea typeface="Calibri" pitchFamily="34" charset="-122"/>
                <a:cs typeface="Calibri" pitchFamily="34" charset="-120"/>
              </a:rPr>
              <a:t>"What did you mean when you said…?"</a:t>
            </a:r>
            <a:endParaRPr lang="en-US" sz="1200" dirty="0"/>
          </a:p>
        </p:txBody>
      </p:sp>
      <p:sp>
        <p:nvSpPr>
          <p:cNvPr id="18" name="Shape 13"/>
          <p:cNvSpPr/>
          <p:nvPr/>
        </p:nvSpPr>
        <p:spPr>
          <a:xfrm>
            <a:off x="6035040" y="1280160"/>
            <a:ext cx="2651760" cy="1874520"/>
          </a:xfrm>
          <a:prstGeom prst="roundRect">
            <a:avLst>
              <a:gd name="adj" fmla="val 3902"/>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19" name="Shape 14"/>
          <p:cNvSpPr/>
          <p:nvPr/>
        </p:nvSpPr>
        <p:spPr>
          <a:xfrm>
            <a:off x="6217920" y="1417320"/>
            <a:ext cx="457200" cy="457200"/>
          </a:xfrm>
          <a:prstGeom prst="ellipse">
            <a:avLst/>
          </a:prstGeom>
          <a:solidFill>
            <a:srgbClr val="FFC000"/>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6332220" y="1531620"/>
            <a:ext cx="228600" cy="228600"/>
          </a:xfrm>
          <a:prstGeom prst="rect">
            <a:avLst/>
          </a:prstGeom>
        </p:spPr>
      </p:pic>
      <p:sp>
        <p:nvSpPr>
          <p:cNvPr id="21" name="Text 15"/>
          <p:cNvSpPr txBox="1"/>
          <p:nvPr/>
        </p:nvSpPr>
        <p:spPr>
          <a:xfrm>
            <a:off x="6812280" y="1463040"/>
            <a:ext cx="1737360" cy="365760"/>
          </a:xfrm>
          <a:prstGeom prst="rect">
            <a:avLst/>
          </a:prstGeom>
          <a:noFill/>
          <a:ln/>
        </p:spPr>
        <p:txBody>
          <a:bodyPr wrap="square" lIns="0" tIns="0" rIns="0" bIns="0" rtlCol="0" anchor="ctr"/>
          <a:lstStyle/>
          <a:p>
            <a:pPr marL="0" indent="0">
              <a:buNone/>
            </a:pPr>
            <a:r>
              <a:rPr lang="en-US" sz="1600" b="1" dirty="0">
                <a:solidFill>
                  <a:srgbClr val="44546A"/>
                </a:solidFill>
                <a:latin typeface="Calibri" pitchFamily="34" charset="0"/>
                <a:ea typeface="Calibri" pitchFamily="34" charset="-122"/>
                <a:cs typeface="Calibri" pitchFamily="34" charset="-120"/>
              </a:rPr>
              <a:t>Go deeper</a:t>
            </a:r>
            <a:endParaRPr lang="en-US" sz="1600" dirty="0"/>
          </a:p>
        </p:txBody>
      </p:sp>
      <p:sp>
        <p:nvSpPr>
          <p:cNvPr id="22" name="Text 16"/>
          <p:cNvSpPr txBox="1"/>
          <p:nvPr/>
        </p:nvSpPr>
        <p:spPr>
          <a:xfrm>
            <a:off x="6217920" y="2011680"/>
            <a:ext cx="2286000" cy="457200"/>
          </a:xfrm>
          <a:prstGeom prst="rect">
            <a:avLst/>
          </a:prstGeom>
          <a:noFill/>
          <a:ln/>
        </p:spPr>
        <p:txBody>
          <a:bodyPr wrap="square" lIns="0" tIns="0" rIns="0" bIns="0" rtlCol="0" anchor="t"/>
          <a:lstStyle/>
          <a:p>
            <a:pPr marL="0" indent="0">
              <a:buNone/>
            </a:pPr>
            <a:r>
              <a:rPr lang="en-US" sz="1150" dirty="0">
                <a:solidFill>
                  <a:srgbClr val="66758A"/>
                </a:solidFill>
                <a:latin typeface="Calibri" pitchFamily="34" charset="0"/>
                <a:ea typeface="Calibri" pitchFamily="34" charset="-122"/>
                <a:cs typeface="Calibri" pitchFamily="34" charset="-120"/>
              </a:rPr>
              <a:t>Open questions invite detailed answers.</a:t>
            </a:r>
            <a:endParaRPr lang="en-US" sz="1150" dirty="0"/>
          </a:p>
        </p:txBody>
      </p:sp>
      <p:sp>
        <p:nvSpPr>
          <p:cNvPr id="23" name="Text 17"/>
          <p:cNvSpPr txBox="1"/>
          <p:nvPr/>
        </p:nvSpPr>
        <p:spPr>
          <a:xfrm>
            <a:off x="6217920" y="2468880"/>
            <a:ext cx="2286000" cy="640080"/>
          </a:xfrm>
          <a:prstGeom prst="rect">
            <a:avLst/>
          </a:prstGeom>
          <a:noFill/>
          <a:ln/>
        </p:spPr>
        <p:txBody>
          <a:bodyPr wrap="square" lIns="0" tIns="0" rIns="0" bIns="0" rtlCol="0" anchor="t"/>
          <a:lstStyle/>
          <a:p>
            <a:pPr marL="0" indent="0">
              <a:buNone/>
            </a:pPr>
            <a:r>
              <a:rPr lang="en-US" sz="1200" b="1" i="1" dirty="0">
                <a:solidFill>
                  <a:srgbClr val="222B36"/>
                </a:solidFill>
                <a:latin typeface="Calibri" pitchFamily="34" charset="0"/>
                <a:ea typeface="Calibri" pitchFamily="34" charset="-122"/>
                <a:cs typeface="Calibri" pitchFamily="34" charset="-120"/>
              </a:rPr>
              <a:t>"Tell me more about…" / "How did that happen?"</a:t>
            </a:r>
            <a:endParaRPr lang="en-US" sz="1200" dirty="0"/>
          </a:p>
        </p:txBody>
      </p:sp>
      <p:sp>
        <p:nvSpPr>
          <p:cNvPr id="24" name="Shape 18"/>
          <p:cNvSpPr/>
          <p:nvPr/>
        </p:nvSpPr>
        <p:spPr>
          <a:xfrm>
            <a:off x="457200" y="3383280"/>
            <a:ext cx="4023360" cy="1234440"/>
          </a:xfrm>
          <a:prstGeom prst="roundRect">
            <a:avLst>
              <a:gd name="adj" fmla="val 5926"/>
            </a:avLst>
          </a:prstGeom>
          <a:solidFill>
            <a:srgbClr val="E2F0D9"/>
          </a:solidFill>
          <a:ln/>
        </p:spPr>
        <p:txBody>
          <a:bodyPr/>
          <a:lstStyle/>
          <a:p>
            <a:endParaRPr lang="en-US"/>
          </a:p>
        </p:txBody>
      </p:sp>
      <p:sp>
        <p:nvSpPr>
          <p:cNvPr id="25" name="Shape 19"/>
          <p:cNvSpPr/>
          <p:nvPr/>
        </p:nvSpPr>
        <p:spPr>
          <a:xfrm>
            <a:off x="594360" y="3520440"/>
            <a:ext cx="365760" cy="365760"/>
          </a:xfrm>
          <a:prstGeom prst="ellipse">
            <a:avLst/>
          </a:prstGeom>
          <a:solidFill>
            <a:srgbClr val="4E8A2E"/>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685800" y="3611880"/>
            <a:ext cx="182880" cy="182880"/>
          </a:xfrm>
          <a:prstGeom prst="rect">
            <a:avLst/>
          </a:prstGeom>
        </p:spPr>
      </p:pic>
      <p:sp>
        <p:nvSpPr>
          <p:cNvPr id="27" name="Text 20"/>
          <p:cNvSpPr txBox="1"/>
          <p:nvPr/>
        </p:nvSpPr>
        <p:spPr>
          <a:xfrm>
            <a:off x="1097280" y="3520440"/>
            <a:ext cx="2743200" cy="365760"/>
          </a:xfrm>
          <a:prstGeom prst="rect">
            <a:avLst/>
          </a:prstGeom>
          <a:noFill/>
          <a:ln/>
        </p:spPr>
        <p:txBody>
          <a:bodyPr wrap="square" lIns="0" tIns="0" rIns="0" bIns="0" rtlCol="0" anchor="ctr"/>
          <a:lstStyle/>
          <a:p>
            <a:pPr marL="0" indent="0">
              <a:buNone/>
            </a:pPr>
            <a:r>
              <a:rPr lang="en-US" sz="1300" b="1" dirty="0">
                <a:solidFill>
                  <a:srgbClr val="4E8A2E"/>
                </a:solidFill>
                <a:latin typeface="Calibri" pitchFamily="34" charset="0"/>
                <a:ea typeface="Calibri" pitchFamily="34" charset="-122"/>
                <a:cs typeface="Calibri" pitchFamily="34" charset="-120"/>
              </a:rPr>
              <a:t>Respectful</a:t>
            </a:r>
            <a:endParaRPr lang="en-US" sz="1300" dirty="0"/>
          </a:p>
        </p:txBody>
      </p:sp>
      <p:sp>
        <p:nvSpPr>
          <p:cNvPr id="28" name="Text 21"/>
          <p:cNvSpPr txBox="1"/>
          <p:nvPr/>
        </p:nvSpPr>
        <p:spPr>
          <a:xfrm>
            <a:off x="640080" y="3931920"/>
            <a:ext cx="3657600" cy="640080"/>
          </a:xfrm>
          <a:prstGeom prst="rect">
            <a:avLst/>
          </a:prstGeom>
          <a:noFill/>
          <a:ln/>
        </p:spPr>
        <p:txBody>
          <a:bodyPr wrap="square" lIns="0" tIns="0" rIns="0" bIns="0" rtlCol="0" anchor="t"/>
          <a:lstStyle/>
          <a:p>
            <a:pPr marL="0" indent="0">
              <a:buNone/>
            </a:pPr>
            <a:r>
              <a:rPr lang="en-US" sz="1250" i="1" dirty="0">
                <a:solidFill>
                  <a:srgbClr val="222B36"/>
                </a:solidFill>
                <a:latin typeface="Calibri" pitchFamily="34" charset="0"/>
                <a:ea typeface="Calibri" pitchFamily="34" charset="-122"/>
                <a:cs typeface="Calibri" pitchFamily="34" charset="-120"/>
              </a:rPr>
              <a:t>"I want to be sure I understood. Could you go over the second point again?"</a:t>
            </a:r>
            <a:endParaRPr lang="en-US" sz="1250" dirty="0"/>
          </a:p>
        </p:txBody>
      </p:sp>
      <p:sp>
        <p:nvSpPr>
          <p:cNvPr id="29" name="Shape 22"/>
          <p:cNvSpPr/>
          <p:nvPr/>
        </p:nvSpPr>
        <p:spPr>
          <a:xfrm>
            <a:off x="4663440" y="3383280"/>
            <a:ext cx="4023360" cy="1234440"/>
          </a:xfrm>
          <a:prstGeom prst="roundRect">
            <a:avLst>
              <a:gd name="adj" fmla="val 5926"/>
            </a:avLst>
          </a:prstGeom>
          <a:solidFill>
            <a:srgbClr val="FBE5D6"/>
          </a:solidFill>
          <a:ln/>
        </p:spPr>
        <p:txBody>
          <a:bodyPr/>
          <a:lstStyle/>
          <a:p>
            <a:endParaRPr lang="en-US"/>
          </a:p>
        </p:txBody>
      </p:sp>
      <p:sp>
        <p:nvSpPr>
          <p:cNvPr id="30" name="Shape 23"/>
          <p:cNvSpPr/>
          <p:nvPr/>
        </p:nvSpPr>
        <p:spPr>
          <a:xfrm>
            <a:off x="4800600" y="3520440"/>
            <a:ext cx="365760" cy="365760"/>
          </a:xfrm>
          <a:prstGeom prst="ellipse">
            <a:avLst/>
          </a:prstGeom>
          <a:solidFill>
            <a:srgbClr val="D8641A"/>
          </a:solidFill>
          <a:ln/>
        </p:spPr>
        <p:txBody>
          <a:bodyPr/>
          <a:lstStyle/>
          <a:p>
            <a:endParaRPr lang="en-US"/>
          </a:p>
        </p:txBody>
      </p:sp>
      <p:pic>
        <p:nvPicPr>
          <p:cNvPr id="31" name="Image 4" descr="preencoded.png"/>
          <p:cNvPicPr>
            <a:picLocks noChangeAspect="1"/>
          </p:cNvPicPr>
          <p:nvPr/>
        </p:nvPicPr>
        <p:blipFill>
          <a:blip r:embed="rId7"/>
          <a:stretch>
            <a:fillRect/>
          </a:stretch>
        </p:blipFill>
        <p:spPr>
          <a:xfrm>
            <a:off x="4892040" y="3611880"/>
            <a:ext cx="182880" cy="182880"/>
          </a:xfrm>
          <a:prstGeom prst="rect">
            <a:avLst/>
          </a:prstGeom>
        </p:spPr>
      </p:pic>
      <p:sp>
        <p:nvSpPr>
          <p:cNvPr id="32" name="Text 24"/>
          <p:cNvSpPr txBox="1"/>
          <p:nvPr/>
        </p:nvSpPr>
        <p:spPr>
          <a:xfrm>
            <a:off x="5303520" y="3520440"/>
            <a:ext cx="2743200" cy="365760"/>
          </a:xfrm>
          <a:prstGeom prst="rect">
            <a:avLst/>
          </a:prstGeom>
          <a:noFill/>
          <a:ln/>
        </p:spPr>
        <p:txBody>
          <a:bodyPr wrap="square" lIns="0" tIns="0" rIns="0" bIns="0" rtlCol="0" anchor="ctr"/>
          <a:lstStyle/>
          <a:p>
            <a:pPr marL="0" indent="0">
              <a:buNone/>
            </a:pPr>
            <a:r>
              <a:rPr lang="en-US" sz="1300" b="1" dirty="0">
                <a:solidFill>
                  <a:srgbClr val="D8641A"/>
                </a:solidFill>
                <a:latin typeface="Calibri" pitchFamily="34" charset="0"/>
                <a:ea typeface="Calibri" pitchFamily="34" charset="-122"/>
                <a:cs typeface="Calibri" pitchFamily="34" charset="-120"/>
              </a:rPr>
              <a:t>Accusatory</a:t>
            </a:r>
            <a:endParaRPr lang="en-US" sz="1300" dirty="0"/>
          </a:p>
        </p:txBody>
      </p:sp>
      <p:sp>
        <p:nvSpPr>
          <p:cNvPr id="33" name="Text 25"/>
          <p:cNvSpPr txBox="1"/>
          <p:nvPr/>
        </p:nvSpPr>
        <p:spPr>
          <a:xfrm>
            <a:off x="4846320" y="3931920"/>
            <a:ext cx="3657600" cy="640080"/>
          </a:xfrm>
          <a:prstGeom prst="rect">
            <a:avLst/>
          </a:prstGeom>
          <a:noFill/>
          <a:ln/>
        </p:spPr>
        <p:txBody>
          <a:bodyPr wrap="square" lIns="0" tIns="0" rIns="0" bIns="0" rtlCol="0" anchor="t"/>
          <a:lstStyle/>
          <a:p>
            <a:pPr marL="0" indent="0">
              <a:buNone/>
            </a:pPr>
            <a:r>
              <a:rPr lang="en-US" sz="1250" i="1" dirty="0">
                <a:solidFill>
                  <a:srgbClr val="222B36"/>
                </a:solidFill>
                <a:latin typeface="Calibri" pitchFamily="34" charset="0"/>
                <a:ea typeface="Calibri" pitchFamily="34" charset="-122"/>
                <a:cs typeface="Calibri" pitchFamily="34" charset="-120"/>
              </a:rPr>
              <a:t>"You didn't explain that clearly." (Admit you need more information instead.)</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PART 1 · LISTENING</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Twelve guidelines for effective listening</a:t>
            </a:r>
            <a:endParaRPr lang="en-US" sz="3000" dirty="0"/>
          </a:p>
        </p:txBody>
      </p:sp>
      <p:sp>
        <p:nvSpPr>
          <p:cNvPr id="6" name="Shape 3"/>
          <p:cNvSpPr/>
          <p:nvPr/>
        </p:nvSpPr>
        <p:spPr>
          <a:xfrm>
            <a:off x="457200" y="1234440"/>
            <a:ext cx="1954530" cy="1024128"/>
          </a:xfrm>
          <a:prstGeom prst="roundRect">
            <a:avLst>
              <a:gd name="adj" fmla="val 7143"/>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566928" y="1344168"/>
            <a:ext cx="292608" cy="292608"/>
          </a:xfrm>
          <a:prstGeom prst="ellipse">
            <a:avLst/>
          </a:prstGeom>
          <a:solidFill>
            <a:srgbClr val="D8641A"/>
          </a:solidFill>
          <a:ln/>
        </p:spPr>
        <p:txBody>
          <a:bodyPr/>
          <a:lstStyle/>
          <a:p>
            <a:endParaRPr lang="en-US"/>
          </a:p>
        </p:txBody>
      </p:sp>
      <p:sp>
        <p:nvSpPr>
          <p:cNvPr id="8" name="Text 5"/>
          <p:cNvSpPr txBox="1"/>
          <p:nvPr/>
        </p:nvSpPr>
        <p:spPr>
          <a:xfrm>
            <a:off x="566928" y="1344168"/>
            <a:ext cx="292608" cy="292608"/>
          </a:xfrm>
          <a:prstGeom prst="rect">
            <a:avLst/>
          </a:prstGeom>
          <a:noFill/>
          <a:ln/>
        </p:spPr>
        <p:txBody>
          <a:bodyPr wrap="square" lIns="0" tIns="0" rIns="0" bIns="0" rtlCol="0" anchor="ctr"/>
          <a:lstStyle/>
          <a:p>
            <a:pPr marL="0" indent="0" algn="ctr">
              <a:buNone/>
            </a:pPr>
            <a:r>
              <a:rPr lang="en-US" sz="1152" b="1" dirty="0">
                <a:solidFill>
                  <a:srgbClr val="FFFFFF"/>
                </a:solidFill>
                <a:latin typeface="Calibri" pitchFamily="34" charset="0"/>
                <a:ea typeface="Calibri" pitchFamily="34" charset="-122"/>
                <a:cs typeface="Calibri" pitchFamily="34" charset="-120"/>
              </a:rPr>
              <a:t>1</a:t>
            </a:r>
            <a:endParaRPr lang="en-US" sz="1152" dirty="0"/>
          </a:p>
        </p:txBody>
      </p:sp>
      <p:sp>
        <p:nvSpPr>
          <p:cNvPr id="9" name="Text 6"/>
          <p:cNvSpPr txBox="1"/>
          <p:nvPr/>
        </p:nvSpPr>
        <p:spPr>
          <a:xfrm>
            <a:off x="566928" y="1691640"/>
            <a:ext cx="1735074" cy="548640"/>
          </a:xfrm>
          <a:prstGeom prst="rect">
            <a:avLst/>
          </a:prstGeom>
          <a:noFill/>
          <a:ln/>
        </p:spPr>
        <p:txBody>
          <a:bodyPr wrap="square" lIns="0" tIns="0" rIns="0" bIns="0" rtlCol="0" anchor="t"/>
          <a:lstStyle/>
          <a:p>
            <a:pPr marL="0" indent="0">
              <a:buNone/>
            </a:pPr>
            <a:r>
              <a:rPr lang="en-US" sz="1050" dirty="0">
                <a:solidFill>
                  <a:srgbClr val="222B36"/>
                </a:solidFill>
                <a:latin typeface="Calibri" pitchFamily="34" charset="0"/>
                <a:ea typeface="Calibri" pitchFamily="34" charset="-122"/>
                <a:cs typeface="Calibri" pitchFamily="34" charset="-120"/>
              </a:rPr>
              <a:t>Sit where the instructor can see you, ideally at the front.</a:t>
            </a:r>
            <a:endParaRPr lang="en-US" sz="1050" dirty="0"/>
          </a:p>
        </p:txBody>
      </p:sp>
      <p:sp>
        <p:nvSpPr>
          <p:cNvPr id="10" name="Shape 7"/>
          <p:cNvSpPr/>
          <p:nvPr/>
        </p:nvSpPr>
        <p:spPr>
          <a:xfrm>
            <a:off x="2548890" y="1234440"/>
            <a:ext cx="1954530" cy="1024128"/>
          </a:xfrm>
          <a:prstGeom prst="roundRect">
            <a:avLst>
              <a:gd name="adj" fmla="val 7143"/>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11" name="Shape 8"/>
          <p:cNvSpPr/>
          <p:nvPr/>
        </p:nvSpPr>
        <p:spPr>
          <a:xfrm>
            <a:off x="2658618" y="1344168"/>
            <a:ext cx="292608" cy="292608"/>
          </a:xfrm>
          <a:prstGeom prst="ellipse">
            <a:avLst/>
          </a:prstGeom>
          <a:solidFill>
            <a:srgbClr val="4472C4"/>
          </a:solidFill>
          <a:ln/>
        </p:spPr>
        <p:txBody>
          <a:bodyPr/>
          <a:lstStyle/>
          <a:p>
            <a:endParaRPr lang="en-US"/>
          </a:p>
        </p:txBody>
      </p:sp>
      <p:sp>
        <p:nvSpPr>
          <p:cNvPr id="12" name="Text 9"/>
          <p:cNvSpPr txBox="1"/>
          <p:nvPr/>
        </p:nvSpPr>
        <p:spPr>
          <a:xfrm>
            <a:off x="2658618" y="1344168"/>
            <a:ext cx="292608" cy="292608"/>
          </a:xfrm>
          <a:prstGeom prst="rect">
            <a:avLst/>
          </a:prstGeom>
          <a:noFill/>
          <a:ln/>
        </p:spPr>
        <p:txBody>
          <a:bodyPr wrap="square" lIns="0" tIns="0" rIns="0" bIns="0" rtlCol="0" anchor="ctr"/>
          <a:lstStyle/>
          <a:p>
            <a:pPr marL="0" indent="0" algn="ctr">
              <a:buNone/>
            </a:pPr>
            <a:r>
              <a:rPr lang="en-US" sz="1152" b="1" dirty="0">
                <a:solidFill>
                  <a:srgbClr val="FFFFFF"/>
                </a:solidFill>
                <a:latin typeface="Calibri" pitchFamily="34" charset="0"/>
                <a:ea typeface="Calibri" pitchFamily="34" charset="-122"/>
                <a:cs typeface="Calibri" pitchFamily="34" charset="-120"/>
              </a:rPr>
              <a:t>2</a:t>
            </a:r>
            <a:endParaRPr lang="en-US" sz="1152" dirty="0"/>
          </a:p>
        </p:txBody>
      </p:sp>
      <p:sp>
        <p:nvSpPr>
          <p:cNvPr id="13" name="Text 10"/>
          <p:cNvSpPr txBox="1"/>
          <p:nvPr/>
        </p:nvSpPr>
        <p:spPr>
          <a:xfrm>
            <a:off x="2658618" y="1691640"/>
            <a:ext cx="1735074" cy="548640"/>
          </a:xfrm>
          <a:prstGeom prst="rect">
            <a:avLst/>
          </a:prstGeom>
          <a:noFill/>
          <a:ln/>
        </p:spPr>
        <p:txBody>
          <a:bodyPr wrap="square" lIns="0" tIns="0" rIns="0" bIns="0" rtlCol="0" anchor="t"/>
          <a:lstStyle/>
          <a:p>
            <a:pPr marL="0" indent="0">
              <a:buNone/>
            </a:pPr>
            <a:r>
              <a:rPr lang="en-US" sz="1050" dirty="0">
                <a:solidFill>
                  <a:srgbClr val="222B36"/>
                </a:solidFill>
                <a:latin typeface="Calibri" pitchFamily="34" charset="0"/>
                <a:ea typeface="Calibri" pitchFamily="34" charset="-122"/>
                <a:cs typeface="Calibri" pitchFamily="34" charset="-120"/>
              </a:rPr>
              <a:t>Judge the material, not the lecturer's appearance or delivery.</a:t>
            </a:r>
            <a:endParaRPr lang="en-US" sz="1050" dirty="0"/>
          </a:p>
        </p:txBody>
      </p:sp>
      <p:sp>
        <p:nvSpPr>
          <p:cNvPr id="14" name="Shape 11"/>
          <p:cNvSpPr/>
          <p:nvPr/>
        </p:nvSpPr>
        <p:spPr>
          <a:xfrm>
            <a:off x="4640580" y="1234440"/>
            <a:ext cx="1954530" cy="1024128"/>
          </a:xfrm>
          <a:prstGeom prst="roundRect">
            <a:avLst>
              <a:gd name="adj" fmla="val 7143"/>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15" name="Shape 12"/>
          <p:cNvSpPr/>
          <p:nvPr/>
        </p:nvSpPr>
        <p:spPr>
          <a:xfrm>
            <a:off x="4750308" y="1344168"/>
            <a:ext cx="292608" cy="292608"/>
          </a:xfrm>
          <a:prstGeom prst="ellipse">
            <a:avLst/>
          </a:prstGeom>
          <a:solidFill>
            <a:srgbClr val="D8641A"/>
          </a:solidFill>
          <a:ln/>
        </p:spPr>
        <p:txBody>
          <a:bodyPr/>
          <a:lstStyle/>
          <a:p>
            <a:endParaRPr lang="en-US"/>
          </a:p>
        </p:txBody>
      </p:sp>
      <p:sp>
        <p:nvSpPr>
          <p:cNvPr id="16" name="Text 13"/>
          <p:cNvSpPr txBox="1"/>
          <p:nvPr/>
        </p:nvSpPr>
        <p:spPr>
          <a:xfrm>
            <a:off x="4750308" y="1344168"/>
            <a:ext cx="292608" cy="292608"/>
          </a:xfrm>
          <a:prstGeom prst="rect">
            <a:avLst/>
          </a:prstGeom>
          <a:noFill/>
          <a:ln/>
        </p:spPr>
        <p:txBody>
          <a:bodyPr wrap="square" lIns="0" tIns="0" rIns="0" bIns="0" rtlCol="0" anchor="ctr"/>
          <a:lstStyle/>
          <a:p>
            <a:pPr marL="0" indent="0" algn="ctr">
              <a:buNone/>
            </a:pPr>
            <a:r>
              <a:rPr lang="en-US" sz="1152" b="1" dirty="0">
                <a:solidFill>
                  <a:srgbClr val="FFFFFF"/>
                </a:solidFill>
                <a:latin typeface="Calibri" pitchFamily="34" charset="0"/>
                <a:ea typeface="Calibri" pitchFamily="34" charset="-122"/>
                <a:cs typeface="Calibri" pitchFamily="34" charset="-120"/>
              </a:rPr>
              <a:t>3</a:t>
            </a:r>
            <a:endParaRPr lang="en-US" sz="1152" dirty="0"/>
          </a:p>
        </p:txBody>
      </p:sp>
      <p:sp>
        <p:nvSpPr>
          <p:cNvPr id="17" name="Text 14"/>
          <p:cNvSpPr txBox="1"/>
          <p:nvPr/>
        </p:nvSpPr>
        <p:spPr>
          <a:xfrm>
            <a:off x="4750308" y="1691640"/>
            <a:ext cx="1735074" cy="548640"/>
          </a:xfrm>
          <a:prstGeom prst="rect">
            <a:avLst/>
          </a:prstGeom>
          <a:noFill/>
          <a:ln/>
        </p:spPr>
        <p:txBody>
          <a:bodyPr wrap="square" lIns="0" tIns="0" rIns="0" bIns="0" rtlCol="0" anchor="t"/>
          <a:lstStyle/>
          <a:p>
            <a:pPr marL="0" indent="0">
              <a:buNone/>
            </a:pPr>
            <a:r>
              <a:rPr lang="en-US" sz="1050" dirty="0">
                <a:solidFill>
                  <a:srgbClr val="222B36"/>
                </a:solidFill>
                <a:latin typeface="Calibri" pitchFamily="34" charset="0"/>
                <a:ea typeface="Calibri" pitchFamily="34" charset="-122"/>
                <a:cs typeface="Calibri" pitchFamily="34" charset="-120"/>
              </a:rPr>
              <a:t>Put emotions aside. Hold your disagreement until after class.</a:t>
            </a:r>
            <a:endParaRPr lang="en-US" sz="1050" dirty="0"/>
          </a:p>
        </p:txBody>
      </p:sp>
      <p:sp>
        <p:nvSpPr>
          <p:cNvPr id="18" name="Shape 15"/>
          <p:cNvSpPr/>
          <p:nvPr/>
        </p:nvSpPr>
        <p:spPr>
          <a:xfrm>
            <a:off x="6732270" y="1234440"/>
            <a:ext cx="1954530" cy="1024128"/>
          </a:xfrm>
          <a:prstGeom prst="roundRect">
            <a:avLst>
              <a:gd name="adj" fmla="val 7143"/>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19" name="Shape 16"/>
          <p:cNvSpPr/>
          <p:nvPr/>
        </p:nvSpPr>
        <p:spPr>
          <a:xfrm>
            <a:off x="6841998" y="1344168"/>
            <a:ext cx="292608" cy="292608"/>
          </a:xfrm>
          <a:prstGeom prst="ellipse">
            <a:avLst/>
          </a:prstGeom>
          <a:solidFill>
            <a:srgbClr val="4472C4"/>
          </a:solidFill>
          <a:ln/>
        </p:spPr>
        <p:txBody>
          <a:bodyPr/>
          <a:lstStyle/>
          <a:p>
            <a:endParaRPr lang="en-US"/>
          </a:p>
        </p:txBody>
      </p:sp>
      <p:sp>
        <p:nvSpPr>
          <p:cNvPr id="20" name="Text 17"/>
          <p:cNvSpPr txBox="1"/>
          <p:nvPr/>
        </p:nvSpPr>
        <p:spPr>
          <a:xfrm>
            <a:off x="6841998" y="1344168"/>
            <a:ext cx="292608" cy="292608"/>
          </a:xfrm>
          <a:prstGeom prst="rect">
            <a:avLst/>
          </a:prstGeom>
          <a:noFill/>
          <a:ln/>
        </p:spPr>
        <p:txBody>
          <a:bodyPr wrap="square" lIns="0" tIns="0" rIns="0" bIns="0" rtlCol="0" anchor="ctr"/>
          <a:lstStyle/>
          <a:p>
            <a:pPr marL="0" indent="0" algn="ctr">
              <a:buNone/>
            </a:pPr>
            <a:r>
              <a:rPr lang="en-US" sz="1152" b="1" dirty="0">
                <a:solidFill>
                  <a:srgbClr val="FFFFFF"/>
                </a:solidFill>
                <a:latin typeface="Calibri" pitchFamily="34" charset="0"/>
                <a:ea typeface="Calibri" pitchFamily="34" charset="-122"/>
                <a:cs typeface="Calibri" pitchFamily="34" charset="-120"/>
              </a:rPr>
              <a:t>4</a:t>
            </a:r>
            <a:endParaRPr lang="en-US" sz="1152" dirty="0"/>
          </a:p>
        </p:txBody>
      </p:sp>
      <p:sp>
        <p:nvSpPr>
          <p:cNvPr id="21" name="Text 18"/>
          <p:cNvSpPr txBox="1"/>
          <p:nvPr/>
        </p:nvSpPr>
        <p:spPr>
          <a:xfrm>
            <a:off x="6841998" y="1691640"/>
            <a:ext cx="1735074" cy="548640"/>
          </a:xfrm>
          <a:prstGeom prst="rect">
            <a:avLst/>
          </a:prstGeom>
          <a:noFill/>
          <a:ln/>
        </p:spPr>
        <p:txBody>
          <a:bodyPr wrap="square" lIns="0" tIns="0" rIns="0" bIns="0" rtlCol="0" anchor="t"/>
          <a:lstStyle/>
          <a:p>
            <a:pPr marL="0" indent="0">
              <a:buNone/>
            </a:pPr>
            <a:r>
              <a:rPr lang="en-US" sz="1050" dirty="0">
                <a:solidFill>
                  <a:srgbClr val="222B36"/>
                </a:solidFill>
                <a:latin typeface="Calibri" pitchFamily="34" charset="0"/>
                <a:ea typeface="Calibri" pitchFamily="34" charset="-122"/>
                <a:cs typeface="Calibri" pitchFamily="34" charset="-120"/>
              </a:rPr>
              <a:t>Listen for ideas, not just facts and words.</a:t>
            </a:r>
            <a:endParaRPr lang="en-US" sz="1050" dirty="0"/>
          </a:p>
        </p:txBody>
      </p:sp>
      <p:sp>
        <p:nvSpPr>
          <p:cNvPr id="22" name="Shape 19"/>
          <p:cNvSpPr/>
          <p:nvPr/>
        </p:nvSpPr>
        <p:spPr>
          <a:xfrm>
            <a:off x="457200" y="2377440"/>
            <a:ext cx="1954530" cy="1024128"/>
          </a:xfrm>
          <a:prstGeom prst="roundRect">
            <a:avLst>
              <a:gd name="adj" fmla="val 7143"/>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23" name="Shape 20"/>
          <p:cNvSpPr/>
          <p:nvPr/>
        </p:nvSpPr>
        <p:spPr>
          <a:xfrm>
            <a:off x="566928" y="2487168"/>
            <a:ext cx="292608" cy="292608"/>
          </a:xfrm>
          <a:prstGeom prst="ellipse">
            <a:avLst/>
          </a:prstGeom>
          <a:solidFill>
            <a:srgbClr val="D8641A"/>
          </a:solidFill>
          <a:ln/>
        </p:spPr>
        <p:txBody>
          <a:bodyPr/>
          <a:lstStyle/>
          <a:p>
            <a:endParaRPr lang="en-US"/>
          </a:p>
        </p:txBody>
      </p:sp>
      <p:sp>
        <p:nvSpPr>
          <p:cNvPr id="24" name="Text 21"/>
          <p:cNvSpPr txBox="1"/>
          <p:nvPr/>
        </p:nvSpPr>
        <p:spPr>
          <a:xfrm>
            <a:off x="566928" y="2487168"/>
            <a:ext cx="292608" cy="292608"/>
          </a:xfrm>
          <a:prstGeom prst="rect">
            <a:avLst/>
          </a:prstGeom>
          <a:noFill/>
          <a:ln/>
        </p:spPr>
        <p:txBody>
          <a:bodyPr wrap="square" lIns="0" tIns="0" rIns="0" bIns="0" rtlCol="0" anchor="ctr"/>
          <a:lstStyle/>
          <a:p>
            <a:pPr marL="0" indent="0" algn="ctr">
              <a:buNone/>
            </a:pPr>
            <a:r>
              <a:rPr lang="en-US" sz="1152" b="1" dirty="0">
                <a:solidFill>
                  <a:srgbClr val="FFFFFF"/>
                </a:solidFill>
                <a:latin typeface="Calibri" pitchFamily="34" charset="0"/>
                <a:ea typeface="Calibri" pitchFamily="34" charset="-122"/>
                <a:cs typeface="Calibri" pitchFamily="34" charset="-120"/>
              </a:rPr>
              <a:t>5</a:t>
            </a:r>
            <a:endParaRPr lang="en-US" sz="1152" dirty="0"/>
          </a:p>
        </p:txBody>
      </p:sp>
      <p:sp>
        <p:nvSpPr>
          <p:cNvPr id="25" name="Text 22"/>
          <p:cNvSpPr txBox="1"/>
          <p:nvPr/>
        </p:nvSpPr>
        <p:spPr>
          <a:xfrm>
            <a:off x="566928" y="2834640"/>
            <a:ext cx="1735074" cy="548640"/>
          </a:xfrm>
          <a:prstGeom prst="rect">
            <a:avLst/>
          </a:prstGeom>
          <a:noFill/>
          <a:ln/>
        </p:spPr>
        <p:txBody>
          <a:bodyPr wrap="square" lIns="0" tIns="0" rIns="0" bIns="0" rtlCol="0" anchor="t"/>
          <a:lstStyle/>
          <a:p>
            <a:pPr marL="0" indent="0">
              <a:buNone/>
            </a:pPr>
            <a:r>
              <a:rPr lang="en-US" sz="1050" dirty="0">
                <a:solidFill>
                  <a:srgbClr val="222B36"/>
                </a:solidFill>
                <a:latin typeface="Calibri" pitchFamily="34" charset="0"/>
                <a:ea typeface="Calibri" pitchFamily="34" charset="-122"/>
                <a:cs typeface="Calibri" pitchFamily="34" charset="-120"/>
              </a:rPr>
              <a:t>Aim for a good written record. Be a flexible note-taker.</a:t>
            </a:r>
            <a:endParaRPr lang="en-US" sz="1050" dirty="0"/>
          </a:p>
        </p:txBody>
      </p:sp>
      <p:sp>
        <p:nvSpPr>
          <p:cNvPr id="26" name="Shape 23"/>
          <p:cNvSpPr/>
          <p:nvPr/>
        </p:nvSpPr>
        <p:spPr>
          <a:xfrm>
            <a:off x="2548890" y="2377440"/>
            <a:ext cx="1954530" cy="1024128"/>
          </a:xfrm>
          <a:prstGeom prst="roundRect">
            <a:avLst>
              <a:gd name="adj" fmla="val 7143"/>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27" name="Shape 24"/>
          <p:cNvSpPr/>
          <p:nvPr/>
        </p:nvSpPr>
        <p:spPr>
          <a:xfrm>
            <a:off x="2658618" y="2487168"/>
            <a:ext cx="292608" cy="292608"/>
          </a:xfrm>
          <a:prstGeom prst="ellipse">
            <a:avLst/>
          </a:prstGeom>
          <a:solidFill>
            <a:srgbClr val="4472C4"/>
          </a:solidFill>
          <a:ln/>
        </p:spPr>
        <p:txBody>
          <a:bodyPr/>
          <a:lstStyle/>
          <a:p>
            <a:endParaRPr lang="en-US"/>
          </a:p>
        </p:txBody>
      </p:sp>
      <p:sp>
        <p:nvSpPr>
          <p:cNvPr id="28" name="Text 25"/>
          <p:cNvSpPr txBox="1"/>
          <p:nvPr/>
        </p:nvSpPr>
        <p:spPr>
          <a:xfrm>
            <a:off x="2658618" y="2487168"/>
            <a:ext cx="292608" cy="292608"/>
          </a:xfrm>
          <a:prstGeom prst="rect">
            <a:avLst/>
          </a:prstGeom>
          <a:noFill/>
          <a:ln/>
        </p:spPr>
        <p:txBody>
          <a:bodyPr wrap="square" lIns="0" tIns="0" rIns="0" bIns="0" rtlCol="0" anchor="ctr"/>
          <a:lstStyle/>
          <a:p>
            <a:pPr marL="0" indent="0" algn="ctr">
              <a:buNone/>
            </a:pPr>
            <a:r>
              <a:rPr lang="en-US" sz="1152" b="1" dirty="0">
                <a:solidFill>
                  <a:srgbClr val="FFFFFF"/>
                </a:solidFill>
                <a:latin typeface="Calibri" pitchFamily="34" charset="0"/>
                <a:ea typeface="Calibri" pitchFamily="34" charset="-122"/>
                <a:cs typeface="Calibri" pitchFamily="34" charset="-120"/>
              </a:rPr>
              <a:t>6</a:t>
            </a:r>
            <a:endParaRPr lang="en-US" sz="1152" dirty="0"/>
          </a:p>
        </p:txBody>
      </p:sp>
      <p:sp>
        <p:nvSpPr>
          <p:cNvPr id="29" name="Text 26"/>
          <p:cNvSpPr txBox="1"/>
          <p:nvPr/>
        </p:nvSpPr>
        <p:spPr>
          <a:xfrm>
            <a:off x="2658618" y="2834640"/>
            <a:ext cx="1735074" cy="548640"/>
          </a:xfrm>
          <a:prstGeom prst="rect">
            <a:avLst/>
          </a:prstGeom>
          <a:noFill/>
          <a:ln/>
        </p:spPr>
        <p:txBody>
          <a:bodyPr wrap="square" lIns="0" tIns="0" rIns="0" bIns="0" rtlCol="0" anchor="t"/>
          <a:lstStyle/>
          <a:p>
            <a:pPr marL="0" indent="0">
              <a:buNone/>
            </a:pPr>
            <a:r>
              <a:rPr lang="en-US" sz="1050" dirty="0">
                <a:solidFill>
                  <a:srgbClr val="222B36"/>
                </a:solidFill>
                <a:latin typeface="Calibri" pitchFamily="34" charset="0"/>
                <a:ea typeface="Calibri" pitchFamily="34" charset="-122"/>
                <a:cs typeface="Calibri" pitchFamily="34" charset="-120"/>
              </a:rPr>
              <a:t>Watch for signals and examples. Mark them "EX".</a:t>
            </a:r>
            <a:endParaRPr lang="en-US" sz="1050" dirty="0"/>
          </a:p>
        </p:txBody>
      </p:sp>
      <p:sp>
        <p:nvSpPr>
          <p:cNvPr id="30" name="Shape 27"/>
          <p:cNvSpPr/>
          <p:nvPr/>
        </p:nvSpPr>
        <p:spPr>
          <a:xfrm>
            <a:off x="4640580" y="2377440"/>
            <a:ext cx="1954530" cy="1024128"/>
          </a:xfrm>
          <a:prstGeom prst="roundRect">
            <a:avLst>
              <a:gd name="adj" fmla="val 7143"/>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31" name="Shape 28"/>
          <p:cNvSpPr/>
          <p:nvPr/>
        </p:nvSpPr>
        <p:spPr>
          <a:xfrm>
            <a:off x="4750308" y="2487168"/>
            <a:ext cx="292608" cy="292608"/>
          </a:xfrm>
          <a:prstGeom prst="ellipse">
            <a:avLst/>
          </a:prstGeom>
          <a:solidFill>
            <a:srgbClr val="D8641A"/>
          </a:solidFill>
          <a:ln/>
        </p:spPr>
        <p:txBody>
          <a:bodyPr/>
          <a:lstStyle/>
          <a:p>
            <a:endParaRPr lang="en-US"/>
          </a:p>
        </p:txBody>
      </p:sp>
      <p:sp>
        <p:nvSpPr>
          <p:cNvPr id="32" name="Text 29"/>
          <p:cNvSpPr txBox="1"/>
          <p:nvPr/>
        </p:nvSpPr>
        <p:spPr>
          <a:xfrm>
            <a:off x="4750308" y="2487168"/>
            <a:ext cx="292608" cy="292608"/>
          </a:xfrm>
          <a:prstGeom prst="rect">
            <a:avLst/>
          </a:prstGeom>
          <a:noFill/>
          <a:ln/>
        </p:spPr>
        <p:txBody>
          <a:bodyPr wrap="square" lIns="0" tIns="0" rIns="0" bIns="0" rtlCol="0" anchor="ctr"/>
          <a:lstStyle/>
          <a:p>
            <a:pPr marL="0" indent="0" algn="ctr">
              <a:buNone/>
            </a:pPr>
            <a:r>
              <a:rPr lang="en-US" sz="1152" b="1" dirty="0">
                <a:solidFill>
                  <a:srgbClr val="FFFFFF"/>
                </a:solidFill>
                <a:latin typeface="Calibri" pitchFamily="34" charset="0"/>
                <a:ea typeface="Calibri" pitchFamily="34" charset="-122"/>
                <a:cs typeface="Calibri" pitchFamily="34" charset="-120"/>
              </a:rPr>
              <a:t>7</a:t>
            </a:r>
            <a:endParaRPr lang="en-US" sz="1152" dirty="0"/>
          </a:p>
        </p:txBody>
      </p:sp>
      <p:sp>
        <p:nvSpPr>
          <p:cNvPr id="33" name="Text 30"/>
          <p:cNvSpPr txBox="1"/>
          <p:nvPr/>
        </p:nvSpPr>
        <p:spPr>
          <a:xfrm>
            <a:off x="4750308" y="2834640"/>
            <a:ext cx="1735074" cy="548640"/>
          </a:xfrm>
          <a:prstGeom prst="rect">
            <a:avLst/>
          </a:prstGeom>
          <a:noFill/>
          <a:ln/>
        </p:spPr>
        <p:txBody>
          <a:bodyPr wrap="square" lIns="0" tIns="0" rIns="0" bIns="0" rtlCol="0" anchor="t"/>
          <a:lstStyle/>
          <a:p>
            <a:pPr marL="0" indent="0">
              <a:buNone/>
            </a:pPr>
            <a:r>
              <a:rPr lang="en-US" sz="1050" dirty="0">
                <a:solidFill>
                  <a:srgbClr val="222B36"/>
                </a:solidFill>
                <a:latin typeface="Calibri" pitchFamily="34" charset="0"/>
                <a:ea typeface="Calibri" pitchFamily="34" charset="-122"/>
                <a:cs typeface="Calibri" pitchFamily="34" charset="-120"/>
              </a:rPr>
              <a:t>Read ahead and link the topic to something you care about.</a:t>
            </a:r>
            <a:endParaRPr lang="en-US" sz="1050" dirty="0"/>
          </a:p>
        </p:txBody>
      </p:sp>
      <p:sp>
        <p:nvSpPr>
          <p:cNvPr id="34" name="Shape 31"/>
          <p:cNvSpPr/>
          <p:nvPr/>
        </p:nvSpPr>
        <p:spPr>
          <a:xfrm>
            <a:off x="6732270" y="2377440"/>
            <a:ext cx="1954530" cy="1024128"/>
          </a:xfrm>
          <a:prstGeom prst="roundRect">
            <a:avLst>
              <a:gd name="adj" fmla="val 7143"/>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35" name="Shape 32"/>
          <p:cNvSpPr/>
          <p:nvPr/>
        </p:nvSpPr>
        <p:spPr>
          <a:xfrm>
            <a:off x="6841998" y="2487168"/>
            <a:ext cx="292608" cy="292608"/>
          </a:xfrm>
          <a:prstGeom prst="ellipse">
            <a:avLst/>
          </a:prstGeom>
          <a:solidFill>
            <a:srgbClr val="4472C4"/>
          </a:solidFill>
          <a:ln/>
        </p:spPr>
        <p:txBody>
          <a:bodyPr/>
          <a:lstStyle/>
          <a:p>
            <a:endParaRPr lang="en-US"/>
          </a:p>
        </p:txBody>
      </p:sp>
      <p:sp>
        <p:nvSpPr>
          <p:cNvPr id="36" name="Text 33"/>
          <p:cNvSpPr txBox="1"/>
          <p:nvPr/>
        </p:nvSpPr>
        <p:spPr>
          <a:xfrm>
            <a:off x="6841998" y="2487168"/>
            <a:ext cx="292608" cy="292608"/>
          </a:xfrm>
          <a:prstGeom prst="rect">
            <a:avLst/>
          </a:prstGeom>
          <a:noFill/>
          <a:ln/>
        </p:spPr>
        <p:txBody>
          <a:bodyPr wrap="square" lIns="0" tIns="0" rIns="0" bIns="0" rtlCol="0" anchor="ctr"/>
          <a:lstStyle/>
          <a:p>
            <a:pPr marL="0" indent="0" algn="ctr">
              <a:buNone/>
            </a:pPr>
            <a:r>
              <a:rPr lang="en-US" sz="1152" b="1" dirty="0">
                <a:solidFill>
                  <a:srgbClr val="FFFFFF"/>
                </a:solidFill>
                <a:latin typeface="Calibri" pitchFamily="34" charset="0"/>
                <a:ea typeface="Calibri" pitchFamily="34" charset="-122"/>
                <a:cs typeface="Calibri" pitchFamily="34" charset="-120"/>
              </a:rPr>
              <a:t>8</a:t>
            </a:r>
            <a:endParaRPr lang="en-US" sz="1152" dirty="0"/>
          </a:p>
        </p:txBody>
      </p:sp>
      <p:sp>
        <p:nvSpPr>
          <p:cNvPr id="37" name="Text 34"/>
          <p:cNvSpPr txBox="1"/>
          <p:nvPr/>
        </p:nvSpPr>
        <p:spPr>
          <a:xfrm>
            <a:off x="6841998" y="2834640"/>
            <a:ext cx="1735074" cy="548640"/>
          </a:xfrm>
          <a:prstGeom prst="rect">
            <a:avLst/>
          </a:prstGeom>
          <a:noFill/>
          <a:ln/>
        </p:spPr>
        <p:txBody>
          <a:bodyPr wrap="square" lIns="0" tIns="0" rIns="0" bIns="0" rtlCol="0" anchor="t"/>
          <a:lstStyle/>
          <a:p>
            <a:pPr marL="0" indent="0">
              <a:buNone/>
            </a:pPr>
            <a:r>
              <a:rPr lang="en-US" sz="1050" dirty="0">
                <a:solidFill>
                  <a:srgbClr val="222B36"/>
                </a:solidFill>
                <a:latin typeface="Calibri" pitchFamily="34" charset="0"/>
                <a:ea typeface="Calibri" pitchFamily="34" charset="-122"/>
                <a:cs typeface="Calibri" pitchFamily="34" charset="-120"/>
              </a:rPr>
              <a:t>Challenge your mind. Stay open even when words are emotional.</a:t>
            </a:r>
            <a:endParaRPr lang="en-US" sz="1050" dirty="0"/>
          </a:p>
        </p:txBody>
      </p:sp>
      <p:sp>
        <p:nvSpPr>
          <p:cNvPr id="38" name="Shape 35"/>
          <p:cNvSpPr/>
          <p:nvPr/>
        </p:nvSpPr>
        <p:spPr>
          <a:xfrm>
            <a:off x="457200" y="3520440"/>
            <a:ext cx="1954530" cy="1024128"/>
          </a:xfrm>
          <a:prstGeom prst="roundRect">
            <a:avLst>
              <a:gd name="adj" fmla="val 7143"/>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39" name="Shape 36"/>
          <p:cNvSpPr/>
          <p:nvPr/>
        </p:nvSpPr>
        <p:spPr>
          <a:xfrm>
            <a:off x="566928" y="3630168"/>
            <a:ext cx="292608" cy="292608"/>
          </a:xfrm>
          <a:prstGeom prst="ellipse">
            <a:avLst/>
          </a:prstGeom>
          <a:solidFill>
            <a:srgbClr val="D8641A"/>
          </a:solidFill>
          <a:ln/>
        </p:spPr>
        <p:txBody>
          <a:bodyPr/>
          <a:lstStyle/>
          <a:p>
            <a:endParaRPr lang="en-US"/>
          </a:p>
        </p:txBody>
      </p:sp>
      <p:sp>
        <p:nvSpPr>
          <p:cNvPr id="40" name="Text 37"/>
          <p:cNvSpPr txBox="1"/>
          <p:nvPr/>
        </p:nvSpPr>
        <p:spPr>
          <a:xfrm>
            <a:off x="566928" y="3630168"/>
            <a:ext cx="292608" cy="292608"/>
          </a:xfrm>
          <a:prstGeom prst="rect">
            <a:avLst/>
          </a:prstGeom>
          <a:noFill/>
          <a:ln/>
        </p:spPr>
        <p:txBody>
          <a:bodyPr wrap="square" lIns="0" tIns="0" rIns="0" bIns="0" rtlCol="0" anchor="ctr"/>
          <a:lstStyle/>
          <a:p>
            <a:pPr marL="0" indent="0" algn="ctr">
              <a:buNone/>
            </a:pPr>
            <a:r>
              <a:rPr lang="en-US" sz="1152" b="1" dirty="0">
                <a:solidFill>
                  <a:srgbClr val="FFFFFF"/>
                </a:solidFill>
                <a:latin typeface="Calibri" pitchFamily="34" charset="0"/>
                <a:ea typeface="Calibri" pitchFamily="34" charset="-122"/>
                <a:cs typeface="Calibri" pitchFamily="34" charset="-120"/>
              </a:rPr>
              <a:t>9</a:t>
            </a:r>
            <a:endParaRPr lang="en-US" sz="1152" dirty="0"/>
          </a:p>
        </p:txBody>
      </p:sp>
      <p:sp>
        <p:nvSpPr>
          <p:cNvPr id="41" name="Text 38"/>
          <p:cNvSpPr txBox="1"/>
          <p:nvPr/>
        </p:nvSpPr>
        <p:spPr>
          <a:xfrm>
            <a:off x="566928" y="3977640"/>
            <a:ext cx="1735074" cy="548640"/>
          </a:xfrm>
          <a:prstGeom prst="rect">
            <a:avLst/>
          </a:prstGeom>
          <a:noFill/>
          <a:ln/>
        </p:spPr>
        <p:txBody>
          <a:bodyPr wrap="square" lIns="0" tIns="0" rIns="0" bIns="0" rtlCol="0" anchor="t"/>
          <a:lstStyle/>
          <a:p>
            <a:pPr marL="0" indent="0">
              <a:buNone/>
            </a:pPr>
            <a:r>
              <a:rPr lang="en-US" sz="1050" dirty="0">
                <a:solidFill>
                  <a:srgbClr val="222B36"/>
                </a:solidFill>
                <a:latin typeface="Calibri" pitchFamily="34" charset="0"/>
                <a:ea typeface="Calibri" pitchFamily="34" charset="-122"/>
                <a:cs typeface="Calibri" pitchFamily="34" charset="-120"/>
              </a:rPr>
              <a:t>Prepare questions. Use facial expressions to show confusion.</a:t>
            </a:r>
            <a:endParaRPr lang="en-US" sz="1050" dirty="0"/>
          </a:p>
        </p:txBody>
      </p:sp>
      <p:sp>
        <p:nvSpPr>
          <p:cNvPr id="42" name="Shape 39"/>
          <p:cNvSpPr/>
          <p:nvPr/>
        </p:nvSpPr>
        <p:spPr>
          <a:xfrm>
            <a:off x="2548890" y="3520440"/>
            <a:ext cx="1954530" cy="1024128"/>
          </a:xfrm>
          <a:prstGeom prst="roundRect">
            <a:avLst>
              <a:gd name="adj" fmla="val 7143"/>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43" name="Shape 40"/>
          <p:cNvSpPr/>
          <p:nvPr/>
        </p:nvSpPr>
        <p:spPr>
          <a:xfrm>
            <a:off x="2658618" y="3630168"/>
            <a:ext cx="292608" cy="292608"/>
          </a:xfrm>
          <a:prstGeom prst="ellipse">
            <a:avLst/>
          </a:prstGeom>
          <a:solidFill>
            <a:srgbClr val="4472C4"/>
          </a:solidFill>
          <a:ln/>
        </p:spPr>
        <p:txBody>
          <a:bodyPr/>
          <a:lstStyle/>
          <a:p>
            <a:endParaRPr lang="en-US"/>
          </a:p>
        </p:txBody>
      </p:sp>
      <p:sp>
        <p:nvSpPr>
          <p:cNvPr id="44" name="Text 41"/>
          <p:cNvSpPr txBox="1"/>
          <p:nvPr/>
        </p:nvSpPr>
        <p:spPr>
          <a:xfrm>
            <a:off x="2658618" y="3630168"/>
            <a:ext cx="292608" cy="292608"/>
          </a:xfrm>
          <a:prstGeom prst="rect">
            <a:avLst/>
          </a:prstGeom>
          <a:noFill/>
          <a:ln/>
        </p:spPr>
        <p:txBody>
          <a:bodyPr wrap="square" lIns="0" tIns="0" rIns="0" bIns="0" rtlCol="0" anchor="ctr"/>
          <a:lstStyle/>
          <a:p>
            <a:pPr marL="0" indent="0" algn="ctr">
              <a:buNone/>
            </a:pPr>
            <a:r>
              <a:rPr lang="en-US" sz="1152" b="1" dirty="0">
                <a:solidFill>
                  <a:srgbClr val="FFFFFF"/>
                </a:solidFill>
                <a:latin typeface="Calibri" pitchFamily="34" charset="0"/>
                <a:ea typeface="Calibri" pitchFamily="34" charset="-122"/>
                <a:cs typeface="Calibri" pitchFamily="34" charset="-120"/>
              </a:rPr>
              <a:t>10</a:t>
            </a:r>
            <a:endParaRPr lang="en-US" sz="1152" dirty="0"/>
          </a:p>
        </p:txBody>
      </p:sp>
      <p:sp>
        <p:nvSpPr>
          <p:cNvPr id="45" name="Text 42"/>
          <p:cNvSpPr txBox="1"/>
          <p:nvPr/>
        </p:nvSpPr>
        <p:spPr>
          <a:xfrm>
            <a:off x="2658618" y="3977640"/>
            <a:ext cx="1735074" cy="548640"/>
          </a:xfrm>
          <a:prstGeom prst="rect">
            <a:avLst/>
          </a:prstGeom>
          <a:noFill/>
          <a:ln/>
        </p:spPr>
        <p:txBody>
          <a:bodyPr wrap="square" lIns="0" tIns="0" rIns="0" bIns="0" rtlCol="0" anchor="t"/>
          <a:lstStyle/>
          <a:p>
            <a:pPr marL="0" indent="0">
              <a:buNone/>
            </a:pPr>
            <a:r>
              <a:rPr lang="en-US" sz="1050" dirty="0">
                <a:solidFill>
                  <a:srgbClr val="222B36"/>
                </a:solidFill>
                <a:latin typeface="Calibri" pitchFamily="34" charset="0"/>
                <a:ea typeface="Calibri" pitchFamily="34" charset="-122"/>
                <a:cs typeface="Calibri" pitchFamily="34" charset="-120"/>
              </a:rPr>
              <a:t>Keep listening through discussions, until the very end.</a:t>
            </a:r>
            <a:endParaRPr lang="en-US" sz="1050" dirty="0"/>
          </a:p>
        </p:txBody>
      </p:sp>
      <p:sp>
        <p:nvSpPr>
          <p:cNvPr id="46" name="Shape 43"/>
          <p:cNvSpPr/>
          <p:nvPr/>
        </p:nvSpPr>
        <p:spPr>
          <a:xfrm>
            <a:off x="4640580" y="3520440"/>
            <a:ext cx="1954530" cy="1024128"/>
          </a:xfrm>
          <a:prstGeom prst="roundRect">
            <a:avLst>
              <a:gd name="adj" fmla="val 7143"/>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47" name="Shape 44"/>
          <p:cNvSpPr/>
          <p:nvPr/>
        </p:nvSpPr>
        <p:spPr>
          <a:xfrm>
            <a:off x="4750308" y="3630168"/>
            <a:ext cx="292608" cy="292608"/>
          </a:xfrm>
          <a:prstGeom prst="ellipse">
            <a:avLst/>
          </a:prstGeom>
          <a:solidFill>
            <a:srgbClr val="D8641A"/>
          </a:solidFill>
          <a:ln/>
        </p:spPr>
        <p:txBody>
          <a:bodyPr/>
          <a:lstStyle/>
          <a:p>
            <a:endParaRPr lang="en-US"/>
          </a:p>
        </p:txBody>
      </p:sp>
      <p:sp>
        <p:nvSpPr>
          <p:cNvPr id="48" name="Text 45"/>
          <p:cNvSpPr txBox="1"/>
          <p:nvPr/>
        </p:nvSpPr>
        <p:spPr>
          <a:xfrm>
            <a:off x="4750308" y="3630168"/>
            <a:ext cx="292608" cy="292608"/>
          </a:xfrm>
          <a:prstGeom prst="rect">
            <a:avLst/>
          </a:prstGeom>
          <a:noFill/>
          <a:ln/>
        </p:spPr>
        <p:txBody>
          <a:bodyPr wrap="square" lIns="0" tIns="0" rIns="0" bIns="0" rtlCol="0" anchor="ctr"/>
          <a:lstStyle/>
          <a:p>
            <a:pPr marL="0" indent="0" algn="ctr">
              <a:buNone/>
            </a:pPr>
            <a:r>
              <a:rPr lang="en-US" sz="1152" b="1" dirty="0">
                <a:solidFill>
                  <a:srgbClr val="FFFFFF"/>
                </a:solidFill>
                <a:latin typeface="Calibri" pitchFamily="34" charset="0"/>
                <a:ea typeface="Calibri" pitchFamily="34" charset="-122"/>
                <a:cs typeface="Calibri" pitchFamily="34" charset="-120"/>
              </a:rPr>
              <a:t>11</a:t>
            </a:r>
            <a:endParaRPr lang="en-US" sz="1152" dirty="0"/>
          </a:p>
        </p:txBody>
      </p:sp>
      <p:sp>
        <p:nvSpPr>
          <p:cNvPr id="49" name="Text 46"/>
          <p:cNvSpPr txBox="1"/>
          <p:nvPr/>
        </p:nvSpPr>
        <p:spPr>
          <a:xfrm>
            <a:off x="4750308" y="3977640"/>
            <a:ext cx="1735074" cy="548640"/>
          </a:xfrm>
          <a:prstGeom prst="rect">
            <a:avLst/>
          </a:prstGeom>
          <a:noFill/>
          <a:ln/>
        </p:spPr>
        <p:txBody>
          <a:bodyPr wrap="square" lIns="0" tIns="0" rIns="0" bIns="0" rtlCol="0" anchor="t"/>
          <a:lstStyle/>
          <a:p>
            <a:pPr marL="0" indent="0">
              <a:buNone/>
            </a:pPr>
            <a:r>
              <a:rPr lang="en-US" sz="1050" dirty="0">
                <a:solidFill>
                  <a:srgbClr val="222B36"/>
                </a:solidFill>
                <a:latin typeface="Calibri" pitchFamily="34" charset="0"/>
                <a:ea typeface="Calibri" pitchFamily="34" charset="-122"/>
                <a:cs typeface="Calibri" pitchFamily="34" charset="-120"/>
              </a:rPr>
              <a:t>Work at listening, instead of pretending to listen.</a:t>
            </a:r>
            <a:endParaRPr lang="en-US" sz="1050" dirty="0"/>
          </a:p>
        </p:txBody>
      </p:sp>
      <p:sp>
        <p:nvSpPr>
          <p:cNvPr id="50" name="Shape 47"/>
          <p:cNvSpPr/>
          <p:nvPr/>
        </p:nvSpPr>
        <p:spPr>
          <a:xfrm>
            <a:off x="6732270" y="3520440"/>
            <a:ext cx="1954530" cy="1024128"/>
          </a:xfrm>
          <a:prstGeom prst="roundRect">
            <a:avLst>
              <a:gd name="adj" fmla="val 7143"/>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51" name="Shape 48"/>
          <p:cNvSpPr/>
          <p:nvPr/>
        </p:nvSpPr>
        <p:spPr>
          <a:xfrm>
            <a:off x="6841998" y="3630168"/>
            <a:ext cx="292608" cy="292608"/>
          </a:xfrm>
          <a:prstGeom prst="ellipse">
            <a:avLst/>
          </a:prstGeom>
          <a:solidFill>
            <a:srgbClr val="4472C4"/>
          </a:solidFill>
          <a:ln/>
        </p:spPr>
        <p:txBody>
          <a:bodyPr/>
          <a:lstStyle/>
          <a:p>
            <a:endParaRPr lang="en-US"/>
          </a:p>
        </p:txBody>
      </p:sp>
      <p:sp>
        <p:nvSpPr>
          <p:cNvPr id="52" name="Text 49"/>
          <p:cNvSpPr txBox="1"/>
          <p:nvPr/>
        </p:nvSpPr>
        <p:spPr>
          <a:xfrm>
            <a:off x="6841998" y="3630168"/>
            <a:ext cx="292608" cy="292608"/>
          </a:xfrm>
          <a:prstGeom prst="rect">
            <a:avLst/>
          </a:prstGeom>
          <a:noFill/>
          <a:ln/>
        </p:spPr>
        <p:txBody>
          <a:bodyPr wrap="square" lIns="0" tIns="0" rIns="0" bIns="0" rtlCol="0" anchor="ctr"/>
          <a:lstStyle/>
          <a:p>
            <a:pPr marL="0" indent="0" algn="ctr">
              <a:buNone/>
            </a:pPr>
            <a:r>
              <a:rPr lang="en-US" sz="1152" b="1" dirty="0">
                <a:solidFill>
                  <a:srgbClr val="FFFFFF"/>
                </a:solidFill>
                <a:latin typeface="Calibri" pitchFamily="34" charset="0"/>
                <a:ea typeface="Calibri" pitchFamily="34" charset="-122"/>
                <a:cs typeface="Calibri" pitchFamily="34" charset="-120"/>
              </a:rPr>
              <a:t>12</a:t>
            </a:r>
            <a:endParaRPr lang="en-US" sz="1152" dirty="0"/>
          </a:p>
        </p:txBody>
      </p:sp>
      <p:sp>
        <p:nvSpPr>
          <p:cNvPr id="53" name="Text 50"/>
          <p:cNvSpPr txBox="1"/>
          <p:nvPr/>
        </p:nvSpPr>
        <p:spPr>
          <a:xfrm>
            <a:off x="6841998" y="3977640"/>
            <a:ext cx="1735074" cy="548640"/>
          </a:xfrm>
          <a:prstGeom prst="rect">
            <a:avLst/>
          </a:prstGeom>
          <a:noFill/>
          <a:ln/>
        </p:spPr>
        <p:txBody>
          <a:bodyPr wrap="square" lIns="0" tIns="0" rIns="0" bIns="0" rtlCol="0" anchor="t"/>
          <a:lstStyle/>
          <a:p>
            <a:pPr marL="0" indent="0">
              <a:buNone/>
            </a:pPr>
            <a:r>
              <a:rPr lang="en-US" sz="1050" dirty="0">
                <a:solidFill>
                  <a:srgbClr val="222B36"/>
                </a:solidFill>
                <a:latin typeface="Calibri" pitchFamily="34" charset="0"/>
                <a:ea typeface="Calibri" pitchFamily="34" charset="-122"/>
                <a:cs typeface="Calibri" pitchFamily="34" charset="-120"/>
              </a:rPr>
              <a:t>Resist distractions: latecomers, noise, side talk.</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PRACTICE · ACTIVE LISTENING</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Mystery Speaker challenge</a:t>
            </a:r>
            <a:endParaRPr lang="en-US" sz="3000" dirty="0"/>
          </a:p>
        </p:txBody>
      </p:sp>
      <p:sp>
        <p:nvSpPr>
          <p:cNvPr id="6" name="Shape 3"/>
          <p:cNvSpPr/>
          <p:nvPr/>
        </p:nvSpPr>
        <p:spPr>
          <a:xfrm>
            <a:off x="457200" y="1280160"/>
            <a:ext cx="3931920" cy="731520"/>
          </a:xfrm>
          <a:prstGeom prst="roundRect">
            <a:avLst>
              <a:gd name="adj" fmla="val 10000"/>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594360" y="1463040"/>
            <a:ext cx="365760" cy="365760"/>
          </a:xfrm>
          <a:prstGeom prst="ellipse">
            <a:avLst/>
          </a:prstGeom>
          <a:solidFill>
            <a:srgbClr val="D8641A"/>
          </a:solidFill>
          <a:ln/>
        </p:spPr>
        <p:txBody>
          <a:bodyPr/>
          <a:lstStyle/>
          <a:p>
            <a:endParaRPr lang="en-US"/>
          </a:p>
        </p:txBody>
      </p:sp>
      <p:sp>
        <p:nvSpPr>
          <p:cNvPr id="8" name="Text 5"/>
          <p:cNvSpPr txBox="1"/>
          <p:nvPr/>
        </p:nvSpPr>
        <p:spPr>
          <a:xfrm>
            <a:off x="594360" y="1463040"/>
            <a:ext cx="365760" cy="365760"/>
          </a:xfrm>
          <a:prstGeom prst="rect">
            <a:avLst/>
          </a:prstGeom>
          <a:noFill/>
          <a:ln/>
        </p:spPr>
        <p:txBody>
          <a:bodyPr wrap="square" lIns="0" tIns="0" rIns="0" bIns="0" rtlCol="0" anchor="ctr"/>
          <a:lstStyle/>
          <a:p>
            <a:pPr marL="0" indent="0" algn="ctr">
              <a:buNone/>
            </a:pPr>
            <a:r>
              <a:rPr lang="en-US" sz="1440" b="1" dirty="0">
                <a:solidFill>
                  <a:srgbClr val="FFFFFF"/>
                </a:solidFill>
                <a:latin typeface="Calibri" pitchFamily="34" charset="0"/>
                <a:ea typeface="Calibri" pitchFamily="34" charset="-122"/>
                <a:cs typeface="Calibri" pitchFamily="34" charset="-120"/>
              </a:rPr>
              <a:t>1</a:t>
            </a:r>
            <a:endParaRPr lang="en-US" sz="1440" dirty="0"/>
          </a:p>
        </p:txBody>
      </p:sp>
      <p:sp>
        <p:nvSpPr>
          <p:cNvPr id="9" name="Text 6"/>
          <p:cNvSpPr txBox="1"/>
          <p:nvPr/>
        </p:nvSpPr>
        <p:spPr>
          <a:xfrm>
            <a:off x="1143000" y="1353312"/>
            <a:ext cx="3108960" cy="274320"/>
          </a:xfrm>
          <a:prstGeom prst="rect">
            <a:avLst/>
          </a:prstGeom>
          <a:noFill/>
          <a:ln/>
        </p:spPr>
        <p:txBody>
          <a:bodyPr wrap="square" lIns="0" tIns="0" rIns="0" bIns="0" rtlCol="0" anchor="t"/>
          <a:lstStyle/>
          <a:p>
            <a:pPr marL="0" indent="0">
              <a:buNone/>
            </a:pPr>
            <a:r>
              <a:rPr lang="en-US" sz="1400" b="1" dirty="0">
                <a:solidFill>
                  <a:srgbClr val="44546A"/>
                </a:solidFill>
                <a:latin typeface="Calibri" pitchFamily="34" charset="0"/>
                <a:ea typeface="Calibri" pitchFamily="34" charset="-122"/>
                <a:cs typeface="Calibri" pitchFamily="34" charset="-120"/>
              </a:rPr>
              <a:t>Pair up</a:t>
            </a:r>
            <a:endParaRPr lang="en-US" sz="1400" dirty="0"/>
          </a:p>
        </p:txBody>
      </p:sp>
      <p:sp>
        <p:nvSpPr>
          <p:cNvPr id="10" name="Text 7"/>
          <p:cNvSpPr txBox="1"/>
          <p:nvPr/>
        </p:nvSpPr>
        <p:spPr>
          <a:xfrm>
            <a:off x="1143000" y="1645920"/>
            <a:ext cx="3108960" cy="320040"/>
          </a:xfrm>
          <a:prstGeom prst="rect">
            <a:avLst/>
          </a:prstGeom>
          <a:noFill/>
          <a:ln/>
        </p:spPr>
        <p:txBody>
          <a:bodyPr wrap="square" lIns="0" tIns="0" rIns="0" bIns="0" rtlCol="0" anchor="t"/>
          <a:lstStyle/>
          <a:p>
            <a:pPr marL="0" indent="0">
              <a:buNone/>
            </a:pPr>
            <a:r>
              <a:rPr lang="en-US" sz="1150" dirty="0">
                <a:solidFill>
                  <a:srgbClr val="66758A"/>
                </a:solidFill>
                <a:latin typeface="Calibri" pitchFamily="34" charset="0"/>
                <a:ea typeface="Calibri" pitchFamily="34" charset="-122"/>
                <a:cs typeface="Calibri" pitchFamily="34" charset="-120"/>
              </a:rPr>
              <a:t>Student A gets a secret topic card.</a:t>
            </a:r>
            <a:endParaRPr lang="en-US" sz="1150" dirty="0"/>
          </a:p>
        </p:txBody>
      </p:sp>
      <p:sp>
        <p:nvSpPr>
          <p:cNvPr id="11" name="Shape 8"/>
          <p:cNvSpPr/>
          <p:nvPr/>
        </p:nvSpPr>
        <p:spPr>
          <a:xfrm>
            <a:off x="457200" y="2121408"/>
            <a:ext cx="3931920" cy="731520"/>
          </a:xfrm>
          <a:prstGeom prst="roundRect">
            <a:avLst>
              <a:gd name="adj" fmla="val 10000"/>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12" name="Shape 9"/>
          <p:cNvSpPr/>
          <p:nvPr/>
        </p:nvSpPr>
        <p:spPr>
          <a:xfrm>
            <a:off x="594360" y="2304288"/>
            <a:ext cx="365760" cy="365760"/>
          </a:xfrm>
          <a:prstGeom prst="ellipse">
            <a:avLst/>
          </a:prstGeom>
          <a:solidFill>
            <a:srgbClr val="4472C4"/>
          </a:solidFill>
          <a:ln/>
        </p:spPr>
        <p:txBody>
          <a:bodyPr/>
          <a:lstStyle/>
          <a:p>
            <a:endParaRPr lang="en-US"/>
          </a:p>
        </p:txBody>
      </p:sp>
      <p:sp>
        <p:nvSpPr>
          <p:cNvPr id="13" name="Text 10"/>
          <p:cNvSpPr txBox="1"/>
          <p:nvPr/>
        </p:nvSpPr>
        <p:spPr>
          <a:xfrm>
            <a:off x="594360" y="2304288"/>
            <a:ext cx="365760" cy="365760"/>
          </a:xfrm>
          <a:prstGeom prst="rect">
            <a:avLst/>
          </a:prstGeom>
          <a:noFill/>
          <a:ln/>
        </p:spPr>
        <p:txBody>
          <a:bodyPr wrap="square" lIns="0" tIns="0" rIns="0" bIns="0" rtlCol="0" anchor="ctr"/>
          <a:lstStyle/>
          <a:p>
            <a:pPr marL="0" indent="0" algn="ctr">
              <a:buNone/>
            </a:pPr>
            <a:r>
              <a:rPr lang="en-US" sz="1440" b="1" dirty="0">
                <a:solidFill>
                  <a:srgbClr val="FFFFFF"/>
                </a:solidFill>
                <a:latin typeface="Calibri" pitchFamily="34" charset="0"/>
                <a:ea typeface="Calibri" pitchFamily="34" charset="-122"/>
                <a:cs typeface="Calibri" pitchFamily="34" charset="-120"/>
              </a:rPr>
              <a:t>2</a:t>
            </a:r>
            <a:endParaRPr lang="en-US" sz="1440" dirty="0"/>
          </a:p>
        </p:txBody>
      </p:sp>
      <p:sp>
        <p:nvSpPr>
          <p:cNvPr id="14" name="Text 11"/>
          <p:cNvSpPr txBox="1"/>
          <p:nvPr/>
        </p:nvSpPr>
        <p:spPr>
          <a:xfrm>
            <a:off x="1143000" y="2194560"/>
            <a:ext cx="3108960" cy="274320"/>
          </a:xfrm>
          <a:prstGeom prst="rect">
            <a:avLst/>
          </a:prstGeom>
          <a:noFill/>
          <a:ln/>
        </p:spPr>
        <p:txBody>
          <a:bodyPr wrap="square" lIns="0" tIns="0" rIns="0" bIns="0" rtlCol="0" anchor="t"/>
          <a:lstStyle/>
          <a:p>
            <a:pPr marL="0" indent="0">
              <a:buNone/>
            </a:pPr>
            <a:r>
              <a:rPr lang="en-US" sz="1400" b="1" dirty="0">
                <a:solidFill>
                  <a:srgbClr val="44546A"/>
                </a:solidFill>
                <a:latin typeface="Calibri" pitchFamily="34" charset="0"/>
                <a:ea typeface="Calibri" pitchFamily="34" charset="-122"/>
                <a:cs typeface="Calibri" pitchFamily="34" charset="-120"/>
              </a:rPr>
              <a:t>Describe</a:t>
            </a:r>
            <a:endParaRPr lang="en-US" sz="1400" dirty="0"/>
          </a:p>
        </p:txBody>
      </p:sp>
      <p:sp>
        <p:nvSpPr>
          <p:cNvPr id="15" name="Text 12"/>
          <p:cNvSpPr txBox="1"/>
          <p:nvPr/>
        </p:nvSpPr>
        <p:spPr>
          <a:xfrm>
            <a:off x="1143000" y="2487168"/>
            <a:ext cx="3108960" cy="320040"/>
          </a:xfrm>
          <a:prstGeom prst="rect">
            <a:avLst/>
          </a:prstGeom>
          <a:noFill/>
          <a:ln/>
        </p:spPr>
        <p:txBody>
          <a:bodyPr wrap="square" lIns="0" tIns="0" rIns="0" bIns="0" rtlCol="0" anchor="t"/>
          <a:lstStyle/>
          <a:p>
            <a:pPr marL="0" indent="0">
              <a:buNone/>
            </a:pPr>
            <a:r>
              <a:rPr lang="en-US" sz="1150" dirty="0">
                <a:solidFill>
                  <a:srgbClr val="66758A"/>
                </a:solidFill>
                <a:latin typeface="Calibri" pitchFamily="34" charset="0"/>
                <a:ea typeface="Calibri" pitchFamily="34" charset="-122"/>
                <a:cs typeface="Calibri" pitchFamily="34" charset="-120"/>
              </a:rPr>
              <a:t>A describes the topic without naming it.</a:t>
            </a:r>
            <a:endParaRPr lang="en-US" sz="1150" dirty="0"/>
          </a:p>
        </p:txBody>
      </p:sp>
      <p:sp>
        <p:nvSpPr>
          <p:cNvPr id="16" name="Shape 13"/>
          <p:cNvSpPr/>
          <p:nvPr/>
        </p:nvSpPr>
        <p:spPr>
          <a:xfrm>
            <a:off x="457200" y="2962656"/>
            <a:ext cx="3931920" cy="731520"/>
          </a:xfrm>
          <a:prstGeom prst="roundRect">
            <a:avLst>
              <a:gd name="adj" fmla="val 10000"/>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17" name="Shape 14"/>
          <p:cNvSpPr/>
          <p:nvPr/>
        </p:nvSpPr>
        <p:spPr>
          <a:xfrm>
            <a:off x="594360" y="3145536"/>
            <a:ext cx="365760" cy="365760"/>
          </a:xfrm>
          <a:prstGeom prst="ellipse">
            <a:avLst/>
          </a:prstGeom>
          <a:solidFill>
            <a:srgbClr val="D8641A"/>
          </a:solidFill>
          <a:ln/>
        </p:spPr>
        <p:txBody>
          <a:bodyPr/>
          <a:lstStyle/>
          <a:p>
            <a:endParaRPr lang="en-US"/>
          </a:p>
        </p:txBody>
      </p:sp>
      <p:sp>
        <p:nvSpPr>
          <p:cNvPr id="18" name="Text 15"/>
          <p:cNvSpPr txBox="1"/>
          <p:nvPr/>
        </p:nvSpPr>
        <p:spPr>
          <a:xfrm>
            <a:off x="594360" y="3145536"/>
            <a:ext cx="365760" cy="365760"/>
          </a:xfrm>
          <a:prstGeom prst="rect">
            <a:avLst/>
          </a:prstGeom>
          <a:noFill/>
          <a:ln/>
        </p:spPr>
        <p:txBody>
          <a:bodyPr wrap="square" lIns="0" tIns="0" rIns="0" bIns="0" rtlCol="0" anchor="ctr"/>
          <a:lstStyle/>
          <a:p>
            <a:pPr marL="0" indent="0" algn="ctr">
              <a:buNone/>
            </a:pPr>
            <a:r>
              <a:rPr lang="en-US" sz="1440" b="1" dirty="0">
                <a:solidFill>
                  <a:srgbClr val="FFFFFF"/>
                </a:solidFill>
                <a:latin typeface="Calibri" pitchFamily="34" charset="0"/>
                <a:ea typeface="Calibri" pitchFamily="34" charset="-122"/>
                <a:cs typeface="Calibri" pitchFamily="34" charset="-120"/>
              </a:rPr>
              <a:t>3</a:t>
            </a:r>
            <a:endParaRPr lang="en-US" sz="1440" dirty="0"/>
          </a:p>
        </p:txBody>
      </p:sp>
      <p:sp>
        <p:nvSpPr>
          <p:cNvPr id="19" name="Text 16"/>
          <p:cNvSpPr txBox="1"/>
          <p:nvPr/>
        </p:nvSpPr>
        <p:spPr>
          <a:xfrm>
            <a:off x="1143000" y="3035808"/>
            <a:ext cx="3108960" cy="274320"/>
          </a:xfrm>
          <a:prstGeom prst="rect">
            <a:avLst/>
          </a:prstGeom>
          <a:noFill/>
          <a:ln/>
        </p:spPr>
        <p:txBody>
          <a:bodyPr wrap="square" lIns="0" tIns="0" rIns="0" bIns="0" rtlCol="0" anchor="t"/>
          <a:lstStyle/>
          <a:p>
            <a:pPr marL="0" indent="0">
              <a:buNone/>
            </a:pPr>
            <a:r>
              <a:rPr lang="en-US" sz="1400" b="1" dirty="0">
                <a:solidFill>
                  <a:srgbClr val="44546A"/>
                </a:solidFill>
                <a:latin typeface="Calibri" pitchFamily="34" charset="0"/>
                <a:ea typeface="Calibri" pitchFamily="34" charset="-122"/>
                <a:cs typeface="Calibri" pitchFamily="34" charset="-120"/>
              </a:rPr>
              <a:t>Listen &amp; ask</a:t>
            </a:r>
            <a:endParaRPr lang="en-US" sz="1400" dirty="0"/>
          </a:p>
        </p:txBody>
      </p:sp>
      <p:sp>
        <p:nvSpPr>
          <p:cNvPr id="20" name="Text 17"/>
          <p:cNvSpPr txBox="1"/>
          <p:nvPr/>
        </p:nvSpPr>
        <p:spPr>
          <a:xfrm>
            <a:off x="1143000" y="3328416"/>
            <a:ext cx="3108960" cy="320040"/>
          </a:xfrm>
          <a:prstGeom prst="rect">
            <a:avLst/>
          </a:prstGeom>
          <a:noFill/>
          <a:ln/>
        </p:spPr>
        <p:txBody>
          <a:bodyPr wrap="square" lIns="0" tIns="0" rIns="0" bIns="0" rtlCol="0" anchor="t"/>
          <a:lstStyle/>
          <a:p>
            <a:pPr marL="0" indent="0">
              <a:buNone/>
            </a:pPr>
            <a:r>
              <a:rPr lang="en-US" sz="1150" dirty="0">
                <a:solidFill>
                  <a:srgbClr val="66758A"/>
                </a:solidFill>
                <a:latin typeface="Calibri" pitchFamily="34" charset="0"/>
                <a:ea typeface="Calibri" pitchFamily="34" charset="-122"/>
                <a:cs typeface="Calibri" pitchFamily="34" charset="-120"/>
              </a:rPr>
              <a:t>B asks 2–3 clarifying questions, then guesses.</a:t>
            </a:r>
            <a:endParaRPr lang="en-US" sz="1150" dirty="0"/>
          </a:p>
        </p:txBody>
      </p:sp>
      <p:sp>
        <p:nvSpPr>
          <p:cNvPr id="21" name="Shape 18"/>
          <p:cNvSpPr/>
          <p:nvPr/>
        </p:nvSpPr>
        <p:spPr>
          <a:xfrm>
            <a:off x="457200" y="3803904"/>
            <a:ext cx="3931920" cy="731520"/>
          </a:xfrm>
          <a:prstGeom prst="roundRect">
            <a:avLst>
              <a:gd name="adj" fmla="val 10000"/>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22" name="Shape 19"/>
          <p:cNvSpPr/>
          <p:nvPr/>
        </p:nvSpPr>
        <p:spPr>
          <a:xfrm>
            <a:off x="594360" y="3986784"/>
            <a:ext cx="365760" cy="365760"/>
          </a:xfrm>
          <a:prstGeom prst="ellipse">
            <a:avLst/>
          </a:prstGeom>
          <a:solidFill>
            <a:srgbClr val="4472C4"/>
          </a:solidFill>
          <a:ln/>
        </p:spPr>
        <p:txBody>
          <a:bodyPr/>
          <a:lstStyle/>
          <a:p>
            <a:endParaRPr lang="en-US"/>
          </a:p>
        </p:txBody>
      </p:sp>
      <p:sp>
        <p:nvSpPr>
          <p:cNvPr id="23" name="Text 20"/>
          <p:cNvSpPr txBox="1"/>
          <p:nvPr/>
        </p:nvSpPr>
        <p:spPr>
          <a:xfrm>
            <a:off x="594360" y="3986784"/>
            <a:ext cx="365760" cy="365760"/>
          </a:xfrm>
          <a:prstGeom prst="rect">
            <a:avLst/>
          </a:prstGeom>
          <a:noFill/>
          <a:ln/>
        </p:spPr>
        <p:txBody>
          <a:bodyPr wrap="square" lIns="0" tIns="0" rIns="0" bIns="0" rtlCol="0" anchor="ctr"/>
          <a:lstStyle/>
          <a:p>
            <a:pPr marL="0" indent="0" algn="ctr">
              <a:buNone/>
            </a:pPr>
            <a:r>
              <a:rPr lang="en-US" sz="1440" b="1" dirty="0">
                <a:solidFill>
                  <a:srgbClr val="FFFFFF"/>
                </a:solidFill>
                <a:latin typeface="Calibri" pitchFamily="34" charset="0"/>
                <a:ea typeface="Calibri" pitchFamily="34" charset="-122"/>
                <a:cs typeface="Calibri" pitchFamily="34" charset="-120"/>
              </a:rPr>
              <a:t>4</a:t>
            </a:r>
            <a:endParaRPr lang="en-US" sz="1440" dirty="0"/>
          </a:p>
        </p:txBody>
      </p:sp>
      <p:sp>
        <p:nvSpPr>
          <p:cNvPr id="24" name="Text 21"/>
          <p:cNvSpPr txBox="1"/>
          <p:nvPr/>
        </p:nvSpPr>
        <p:spPr>
          <a:xfrm>
            <a:off x="1143000" y="3877056"/>
            <a:ext cx="3108960" cy="274320"/>
          </a:xfrm>
          <a:prstGeom prst="rect">
            <a:avLst/>
          </a:prstGeom>
          <a:noFill/>
          <a:ln/>
        </p:spPr>
        <p:txBody>
          <a:bodyPr wrap="square" lIns="0" tIns="0" rIns="0" bIns="0" rtlCol="0" anchor="t"/>
          <a:lstStyle/>
          <a:p>
            <a:pPr marL="0" indent="0">
              <a:buNone/>
            </a:pPr>
            <a:r>
              <a:rPr lang="en-US" sz="1400" b="1" dirty="0">
                <a:solidFill>
                  <a:srgbClr val="44546A"/>
                </a:solidFill>
                <a:latin typeface="Calibri" pitchFamily="34" charset="0"/>
                <a:ea typeface="Calibri" pitchFamily="34" charset="-122"/>
                <a:cs typeface="Calibri" pitchFamily="34" charset="-120"/>
              </a:rPr>
              <a:t>Switch</a:t>
            </a:r>
            <a:endParaRPr lang="en-US" sz="1400" dirty="0"/>
          </a:p>
        </p:txBody>
      </p:sp>
      <p:sp>
        <p:nvSpPr>
          <p:cNvPr id="25" name="Text 22"/>
          <p:cNvSpPr txBox="1"/>
          <p:nvPr/>
        </p:nvSpPr>
        <p:spPr>
          <a:xfrm>
            <a:off x="1143000" y="4169664"/>
            <a:ext cx="3108960" cy="320040"/>
          </a:xfrm>
          <a:prstGeom prst="rect">
            <a:avLst/>
          </a:prstGeom>
          <a:noFill/>
          <a:ln/>
        </p:spPr>
        <p:txBody>
          <a:bodyPr wrap="square" lIns="0" tIns="0" rIns="0" bIns="0" rtlCol="0" anchor="t"/>
          <a:lstStyle/>
          <a:p>
            <a:pPr marL="0" indent="0">
              <a:buNone/>
            </a:pPr>
            <a:r>
              <a:rPr lang="en-US" sz="1150" dirty="0">
                <a:solidFill>
                  <a:srgbClr val="66758A"/>
                </a:solidFill>
                <a:latin typeface="Calibri" pitchFamily="34" charset="0"/>
                <a:ea typeface="Calibri" pitchFamily="34" charset="-122"/>
                <a:cs typeface="Calibri" pitchFamily="34" charset="-120"/>
              </a:rPr>
              <a:t>After 2 minutes, swap roles.</a:t>
            </a:r>
            <a:endParaRPr lang="en-US" sz="1150" dirty="0"/>
          </a:p>
        </p:txBody>
      </p:sp>
      <p:sp>
        <p:nvSpPr>
          <p:cNvPr id="26" name="Text 23"/>
          <p:cNvSpPr txBox="1"/>
          <p:nvPr/>
        </p:nvSpPr>
        <p:spPr>
          <a:xfrm>
            <a:off x="4663440" y="1280160"/>
            <a:ext cx="4023360" cy="274320"/>
          </a:xfrm>
          <a:prstGeom prst="rect">
            <a:avLst/>
          </a:prstGeom>
          <a:noFill/>
          <a:ln/>
        </p:spPr>
        <p:txBody>
          <a:bodyPr wrap="square" lIns="0" tIns="0" rIns="0" bIns="0" rtlCol="0" anchor="t"/>
          <a:lstStyle/>
          <a:p>
            <a:pPr marL="0" indent="0">
              <a:buNone/>
            </a:pPr>
            <a:r>
              <a:rPr lang="en-US" sz="1350" b="1" dirty="0">
                <a:solidFill>
                  <a:srgbClr val="44546A"/>
                </a:solidFill>
                <a:latin typeface="Calibri" pitchFamily="34" charset="0"/>
                <a:ea typeface="Calibri" pitchFamily="34" charset="-122"/>
                <a:cs typeface="Calibri" pitchFamily="34" charset="-120"/>
              </a:rPr>
              <a:t>Example round  (topic card: "Your favourite food")</a:t>
            </a:r>
            <a:endParaRPr lang="en-US" sz="1350" dirty="0"/>
          </a:p>
        </p:txBody>
      </p:sp>
      <p:sp>
        <p:nvSpPr>
          <p:cNvPr id="27" name="Shape 24"/>
          <p:cNvSpPr/>
          <p:nvPr/>
        </p:nvSpPr>
        <p:spPr>
          <a:xfrm>
            <a:off x="4663440" y="1645920"/>
            <a:ext cx="4023360" cy="457200"/>
          </a:xfrm>
          <a:prstGeom prst="roundRect">
            <a:avLst>
              <a:gd name="adj" fmla="val 16000"/>
            </a:avLst>
          </a:prstGeom>
          <a:solidFill>
            <a:srgbClr val="DAE3F3"/>
          </a:solidFill>
          <a:ln/>
        </p:spPr>
        <p:txBody>
          <a:bodyPr/>
          <a:lstStyle/>
          <a:p>
            <a:endParaRPr lang="en-US"/>
          </a:p>
        </p:txBody>
      </p:sp>
      <p:sp>
        <p:nvSpPr>
          <p:cNvPr id="28" name="Text 25"/>
          <p:cNvSpPr txBox="1"/>
          <p:nvPr/>
        </p:nvSpPr>
        <p:spPr>
          <a:xfrm>
            <a:off x="4800600" y="1645920"/>
            <a:ext cx="3794760" cy="457200"/>
          </a:xfrm>
          <a:prstGeom prst="rect">
            <a:avLst/>
          </a:prstGeom>
          <a:noFill/>
          <a:ln/>
        </p:spPr>
        <p:txBody>
          <a:bodyPr wrap="square" lIns="0" tIns="0" rIns="0" bIns="0" rtlCol="0" anchor="ctr"/>
          <a:lstStyle/>
          <a:p>
            <a:pPr marL="0" indent="0">
              <a:buNone/>
            </a:pPr>
            <a:r>
              <a:rPr lang="en-US" sz="1150" b="1" dirty="0">
                <a:solidFill>
                  <a:srgbClr val="4472C4"/>
                </a:solidFill>
                <a:latin typeface="Calibri" pitchFamily="34" charset="0"/>
                <a:ea typeface="Calibri" pitchFamily="34" charset="-122"/>
                <a:cs typeface="Calibri" pitchFamily="34" charset="-120"/>
              </a:rPr>
              <a:t>Student A:  </a:t>
            </a:r>
            <a:r>
              <a:rPr lang="en-US" sz="1150" dirty="0">
                <a:solidFill>
                  <a:srgbClr val="222B36"/>
                </a:solidFill>
                <a:latin typeface="Calibri" pitchFamily="34" charset="0"/>
                <a:ea typeface="Calibri" pitchFamily="34" charset="-122"/>
                <a:cs typeface="Calibri" pitchFamily="34" charset="-120"/>
              </a:rPr>
              <a:t>It's warm, round, and usually shared with friends.</a:t>
            </a:r>
            <a:endParaRPr lang="en-US" sz="1150" dirty="0"/>
          </a:p>
        </p:txBody>
      </p:sp>
      <p:sp>
        <p:nvSpPr>
          <p:cNvPr id="29" name="Shape 26"/>
          <p:cNvSpPr/>
          <p:nvPr/>
        </p:nvSpPr>
        <p:spPr>
          <a:xfrm>
            <a:off x="4663440" y="2194560"/>
            <a:ext cx="4023360" cy="457200"/>
          </a:xfrm>
          <a:prstGeom prst="roundRect">
            <a:avLst>
              <a:gd name="adj" fmla="val 16000"/>
            </a:avLst>
          </a:prstGeom>
          <a:solidFill>
            <a:srgbClr val="FBE5D6"/>
          </a:solidFill>
          <a:ln/>
        </p:spPr>
        <p:txBody>
          <a:bodyPr/>
          <a:lstStyle/>
          <a:p>
            <a:endParaRPr lang="en-US"/>
          </a:p>
        </p:txBody>
      </p:sp>
      <p:sp>
        <p:nvSpPr>
          <p:cNvPr id="30" name="Text 27"/>
          <p:cNvSpPr txBox="1"/>
          <p:nvPr/>
        </p:nvSpPr>
        <p:spPr>
          <a:xfrm>
            <a:off x="4800600" y="2194560"/>
            <a:ext cx="3794760" cy="457200"/>
          </a:xfrm>
          <a:prstGeom prst="rect">
            <a:avLst/>
          </a:prstGeom>
          <a:noFill/>
          <a:ln/>
        </p:spPr>
        <p:txBody>
          <a:bodyPr wrap="square" lIns="0" tIns="0" rIns="0" bIns="0" rtlCol="0" anchor="ctr"/>
          <a:lstStyle/>
          <a:p>
            <a:pPr marL="0" indent="0">
              <a:buNone/>
            </a:pPr>
            <a:r>
              <a:rPr lang="en-US" sz="1150" b="1" dirty="0">
                <a:solidFill>
                  <a:srgbClr val="D8641A"/>
                </a:solidFill>
                <a:latin typeface="Calibri" pitchFamily="34" charset="0"/>
                <a:ea typeface="Calibri" pitchFamily="34" charset="-122"/>
                <a:cs typeface="Calibri" pitchFamily="34" charset="-120"/>
              </a:rPr>
              <a:t>Student B:  </a:t>
            </a:r>
            <a:r>
              <a:rPr lang="en-US" sz="1150" dirty="0">
                <a:solidFill>
                  <a:srgbClr val="222B36"/>
                </a:solidFill>
                <a:latin typeface="Calibri" pitchFamily="34" charset="0"/>
                <a:ea typeface="Calibri" pitchFamily="34" charset="-122"/>
                <a:cs typeface="Calibri" pitchFamily="34" charset="-120"/>
              </a:rPr>
              <a:t>How big is it? Is it sweet or savory?</a:t>
            </a:r>
            <a:endParaRPr lang="en-US" sz="1150" dirty="0"/>
          </a:p>
        </p:txBody>
      </p:sp>
      <p:sp>
        <p:nvSpPr>
          <p:cNvPr id="31" name="Shape 28"/>
          <p:cNvSpPr/>
          <p:nvPr/>
        </p:nvSpPr>
        <p:spPr>
          <a:xfrm>
            <a:off x="4663440" y="2743200"/>
            <a:ext cx="4023360" cy="457200"/>
          </a:xfrm>
          <a:prstGeom prst="roundRect">
            <a:avLst>
              <a:gd name="adj" fmla="val 16000"/>
            </a:avLst>
          </a:prstGeom>
          <a:solidFill>
            <a:srgbClr val="DAE3F3"/>
          </a:solidFill>
          <a:ln/>
        </p:spPr>
        <p:txBody>
          <a:bodyPr/>
          <a:lstStyle/>
          <a:p>
            <a:endParaRPr lang="en-US"/>
          </a:p>
        </p:txBody>
      </p:sp>
      <p:sp>
        <p:nvSpPr>
          <p:cNvPr id="32" name="Text 29"/>
          <p:cNvSpPr txBox="1"/>
          <p:nvPr/>
        </p:nvSpPr>
        <p:spPr>
          <a:xfrm>
            <a:off x="4800600" y="2743200"/>
            <a:ext cx="3794760" cy="457200"/>
          </a:xfrm>
          <a:prstGeom prst="rect">
            <a:avLst/>
          </a:prstGeom>
          <a:noFill/>
          <a:ln/>
        </p:spPr>
        <p:txBody>
          <a:bodyPr wrap="square" lIns="0" tIns="0" rIns="0" bIns="0" rtlCol="0" anchor="ctr"/>
          <a:lstStyle/>
          <a:p>
            <a:pPr marL="0" indent="0">
              <a:buNone/>
            </a:pPr>
            <a:r>
              <a:rPr lang="en-US" sz="1150" b="1" dirty="0">
                <a:solidFill>
                  <a:srgbClr val="4472C4"/>
                </a:solidFill>
                <a:latin typeface="Calibri" pitchFamily="34" charset="0"/>
                <a:ea typeface="Calibri" pitchFamily="34" charset="-122"/>
                <a:cs typeface="Calibri" pitchFamily="34" charset="-120"/>
              </a:rPr>
              <a:t>Student A:  </a:t>
            </a:r>
            <a:r>
              <a:rPr lang="en-US" sz="1150" dirty="0">
                <a:solidFill>
                  <a:srgbClr val="222B36"/>
                </a:solidFill>
                <a:latin typeface="Calibri" pitchFamily="34" charset="0"/>
                <a:ea typeface="Calibri" pitchFamily="34" charset="-122"/>
                <a:cs typeface="Calibri" pitchFamily="34" charset="-120"/>
              </a:rPr>
              <a:t>Savory. It has a crust and cheese on top.</a:t>
            </a:r>
            <a:endParaRPr lang="en-US" sz="1150" dirty="0"/>
          </a:p>
        </p:txBody>
      </p:sp>
      <p:sp>
        <p:nvSpPr>
          <p:cNvPr id="33" name="Shape 30"/>
          <p:cNvSpPr/>
          <p:nvPr/>
        </p:nvSpPr>
        <p:spPr>
          <a:xfrm>
            <a:off x="4663440" y="3291840"/>
            <a:ext cx="4023360" cy="594360"/>
          </a:xfrm>
          <a:prstGeom prst="roundRect">
            <a:avLst>
              <a:gd name="adj" fmla="val 12308"/>
            </a:avLst>
          </a:prstGeom>
          <a:solidFill>
            <a:srgbClr val="FBE5D6"/>
          </a:solidFill>
          <a:ln/>
        </p:spPr>
        <p:txBody>
          <a:bodyPr/>
          <a:lstStyle/>
          <a:p>
            <a:endParaRPr lang="en-US"/>
          </a:p>
        </p:txBody>
      </p:sp>
      <p:sp>
        <p:nvSpPr>
          <p:cNvPr id="34" name="Text 31"/>
          <p:cNvSpPr txBox="1"/>
          <p:nvPr/>
        </p:nvSpPr>
        <p:spPr>
          <a:xfrm>
            <a:off x="4800600" y="3291840"/>
            <a:ext cx="3794760" cy="594360"/>
          </a:xfrm>
          <a:prstGeom prst="rect">
            <a:avLst/>
          </a:prstGeom>
          <a:noFill/>
          <a:ln/>
        </p:spPr>
        <p:txBody>
          <a:bodyPr wrap="square" lIns="0" tIns="0" rIns="0" bIns="0" rtlCol="0" anchor="ctr"/>
          <a:lstStyle/>
          <a:p>
            <a:pPr marL="0" indent="0">
              <a:buNone/>
            </a:pPr>
            <a:r>
              <a:rPr lang="en-US" sz="1150" b="1" dirty="0">
                <a:solidFill>
                  <a:srgbClr val="D8641A"/>
                </a:solidFill>
                <a:latin typeface="Calibri" pitchFamily="34" charset="0"/>
                <a:ea typeface="Calibri" pitchFamily="34" charset="-122"/>
                <a:cs typeface="Calibri" pitchFamily="34" charset="-120"/>
              </a:rPr>
              <a:t>Student B:  </a:t>
            </a:r>
            <a:r>
              <a:rPr lang="en-US" sz="1150" dirty="0">
                <a:solidFill>
                  <a:srgbClr val="222B36"/>
                </a:solidFill>
                <a:latin typeface="Calibri" pitchFamily="34" charset="0"/>
                <a:ea typeface="Calibri" pitchFamily="34" charset="-122"/>
                <a:cs typeface="Calibri" pitchFamily="34" charset="-120"/>
              </a:rPr>
              <a:t>If I'm understanding you correctly, you eat it in slices. Is it pizza?</a:t>
            </a:r>
            <a:endParaRPr lang="en-US" sz="1150" dirty="0"/>
          </a:p>
        </p:txBody>
      </p:sp>
      <p:sp>
        <p:nvSpPr>
          <p:cNvPr id="35" name="Shape 32"/>
          <p:cNvSpPr/>
          <p:nvPr/>
        </p:nvSpPr>
        <p:spPr>
          <a:xfrm>
            <a:off x="4663440" y="3977640"/>
            <a:ext cx="4023360" cy="411480"/>
          </a:xfrm>
          <a:prstGeom prst="roundRect">
            <a:avLst>
              <a:gd name="adj" fmla="val 17778"/>
            </a:avLst>
          </a:prstGeom>
          <a:solidFill>
            <a:srgbClr val="DAE3F3"/>
          </a:solidFill>
          <a:ln/>
        </p:spPr>
        <p:txBody>
          <a:bodyPr/>
          <a:lstStyle/>
          <a:p>
            <a:endParaRPr lang="en-US"/>
          </a:p>
        </p:txBody>
      </p:sp>
      <p:sp>
        <p:nvSpPr>
          <p:cNvPr id="36" name="Text 33"/>
          <p:cNvSpPr txBox="1"/>
          <p:nvPr/>
        </p:nvSpPr>
        <p:spPr>
          <a:xfrm>
            <a:off x="4800600" y="3977640"/>
            <a:ext cx="3794760" cy="411480"/>
          </a:xfrm>
          <a:prstGeom prst="rect">
            <a:avLst/>
          </a:prstGeom>
          <a:noFill/>
          <a:ln/>
        </p:spPr>
        <p:txBody>
          <a:bodyPr wrap="square" lIns="0" tIns="0" rIns="0" bIns="0" rtlCol="0" anchor="ctr"/>
          <a:lstStyle/>
          <a:p>
            <a:pPr marL="0" indent="0">
              <a:buNone/>
            </a:pPr>
            <a:r>
              <a:rPr lang="en-US" sz="1150" b="1" dirty="0">
                <a:solidFill>
                  <a:srgbClr val="4472C4"/>
                </a:solidFill>
                <a:latin typeface="Calibri" pitchFamily="34" charset="0"/>
                <a:ea typeface="Calibri" pitchFamily="34" charset="-122"/>
                <a:cs typeface="Calibri" pitchFamily="34" charset="-120"/>
              </a:rPr>
              <a:t>Student A:  </a:t>
            </a:r>
            <a:r>
              <a:rPr lang="en-US" sz="1150" dirty="0">
                <a:solidFill>
                  <a:srgbClr val="222B36"/>
                </a:solidFill>
                <a:latin typeface="Calibri" pitchFamily="34" charset="0"/>
                <a:ea typeface="Calibri" pitchFamily="34" charset="-122"/>
                <a:cs typeface="Calibri" pitchFamily="34" charset="-120"/>
              </a:rPr>
              <a:t>Yes! You got it.</a:t>
            </a:r>
            <a:endParaRPr lang="en-US" sz="1150" dirty="0"/>
          </a:p>
        </p:txBody>
      </p:sp>
      <p:sp>
        <p:nvSpPr>
          <p:cNvPr id="37" name="Text 34"/>
          <p:cNvSpPr txBox="1"/>
          <p:nvPr/>
        </p:nvSpPr>
        <p:spPr>
          <a:xfrm>
            <a:off x="457200" y="4590288"/>
            <a:ext cx="8229600" cy="256032"/>
          </a:xfrm>
          <a:prstGeom prst="rect">
            <a:avLst/>
          </a:prstGeom>
          <a:noFill/>
          <a:ln/>
        </p:spPr>
        <p:txBody>
          <a:bodyPr wrap="square" lIns="0" tIns="0" rIns="0" bIns="0" rtlCol="0" anchor="t"/>
          <a:lstStyle/>
          <a:p>
            <a:pPr marL="0" indent="0">
              <a:buNone/>
            </a:pPr>
            <a:r>
              <a:rPr lang="en-US" sz="1150" i="1" dirty="0">
                <a:solidFill>
                  <a:srgbClr val="66758A"/>
                </a:solidFill>
                <a:latin typeface="Calibri" pitchFamily="34" charset="0"/>
                <a:ea typeface="Calibri" pitchFamily="34" charset="-122"/>
                <a:cs typeface="Calibri" pitchFamily="34" charset="-120"/>
              </a:rPr>
              <a:t>Tip: time each round, and give a small prize to the best listener.</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PRACTICE · ACTIVE LISTENING</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Mystery Speaker: topic cards</a:t>
            </a:r>
            <a:endParaRPr lang="en-US" sz="3000" dirty="0"/>
          </a:p>
        </p:txBody>
      </p:sp>
      <p:sp>
        <p:nvSpPr>
          <p:cNvPr id="6" name="Shape 3"/>
          <p:cNvSpPr/>
          <p:nvPr/>
        </p:nvSpPr>
        <p:spPr>
          <a:xfrm>
            <a:off x="457200" y="1234440"/>
            <a:ext cx="1554480" cy="658368"/>
          </a:xfrm>
          <a:prstGeom prst="roundRect">
            <a:avLst>
              <a:gd name="adj" fmla="val 11111"/>
            </a:avLst>
          </a:prstGeom>
          <a:solidFill>
            <a:srgbClr val="FBE5D6"/>
          </a:solidFill>
          <a:ln/>
        </p:spPr>
        <p:txBody>
          <a:bodyPr/>
          <a:lstStyle/>
          <a:p>
            <a:endParaRPr lang="en-US"/>
          </a:p>
        </p:txBody>
      </p:sp>
      <p:sp>
        <p:nvSpPr>
          <p:cNvPr id="7" name="Text 4"/>
          <p:cNvSpPr txBox="1"/>
          <p:nvPr/>
        </p:nvSpPr>
        <p:spPr>
          <a:xfrm>
            <a:off x="530352" y="1234440"/>
            <a:ext cx="1408176" cy="658368"/>
          </a:xfrm>
          <a:prstGeom prst="rect">
            <a:avLst/>
          </a:prstGeom>
          <a:noFill/>
          <a:ln/>
        </p:spPr>
        <p:txBody>
          <a:bodyPr wrap="square" lIns="0" tIns="0" rIns="0" bIns="0" rtlCol="0" anchor="ctr"/>
          <a:lstStyle/>
          <a:p>
            <a:pPr marL="0" indent="0" algn="ctr">
              <a:buNone/>
            </a:pPr>
            <a:r>
              <a:rPr lang="en-US" sz="1100" b="1" dirty="0">
                <a:solidFill>
                  <a:srgbClr val="222B36"/>
                </a:solidFill>
                <a:latin typeface="Calibri" pitchFamily="34" charset="0"/>
                <a:ea typeface="Calibri" pitchFamily="34" charset="-122"/>
                <a:cs typeface="Calibri" pitchFamily="34" charset="-120"/>
              </a:rPr>
              <a:t>Your dream holiday destination</a:t>
            </a:r>
            <a:endParaRPr lang="en-US" sz="1100" dirty="0"/>
          </a:p>
        </p:txBody>
      </p:sp>
      <p:sp>
        <p:nvSpPr>
          <p:cNvPr id="8" name="Shape 5"/>
          <p:cNvSpPr/>
          <p:nvPr/>
        </p:nvSpPr>
        <p:spPr>
          <a:xfrm>
            <a:off x="2125980" y="1234440"/>
            <a:ext cx="1554480" cy="658368"/>
          </a:xfrm>
          <a:prstGeom prst="roundRect">
            <a:avLst>
              <a:gd name="adj" fmla="val 11111"/>
            </a:avLst>
          </a:prstGeom>
          <a:solidFill>
            <a:srgbClr val="DAE3F3"/>
          </a:solidFill>
          <a:ln/>
        </p:spPr>
        <p:txBody>
          <a:bodyPr/>
          <a:lstStyle/>
          <a:p>
            <a:endParaRPr lang="en-US"/>
          </a:p>
        </p:txBody>
      </p:sp>
      <p:sp>
        <p:nvSpPr>
          <p:cNvPr id="9" name="Text 6"/>
          <p:cNvSpPr txBox="1"/>
          <p:nvPr/>
        </p:nvSpPr>
        <p:spPr>
          <a:xfrm>
            <a:off x="2199132" y="1234440"/>
            <a:ext cx="1408176" cy="658368"/>
          </a:xfrm>
          <a:prstGeom prst="rect">
            <a:avLst/>
          </a:prstGeom>
          <a:noFill/>
          <a:ln/>
        </p:spPr>
        <p:txBody>
          <a:bodyPr wrap="square" lIns="0" tIns="0" rIns="0" bIns="0" rtlCol="0" anchor="ctr"/>
          <a:lstStyle/>
          <a:p>
            <a:pPr marL="0" indent="0" algn="ctr">
              <a:buNone/>
            </a:pPr>
            <a:r>
              <a:rPr lang="en-US" sz="1100" b="1" dirty="0">
                <a:solidFill>
                  <a:srgbClr val="222B36"/>
                </a:solidFill>
                <a:latin typeface="Calibri" pitchFamily="34" charset="0"/>
                <a:ea typeface="Calibri" pitchFamily="34" charset="-122"/>
                <a:cs typeface="Calibri" pitchFamily="34" charset="-120"/>
              </a:rPr>
              <a:t>Your favorite movie</a:t>
            </a:r>
            <a:endParaRPr lang="en-US" sz="1100" dirty="0"/>
          </a:p>
        </p:txBody>
      </p:sp>
      <p:sp>
        <p:nvSpPr>
          <p:cNvPr id="10" name="Shape 7"/>
          <p:cNvSpPr/>
          <p:nvPr/>
        </p:nvSpPr>
        <p:spPr>
          <a:xfrm>
            <a:off x="3794760" y="1234440"/>
            <a:ext cx="1554480" cy="658368"/>
          </a:xfrm>
          <a:prstGeom prst="roundRect">
            <a:avLst>
              <a:gd name="adj" fmla="val 11111"/>
            </a:avLst>
          </a:prstGeom>
          <a:solidFill>
            <a:srgbClr val="FFF2CC"/>
          </a:solidFill>
          <a:ln/>
        </p:spPr>
        <p:txBody>
          <a:bodyPr/>
          <a:lstStyle/>
          <a:p>
            <a:endParaRPr lang="en-US"/>
          </a:p>
        </p:txBody>
      </p:sp>
      <p:sp>
        <p:nvSpPr>
          <p:cNvPr id="11" name="Text 8"/>
          <p:cNvSpPr txBox="1"/>
          <p:nvPr/>
        </p:nvSpPr>
        <p:spPr>
          <a:xfrm>
            <a:off x="3867912" y="1234440"/>
            <a:ext cx="1408176" cy="658368"/>
          </a:xfrm>
          <a:prstGeom prst="rect">
            <a:avLst/>
          </a:prstGeom>
          <a:noFill/>
          <a:ln/>
        </p:spPr>
        <p:txBody>
          <a:bodyPr wrap="square" lIns="0" tIns="0" rIns="0" bIns="0" rtlCol="0" anchor="ctr"/>
          <a:lstStyle/>
          <a:p>
            <a:pPr marL="0" indent="0" algn="ctr">
              <a:buNone/>
            </a:pPr>
            <a:r>
              <a:rPr lang="en-US" sz="1100" b="1" dirty="0">
                <a:solidFill>
                  <a:srgbClr val="222B36"/>
                </a:solidFill>
                <a:latin typeface="Calibri" pitchFamily="34" charset="0"/>
                <a:ea typeface="Calibri" pitchFamily="34" charset="-122"/>
                <a:cs typeface="Calibri" pitchFamily="34" charset="-120"/>
              </a:rPr>
              <a:t>A pet you love or would like</a:t>
            </a:r>
            <a:endParaRPr lang="en-US" sz="1100" dirty="0"/>
          </a:p>
        </p:txBody>
      </p:sp>
      <p:sp>
        <p:nvSpPr>
          <p:cNvPr id="12" name="Shape 9"/>
          <p:cNvSpPr/>
          <p:nvPr/>
        </p:nvSpPr>
        <p:spPr>
          <a:xfrm>
            <a:off x="5463540" y="1234440"/>
            <a:ext cx="1554480" cy="658368"/>
          </a:xfrm>
          <a:prstGeom prst="roundRect">
            <a:avLst>
              <a:gd name="adj" fmla="val 11111"/>
            </a:avLst>
          </a:prstGeom>
          <a:solidFill>
            <a:srgbClr val="FBE5D6"/>
          </a:solidFill>
          <a:ln/>
        </p:spPr>
        <p:txBody>
          <a:bodyPr/>
          <a:lstStyle/>
          <a:p>
            <a:endParaRPr lang="en-US"/>
          </a:p>
        </p:txBody>
      </p:sp>
      <p:sp>
        <p:nvSpPr>
          <p:cNvPr id="13" name="Text 10"/>
          <p:cNvSpPr txBox="1"/>
          <p:nvPr/>
        </p:nvSpPr>
        <p:spPr>
          <a:xfrm>
            <a:off x="5536692" y="1234440"/>
            <a:ext cx="1408176" cy="658368"/>
          </a:xfrm>
          <a:prstGeom prst="rect">
            <a:avLst/>
          </a:prstGeom>
          <a:noFill/>
          <a:ln/>
        </p:spPr>
        <p:txBody>
          <a:bodyPr wrap="square" lIns="0" tIns="0" rIns="0" bIns="0" rtlCol="0" anchor="ctr"/>
          <a:lstStyle/>
          <a:p>
            <a:pPr marL="0" indent="0" algn="ctr">
              <a:buNone/>
            </a:pPr>
            <a:r>
              <a:rPr lang="en-US" sz="1100" b="1" dirty="0">
                <a:solidFill>
                  <a:srgbClr val="222B36"/>
                </a:solidFill>
                <a:latin typeface="Calibri" pitchFamily="34" charset="0"/>
                <a:ea typeface="Calibri" pitchFamily="34" charset="-122"/>
                <a:cs typeface="Calibri" pitchFamily="34" charset="-120"/>
              </a:rPr>
              <a:t>A hobby you enjoy</a:t>
            </a:r>
            <a:endParaRPr lang="en-US" sz="1100" dirty="0"/>
          </a:p>
        </p:txBody>
      </p:sp>
      <p:sp>
        <p:nvSpPr>
          <p:cNvPr id="14" name="Shape 11"/>
          <p:cNvSpPr/>
          <p:nvPr/>
        </p:nvSpPr>
        <p:spPr>
          <a:xfrm>
            <a:off x="7132320" y="1234440"/>
            <a:ext cx="1554480" cy="658368"/>
          </a:xfrm>
          <a:prstGeom prst="roundRect">
            <a:avLst>
              <a:gd name="adj" fmla="val 11111"/>
            </a:avLst>
          </a:prstGeom>
          <a:solidFill>
            <a:srgbClr val="DAE3F3"/>
          </a:solidFill>
          <a:ln/>
        </p:spPr>
        <p:txBody>
          <a:bodyPr/>
          <a:lstStyle/>
          <a:p>
            <a:endParaRPr lang="en-US"/>
          </a:p>
        </p:txBody>
      </p:sp>
      <p:sp>
        <p:nvSpPr>
          <p:cNvPr id="15" name="Text 12"/>
          <p:cNvSpPr txBox="1"/>
          <p:nvPr/>
        </p:nvSpPr>
        <p:spPr>
          <a:xfrm>
            <a:off x="7205472" y="1234440"/>
            <a:ext cx="1408176" cy="658368"/>
          </a:xfrm>
          <a:prstGeom prst="rect">
            <a:avLst/>
          </a:prstGeom>
          <a:noFill/>
          <a:ln/>
        </p:spPr>
        <p:txBody>
          <a:bodyPr wrap="square" lIns="0" tIns="0" rIns="0" bIns="0" rtlCol="0" anchor="ctr"/>
          <a:lstStyle/>
          <a:p>
            <a:pPr marL="0" indent="0" algn="ctr">
              <a:buNone/>
            </a:pPr>
            <a:r>
              <a:rPr lang="en-US" sz="1100" b="1" dirty="0">
                <a:solidFill>
                  <a:srgbClr val="222B36"/>
                </a:solidFill>
                <a:latin typeface="Calibri" pitchFamily="34" charset="0"/>
                <a:ea typeface="Calibri" pitchFamily="34" charset="-122"/>
                <a:cs typeface="Calibri" pitchFamily="34" charset="-120"/>
              </a:rPr>
              <a:t>Your favorite food</a:t>
            </a:r>
            <a:endParaRPr lang="en-US" sz="1100" dirty="0"/>
          </a:p>
        </p:txBody>
      </p:sp>
      <p:sp>
        <p:nvSpPr>
          <p:cNvPr id="16" name="Shape 13"/>
          <p:cNvSpPr/>
          <p:nvPr/>
        </p:nvSpPr>
        <p:spPr>
          <a:xfrm>
            <a:off x="457200" y="2002536"/>
            <a:ext cx="1554480" cy="658368"/>
          </a:xfrm>
          <a:prstGeom prst="roundRect">
            <a:avLst>
              <a:gd name="adj" fmla="val 11111"/>
            </a:avLst>
          </a:prstGeom>
          <a:solidFill>
            <a:srgbClr val="FFF2CC"/>
          </a:solidFill>
          <a:ln/>
        </p:spPr>
        <p:txBody>
          <a:bodyPr/>
          <a:lstStyle/>
          <a:p>
            <a:endParaRPr lang="en-US"/>
          </a:p>
        </p:txBody>
      </p:sp>
      <p:sp>
        <p:nvSpPr>
          <p:cNvPr id="17" name="Text 14"/>
          <p:cNvSpPr txBox="1"/>
          <p:nvPr/>
        </p:nvSpPr>
        <p:spPr>
          <a:xfrm>
            <a:off x="530352" y="2002536"/>
            <a:ext cx="1408176" cy="658368"/>
          </a:xfrm>
          <a:prstGeom prst="rect">
            <a:avLst/>
          </a:prstGeom>
          <a:noFill/>
          <a:ln/>
        </p:spPr>
        <p:txBody>
          <a:bodyPr wrap="square" lIns="0" tIns="0" rIns="0" bIns="0" rtlCol="0" anchor="ctr"/>
          <a:lstStyle/>
          <a:p>
            <a:pPr marL="0" indent="0" algn="ctr">
              <a:buNone/>
            </a:pPr>
            <a:r>
              <a:rPr lang="en-US" sz="1100" b="1" dirty="0">
                <a:solidFill>
                  <a:srgbClr val="222B36"/>
                </a:solidFill>
                <a:latin typeface="Calibri" pitchFamily="34" charset="0"/>
                <a:ea typeface="Calibri" pitchFamily="34" charset="-122"/>
                <a:cs typeface="Calibri" pitchFamily="34" charset="-120"/>
              </a:rPr>
              <a:t>A place you want to visit</a:t>
            </a:r>
            <a:endParaRPr lang="en-US" sz="1100" dirty="0"/>
          </a:p>
        </p:txBody>
      </p:sp>
      <p:sp>
        <p:nvSpPr>
          <p:cNvPr id="18" name="Shape 15"/>
          <p:cNvSpPr/>
          <p:nvPr/>
        </p:nvSpPr>
        <p:spPr>
          <a:xfrm>
            <a:off x="2125980" y="2002536"/>
            <a:ext cx="1554480" cy="658368"/>
          </a:xfrm>
          <a:prstGeom prst="roundRect">
            <a:avLst>
              <a:gd name="adj" fmla="val 11111"/>
            </a:avLst>
          </a:prstGeom>
          <a:solidFill>
            <a:srgbClr val="FBE5D6"/>
          </a:solidFill>
          <a:ln/>
        </p:spPr>
        <p:txBody>
          <a:bodyPr/>
          <a:lstStyle/>
          <a:p>
            <a:endParaRPr lang="en-US"/>
          </a:p>
        </p:txBody>
      </p:sp>
      <p:sp>
        <p:nvSpPr>
          <p:cNvPr id="19" name="Text 16"/>
          <p:cNvSpPr txBox="1"/>
          <p:nvPr/>
        </p:nvSpPr>
        <p:spPr>
          <a:xfrm>
            <a:off x="2199132" y="2002536"/>
            <a:ext cx="1408176" cy="658368"/>
          </a:xfrm>
          <a:prstGeom prst="rect">
            <a:avLst/>
          </a:prstGeom>
          <a:noFill/>
          <a:ln/>
        </p:spPr>
        <p:txBody>
          <a:bodyPr wrap="square" lIns="0" tIns="0" rIns="0" bIns="0" rtlCol="0" anchor="ctr"/>
          <a:lstStyle/>
          <a:p>
            <a:pPr marL="0" indent="0" algn="ctr">
              <a:buNone/>
            </a:pPr>
            <a:r>
              <a:rPr lang="en-US" sz="1100" b="1" dirty="0">
                <a:solidFill>
                  <a:srgbClr val="222B36"/>
                </a:solidFill>
                <a:latin typeface="Calibri" pitchFamily="34" charset="0"/>
                <a:ea typeface="Calibri" pitchFamily="34" charset="-122"/>
                <a:cs typeface="Calibri" pitchFamily="34" charset="-120"/>
              </a:rPr>
              <a:t>A person who inspires you</a:t>
            </a:r>
            <a:endParaRPr lang="en-US" sz="1100" dirty="0"/>
          </a:p>
        </p:txBody>
      </p:sp>
      <p:sp>
        <p:nvSpPr>
          <p:cNvPr id="20" name="Shape 17"/>
          <p:cNvSpPr/>
          <p:nvPr/>
        </p:nvSpPr>
        <p:spPr>
          <a:xfrm>
            <a:off x="3794760" y="2002536"/>
            <a:ext cx="1554480" cy="658368"/>
          </a:xfrm>
          <a:prstGeom prst="roundRect">
            <a:avLst>
              <a:gd name="adj" fmla="val 11111"/>
            </a:avLst>
          </a:prstGeom>
          <a:solidFill>
            <a:srgbClr val="DAE3F3"/>
          </a:solidFill>
          <a:ln/>
        </p:spPr>
        <p:txBody>
          <a:bodyPr/>
          <a:lstStyle/>
          <a:p>
            <a:endParaRPr lang="en-US"/>
          </a:p>
        </p:txBody>
      </p:sp>
      <p:sp>
        <p:nvSpPr>
          <p:cNvPr id="21" name="Text 18"/>
          <p:cNvSpPr txBox="1"/>
          <p:nvPr/>
        </p:nvSpPr>
        <p:spPr>
          <a:xfrm>
            <a:off x="3867912" y="2002536"/>
            <a:ext cx="1408176" cy="658368"/>
          </a:xfrm>
          <a:prstGeom prst="rect">
            <a:avLst/>
          </a:prstGeom>
          <a:noFill/>
          <a:ln/>
        </p:spPr>
        <p:txBody>
          <a:bodyPr wrap="square" lIns="0" tIns="0" rIns="0" bIns="0" rtlCol="0" anchor="ctr"/>
          <a:lstStyle/>
          <a:p>
            <a:pPr marL="0" indent="0" algn="ctr">
              <a:buNone/>
            </a:pPr>
            <a:r>
              <a:rPr lang="en-US" sz="1100" b="1" dirty="0">
                <a:solidFill>
                  <a:srgbClr val="222B36"/>
                </a:solidFill>
                <a:latin typeface="Calibri" pitchFamily="34" charset="0"/>
                <a:ea typeface="Calibri" pitchFamily="34" charset="-122"/>
                <a:cs typeface="Calibri" pitchFamily="34" charset="-120"/>
              </a:rPr>
              <a:t>Your weekend plans</a:t>
            </a:r>
            <a:endParaRPr lang="en-US" sz="1100" dirty="0"/>
          </a:p>
        </p:txBody>
      </p:sp>
      <p:sp>
        <p:nvSpPr>
          <p:cNvPr id="22" name="Shape 19"/>
          <p:cNvSpPr/>
          <p:nvPr/>
        </p:nvSpPr>
        <p:spPr>
          <a:xfrm>
            <a:off x="5463540" y="2002536"/>
            <a:ext cx="1554480" cy="658368"/>
          </a:xfrm>
          <a:prstGeom prst="roundRect">
            <a:avLst>
              <a:gd name="adj" fmla="val 11111"/>
            </a:avLst>
          </a:prstGeom>
          <a:solidFill>
            <a:srgbClr val="FFF2CC"/>
          </a:solidFill>
          <a:ln/>
        </p:spPr>
        <p:txBody>
          <a:bodyPr/>
          <a:lstStyle/>
          <a:p>
            <a:endParaRPr lang="en-US"/>
          </a:p>
        </p:txBody>
      </p:sp>
      <p:sp>
        <p:nvSpPr>
          <p:cNvPr id="23" name="Text 20"/>
          <p:cNvSpPr txBox="1"/>
          <p:nvPr/>
        </p:nvSpPr>
        <p:spPr>
          <a:xfrm>
            <a:off x="5536692" y="2002536"/>
            <a:ext cx="1408176" cy="658368"/>
          </a:xfrm>
          <a:prstGeom prst="rect">
            <a:avLst/>
          </a:prstGeom>
          <a:noFill/>
          <a:ln/>
        </p:spPr>
        <p:txBody>
          <a:bodyPr wrap="square" lIns="0" tIns="0" rIns="0" bIns="0" rtlCol="0" anchor="ctr"/>
          <a:lstStyle/>
          <a:p>
            <a:pPr marL="0" indent="0" algn="ctr">
              <a:buNone/>
            </a:pPr>
            <a:r>
              <a:rPr lang="en-US" sz="1100" b="1" dirty="0">
                <a:solidFill>
                  <a:srgbClr val="222B36"/>
                </a:solidFill>
                <a:latin typeface="Calibri" pitchFamily="34" charset="0"/>
                <a:ea typeface="Calibri" pitchFamily="34" charset="-122"/>
                <a:cs typeface="Calibri" pitchFamily="34" charset="-120"/>
              </a:rPr>
              <a:t>A childhood memory</a:t>
            </a:r>
            <a:endParaRPr lang="en-US" sz="1100" dirty="0"/>
          </a:p>
        </p:txBody>
      </p:sp>
      <p:sp>
        <p:nvSpPr>
          <p:cNvPr id="24" name="Shape 21"/>
          <p:cNvSpPr/>
          <p:nvPr/>
        </p:nvSpPr>
        <p:spPr>
          <a:xfrm>
            <a:off x="7132320" y="2002536"/>
            <a:ext cx="1554480" cy="658368"/>
          </a:xfrm>
          <a:prstGeom prst="roundRect">
            <a:avLst>
              <a:gd name="adj" fmla="val 11111"/>
            </a:avLst>
          </a:prstGeom>
          <a:solidFill>
            <a:srgbClr val="FBE5D6"/>
          </a:solidFill>
          <a:ln/>
        </p:spPr>
        <p:txBody>
          <a:bodyPr/>
          <a:lstStyle/>
          <a:p>
            <a:endParaRPr lang="en-US"/>
          </a:p>
        </p:txBody>
      </p:sp>
      <p:sp>
        <p:nvSpPr>
          <p:cNvPr id="25" name="Text 22"/>
          <p:cNvSpPr txBox="1"/>
          <p:nvPr/>
        </p:nvSpPr>
        <p:spPr>
          <a:xfrm>
            <a:off x="7205472" y="2002536"/>
            <a:ext cx="1408176" cy="658368"/>
          </a:xfrm>
          <a:prstGeom prst="rect">
            <a:avLst/>
          </a:prstGeom>
          <a:noFill/>
          <a:ln/>
        </p:spPr>
        <p:txBody>
          <a:bodyPr wrap="square" lIns="0" tIns="0" rIns="0" bIns="0" rtlCol="0" anchor="ctr"/>
          <a:lstStyle/>
          <a:p>
            <a:pPr marL="0" indent="0" algn="ctr">
              <a:buNone/>
            </a:pPr>
            <a:r>
              <a:rPr lang="en-US" sz="1100" b="1" dirty="0">
                <a:solidFill>
                  <a:srgbClr val="222B36"/>
                </a:solidFill>
                <a:latin typeface="Calibri" pitchFamily="34" charset="0"/>
                <a:ea typeface="Calibri" pitchFamily="34" charset="-122"/>
                <a:cs typeface="Calibri" pitchFamily="34" charset="-120"/>
              </a:rPr>
              <a:t>Your dream job</a:t>
            </a:r>
            <a:endParaRPr lang="en-US" sz="1100" dirty="0"/>
          </a:p>
        </p:txBody>
      </p:sp>
      <p:sp>
        <p:nvSpPr>
          <p:cNvPr id="26" name="Shape 23"/>
          <p:cNvSpPr/>
          <p:nvPr/>
        </p:nvSpPr>
        <p:spPr>
          <a:xfrm>
            <a:off x="457200" y="2770632"/>
            <a:ext cx="1554480" cy="658368"/>
          </a:xfrm>
          <a:prstGeom prst="roundRect">
            <a:avLst>
              <a:gd name="adj" fmla="val 11111"/>
            </a:avLst>
          </a:prstGeom>
          <a:solidFill>
            <a:srgbClr val="DAE3F3"/>
          </a:solidFill>
          <a:ln/>
        </p:spPr>
        <p:txBody>
          <a:bodyPr/>
          <a:lstStyle/>
          <a:p>
            <a:endParaRPr lang="en-US"/>
          </a:p>
        </p:txBody>
      </p:sp>
      <p:sp>
        <p:nvSpPr>
          <p:cNvPr id="27" name="Text 24"/>
          <p:cNvSpPr txBox="1"/>
          <p:nvPr/>
        </p:nvSpPr>
        <p:spPr>
          <a:xfrm>
            <a:off x="530352" y="2770632"/>
            <a:ext cx="1408176" cy="658368"/>
          </a:xfrm>
          <a:prstGeom prst="rect">
            <a:avLst/>
          </a:prstGeom>
          <a:noFill/>
          <a:ln/>
        </p:spPr>
        <p:txBody>
          <a:bodyPr wrap="square" lIns="0" tIns="0" rIns="0" bIns="0" rtlCol="0" anchor="ctr"/>
          <a:lstStyle/>
          <a:p>
            <a:pPr marL="0" indent="0" algn="ctr">
              <a:buNone/>
            </a:pPr>
            <a:r>
              <a:rPr lang="en-US" sz="1100" b="1" dirty="0">
                <a:solidFill>
                  <a:srgbClr val="222B36"/>
                </a:solidFill>
                <a:latin typeface="Calibri" pitchFamily="34" charset="0"/>
                <a:ea typeface="Calibri" pitchFamily="34" charset="-122"/>
                <a:cs typeface="Calibri" pitchFamily="34" charset="-120"/>
              </a:rPr>
              <a:t>A sport you like</a:t>
            </a:r>
            <a:endParaRPr lang="en-US" sz="1100" dirty="0"/>
          </a:p>
        </p:txBody>
      </p:sp>
      <p:sp>
        <p:nvSpPr>
          <p:cNvPr id="28" name="Shape 25"/>
          <p:cNvSpPr/>
          <p:nvPr/>
        </p:nvSpPr>
        <p:spPr>
          <a:xfrm>
            <a:off x="2125980" y="2770632"/>
            <a:ext cx="1554480" cy="658368"/>
          </a:xfrm>
          <a:prstGeom prst="roundRect">
            <a:avLst>
              <a:gd name="adj" fmla="val 11111"/>
            </a:avLst>
          </a:prstGeom>
          <a:solidFill>
            <a:srgbClr val="FFF2CC"/>
          </a:solidFill>
          <a:ln/>
        </p:spPr>
        <p:txBody>
          <a:bodyPr/>
          <a:lstStyle/>
          <a:p>
            <a:endParaRPr lang="en-US"/>
          </a:p>
        </p:txBody>
      </p:sp>
      <p:sp>
        <p:nvSpPr>
          <p:cNvPr id="29" name="Text 26"/>
          <p:cNvSpPr txBox="1"/>
          <p:nvPr/>
        </p:nvSpPr>
        <p:spPr>
          <a:xfrm>
            <a:off x="2199132" y="2770632"/>
            <a:ext cx="1408176" cy="658368"/>
          </a:xfrm>
          <a:prstGeom prst="rect">
            <a:avLst/>
          </a:prstGeom>
          <a:noFill/>
          <a:ln/>
        </p:spPr>
        <p:txBody>
          <a:bodyPr wrap="square" lIns="0" tIns="0" rIns="0" bIns="0" rtlCol="0" anchor="ctr"/>
          <a:lstStyle/>
          <a:p>
            <a:pPr marL="0" indent="0" algn="ctr">
              <a:buNone/>
            </a:pPr>
            <a:r>
              <a:rPr lang="en-US" sz="1100" b="1" dirty="0">
                <a:solidFill>
                  <a:srgbClr val="222B36"/>
                </a:solidFill>
                <a:latin typeface="Calibri" pitchFamily="34" charset="0"/>
                <a:ea typeface="Calibri" pitchFamily="34" charset="-122"/>
                <a:cs typeface="Calibri" pitchFamily="34" charset="-120"/>
              </a:rPr>
              <a:t>A book you recently read</a:t>
            </a:r>
            <a:endParaRPr lang="en-US" sz="1100" dirty="0"/>
          </a:p>
        </p:txBody>
      </p:sp>
      <p:sp>
        <p:nvSpPr>
          <p:cNvPr id="30" name="Shape 27"/>
          <p:cNvSpPr/>
          <p:nvPr/>
        </p:nvSpPr>
        <p:spPr>
          <a:xfrm>
            <a:off x="3794760" y="2770632"/>
            <a:ext cx="1554480" cy="658368"/>
          </a:xfrm>
          <a:prstGeom prst="roundRect">
            <a:avLst>
              <a:gd name="adj" fmla="val 11111"/>
            </a:avLst>
          </a:prstGeom>
          <a:solidFill>
            <a:srgbClr val="FBE5D6"/>
          </a:solidFill>
          <a:ln/>
        </p:spPr>
        <p:txBody>
          <a:bodyPr/>
          <a:lstStyle/>
          <a:p>
            <a:endParaRPr lang="en-US"/>
          </a:p>
        </p:txBody>
      </p:sp>
      <p:sp>
        <p:nvSpPr>
          <p:cNvPr id="31" name="Text 28"/>
          <p:cNvSpPr txBox="1"/>
          <p:nvPr/>
        </p:nvSpPr>
        <p:spPr>
          <a:xfrm>
            <a:off x="3867912" y="2770632"/>
            <a:ext cx="1408176" cy="658368"/>
          </a:xfrm>
          <a:prstGeom prst="rect">
            <a:avLst/>
          </a:prstGeom>
          <a:noFill/>
          <a:ln/>
        </p:spPr>
        <p:txBody>
          <a:bodyPr wrap="square" lIns="0" tIns="0" rIns="0" bIns="0" rtlCol="0" anchor="ctr"/>
          <a:lstStyle/>
          <a:p>
            <a:pPr marL="0" indent="0" algn="ctr">
              <a:buNone/>
            </a:pPr>
            <a:r>
              <a:rPr lang="en-US" sz="1100" b="1" dirty="0">
                <a:solidFill>
                  <a:srgbClr val="222B36"/>
                </a:solidFill>
                <a:latin typeface="Calibri" pitchFamily="34" charset="0"/>
                <a:ea typeface="Calibri" pitchFamily="34" charset="-122"/>
                <a:cs typeface="Calibri" pitchFamily="34" charset="-120"/>
              </a:rPr>
              <a:t>Your favorite season and why</a:t>
            </a:r>
            <a:endParaRPr lang="en-US" sz="1100" dirty="0"/>
          </a:p>
        </p:txBody>
      </p:sp>
      <p:sp>
        <p:nvSpPr>
          <p:cNvPr id="32" name="Shape 29"/>
          <p:cNvSpPr/>
          <p:nvPr/>
        </p:nvSpPr>
        <p:spPr>
          <a:xfrm>
            <a:off x="5463540" y="2770632"/>
            <a:ext cx="1554480" cy="658368"/>
          </a:xfrm>
          <a:prstGeom prst="roundRect">
            <a:avLst>
              <a:gd name="adj" fmla="val 11111"/>
            </a:avLst>
          </a:prstGeom>
          <a:solidFill>
            <a:srgbClr val="DAE3F3"/>
          </a:solidFill>
          <a:ln/>
        </p:spPr>
        <p:txBody>
          <a:bodyPr/>
          <a:lstStyle/>
          <a:p>
            <a:endParaRPr lang="en-US"/>
          </a:p>
        </p:txBody>
      </p:sp>
      <p:sp>
        <p:nvSpPr>
          <p:cNvPr id="33" name="Text 30"/>
          <p:cNvSpPr txBox="1"/>
          <p:nvPr/>
        </p:nvSpPr>
        <p:spPr>
          <a:xfrm>
            <a:off x="5536692" y="2770632"/>
            <a:ext cx="1408176" cy="658368"/>
          </a:xfrm>
          <a:prstGeom prst="rect">
            <a:avLst/>
          </a:prstGeom>
          <a:noFill/>
          <a:ln/>
        </p:spPr>
        <p:txBody>
          <a:bodyPr wrap="square" lIns="0" tIns="0" rIns="0" bIns="0" rtlCol="0" anchor="ctr"/>
          <a:lstStyle/>
          <a:p>
            <a:pPr marL="0" indent="0" algn="ctr">
              <a:buNone/>
            </a:pPr>
            <a:r>
              <a:rPr lang="en-US" sz="1100" b="1" dirty="0">
                <a:solidFill>
                  <a:srgbClr val="222B36"/>
                </a:solidFill>
                <a:latin typeface="Calibri" pitchFamily="34" charset="0"/>
                <a:ea typeface="Calibri" pitchFamily="34" charset="-122"/>
                <a:cs typeface="Calibri" pitchFamily="34" charset="-120"/>
              </a:rPr>
              <a:t>A funny or strange experience</a:t>
            </a:r>
            <a:endParaRPr lang="en-US" sz="1100" dirty="0"/>
          </a:p>
        </p:txBody>
      </p:sp>
      <p:sp>
        <p:nvSpPr>
          <p:cNvPr id="34" name="Shape 31"/>
          <p:cNvSpPr/>
          <p:nvPr/>
        </p:nvSpPr>
        <p:spPr>
          <a:xfrm>
            <a:off x="7132320" y="2770632"/>
            <a:ext cx="1554480" cy="658368"/>
          </a:xfrm>
          <a:prstGeom prst="roundRect">
            <a:avLst>
              <a:gd name="adj" fmla="val 11111"/>
            </a:avLst>
          </a:prstGeom>
          <a:solidFill>
            <a:srgbClr val="FFF2CC"/>
          </a:solidFill>
          <a:ln/>
        </p:spPr>
        <p:txBody>
          <a:bodyPr/>
          <a:lstStyle/>
          <a:p>
            <a:endParaRPr lang="en-US"/>
          </a:p>
        </p:txBody>
      </p:sp>
      <p:sp>
        <p:nvSpPr>
          <p:cNvPr id="35" name="Text 32"/>
          <p:cNvSpPr txBox="1"/>
          <p:nvPr/>
        </p:nvSpPr>
        <p:spPr>
          <a:xfrm>
            <a:off x="7205472" y="2770632"/>
            <a:ext cx="1408176" cy="658368"/>
          </a:xfrm>
          <a:prstGeom prst="rect">
            <a:avLst/>
          </a:prstGeom>
          <a:noFill/>
          <a:ln/>
        </p:spPr>
        <p:txBody>
          <a:bodyPr wrap="square" lIns="0" tIns="0" rIns="0" bIns="0" rtlCol="0" anchor="ctr"/>
          <a:lstStyle/>
          <a:p>
            <a:pPr marL="0" indent="0" algn="ctr">
              <a:buNone/>
            </a:pPr>
            <a:r>
              <a:rPr lang="en-US" sz="1100" b="1" dirty="0">
                <a:solidFill>
                  <a:srgbClr val="222B36"/>
                </a:solidFill>
                <a:latin typeface="Calibri" pitchFamily="34" charset="0"/>
                <a:ea typeface="Calibri" pitchFamily="34" charset="-122"/>
                <a:cs typeface="Calibri" pitchFamily="34" charset="-120"/>
              </a:rPr>
              <a:t>Your favorite teacher or class</a:t>
            </a:r>
            <a:endParaRPr lang="en-US" sz="1100" dirty="0"/>
          </a:p>
        </p:txBody>
      </p:sp>
      <p:sp>
        <p:nvSpPr>
          <p:cNvPr id="36" name="Shape 33"/>
          <p:cNvSpPr/>
          <p:nvPr/>
        </p:nvSpPr>
        <p:spPr>
          <a:xfrm>
            <a:off x="457200" y="3611880"/>
            <a:ext cx="8229600" cy="1051560"/>
          </a:xfrm>
          <a:prstGeom prst="roundRect">
            <a:avLst>
              <a:gd name="adj" fmla="val 6957"/>
            </a:avLst>
          </a:prstGeom>
          <a:solidFill>
            <a:srgbClr val="44546A"/>
          </a:solidFill>
          <a:ln/>
        </p:spPr>
        <p:txBody>
          <a:bodyPr/>
          <a:lstStyle/>
          <a:p>
            <a:endParaRPr lang="en-US"/>
          </a:p>
        </p:txBody>
      </p:sp>
      <p:sp>
        <p:nvSpPr>
          <p:cNvPr id="37" name="Shape 34"/>
          <p:cNvSpPr/>
          <p:nvPr/>
        </p:nvSpPr>
        <p:spPr>
          <a:xfrm>
            <a:off x="640080" y="3886200"/>
            <a:ext cx="502920" cy="502920"/>
          </a:xfrm>
          <a:prstGeom prst="ellipse">
            <a:avLst/>
          </a:prstGeom>
          <a:solidFill>
            <a:srgbClr val="D8641A"/>
          </a:solidFill>
          <a:ln/>
        </p:spPr>
        <p:txBody>
          <a:bodyPr/>
          <a:lstStyle/>
          <a:p>
            <a:endParaRPr lang="en-US"/>
          </a:p>
        </p:txBody>
      </p:sp>
      <p:pic>
        <p:nvPicPr>
          <p:cNvPr id="38" name="Image 0" descr="preencoded.png"/>
          <p:cNvPicPr>
            <a:picLocks noChangeAspect="1"/>
          </p:cNvPicPr>
          <p:nvPr/>
        </p:nvPicPr>
        <p:blipFill>
          <a:blip r:embed="rId3"/>
          <a:stretch>
            <a:fillRect/>
          </a:stretch>
        </p:blipFill>
        <p:spPr>
          <a:xfrm>
            <a:off x="765810" y="4011930"/>
            <a:ext cx="251460" cy="251460"/>
          </a:xfrm>
          <a:prstGeom prst="rect">
            <a:avLst/>
          </a:prstGeom>
        </p:spPr>
      </p:pic>
      <p:sp>
        <p:nvSpPr>
          <p:cNvPr id="39" name="Text 35"/>
          <p:cNvSpPr txBox="1"/>
          <p:nvPr/>
        </p:nvSpPr>
        <p:spPr>
          <a:xfrm>
            <a:off x="1325880" y="3675888"/>
            <a:ext cx="2743200" cy="274320"/>
          </a:xfrm>
          <a:prstGeom prst="rect">
            <a:avLst/>
          </a:prstGeom>
          <a:noFill/>
          <a:ln/>
        </p:spPr>
        <p:txBody>
          <a:bodyPr wrap="square" lIns="0" tIns="0" rIns="0" bIns="0" rtlCol="0" anchor="t"/>
          <a:lstStyle/>
          <a:p>
            <a:pPr marL="0" indent="0">
              <a:buNone/>
            </a:pPr>
            <a:r>
              <a:rPr lang="en-US" sz="1300" b="1" dirty="0">
                <a:solidFill>
                  <a:srgbClr val="FFC000"/>
                </a:solidFill>
                <a:latin typeface="Calibri" pitchFamily="34" charset="0"/>
                <a:ea typeface="Calibri" pitchFamily="34" charset="-122"/>
                <a:cs typeface="Calibri" pitchFamily="34" charset="-120"/>
              </a:rPr>
              <a:t>Reflect together</a:t>
            </a:r>
            <a:endParaRPr lang="en-US" sz="1300" dirty="0"/>
          </a:p>
        </p:txBody>
      </p:sp>
      <p:sp>
        <p:nvSpPr>
          <p:cNvPr id="40" name="Text 36"/>
          <p:cNvSpPr txBox="1"/>
          <p:nvPr/>
        </p:nvSpPr>
        <p:spPr>
          <a:xfrm>
            <a:off x="1325880" y="3950208"/>
            <a:ext cx="7223760" cy="685800"/>
          </a:xfrm>
          <a:prstGeom prst="rect">
            <a:avLst/>
          </a:prstGeom>
          <a:noFill/>
          <a:ln/>
        </p:spPr>
        <p:txBody>
          <a:bodyPr wrap="square" lIns="0" tIns="0" rIns="0" bIns="0" rtlCol="0" anchor="t"/>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What helped you understand your partner's topic?</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What did your partner do that made you feel listened to?</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How did you show that you were actively listening?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PART 2 · NOTE-TAKING</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The challenge of lectures</a:t>
            </a:r>
            <a:endParaRPr lang="en-US" sz="3000" dirty="0"/>
          </a:p>
        </p:txBody>
      </p:sp>
      <p:sp>
        <p:nvSpPr>
          <p:cNvPr id="6" name="Shape 3"/>
          <p:cNvSpPr/>
          <p:nvPr/>
        </p:nvSpPr>
        <p:spPr>
          <a:xfrm>
            <a:off x="457200" y="1280160"/>
            <a:ext cx="4023360" cy="1371600"/>
          </a:xfrm>
          <a:prstGeom prst="roundRect">
            <a:avLst>
              <a:gd name="adj" fmla="val 5333"/>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685800" y="1508760"/>
            <a:ext cx="640080" cy="640080"/>
          </a:xfrm>
          <a:prstGeom prst="ellipse">
            <a:avLst/>
          </a:prstGeom>
          <a:solidFill>
            <a:srgbClr val="D8641A"/>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845820" y="1668780"/>
            <a:ext cx="320040" cy="320040"/>
          </a:xfrm>
          <a:prstGeom prst="rect">
            <a:avLst/>
          </a:prstGeom>
        </p:spPr>
      </p:pic>
      <p:sp>
        <p:nvSpPr>
          <p:cNvPr id="9" name="Text 5"/>
          <p:cNvSpPr txBox="1"/>
          <p:nvPr/>
        </p:nvSpPr>
        <p:spPr>
          <a:xfrm>
            <a:off x="1554480" y="1508760"/>
            <a:ext cx="2743200" cy="320040"/>
          </a:xfrm>
          <a:prstGeom prst="rect">
            <a:avLst/>
          </a:prstGeom>
          <a:noFill/>
          <a:ln/>
        </p:spPr>
        <p:txBody>
          <a:bodyPr wrap="square" lIns="0" tIns="0" rIns="0" bIns="0" rtlCol="0" anchor="t"/>
          <a:lstStyle/>
          <a:p>
            <a:pPr marL="0" indent="0">
              <a:buNone/>
            </a:pPr>
            <a:r>
              <a:rPr lang="en-US" sz="1550" b="1" dirty="0">
                <a:solidFill>
                  <a:srgbClr val="44546A"/>
                </a:solidFill>
                <a:latin typeface="Calibri" pitchFamily="34" charset="0"/>
                <a:ea typeface="Calibri" pitchFamily="34" charset="-122"/>
                <a:cs typeface="Calibri" pitchFamily="34" charset="-120"/>
              </a:rPr>
              <a:t>Information goes by once</a:t>
            </a:r>
            <a:endParaRPr lang="en-US" sz="1550" dirty="0"/>
          </a:p>
        </p:txBody>
      </p:sp>
      <p:sp>
        <p:nvSpPr>
          <p:cNvPr id="10" name="Text 6"/>
          <p:cNvSpPr txBox="1"/>
          <p:nvPr/>
        </p:nvSpPr>
        <p:spPr>
          <a:xfrm>
            <a:off x="1554480" y="1874520"/>
            <a:ext cx="2743200" cy="731520"/>
          </a:xfrm>
          <a:prstGeom prst="rect">
            <a:avLst/>
          </a:prstGeom>
          <a:noFill/>
          <a:ln/>
        </p:spPr>
        <p:txBody>
          <a:bodyPr wrap="square" lIns="0" tIns="0" rIns="0" bIns="0" rtlCol="0" anchor="t"/>
          <a:lstStyle/>
          <a:p>
            <a:pPr marL="0" indent="0">
              <a:buNone/>
            </a:pPr>
            <a:r>
              <a:rPr lang="en-US" sz="1250" dirty="0">
                <a:solidFill>
                  <a:srgbClr val="66758A"/>
                </a:solidFill>
                <a:latin typeface="Calibri" pitchFamily="34" charset="0"/>
                <a:ea typeface="Calibri" pitchFamily="34" charset="-122"/>
                <a:cs typeface="Calibri" pitchFamily="34" charset="-120"/>
              </a:rPr>
              <a:t>If you miss something because you were writing, it's gone.</a:t>
            </a:r>
            <a:endParaRPr lang="en-US" sz="1250" dirty="0"/>
          </a:p>
        </p:txBody>
      </p:sp>
      <p:sp>
        <p:nvSpPr>
          <p:cNvPr id="11" name="Shape 7"/>
          <p:cNvSpPr/>
          <p:nvPr/>
        </p:nvSpPr>
        <p:spPr>
          <a:xfrm>
            <a:off x="4663440" y="1280160"/>
            <a:ext cx="4023360" cy="1371600"/>
          </a:xfrm>
          <a:prstGeom prst="roundRect">
            <a:avLst>
              <a:gd name="adj" fmla="val 5333"/>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12" name="Shape 8"/>
          <p:cNvSpPr/>
          <p:nvPr/>
        </p:nvSpPr>
        <p:spPr>
          <a:xfrm>
            <a:off x="4892040" y="1508760"/>
            <a:ext cx="640080" cy="640080"/>
          </a:xfrm>
          <a:prstGeom prst="ellipse">
            <a:avLst/>
          </a:prstGeom>
          <a:solidFill>
            <a:srgbClr val="D8641A"/>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5052060" y="1668780"/>
            <a:ext cx="320040" cy="320040"/>
          </a:xfrm>
          <a:prstGeom prst="rect">
            <a:avLst/>
          </a:prstGeom>
        </p:spPr>
      </p:pic>
      <p:sp>
        <p:nvSpPr>
          <p:cNvPr id="14" name="Text 9"/>
          <p:cNvSpPr txBox="1"/>
          <p:nvPr/>
        </p:nvSpPr>
        <p:spPr>
          <a:xfrm>
            <a:off x="5760720" y="1508760"/>
            <a:ext cx="2743200" cy="320040"/>
          </a:xfrm>
          <a:prstGeom prst="rect">
            <a:avLst/>
          </a:prstGeom>
          <a:noFill/>
          <a:ln/>
        </p:spPr>
        <p:txBody>
          <a:bodyPr wrap="square" lIns="0" tIns="0" rIns="0" bIns="0" rtlCol="0" anchor="t"/>
          <a:lstStyle/>
          <a:p>
            <a:pPr marL="0" indent="0">
              <a:buNone/>
            </a:pPr>
            <a:r>
              <a:rPr lang="en-US" sz="1550" b="1" dirty="0">
                <a:solidFill>
                  <a:srgbClr val="44546A"/>
                </a:solidFill>
                <a:latin typeface="Calibri" pitchFamily="34" charset="0"/>
                <a:ea typeface="Calibri" pitchFamily="34" charset="-122"/>
                <a:cs typeface="Calibri" pitchFamily="34" charset="-120"/>
              </a:rPr>
              <a:t>Hard to spot what matters</a:t>
            </a:r>
            <a:endParaRPr lang="en-US" sz="1550" dirty="0"/>
          </a:p>
        </p:txBody>
      </p:sp>
      <p:sp>
        <p:nvSpPr>
          <p:cNvPr id="15" name="Text 10"/>
          <p:cNvSpPr txBox="1"/>
          <p:nvPr/>
        </p:nvSpPr>
        <p:spPr>
          <a:xfrm>
            <a:off x="5760720" y="1874520"/>
            <a:ext cx="2743200" cy="731520"/>
          </a:xfrm>
          <a:prstGeom prst="rect">
            <a:avLst/>
          </a:prstGeom>
          <a:noFill/>
          <a:ln/>
        </p:spPr>
        <p:txBody>
          <a:bodyPr wrap="square" lIns="0" tIns="0" rIns="0" bIns="0" rtlCol="0" anchor="t"/>
          <a:lstStyle/>
          <a:p>
            <a:pPr marL="0" indent="0">
              <a:buNone/>
            </a:pPr>
            <a:r>
              <a:rPr lang="en-US" sz="1250" dirty="0">
                <a:solidFill>
                  <a:srgbClr val="66758A"/>
                </a:solidFill>
                <a:latin typeface="Calibri" pitchFamily="34" charset="0"/>
                <a:ea typeface="Calibri" pitchFamily="34" charset="-122"/>
                <a:cs typeface="Calibri" pitchFamily="34" charset="-120"/>
              </a:rPr>
              <a:t>Main points and secondary points sound alike at speed.</a:t>
            </a:r>
            <a:endParaRPr lang="en-US" sz="1250" dirty="0"/>
          </a:p>
        </p:txBody>
      </p:sp>
      <p:sp>
        <p:nvSpPr>
          <p:cNvPr id="16" name="Text 11"/>
          <p:cNvSpPr txBox="1"/>
          <p:nvPr/>
        </p:nvSpPr>
        <p:spPr>
          <a:xfrm>
            <a:off x="457200" y="2880360"/>
            <a:ext cx="8229600" cy="320040"/>
          </a:xfrm>
          <a:prstGeom prst="rect">
            <a:avLst/>
          </a:prstGeom>
          <a:noFill/>
          <a:ln/>
        </p:spPr>
        <p:txBody>
          <a:bodyPr wrap="square" lIns="0" tIns="0" rIns="0" bIns="0" rtlCol="0" anchor="t"/>
          <a:lstStyle/>
          <a:p>
            <a:pPr marL="0" indent="0">
              <a:buNone/>
            </a:pPr>
            <a:r>
              <a:rPr lang="en-US" sz="1600" b="1" dirty="0">
                <a:solidFill>
                  <a:srgbClr val="44546A"/>
                </a:solidFill>
                <a:latin typeface="Calibri" pitchFamily="34" charset="0"/>
                <a:ea typeface="Calibri" pitchFamily="34" charset="-122"/>
                <a:cs typeface="Calibri" pitchFamily="34" charset="-120"/>
              </a:rPr>
              <a:t>The solution: treat a lecture as a three-part experience</a:t>
            </a:r>
            <a:endParaRPr lang="en-US" sz="1600" dirty="0"/>
          </a:p>
        </p:txBody>
      </p:sp>
      <p:sp>
        <p:nvSpPr>
          <p:cNvPr id="17" name="Shape 12"/>
          <p:cNvSpPr/>
          <p:nvPr/>
        </p:nvSpPr>
        <p:spPr>
          <a:xfrm>
            <a:off x="457200" y="3337560"/>
            <a:ext cx="2468880" cy="1188720"/>
          </a:xfrm>
          <a:prstGeom prst="roundRect">
            <a:avLst>
              <a:gd name="adj" fmla="val 6154"/>
            </a:avLst>
          </a:prstGeom>
          <a:solidFill>
            <a:srgbClr val="4472C4"/>
          </a:solidFill>
          <a:ln/>
        </p:spPr>
        <p:txBody>
          <a:bodyPr/>
          <a:lstStyle/>
          <a:p>
            <a:endParaRPr lang="en-US"/>
          </a:p>
        </p:txBody>
      </p:sp>
      <p:sp>
        <p:nvSpPr>
          <p:cNvPr id="18" name="Text 13"/>
          <p:cNvSpPr txBox="1"/>
          <p:nvPr/>
        </p:nvSpPr>
        <p:spPr>
          <a:xfrm>
            <a:off x="457200" y="3429000"/>
            <a:ext cx="2468880" cy="365760"/>
          </a:xfrm>
          <a:prstGeom prst="rect">
            <a:avLst/>
          </a:prstGeom>
          <a:noFill/>
          <a:ln/>
        </p:spPr>
        <p:txBody>
          <a:bodyPr wrap="square" lIns="0" tIns="0" rIns="0" bIns="0" rtlCol="0" anchor="t"/>
          <a:lstStyle/>
          <a:p>
            <a:pPr marL="0" indent="0" algn="ctr">
              <a:buNone/>
            </a:pPr>
            <a:r>
              <a:rPr lang="en-US" sz="1800" b="1" kern="0" spc="300" dirty="0">
                <a:solidFill>
                  <a:srgbClr val="FFFFFF"/>
                </a:solidFill>
                <a:latin typeface="Calibri" pitchFamily="34" charset="0"/>
                <a:ea typeface="Calibri" pitchFamily="34" charset="-122"/>
                <a:cs typeface="Calibri" pitchFamily="34" charset="-120"/>
              </a:rPr>
              <a:t>BEFORE</a:t>
            </a:r>
            <a:endParaRPr lang="en-US" sz="1800" dirty="0"/>
          </a:p>
        </p:txBody>
      </p:sp>
      <p:sp>
        <p:nvSpPr>
          <p:cNvPr id="19" name="Text 14"/>
          <p:cNvSpPr txBox="1"/>
          <p:nvPr/>
        </p:nvSpPr>
        <p:spPr>
          <a:xfrm>
            <a:off x="640080" y="3840480"/>
            <a:ext cx="2103120" cy="548640"/>
          </a:xfrm>
          <a:prstGeom prst="rect">
            <a:avLst/>
          </a:prstGeom>
          <a:noFill/>
          <a:ln/>
        </p:spPr>
        <p:txBody>
          <a:bodyPr wrap="square" lIns="0" tIns="0" rIns="0" bIns="0" rtlCol="0" anchor="t"/>
          <a:lstStyle/>
          <a:p>
            <a:pPr marL="0" indent="0" algn="ctr">
              <a:buNone/>
            </a:pPr>
            <a:r>
              <a:rPr lang="en-US" sz="1300" dirty="0">
                <a:solidFill>
                  <a:srgbClr val="FFFFFF"/>
                </a:solidFill>
                <a:latin typeface="Calibri" pitchFamily="34" charset="0"/>
                <a:ea typeface="Calibri" pitchFamily="34" charset="-122"/>
                <a:cs typeface="Calibri" pitchFamily="34" charset="-120"/>
              </a:rPr>
              <a:t>Prepare and anticipate</a:t>
            </a:r>
            <a:endParaRPr lang="en-US" sz="1300" dirty="0"/>
          </a:p>
        </p:txBody>
      </p:sp>
      <p:pic>
        <p:nvPicPr>
          <p:cNvPr id="20" name="Image 2" descr="preencoded.png"/>
          <p:cNvPicPr>
            <a:picLocks noChangeAspect="1"/>
          </p:cNvPicPr>
          <p:nvPr/>
        </p:nvPicPr>
        <p:blipFill>
          <a:blip r:embed="rId5"/>
          <a:stretch>
            <a:fillRect/>
          </a:stretch>
        </p:blipFill>
        <p:spPr>
          <a:xfrm>
            <a:off x="2999232" y="3794760"/>
            <a:ext cx="274320" cy="274320"/>
          </a:xfrm>
          <a:prstGeom prst="rect">
            <a:avLst/>
          </a:prstGeom>
        </p:spPr>
      </p:pic>
      <p:sp>
        <p:nvSpPr>
          <p:cNvPr id="21" name="Shape 15"/>
          <p:cNvSpPr/>
          <p:nvPr/>
        </p:nvSpPr>
        <p:spPr>
          <a:xfrm>
            <a:off x="3337560" y="3337560"/>
            <a:ext cx="2468880" cy="1188720"/>
          </a:xfrm>
          <a:prstGeom prst="roundRect">
            <a:avLst>
              <a:gd name="adj" fmla="val 6154"/>
            </a:avLst>
          </a:prstGeom>
          <a:solidFill>
            <a:srgbClr val="D8641A"/>
          </a:solidFill>
          <a:ln/>
        </p:spPr>
        <p:txBody>
          <a:bodyPr/>
          <a:lstStyle/>
          <a:p>
            <a:endParaRPr lang="en-US"/>
          </a:p>
        </p:txBody>
      </p:sp>
      <p:sp>
        <p:nvSpPr>
          <p:cNvPr id="22" name="Text 16"/>
          <p:cNvSpPr txBox="1"/>
          <p:nvPr/>
        </p:nvSpPr>
        <p:spPr>
          <a:xfrm>
            <a:off x="3337560" y="3429000"/>
            <a:ext cx="2468880" cy="365760"/>
          </a:xfrm>
          <a:prstGeom prst="rect">
            <a:avLst/>
          </a:prstGeom>
          <a:noFill/>
          <a:ln/>
        </p:spPr>
        <p:txBody>
          <a:bodyPr wrap="square" lIns="0" tIns="0" rIns="0" bIns="0" rtlCol="0" anchor="t"/>
          <a:lstStyle/>
          <a:p>
            <a:pPr marL="0" indent="0" algn="ctr">
              <a:buNone/>
            </a:pPr>
            <a:r>
              <a:rPr lang="en-US" sz="1800" b="1" kern="0" spc="300" dirty="0">
                <a:solidFill>
                  <a:srgbClr val="FFFFFF"/>
                </a:solidFill>
                <a:latin typeface="Calibri" pitchFamily="34" charset="0"/>
                <a:ea typeface="Calibri" pitchFamily="34" charset="-122"/>
                <a:cs typeface="Calibri" pitchFamily="34" charset="-120"/>
              </a:rPr>
              <a:t>DURING</a:t>
            </a:r>
            <a:endParaRPr lang="en-US" sz="1800" dirty="0"/>
          </a:p>
        </p:txBody>
      </p:sp>
      <p:sp>
        <p:nvSpPr>
          <p:cNvPr id="23" name="Text 17"/>
          <p:cNvSpPr txBox="1"/>
          <p:nvPr/>
        </p:nvSpPr>
        <p:spPr>
          <a:xfrm>
            <a:off x="3520440" y="3840480"/>
            <a:ext cx="2103120" cy="548640"/>
          </a:xfrm>
          <a:prstGeom prst="rect">
            <a:avLst/>
          </a:prstGeom>
          <a:noFill/>
          <a:ln/>
        </p:spPr>
        <p:txBody>
          <a:bodyPr wrap="square" lIns="0" tIns="0" rIns="0" bIns="0" rtlCol="0" anchor="t"/>
          <a:lstStyle/>
          <a:p>
            <a:pPr marL="0" indent="0" algn="ctr">
              <a:buNone/>
            </a:pPr>
            <a:r>
              <a:rPr lang="en-US" sz="1300" dirty="0">
                <a:solidFill>
                  <a:srgbClr val="FFFFFF"/>
                </a:solidFill>
                <a:latin typeface="Calibri" pitchFamily="34" charset="0"/>
                <a:ea typeface="Calibri" pitchFamily="34" charset="-122"/>
                <a:cs typeface="Calibri" pitchFamily="34" charset="-120"/>
              </a:rPr>
              <a:t>Listen actively, use a system</a:t>
            </a:r>
            <a:endParaRPr lang="en-US" sz="1300" dirty="0"/>
          </a:p>
        </p:txBody>
      </p:sp>
      <p:pic>
        <p:nvPicPr>
          <p:cNvPr id="24" name="Image 3" descr="preencoded.png"/>
          <p:cNvPicPr>
            <a:picLocks noChangeAspect="1"/>
          </p:cNvPicPr>
          <p:nvPr/>
        </p:nvPicPr>
        <p:blipFill>
          <a:blip r:embed="rId5"/>
          <a:stretch>
            <a:fillRect/>
          </a:stretch>
        </p:blipFill>
        <p:spPr>
          <a:xfrm>
            <a:off x="5879592" y="3794760"/>
            <a:ext cx="274320" cy="274320"/>
          </a:xfrm>
          <a:prstGeom prst="rect">
            <a:avLst/>
          </a:prstGeom>
        </p:spPr>
      </p:pic>
      <p:sp>
        <p:nvSpPr>
          <p:cNvPr id="25" name="Shape 18"/>
          <p:cNvSpPr/>
          <p:nvPr/>
        </p:nvSpPr>
        <p:spPr>
          <a:xfrm>
            <a:off x="6217920" y="3337560"/>
            <a:ext cx="2468880" cy="1188720"/>
          </a:xfrm>
          <a:prstGeom prst="roundRect">
            <a:avLst>
              <a:gd name="adj" fmla="val 6154"/>
            </a:avLst>
          </a:prstGeom>
          <a:solidFill>
            <a:srgbClr val="FFC000"/>
          </a:solidFill>
          <a:ln/>
        </p:spPr>
        <p:txBody>
          <a:bodyPr/>
          <a:lstStyle/>
          <a:p>
            <a:endParaRPr lang="en-US"/>
          </a:p>
        </p:txBody>
      </p:sp>
      <p:sp>
        <p:nvSpPr>
          <p:cNvPr id="26" name="Text 19"/>
          <p:cNvSpPr txBox="1"/>
          <p:nvPr/>
        </p:nvSpPr>
        <p:spPr>
          <a:xfrm>
            <a:off x="6217920" y="3429000"/>
            <a:ext cx="2468880" cy="365760"/>
          </a:xfrm>
          <a:prstGeom prst="rect">
            <a:avLst/>
          </a:prstGeom>
          <a:noFill/>
          <a:ln/>
        </p:spPr>
        <p:txBody>
          <a:bodyPr wrap="square" lIns="0" tIns="0" rIns="0" bIns="0" rtlCol="0" anchor="t"/>
          <a:lstStyle/>
          <a:p>
            <a:pPr marL="0" indent="0" algn="ctr">
              <a:buNone/>
            </a:pPr>
            <a:r>
              <a:rPr lang="en-US" sz="1800" b="1" kern="0" spc="300" dirty="0">
                <a:solidFill>
                  <a:srgbClr val="44546A"/>
                </a:solidFill>
                <a:latin typeface="Calibri" pitchFamily="34" charset="0"/>
                <a:ea typeface="Calibri" pitchFamily="34" charset="-122"/>
                <a:cs typeface="Calibri" pitchFamily="34" charset="-120"/>
              </a:rPr>
              <a:t>AFTER</a:t>
            </a:r>
            <a:endParaRPr lang="en-US" sz="1800" dirty="0"/>
          </a:p>
        </p:txBody>
      </p:sp>
      <p:sp>
        <p:nvSpPr>
          <p:cNvPr id="27" name="Text 20"/>
          <p:cNvSpPr txBox="1"/>
          <p:nvPr/>
        </p:nvSpPr>
        <p:spPr>
          <a:xfrm>
            <a:off x="6400800" y="3840480"/>
            <a:ext cx="2103120" cy="548640"/>
          </a:xfrm>
          <a:prstGeom prst="rect">
            <a:avLst/>
          </a:prstGeom>
          <a:noFill/>
          <a:ln/>
        </p:spPr>
        <p:txBody>
          <a:bodyPr wrap="square" lIns="0" tIns="0" rIns="0" bIns="0" rtlCol="0" anchor="t"/>
          <a:lstStyle/>
          <a:p>
            <a:pPr marL="0" indent="0" algn="ctr">
              <a:buNone/>
            </a:pPr>
            <a:r>
              <a:rPr lang="en-US" sz="1300" dirty="0">
                <a:solidFill>
                  <a:srgbClr val="44546A"/>
                </a:solidFill>
                <a:latin typeface="Calibri" pitchFamily="34" charset="0"/>
                <a:ea typeface="Calibri" pitchFamily="34" charset="-122"/>
                <a:cs typeface="Calibri" pitchFamily="34" charset="-120"/>
              </a:rPr>
              <a:t>Review and respond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NOTE-TAKING · BEFORE</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What to do before the lecture</a:t>
            </a:r>
            <a:endParaRPr lang="en-US" sz="3000" dirty="0"/>
          </a:p>
        </p:txBody>
      </p:sp>
      <p:sp>
        <p:nvSpPr>
          <p:cNvPr id="6" name="Shape 3"/>
          <p:cNvSpPr/>
          <p:nvPr/>
        </p:nvSpPr>
        <p:spPr>
          <a:xfrm>
            <a:off x="457200" y="1280160"/>
            <a:ext cx="2651760" cy="1143000"/>
          </a:xfrm>
          <a:prstGeom prst="roundRect">
            <a:avLst>
              <a:gd name="adj" fmla="val 6400"/>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594360" y="1417320"/>
            <a:ext cx="457200" cy="457200"/>
          </a:xfrm>
          <a:prstGeom prst="ellipse">
            <a:avLst/>
          </a:prstGeom>
          <a:solidFill>
            <a:srgbClr val="D8641A"/>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708660" y="1531620"/>
            <a:ext cx="228600" cy="228600"/>
          </a:xfrm>
          <a:prstGeom prst="rect">
            <a:avLst/>
          </a:prstGeom>
        </p:spPr>
      </p:pic>
      <p:sp>
        <p:nvSpPr>
          <p:cNvPr id="9" name="Text 5"/>
          <p:cNvSpPr txBox="1"/>
          <p:nvPr/>
        </p:nvSpPr>
        <p:spPr>
          <a:xfrm>
            <a:off x="1188720" y="1444752"/>
            <a:ext cx="1828800" cy="365760"/>
          </a:xfrm>
          <a:prstGeom prst="rect">
            <a:avLst/>
          </a:prstGeom>
          <a:noFill/>
          <a:ln/>
        </p:spPr>
        <p:txBody>
          <a:bodyPr wrap="square" lIns="0" tIns="0" rIns="0" bIns="0" rtlCol="0" anchor="ctr"/>
          <a:lstStyle/>
          <a:p>
            <a:pPr marL="0" indent="0">
              <a:buNone/>
            </a:pPr>
            <a:r>
              <a:rPr lang="en-US" sz="1350" b="1" dirty="0">
                <a:solidFill>
                  <a:srgbClr val="44546A"/>
                </a:solidFill>
                <a:latin typeface="Calibri" pitchFamily="34" charset="0"/>
                <a:ea typeface="Calibri" pitchFamily="34" charset="-122"/>
                <a:cs typeface="Calibri" pitchFamily="34" charset="-120"/>
              </a:rPr>
              <a:t>Read the syllabus</a:t>
            </a:r>
            <a:endParaRPr lang="en-US" sz="1350" dirty="0"/>
          </a:p>
        </p:txBody>
      </p:sp>
      <p:sp>
        <p:nvSpPr>
          <p:cNvPr id="10" name="Text 6"/>
          <p:cNvSpPr txBox="1"/>
          <p:nvPr/>
        </p:nvSpPr>
        <p:spPr>
          <a:xfrm>
            <a:off x="594360" y="1965960"/>
            <a:ext cx="2423160" cy="457200"/>
          </a:xfrm>
          <a:prstGeom prst="rect">
            <a:avLst/>
          </a:prstGeom>
          <a:noFill/>
          <a:ln/>
        </p:spPr>
        <p:txBody>
          <a:bodyPr wrap="square" lIns="0" tIns="0" rIns="0" bIns="0" rtlCol="0" anchor="t"/>
          <a:lstStyle/>
          <a:p>
            <a:pPr marL="0" indent="0">
              <a:buNone/>
            </a:pPr>
            <a:r>
              <a:rPr lang="en-US" sz="1100" dirty="0">
                <a:solidFill>
                  <a:srgbClr val="66758A"/>
                </a:solidFill>
                <a:latin typeface="Calibri" pitchFamily="34" charset="0"/>
                <a:ea typeface="Calibri" pitchFamily="34" charset="-122"/>
                <a:cs typeface="Calibri" pitchFamily="34" charset="-120"/>
              </a:rPr>
              <a:t>Check the lecture title. Where does it fit in the course?</a:t>
            </a:r>
            <a:endParaRPr lang="en-US" sz="1100" dirty="0"/>
          </a:p>
        </p:txBody>
      </p:sp>
      <p:sp>
        <p:nvSpPr>
          <p:cNvPr id="11" name="Shape 7"/>
          <p:cNvSpPr/>
          <p:nvPr/>
        </p:nvSpPr>
        <p:spPr>
          <a:xfrm>
            <a:off x="3246120" y="1280160"/>
            <a:ext cx="2651760" cy="1143000"/>
          </a:xfrm>
          <a:prstGeom prst="roundRect">
            <a:avLst>
              <a:gd name="adj" fmla="val 6400"/>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12" name="Shape 8"/>
          <p:cNvSpPr/>
          <p:nvPr/>
        </p:nvSpPr>
        <p:spPr>
          <a:xfrm>
            <a:off x="3383280" y="1417320"/>
            <a:ext cx="457200" cy="457200"/>
          </a:xfrm>
          <a:prstGeom prst="ellipse">
            <a:avLst/>
          </a:prstGeom>
          <a:solidFill>
            <a:srgbClr val="4472C4"/>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3497580" y="1531620"/>
            <a:ext cx="228600" cy="228600"/>
          </a:xfrm>
          <a:prstGeom prst="rect">
            <a:avLst/>
          </a:prstGeom>
        </p:spPr>
      </p:pic>
      <p:sp>
        <p:nvSpPr>
          <p:cNvPr id="14" name="Text 9"/>
          <p:cNvSpPr txBox="1"/>
          <p:nvPr/>
        </p:nvSpPr>
        <p:spPr>
          <a:xfrm>
            <a:off x="3977640" y="1444752"/>
            <a:ext cx="1828800" cy="365760"/>
          </a:xfrm>
          <a:prstGeom prst="rect">
            <a:avLst/>
          </a:prstGeom>
          <a:noFill/>
          <a:ln/>
        </p:spPr>
        <p:txBody>
          <a:bodyPr wrap="square" lIns="0" tIns="0" rIns="0" bIns="0" rtlCol="0" anchor="ctr"/>
          <a:lstStyle/>
          <a:p>
            <a:pPr marL="0" indent="0">
              <a:buNone/>
            </a:pPr>
            <a:r>
              <a:rPr lang="en-US" sz="1350" b="1" dirty="0">
                <a:solidFill>
                  <a:srgbClr val="44546A"/>
                </a:solidFill>
                <a:latin typeface="Calibri" pitchFamily="34" charset="0"/>
                <a:ea typeface="Calibri" pitchFamily="34" charset="-122"/>
                <a:cs typeface="Calibri" pitchFamily="34" charset="-120"/>
              </a:rPr>
              <a:t>Recall what you know</a:t>
            </a:r>
            <a:endParaRPr lang="en-US" sz="1350" dirty="0"/>
          </a:p>
        </p:txBody>
      </p:sp>
      <p:sp>
        <p:nvSpPr>
          <p:cNvPr id="15" name="Text 10"/>
          <p:cNvSpPr txBox="1"/>
          <p:nvPr/>
        </p:nvSpPr>
        <p:spPr>
          <a:xfrm>
            <a:off x="3383280" y="1965960"/>
            <a:ext cx="2423160" cy="457200"/>
          </a:xfrm>
          <a:prstGeom prst="rect">
            <a:avLst/>
          </a:prstGeom>
          <a:noFill/>
          <a:ln/>
        </p:spPr>
        <p:txBody>
          <a:bodyPr wrap="square" lIns="0" tIns="0" rIns="0" bIns="0" rtlCol="0" anchor="t"/>
          <a:lstStyle/>
          <a:p>
            <a:pPr marL="0" indent="0">
              <a:buNone/>
            </a:pPr>
            <a:r>
              <a:rPr lang="en-US" sz="1100" dirty="0">
                <a:solidFill>
                  <a:srgbClr val="66758A"/>
                </a:solidFill>
                <a:latin typeface="Calibri" pitchFamily="34" charset="0"/>
                <a:ea typeface="Calibri" pitchFamily="34" charset="-122"/>
                <a:cs typeface="Calibri" pitchFamily="34" charset="-120"/>
              </a:rPr>
              <a:t>Predict what might be covered.</a:t>
            </a:r>
            <a:endParaRPr lang="en-US" sz="1100" dirty="0"/>
          </a:p>
        </p:txBody>
      </p:sp>
      <p:sp>
        <p:nvSpPr>
          <p:cNvPr id="16" name="Shape 11"/>
          <p:cNvSpPr/>
          <p:nvPr/>
        </p:nvSpPr>
        <p:spPr>
          <a:xfrm>
            <a:off x="6035040" y="1280160"/>
            <a:ext cx="2651760" cy="1143000"/>
          </a:xfrm>
          <a:prstGeom prst="roundRect">
            <a:avLst>
              <a:gd name="adj" fmla="val 6400"/>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17" name="Shape 12"/>
          <p:cNvSpPr/>
          <p:nvPr/>
        </p:nvSpPr>
        <p:spPr>
          <a:xfrm>
            <a:off x="6172200" y="1417320"/>
            <a:ext cx="457200" cy="457200"/>
          </a:xfrm>
          <a:prstGeom prst="ellipse">
            <a:avLst/>
          </a:prstGeom>
          <a:solidFill>
            <a:srgbClr val="D8641A"/>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6286500" y="1531620"/>
            <a:ext cx="228600" cy="228600"/>
          </a:xfrm>
          <a:prstGeom prst="rect">
            <a:avLst/>
          </a:prstGeom>
        </p:spPr>
      </p:pic>
      <p:sp>
        <p:nvSpPr>
          <p:cNvPr id="19" name="Text 13"/>
          <p:cNvSpPr txBox="1"/>
          <p:nvPr/>
        </p:nvSpPr>
        <p:spPr>
          <a:xfrm>
            <a:off x="6766560" y="1444752"/>
            <a:ext cx="1828800" cy="365760"/>
          </a:xfrm>
          <a:prstGeom prst="rect">
            <a:avLst/>
          </a:prstGeom>
          <a:noFill/>
          <a:ln/>
        </p:spPr>
        <p:txBody>
          <a:bodyPr wrap="square" lIns="0" tIns="0" rIns="0" bIns="0" rtlCol="0" anchor="ctr"/>
          <a:lstStyle/>
          <a:p>
            <a:pPr marL="0" indent="0">
              <a:buNone/>
            </a:pPr>
            <a:r>
              <a:rPr lang="en-US" sz="1350" b="1" dirty="0">
                <a:solidFill>
                  <a:srgbClr val="44546A"/>
                </a:solidFill>
                <a:latin typeface="Calibri" pitchFamily="34" charset="0"/>
                <a:ea typeface="Calibri" pitchFamily="34" charset="-122"/>
                <a:cs typeface="Calibri" pitchFamily="34" charset="-120"/>
              </a:rPr>
              <a:t>Review last notes</a:t>
            </a:r>
            <a:endParaRPr lang="en-US" sz="1350" dirty="0"/>
          </a:p>
        </p:txBody>
      </p:sp>
      <p:sp>
        <p:nvSpPr>
          <p:cNvPr id="20" name="Text 14"/>
          <p:cNvSpPr txBox="1"/>
          <p:nvPr/>
        </p:nvSpPr>
        <p:spPr>
          <a:xfrm>
            <a:off x="6172200" y="1965960"/>
            <a:ext cx="2423160" cy="457200"/>
          </a:xfrm>
          <a:prstGeom prst="rect">
            <a:avLst/>
          </a:prstGeom>
          <a:noFill/>
          <a:ln/>
        </p:spPr>
        <p:txBody>
          <a:bodyPr wrap="square" lIns="0" tIns="0" rIns="0" bIns="0" rtlCol="0" anchor="t"/>
          <a:lstStyle/>
          <a:p>
            <a:pPr marL="0" indent="0">
              <a:buNone/>
            </a:pPr>
            <a:r>
              <a:rPr lang="en-US" sz="1100" dirty="0">
                <a:solidFill>
                  <a:srgbClr val="66758A"/>
                </a:solidFill>
                <a:latin typeface="Calibri" pitchFamily="34" charset="0"/>
                <a:ea typeface="Calibri" pitchFamily="34" charset="-122"/>
                <a:cs typeface="Calibri" pitchFamily="34" charset="-120"/>
              </a:rPr>
              <a:t>Re-establish the context of the course.</a:t>
            </a:r>
            <a:endParaRPr lang="en-US" sz="1100" dirty="0"/>
          </a:p>
        </p:txBody>
      </p:sp>
      <p:sp>
        <p:nvSpPr>
          <p:cNvPr id="21" name="Shape 15"/>
          <p:cNvSpPr/>
          <p:nvPr/>
        </p:nvSpPr>
        <p:spPr>
          <a:xfrm>
            <a:off x="457200" y="2560320"/>
            <a:ext cx="2651760" cy="1143000"/>
          </a:xfrm>
          <a:prstGeom prst="roundRect">
            <a:avLst>
              <a:gd name="adj" fmla="val 6400"/>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22" name="Shape 16"/>
          <p:cNvSpPr/>
          <p:nvPr/>
        </p:nvSpPr>
        <p:spPr>
          <a:xfrm>
            <a:off x="594360" y="2697480"/>
            <a:ext cx="457200" cy="457200"/>
          </a:xfrm>
          <a:prstGeom prst="ellipse">
            <a:avLst/>
          </a:prstGeom>
          <a:solidFill>
            <a:srgbClr val="4472C4"/>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708660" y="2811780"/>
            <a:ext cx="228600" cy="228600"/>
          </a:xfrm>
          <a:prstGeom prst="rect">
            <a:avLst/>
          </a:prstGeom>
        </p:spPr>
      </p:pic>
      <p:sp>
        <p:nvSpPr>
          <p:cNvPr id="24" name="Text 17"/>
          <p:cNvSpPr txBox="1"/>
          <p:nvPr/>
        </p:nvSpPr>
        <p:spPr>
          <a:xfrm>
            <a:off x="1188720" y="2724912"/>
            <a:ext cx="1828800" cy="365760"/>
          </a:xfrm>
          <a:prstGeom prst="rect">
            <a:avLst/>
          </a:prstGeom>
          <a:noFill/>
          <a:ln/>
        </p:spPr>
        <p:txBody>
          <a:bodyPr wrap="square" lIns="0" tIns="0" rIns="0" bIns="0" rtlCol="0" anchor="ctr"/>
          <a:lstStyle/>
          <a:p>
            <a:pPr marL="0" indent="0">
              <a:buNone/>
            </a:pPr>
            <a:r>
              <a:rPr lang="en-US" sz="1350" b="1" dirty="0">
                <a:solidFill>
                  <a:srgbClr val="44546A"/>
                </a:solidFill>
                <a:latin typeface="Calibri" pitchFamily="34" charset="0"/>
                <a:ea typeface="Calibri" pitchFamily="34" charset="-122"/>
                <a:cs typeface="Calibri" pitchFamily="34" charset="-120"/>
              </a:rPr>
              <a:t>Do the readings</a:t>
            </a:r>
            <a:endParaRPr lang="en-US" sz="1350" dirty="0"/>
          </a:p>
        </p:txBody>
      </p:sp>
      <p:sp>
        <p:nvSpPr>
          <p:cNvPr id="25" name="Text 18"/>
          <p:cNvSpPr txBox="1"/>
          <p:nvPr/>
        </p:nvSpPr>
        <p:spPr>
          <a:xfrm>
            <a:off x="594360" y="3246120"/>
            <a:ext cx="2423160" cy="457200"/>
          </a:xfrm>
          <a:prstGeom prst="rect">
            <a:avLst/>
          </a:prstGeom>
          <a:noFill/>
          <a:ln/>
        </p:spPr>
        <p:txBody>
          <a:bodyPr wrap="square" lIns="0" tIns="0" rIns="0" bIns="0" rtlCol="0" anchor="t"/>
          <a:lstStyle/>
          <a:p>
            <a:pPr marL="0" indent="0">
              <a:buNone/>
            </a:pPr>
            <a:r>
              <a:rPr lang="en-US" sz="1100" dirty="0">
                <a:solidFill>
                  <a:srgbClr val="66758A"/>
                </a:solidFill>
                <a:latin typeface="Calibri" pitchFamily="34" charset="0"/>
                <a:ea typeface="Calibri" pitchFamily="34" charset="-122"/>
                <a:cs typeface="Calibri" pitchFamily="34" charset="-120"/>
              </a:rPr>
              <a:t>Anticipate how they connect to the lecture.</a:t>
            </a:r>
            <a:endParaRPr lang="en-US" sz="1100" dirty="0"/>
          </a:p>
        </p:txBody>
      </p:sp>
      <p:sp>
        <p:nvSpPr>
          <p:cNvPr id="26" name="Shape 19"/>
          <p:cNvSpPr/>
          <p:nvPr/>
        </p:nvSpPr>
        <p:spPr>
          <a:xfrm>
            <a:off x="3246120" y="2560320"/>
            <a:ext cx="2651760" cy="1143000"/>
          </a:xfrm>
          <a:prstGeom prst="roundRect">
            <a:avLst>
              <a:gd name="adj" fmla="val 6400"/>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27" name="Shape 20"/>
          <p:cNvSpPr/>
          <p:nvPr/>
        </p:nvSpPr>
        <p:spPr>
          <a:xfrm>
            <a:off x="3383280" y="2697480"/>
            <a:ext cx="457200" cy="457200"/>
          </a:xfrm>
          <a:prstGeom prst="ellipse">
            <a:avLst/>
          </a:prstGeom>
          <a:solidFill>
            <a:srgbClr val="D8641A"/>
          </a:solidFill>
          <a:ln/>
        </p:spPr>
        <p:txBody>
          <a:bodyPr/>
          <a:lstStyle/>
          <a:p>
            <a:endParaRPr lang="en-US"/>
          </a:p>
        </p:txBody>
      </p:sp>
      <p:pic>
        <p:nvPicPr>
          <p:cNvPr id="28" name="Image 4" descr="preencoded.png"/>
          <p:cNvPicPr>
            <a:picLocks noChangeAspect="1"/>
          </p:cNvPicPr>
          <p:nvPr/>
        </p:nvPicPr>
        <p:blipFill>
          <a:blip r:embed="rId7"/>
          <a:stretch>
            <a:fillRect/>
          </a:stretch>
        </p:blipFill>
        <p:spPr>
          <a:xfrm>
            <a:off x="3497580" y="2811780"/>
            <a:ext cx="228600" cy="228600"/>
          </a:xfrm>
          <a:prstGeom prst="rect">
            <a:avLst/>
          </a:prstGeom>
        </p:spPr>
      </p:pic>
      <p:sp>
        <p:nvSpPr>
          <p:cNvPr id="29" name="Text 21"/>
          <p:cNvSpPr txBox="1"/>
          <p:nvPr/>
        </p:nvSpPr>
        <p:spPr>
          <a:xfrm>
            <a:off x="3977640" y="2724912"/>
            <a:ext cx="1828800" cy="365760"/>
          </a:xfrm>
          <a:prstGeom prst="rect">
            <a:avLst/>
          </a:prstGeom>
          <a:noFill/>
          <a:ln/>
        </p:spPr>
        <p:txBody>
          <a:bodyPr wrap="square" lIns="0" tIns="0" rIns="0" bIns="0" rtlCol="0" anchor="ctr"/>
          <a:lstStyle/>
          <a:p>
            <a:pPr marL="0" indent="0">
              <a:buNone/>
            </a:pPr>
            <a:r>
              <a:rPr lang="en-US" sz="1350" b="1" dirty="0">
                <a:solidFill>
                  <a:srgbClr val="44546A"/>
                </a:solidFill>
                <a:latin typeface="Calibri" pitchFamily="34" charset="0"/>
                <a:ea typeface="Calibri" pitchFamily="34" charset="-122"/>
                <a:cs typeface="Calibri" pitchFamily="34" charset="-120"/>
              </a:rPr>
              <a:t>Get the handouts</a:t>
            </a:r>
            <a:endParaRPr lang="en-US" sz="1350" dirty="0"/>
          </a:p>
        </p:txBody>
      </p:sp>
      <p:sp>
        <p:nvSpPr>
          <p:cNvPr id="30" name="Text 22"/>
          <p:cNvSpPr txBox="1"/>
          <p:nvPr/>
        </p:nvSpPr>
        <p:spPr>
          <a:xfrm>
            <a:off x="3383280" y="3246120"/>
            <a:ext cx="2423160" cy="457200"/>
          </a:xfrm>
          <a:prstGeom prst="rect">
            <a:avLst/>
          </a:prstGeom>
          <a:noFill/>
          <a:ln/>
        </p:spPr>
        <p:txBody>
          <a:bodyPr wrap="square" lIns="0" tIns="0" rIns="0" bIns="0" rtlCol="0" anchor="t"/>
          <a:lstStyle/>
          <a:p>
            <a:pPr marL="0" indent="0">
              <a:buNone/>
            </a:pPr>
            <a:r>
              <a:rPr lang="en-US" sz="1100" dirty="0">
                <a:solidFill>
                  <a:srgbClr val="66758A"/>
                </a:solidFill>
                <a:latin typeface="Calibri" pitchFamily="34" charset="0"/>
                <a:ea typeface="Calibri" pitchFamily="34" charset="-122"/>
                <a:cs typeface="Calibri" pitchFamily="34" charset="-120"/>
              </a:rPr>
              <a:t>Print posted slides or key-term lists to annotate.</a:t>
            </a:r>
            <a:endParaRPr lang="en-US" sz="1100" dirty="0"/>
          </a:p>
        </p:txBody>
      </p:sp>
      <p:sp>
        <p:nvSpPr>
          <p:cNvPr id="31" name="Shape 23"/>
          <p:cNvSpPr/>
          <p:nvPr/>
        </p:nvSpPr>
        <p:spPr>
          <a:xfrm>
            <a:off x="6035040" y="2560320"/>
            <a:ext cx="2651760" cy="1143000"/>
          </a:xfrm>
          <a:prstGeom prst="roundRect">
            <a:avLst>
              <a:gd name="adj" fmla="val 6400"/>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32" name="Shape 24"/>
          <p:cNvSpPr/>
          <p:nvPr/>
        </p:nvSpPr>
        <p:spPr>
          <a:xfrm>
            <a:off x="6172200" y="2697480"/>
            <a:ext cx="457200" cy="457200"/>
          </a:xfrm>
          <a:prstGeom prst="ellipse">
            <a:avLst/>
          </a:prstGeom>
          <a:solidFill>
            <a:srgbClr val="4472C4"/>
          </a:solidFill>
          <a:ln/>
        </p:spPr>
        <p:txBody>
          <a:bodyPr/>
          <a:lstStyle/>
          <a:p>
            <a:endParaRPr lang="en-US"/>
          </a:p>
        </p:txBody>
      </p:sp>
      <p:pic>
        <p:nvPicPr>
          <p:cNvPr id="33" name="Image 5" descr="preencoded.png"/>
          <p:cNvPicPr>
            <a:picLocks noChangeAspect="1"/>
          </p:cNvPicPr>
          <p:nvPr/>
        </p:nvPicPr>
        <p:blipFill>
          <a:blip r:embed="rId8"/>
          <a:stretch>
            <a:fillRect/>
          </a:stretch>
        </p:blipFill>
        <p:spPr>
          <a:xfrm>
            <a:off x="6286500" y="2811780"/>
            <a:ext cx="228600" cy="228600"/>
          </a:xfrm>
          <a:prstGeom prst="rect">
            <a:avLst/>
          </a:prstGeom>
        </p:spPr>
      </p:pic>
      <p:sp>
        <p:nvSpPr>
          <p:cNvPr id="34" name="Text 25"/>
          <p:cNvSpPr txBox="1"/>
          <p:nvPr/>
        </p:nvSpPr>
        <p:spPr>
          <a:xfrm>
            <a:off x="6766560" y="2724912"/>
            <a:ext cx="1828800" cy="365760"/>
          </a:xfrm>
          <a:prstGeom prst="rect">
            <a:avLst/>
          </a:prstGeom>
          <a:noFill/>
          <a:ln/>
        </p:spPr>
        <p:txBody>
          <a:bodyPr wrap="square" lIns="0" tIns="0" rIns="0" bIns="0" rtlCol="0" anchor="ctr"/>
          <a:lstStyle/>
          <a:p>
            <a:pPr marL="0" indent="0">
              <a:buNone/>
            </a:pPr>
            <a:r>
              <a:rPr lang="en-US" sz="1350" b="1" dirty="0">
                <a:solidFill>
                  <a:srgbClr val="44546A"/>
                </a:solidFill>
                <a:latin typeface="Calibri" pitchFamily="34" charset="0"/>
                <a:ea typeface="Calibri" pitchFamily="34" charset="-122"/>
                <a:cs typeface="Calibri" pitchFamily="34" charset="-120"/>
              </a:rPr>
              <a:t>List your questions</a:t>
            </a:r>
            <a:endParaRPr lang="en-US" sz="1350" dirty="0"/>
          </a:p>
        </p:txBody>
      </p:sp>
      <p:sp>
        <p:nvSpPr>
          <p:cNvPr id="35" name="Text 26"/>
          <p:cNvSpPr txBox="1"/>
          <p:nvPr/>
        </p:nvSpPr>
        <p:spPr>
          <a:xfrm>
            <a:off x="6172200" y="3246120"/>
            <a:ext cx="2423160" cy="457200"/>
          </a:xfrm>
          <a:prstGeom prst="rect">
            <a:avLst/>
          </a:prstGeom>
          <a:noFill/>
          <a:ln/>
        </p:spPr>
        <p:txBody>
          <a:bodyPr wrap="square" lIns="0" tIns="0" rIns="0" bIns="0" rtlCol="0" anchor="t"/>
          <a:lstStyle/>
          <a:p>
            <a:pPr marL="0" indent="0">
              <a:buNone/>
            </a:pPr>
            <a:r>
              <a:rPr lang="en-US" sz="1100" dirty="0">
                <a:solidFill>
                  <a:srgbClr val="66758A"/>
                </a:solidFill>
                <a:latin typeface="Calibri" pitchFamily="34" charset="0"/>
                <a:ea typeface="Calibri" pitchFamily="34" charset="-122"/>
                <a:cs typeface="Calibri" pitchFamily="34" charset="-120"/>
              </a:rPr>
              <a:t>Write what you want the lecture to answer.</a:t>
            </a:r>
            <a:endParaRPr lang="en-US" sz="1100" dirty="0"/>
          </a:p>
        </p:txBody>
      </p:sp>
      <p:sp>
        <p:nvSpPr>
          <p:cNvPr id="36" name="Shape 27"/>
          <p:cNvSpPr/>
          <p:nvPr/>
        </p:nvSpPr>
        <p:spPr>
          <a:xfrm>
            <a:off x="457200" y="3931920"/>
            <a:ext cx="8229600" cy="685800"/>
          </a:xfrm>
          <a:prstGeom prst="roundRect">
            <a:avLst>
              <a:gd name="adj" fmla="val 10667"/>
            </a:avLst>
          </a:prstGeom>
          <a:solidFill>
            <a:srgbClr val="FFF2CC"/>
          </a:solidFill>
          <a:ln/>
        </p:spPr>
        <p:txBody>
          <a:bodyPr/>
          <a:lstStyle/>
          <a:p>
            <a:endParaRPr lang="en-US"/>
          </a:p>
        </p:txBody>
      </p:sp>
      <p:sp>
        <p:nvSpPr>
          <p:cNvPr id="37" name="Text 28"/>
          <p:cNvSpPr txBox="1"/>
          <p:nvPr/>
        </p:nvSpPr>
        <p:spPr>
          <a:xfrm>
            <a:off x="640080" y="3931920"/>
            <a:ext cx="7863840" cy="685800"/>
          </a:xfrm>
          <a:prstGeom prst="rect">
            <a:avLst/>
          </a:prstGeom>
          <a:noFill/>
          <a:ln/>
        </p:spPr>
        <p:txBody>
          <a:bodyPr wrap="square" lIns="0" tIns="0" rIns="0" bIns="0" rtlCol="0" anchor="ctr"/>
          <a:lstStyle/>
          <a:p>
            <a:pPr marL="0" indent="0">
              <a:buNone/>
            </a:pPr>
            <a:r>
              <a:rPr lang="en-US" sz="1250" b="1" dirty="0">
                <a:solidFill>
                  <a:srgbClr val="222B36"/>
                </a:solidFill>
                <a:latin typeface="Calibri" pitchFamily="34" charset="0"/>
                <a:ea typeface="Calibri" pitchFamily="34" charset="-122"/>
                <a:cs typeface="Calibri" pitchFamily="34" charset="-120"/>
              </a:rPr>
              <a:t>Example: </a:t>
            </a:r>
            <a:r>
              <a:rPr lang="en-US" sz="1250" dirty="0">
                <a:solidFill>
                  <a:srgbClr val="222B36"/>
                </a:solidFill>
                <a:latin typeface="Calibri" pitchFamily="34" charset="0"/>
                <a:ea typeface="Calibri" pitchFamily="34" charset="-122"/>
                <a:cs typeface="Calibri" pitchFamily="34" charset="-120"/>
              </a:rPr>
              <a:t>Lecture "Time Management for Students". Predict: planning, priorities, procrastination. Question: "Which tool works best for a busy week?"</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NOTE-TAKING · DURING</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Listen for cue words</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3044952"/>
        </p:xfrm>
        <a:graphic>
          <a:graphicData uri="http://schemas.openxmlformats.org/drawingml/2006/table">
            <a:tbl>
              <a:tblPr/>
              <a:tblGrid>
                <a:gridCol w="26517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41148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Type of cue word</a:t>
                      </a:r>
                      <a:endParaRPr lang="en-US" sz="13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44546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Examples</a:t>
                      </a:r>
                      <a:endParaRPr lang="en-US" sz="13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44546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to do</a:t>
                      </a:r>
                      <a:endParaRPr lang="en-US" sz="13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44546A"/>
                    </a:solidFill>
                  </a:tcPr>
                </a:tc>
                <a:extLst>
                  <a:ext uri="{0D108BD9-81ED-4DB2-BD59-A6C34878D82A}">
                    <a16:rowId xmlns:a16="http://schemas.microsoft.com/office/drawing/2014/main" val="10000"/>
                  </a:ext>
                </a:extLst>
              </a:tr>
              <a:tr h="658368">
                <a:tc>
                  <a:txBody>
                    <a:bodyPr/>
                    <a:lstStyle/>
                    <a:p>
                      <a:pPr marL="0" indent="0">
                        <a:buNone/>
                      </a:pPr>
                      <a:r>
                        <a:rPr lang="en-US" sz="1300" b="1" dirty="0">
                          <a:solidFill>
                            <a:srgbClr val="222B36"/>
                          </a:solidFill>
                          <a:latin typeface="Calibri" pitchFamily="34" charset="0"/>
                          <a:ea typeface="Calibri" pitchFamily="34" charset="-122"/>
                          <a:cs typeface="Calibri" pitchFamily="34" charset="-120"/>
                        </a:rPr>
                        <a:t>Signal emphasis or importance</a:t>
                      </a:r>
                      <a:endParaRPr lang="en-US" sz="13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BE5D6"/>
                    </a:solidFill>
                  </a:tcPr>
                </a:tc>
                <a:tc>
                  <a:txBody>
                    <a:bodyPr/>
                    <a:lstStyle/>
                    <a:p>
                      <a:pPr marL="0" indent="0">
                        <a:buNone/>
                      </a:pPr>
                      <a:r>
                        <a:rPr lang="en-US" sz="1300" dirty="0">
                          <a:solidFill>
                            <a:srgbClr val="222B36"/>
                          </a:solidFill>
                          <a:latin typeface="Calibri" pitchFamily="34" charset="0"/>
                          <a:ea typeface="Calibri" pitchFamily="34" charset="-122"/>
                          <a:cs typeface="Calibri" pitchFamily="34" charset="-120"/>
                        </a:rPr>
                        <a:t>essential, crucial, significantly</a:t>
                      </a:r>
                      <a:endParaRPr lang="en-US" sz="13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300" dirty="0">
                          <a:solidFill>
                            <a:srgbClr val="222B36"/>
                          </a:solidFill>
                          <a:latin typeface="Calibri" pitchFamily="34" charset="0"/>
                          <a:ea typeface="Calibri" pitchFamily="34" charset="-122"/>
                          <a:cs typeface="Calibri" pitchFamily="34" charset="-120"/>
                        </a:rPr>
                        <a:t>Star it and write it down</a:t>
                      </a:r>
                      <a:endParaRPr lang="en-US" sz="13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300" b="1" dirty="0">
                          <a:solidFill>
                            <a:srgbClr val="222B36"/>
                          </a:solidFill>
                          <a:latin typeface="Calibri" pitchFamily="34" charset="0"/>
                          <a:ea typeface="Calibri" pitchFamily="34" charset="-122"/>
                          <a:cs typeface="Calibri" pitchFamily="34" charset="-120"/>
                        </a:rPr>
                        <a:t>Signal order or scope</a:t>
                      </a:r>
                      <a:endParaRPr lang="en-US" sz="13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DAE3F3"/>
                    </a:solidFill>
                  </a:tcPr>
                </a:tc>
                <a:tc>
                  <a:txBody>
                    <a:bodyPr/>
                    <a:lstStyle/>
                    <a:p>
                      <a:pPr marL="0" indent="0">
                        <a:buNone/>
                      </a:pPr>
                      <a:r>
                        <a:rPr lang="en-US" sz="1300" dirty="0">
                          <a:solidFill>
                            <a:srgbClr val="222B36"/>
                          </a:solidFill>
                          <a:latin typeface="Calibri" pitchFamily="34" charset="0"/>
                          <a:ea typeface="Calibri" pitchFamily="34" charset="-122"/>
                          <a:cs typeface="Calibri" pitchFamily="34" charset="-120"/>
                        </a:rPr>
                        <a:t>first, second, third; initially, finally; for instance, for example</a:t>
                      </a:r>
                      <a:endParaRPr lang="en-US" sz="13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300" dirty="0">
                          <a:solidFill>
                            <a:srgbClr val="222B36"/>
                          </a:solidFill>
                          <a:latin typeface="Calibri" pitchFamily="34" charset="0"/>
                          <a:ea typeface="Calibri" pitchFamily="34" charset="-122"/>
                          <a:cs typeface="Calibri" pitchFamily="34" charset="-120"/>
                        </a:rPr>
                        <a:t>Number it, note the example (EX)</a:t>
                      </a:r>
                      <a:endParaRPr lang="en-US" sz="13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300" b="1" dirty="0">
                          <a:solidFill>
                            <a:srgbClr val="222B36"/>
                          </a:solidFill>
                          <a:latin typeface="Calibri" pitchFamily="34" charset="0"/>
                          <a:ea typeface="Calibri" pitchFamily="34" charset="-122"/>
                          <a:cs typeface="Calibri" pitchFamily="34" charset="-120"/>
                        </a:rPr>
                        <a:t>Signal a new direction</a:t>
                      </a:r>
                      <a:endParaRPr lang="en-US" sz="13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2CC"/>
                    </a:solidFill>
                  </a:tcPr>
                </a:tc>
                <a:tc>
                  <a:txBody>
                    <a:bodyPr/>
                    <a:lstStyle/>
                    <a:p>
                      <a:pPr marL="0" indent="0">
                        <a:buNone/>
                      </a:pPr>
                      <a:r>
                        <a:rPr lang="en-US" sz="1300" dirty="0">
                          <a:solidFill>
                            <a:srgbClr val="222B36"/>
                          </a:solidFill>
                          <a:latin typeface="Calibri" pitchFamily="34" charset="0"/>
                          <a:ea typeface="Calibri" pitchFamily="34" charset="-122"/>
                          <a:cs typeface="Calibri" pitchFamily="34" charset="-120"/>
                        </a:rPr>
                        <a:t>however, nonetheless, whereas, in contrast</a:t>
                      </a:r>
                      <a:endParaRPr lang="en-US" sz="13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300" dirty="0">
                          <a:solidFill>
                            <a:srgbClr val="222B36"/>
                          </a:solidFill>
                          <a:latin typeface="Calibri" pitchFamily="34" charset="0"/>
                          <a:ea typeface="Calibri" pitchFamily="34" charset="-122"/>
                          <a:cs typeface="Calibri" pitchFamily="34" charset="-120"/>
                        </a:rPr>
                        <a:t>Start a contrasting note</a:t>
                      </a:r>
                      <a:endParaRPr lang="en-US" sz="13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300" b="1" dirty="0">
                          <a:solidFill>
                            <a:srgbClr val="222B36"/>
                          </a:solidFill>
                          <a:latin typeface="Calibri" pitchFamily="34" charset="0"/>
                          <a:ea typeface="Calibri" pitchFamily="34" charset="-122"/>
                          <a:cs typeface="Calibri" pitchFamily="34" charset="-120"/>
                        </a:rPr>
                        <a:t>Signal NOT central</a:t>
                      </a:r>
                      <a:endParaRPr lang="en-US" sz="13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E2F0D9"/>
                    </a:solidFill>
                  </a:tcPr>
                </a:tc>
                <a:tc>
                  <a:txBody>
                    <a:bodyPr/>
                    <a:lstStyle/>
                    <a:p>
                      <a:pPr marL="0" indent="0">
                        <a:buNone/>
                      </a:pPr>
                      <a:r>
                        <a:rPr lang="en-US" sz="1300" dirty="0">
                          <a:solidFill>
                            <a:srgbClr val="222B36"/>
                          </a:solidFill>
                          <a:latin typeface="Calibri" pitchFamily="34" charset="0"/>
                          <a:ea typeface="Calibri" pitchFamily="34" charset="-122"/>
                          <a:cs typeface="Calibri" pitchFamily="34" charset="-120"/>
                        </a:rPr>
                        <a:t>incidentally, as a digression, by the way</a:t>
                      </a:r>
                      <a:endParaRPr lang="en-US" sz="13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300" dirty="0">
                          <a:solidFill>
                            <a:srgbClr val="222B36"/>
                          </a:solidFill>
                          <a:latin typeface="Calibri" pitchFamily="34" charset="0"/>
                          <a:ea typeface="Calibri" pitchFamily="34" charset="-122"/>
                          <a:cs typeface="Calibri" pitchFamily="34" charset="-120"/>
                        </a:rPr>
                        <a:t>Skip it, no need to write</a:t>
                      </a:r>
                      <a:endParaRPr lang="en-US" sz="13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Text 3"/>
          <p:cNvSpPr txBox="1"/>
          <p:nvPr/>
        </p:nvSpPr>
        <p:spPr>
          <a:xfrm>
            <a:off x="457200" y="4389120"/>
            <a:ext cx="8229600" cy="274320"/>
          </a:xfrm>
          <a:prstGeom prst="rect">
            <a:avLst/>
          </a:prstGeom>
          <a:noFill/>
          <a:ln/>
        </p:spPr>
        <p:txBody>
          <a:bodyPr wrap="square" lIns="0" tIns="0" rIns="0" bIns="0" rtlCol="0" anchor="t"/>
          <a:lstStyle/>
          <a:p>
            <a:pPr marL="0" indent="0">
              <a:buNone/>
            </a:pPr>
            <a:r>
              <a:rPr lang="en-US" sz="1250" i="1" dirty="0">
                <a:solidFill>
                  <a:srgbClr val="66758A"/>
                </a:solidFill>
                <a:latin typeface="Calibri" pitchFamily="34" charset="0"/>
                <a:ea typeface="Calibri" pitchFamily="34" charset="-122"/>
                <a:cs typeface="Calibri" pitchFamily="34" charset="-120"/>
              </a:rPr>
              <a:t>Cue words help you cluster and prioritize information as you listen.</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NOTE-TAKING · DURING</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Know what to write down</a:t>
            </a:r>
            <a:endParaRPr lang="en-US" sz="3000" dirty="0"/>
          </a:p>
        </p:txBody>
      </p:sp>
      <p:sp>
        <p:nvSpPr>
          <p:cNvPr id="6" name="Shape 3"/>
          <p:cNvSpPr/>
          <p:nvPr/>
        </p:nvSpPr>
        <p:spPr>
          <a:xfrm>
            <a:off x="457200" y="1280160"/>
            <a:ext cx="4754880" cy="3337560"/>
          </a:xfrm>
          <a:prstGeom prst="roundRect">
            <a:avLst>
              <a:gd name="adj" fmla="val 2192"/>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685800" y="1417320"/>
            <a:ext cx="3657600" cy="320040"/>
          </a:xfrm>
          <a:prstGeom prst="rect">
            <a:avLst/>
          </a:prstGeom>
          <a:noFill/>
          <a:ln/>
        </p:spPr>
        <p:txBody>
          <a:bodyPr wrap="square" lIns="0" tIns="0" rIns="0" bIns="0" rtlCol="0" anchor="t"/>
          <a:lstStyle/>
          <a:p>
            <a:pPr marL="0" indent="0">
              <a:buNone/>
            </a:pPr>
            <a:r>
              <a:rPr lang="en-US" sz="1600" b="1" dirty="0">
                <a:solidFill>
                  <a:srgbClr val="44546A"/>
                </a:solidFill>
                <a:latin typeface="Calibri" pitchFamily="34" charset="0"/>
                <a:ea typeface="Calibri" pitchFamily="34" charset="-122"/>
                <a:cs typeface="Calibri" pitchFamily="34" charset="-120"/>
              </a:rPr>
              <a:t>Write down</a:t>
            </a:r>
            <a:endParaRPr lang="en-US" sz="1600" dirty="0"/>
          </a:p>
        </p:txBody>
      </p:sp>
      <p:sp>
        <p:nvSpPr>
          <p:cNvPr id="8" name="Shape 5"/>
          <p:cNvSpPr/>
          <p:nvPr/>
        </p:nvSpPr>
        <p:spPr>
          <a:xfrm>
            <a:off x="685800" y="1901952"/>
            <a:ext cx="329184" cy="329184"/>
          </a:xfrm>
          <a:prstGeom prst="ellipse">
            <a:avLst/>
          </a:prstGeom>
          <a:solidFill>
            <a:srgbClr val="4E8A2E"/>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768096" y="1984248"/>
            <a:ext cx="164592" cy="164592"/>
          </a:xfrm>
          <a:prstGeom prst="rect">
            <a:avLst/>
          </a:prstGeom>
        </p:spPr>
      </p:pic>
      <p:sp>
        <p:nvSpPr>
          <p:cNvPr id="10" name="Text 6"/>
          <p:cNvSpPr txBox="1"/>
          <p:nvPr/>
        </p:nvSpPr>
        <p:spPr>
          <a:xfrm>
            <a:off x="1188720" y="1874520"/>
            <a:ext cx="3840480" cy="384048"/>
          </a:xfrm>
          <a:prstGeom prst="rect">
            <a:avLst/>
          </a:prstGeom>
          <a:noFill/>
          <a:ln/>
        </p:spPr>
        <p:txBody>
          <a:bodyPr wrap="square" lIns="0" tIns="0" rIns="0" bIns="0" rtlCol="0" anchor="ctr"/>
          <a:lstStyle/>
          <a:p>
            <a:pPr marL="0" indent="0">
              <a:buNone/>
            </a:pPr>
            <a:r>
              <a:rPr lang="en-US" sz="1250" dirty="0">
                <a:solidFill>
                  <a:srgbClr val="222B36"/>
                </a:solidFill>
                <a:latin typeface="Calibri" pitchFamily="34" charset="0"/>
                <a:ea typeface="Calibri" pitchFamily="34" charset="-122"/>
                <a:cs typeface="Calibri" pitchFamily="34" charset="-120"/>
              </a:rPr>
              <a:t>New or unfamiliar facts and ideas</a:t>
            </a:r>
            <a:endParaRPr lang="en-US" sz="1250" dirty="0"/>
          </a:p>
        </p:txBody>
      </p:sp>
      <p:sp>
        <p:nvSpPr>
          <p:cNvPr id="11" name="Shape 7"/>
          <p:cNvSpPr/>
          <p:nvPr/>
        </p:nvSpPr>
        <p:spPr>
          <a:xfrm>
            <a:off x="685800" y="2432304"/>
            <a:ext cx="329184" cy="329184"/>
          </a:xfrm>
          <a:prstGeom prst="ellipse">
            <a:avLst/>
          </a:prstGeom>
          <a:solidFill>
            <a:srgbClr val="4E8A2E"/>
          </a:solidFill>
          <a:ln/>
        </p:spPr>
        <p:txBody>
          <a:bodyPr/>
          <a:lstStyle/>
          <a:p>
            <a:endParaRPr lang="en-US"/>
          </a:p>
        </p:txBody>
      </p:sp>
      <p:pic>
        <p:nvPicPr>
          <p:cNvPr id="12" name="Image 1" descr="preencoded.png"/>
          <p:cNvPicPr>
            <a:picLocks noChangeAspect="1"/>
          </p:cNvPicPr>
          <p:nvPr/>
        </p:nvPicPr>
        <p:blipFill>
          <a:blip r:embed="rId3"/>
          <a:stretch>
            <a:fillRect/>
          </a:stretch>
        </p:blipFill>
        <p:spPr>
          <a:xfrm>
            <a:off x="768096" y="2514600"/>
            <a:ext cx="164592" cy="164592"/>
          </a:xfrm>
          <a:prstGeom prst="rect">
            <a:avLst/>
          </a:prstGeom>
        </p:spPr>
      </p:pic>
      <p:sp>
        <p:nvSpPr>
          <p:cNvPr id="13" name="Text 8"/>
          <p:cNvSpPr txBox="1"/>
          <p:nvPr/>
        </p:nvSpPr>
        <p:spPr>
          <a:xfrm>
            <a:off x="1188720" y="2404872"/>
            <a:ext cx="3840480" cy="384048"/>
          </a:xfrm>
          <a:prstGeom prst="rect">
            <a:avLst/>
          </a:prstGeom>
          <a:noFill/>
          <a:ln/>
        </p:spPr>
        <p:txBody>
          <a:bodyPr wrap="square" lIns="0" tIns="0" rIns="0" bIns="0" rtlCol="0" anchor="ctr"/>
          <a:lstStyle/>
          <a:p>
            <a:pPr marL="0" indent="0">
              <a:buNone/>
            </a:pPr>
            <a:r>
              <a:rPr lang="en-US" sz="1250" dirty="0">
                <a:solidFill>
                  <a:srgbClr val="222B36"/>
                </a:solidFill>
                <a:latin typeface="Calibri" pitchFamily="34" charset="0"/>
                <a:ea typeface="Calibri" pitchFamily="34" charset="-122"/>
                <a:cs typeface="Calibri" pitchFamily="34" charset="-120"/>
              </a:rPr>
              <a:t>Lists: the lecturer's categories, reasons, themes</a:t>
            </a:r>
            <a:endParaRPr lang="en-US" sz="1250" dirty="0"/>
          </a:p>
        </p:txBody>
      </p:sp>
      <p:sp>
        <p:nvSpPr>
          <p:cNvPr id="14" name="Shape 9"/>
          <p:cNvSpPr/>
          <p:nvPr/>
        </p:nvSpPr>
        <p:spPr>
          <a:xfrm>
            <a:off x="685800" y="2962656"/>
            <a:ext cx="329184" cy="329184"/>
          </a:xfrm>
          <a:prstGeom prst="ellipse">
            <a:avLst/>
          </a:prstGeom>
          <a:solidFill>
            <a:srgbClr val="4E8A2E"/>
          </a:solidFill>
          <a:ln/>
        </p:spPr>
        <p:txBody>
          <a:bodyPr/>
          <a:lstStyle/>
          <a:p>
            <a:endParaRPr lang="en-US"/>
          </a:p>
        </p:txBody>
      </p:sp>
      <p:pic>
        <p:nvPicPr>
          <p:cNvPr id="15" name="Image 2" descr="preencoded.png"/>
          <p:cNvPicPr>
            <a:picLocks noChangeAspect="1"/>
          </p:cNvPicPr>
          <p:nvPr/>
        </p:nvPicPr>
        <p:blipFill>
          <a:blip r:embed="rId3"/>
          <a:stretch>
            <a:fillRect/>
          </a:stretch>
        </p:blipFill>
        <p:spPr>
          <a:xfrm>
            <a:off x="768096" y="3044952"/>
            <a:ext cx="164592" cy="164592"/>
          </a:xfrm>
          <a:prstGeom prst="rect">
            <a:avLst/>
          </a:prstGeom>
        </p:spPr>
      </p:pic>
      <p:sp>
        <p:nvSpPr>
          <p:cNvPr id="16" name="Text 10"/>
          <p:cNvSpPr txBox="1"/>
          <p:nvPr/>
        </p:nvSpPr>
        <p:spPr>
          <a:xfrm>
            <a:off x="1188720" y="2935224"/>
            <a:ext cx="3840480" cy="384048"/>
          </a:xfrm>
          <a:prstGeom prst="rect">
            <a:avLst/>
          </a:prstGeom>
          <a:noFill/>
          <a:ln/>
        </p:spPr>
        <p:txBody>
          <a:bodyPr wrap="square" lIns="0" tIns="0" rIns="0" bIns="0" rtlCol="0" anchor="ctr"/>
          <a:lstStyle/>
          <a:p>
            <a:pPr marL="0" indent="0">
              <a:buNone/>
            </a:pPr>
            <a:r>
              <a:rPr lang="en-US" sz="1250" dirty="0">
                <a:solidFill>
                  <a:srgbClr val="222B36"/>
                </a:solidFill>
                <a:latin typeface="Calibri" pitchFamily="34" charset="0"/>
                <a:ea typeface="Calibri" pitchFamily="34" charset="-122"/>
                <a:cs typeface="Calibri" pitchFamily="34" charset="-120"/>
              </a:rPr>
              <a:t>The lecturer's reasons for favouring a theory</a:t>
            </a:r>
            <a:endParaRPr lang="en-US" sz="1250" dirty="0"/>
          </a:p>
        </p:txBody>
      </p:sp>
      <p:sp>
        <p:nvSpPr>
          <p:cNvPr id="17" name="Shape 11"/>
          <p:cNvSpPr/>
          <p:nvPr/>
        </p:nvSpPr>
        <p:spPr>
          <a:xfrm>
            <a:off x="685800" y="3493008"/>
            <a:ext cx="329184" cy="329184"/>
          </a:xfrm>
          <a:prstGeom prst="ellipse">
            <a:avLst/>
          </a:prstGeom>
          <a:solidFill>
            <a:srgbClr val="4E8A2E"/>
          </a:solidFill>
          <a:ln/>
        </p:spPr>
        <p:txBody>
          <a:bodyPr/>
          <a:lstStyle/>
          <a:p>
            <a:endParaRPr lang="en-US"/>
          </a:p>
        </p:txBody>
      </p:sp>
      <p:pic>
        <p:nvPicPr>
          <p:cNvPr id="18" name="Image 3" descr="preencoded.png"/>
          <p:cNvPicPr>
            <a:picLocks noChangeAspect="1"/>
          </p:cNvPicPr>
          <p:nvPr/>
        </p:nvPicPr>
        <p:blipFill>
          <a:blip r:embed="rId3"/>
          <a:stretch>
            <a:fillRect/>
          </a:stretch>
        </p:blipFill>
        <p:spPr>
          <a:xfrm>
            <a:off x="768096" y="3575304"/>
            <a:ext cx="164592" cy="164592"/>
          </a:xfrm>
          <a:prstGeom prst="rect">
            <a:avLst/>
          </a:prstGeom>
        </p:spPr>
      </p:pic>
      <p:sp>
        <p:nvSpPr>
          <p:cNvPr id="19" name="Text 12"/>
          <p:cNvSpPr txBox="1"/>
          <p:nvPr/>
        </p:nvSpPr>
        <p:spPr>
          <a:xfrm>
            <a:off x="1188720" y="3465576"/>
            <a:ext cx="3840480" cy="384048"/>
          </a:xfrm>
          <a:prstGeom prst="rect">
            <a:avLst/>
          </a:prstGeom>
          <a:noFill/>
          <a:ln/>
        </p:spPr>
        <p:txBody>
          <a:bodyPr wrap="square" lIns="0" tIns="0" rIns="0" bIns="0" rtlCol="0" anchor="ctr"/>
          <a:lstStyle/>
          <a:p>
            <a:pPr marL="0" indent="0">
              <a:buNone/>
            </a:pPr>
            <a:r>
              <a:rPr lang="en-US" sz="1250" dirty="0">
                <a:solidFill>
                  <a:srgbClr val="222B36"/>
                </a:solidFill>
                <a:latin typeface="Calibri" pitchFamily="34" charset="0"/>
                <a:ea typeface="Calibri" pitchFamily="34" charset="-122"/>
                <a:cs typeface="Calibri" pitchFamily="34" charset="-120"/>
              </a:rPr>
              <a:t>Points the lecturer pauses over or repeats</a:t>
            </a:r>
            <a:endParaRPr lang="en-US" sz="1250" dirty="0"/>
          </a:p>
        </p:txBody>
      </p:sp>
      <p:sp>
        <p:nvSpPr>
          <p:cNvPr id="20" name="Shape 13"/>
          <p:cNvSpPr/>
          <p:nvPr/>
        </p:nvSpPr>
        <p:spPr>
          <a:xfrm>
            <a:off x="685800" y="4023360"/>
            <a:ext cx="329184" cy="329184"/>
          </a:xfrm>
          <a:prstGeom prst="ellipse">
            <a:avLst/>
          </a:prstGeom>
          <a:solidFill>
            <a:srgbClr val="D8641A"/>
          </a:solidFill>
          <a:ln/>
        </p:spPr>
        <p:txBody>
          <a:bodyPr/>
          <a:lstStyle/>
          <a:p>
            <a:endParaRPr lang="en-US"/>
          </a:p>
        </p:txBody>
      </p:sp>
      <p:pic>
        <p:nvPicPr>
          <p:cNvPr id="21" name="Image 4" descr="preencoded.png"/>
          <p:cNvPicPr>
            <a:picLocks noChangeAspect="1"/>
          </p:cNvPicPr>
          <p:nvPr/>
        </p:nvPicPr>
        <p:blipFill>
          <a:blip r:embed="rId4"/>
          <a:stretch>
            <a:fillRect/>
          </a:stretch>
        </p:blipFill>
        <p:spPr>
          <a:xfrm>
            <a:off x="768096" y="4105656"/>
            <a:ext cx="164592" cy="164592"/>
          </a:xfrm>
          <a:prstGeom prst="rect">
            <a:avLst/>
          </a:prstGeom>
        </p:spPr>
      </p:pic>
      <p:sp>
        <p:nvSpPr>
          <p:cNvPr id="22" name="Text 14"/>
          <p:cNvSpPr txBox="1"/>
          <p:nvPr/>
        </p:nvSpPr>
        <p:spPr>
          <a:xfrm>
            <a:off x="1188720" y="3995928"/>
            <a:ext cx="3840480" cy="384048"/>
          </a:xfrm>
          <a:prstGeom prst="rect">
            <a:avLst/>
          </a:prstGeom>
          <a:noFill/>
          <a:ln/>
        </p:spPr>
        <p:txBody>
          <a:bodyPr wrap="square" lIns="0" tIns="0" rIns="0" bIns="0" rtlCol="0" anchor="ctr"/>
          <a:lstStyle/>
          <a:p>
            <a:pPr marL="0" indent="0">
              <a:buNone/>
            </a:pPr>
            <a:r>
              <a:rPr lang="en-US" sz="1250" dirty="0">
                <a:solidFill>
                  <a:srgbClr val="222B36"/>
                </a:solidFill>
                <a:latin typeface="Calibri" pitchFamily="34" charset="0"/>
                <a:ea typeface="Calibri" pitchFamily="34" charset="-122"/>
                <a:cs typeface="Calibri" pitchFamily="34" charset="-120"/>
              </a:rPr>
              <a:t>NOT what's on a slide you can get later</a:t>
            </a:r>
            <a:endParaRPr lang="en-US" sz="1250" dirty="0"/>
          </a:p>
        </p:txBody>
      </p:sp>
      <p:sp>
        <p:nvSpPr>
          <p:cNvPr id="23" name="Shape 15"/>
          <p:cNvSpPr/>
          <p:nvPr/>
        </p:nvSpPr>
        <p:spPr>
          <a:xfrm>
            <a:off x="5394960" y="1280160"/>
            <a:ext cx="3291840" cy="3337560"/>
          </a:xfrm>
          <a:prstGeom prst="roundRect">
            <a:avLst>
              <a:gd name="adj" fmla="val 2222"/>
            </a:avLst>
          </a:prstGeom>
          <a:solidFill>
            <a:srgbClr val="DAE3F3"/>
          </a:solidFill>
          <a:ln/>
        </p:spPr>
        <p:txBody>
          <a:bodyPr/>
          <a:lstStyle/>
          <a:p>
            <a:endParaRPr lang="en-US"/>
          </a:p>
        </p:txBody>
      </p:sp>
      <p:sp>
        <p:nvSpPr>
          <p:cNvPr id="24" name="Text 16"/>
          <p:cNvSpPr txBox="1"/>
          <p:nvPr/>
        </p:nvSpPr>
        <p:spPr>
          <a:xfrm>
            <a:off x="5577840" y="1417320"/>
            <a:ext cx="2926080" cy="320040"/>
          </a:xfrm>
          <a:prstGeom prst="rect">
            <a:avLst/>
          </a:prstGeom>
          <a:noFill/>
          <a:ln/>
        </p:spPr>
        <p:txBody>
          <a:bodyPr wrap="square" lIns="0" tIns="0" rIns="0" bIns="0" rtlCol="0" anchor="t"/>
          <a:lstStyle/>
          <a:p>
            <a:pPr marL="0" indent="0">
              <a:buNone/>
            </a:pPr>
            <a:r>
              <a:rPr lang="en-US" sz="1600" b="1" dirty="0">
                <a:solidFill>
                  <a:srgbClr val="44546A"/>
                </a:solidFill>
                <a:latin typeface="Calibri" pitchFamily="34" charset="0"/>
                <a:ea typeface="Calibri" pitchFamily="34" charset="-122"/>
                <a:cs typeface="Calibri" pitchFamily="34" charset="-120"/>
              </a:rPr>
              <a:t>Build your shorthand</a:t>
            </a:r>
            <a:endParaRPr lang="en-US" sz="1600" dirty="0"/>
          </a:p>
        </p:txBody>
      </p:sp>
      <p:sp>
        <p:nvSpPr>
          <p:cNvPr id="25" name="Text 17"/>
          <p:cNvSpPr txBox="1"/>
          <p:nvPr/>
        </p:nvSpPr>
        <p:spPr>
          <a:xfrm>
            <a:off x="5577840" y="1874520"/>
            <a:ext cx="1737360" cy="274320"/>
          </a:xfrm>
          <a:prstGeom prst="rect">
            <a:avLst/>
          </a:prstGeom>
          <a:noFill/>
          <a:ln/>
        </p:spPr>
        <p:txBody>
          <a:bodyPr wrap="square" lIns="0" tIns="0" rIns="0" bIns="0" rtlCol="0" anchor="t"/>
          <a:lstStyle/>
          <a:p>
            <a:pPr marL="0" indent="0">
              <a:buNone/>
            </a:pPr>
            <a:r>
              <a:rPr lang="en-US" sz="1200" dirty="0">
                <a:solidFill>
                  <a:srgbClr val="66758A"/>
                </a:solidFill>
                <a:latin typeface="Calibri" pitchFamily="34" charset="0"/>
                <a:ea typeface="Calibri" pitchFamily="34" charset="-122"/>
                <a:cs typeface="Calibri" pitchFamily="34" charset="-120"/>
              </a:rPr>
              <a:t>because</a:t>
            </a:r>
            <a:endParaRPr lang="en-US" sz="1200" dirty="0"/>
          </a:p>
        </p:txBody>
      </p:sp>
      <p:sp>
        <p:nvSpPr>
          <p:cNvPr id="26" name="Text 18"/>
          <p:cNvSpPr txBox="1"/>
          <p:nvPr/>
        </p:nvSpPr>
        <p:spPr>
          <a:xfrm>
            <a:off x="7315200" y="1874520"/>
            <a:ext cx="1188720" cy="274320"/>
          </a:xfrm>
          <a:prstGeom prst="rect">
            <a:avLst/>
          </a:prstGeom>
          <a:noFill/>
          <a:ln/>
        </p:spPr>
        <p:txBody>
          <a:bodyPr wrap="square" lIns="0" tIns="0" rIns="0" bIns="0" rtlCol="0" anchor="t"/>
          <a:lstStyle/>
          <a:p>
            <a:pPr marL="0" indent="0">
              <a:buNone/>
            </a:pPr>
            <a:r>
              <a:rPr lang="en-US" sz="1300" b="1" dirty="0">
                <a:solidFill>
                  <a:srgbClr val="D8641A"/>
                </a:solidFill>
                <a:latin typeface="Calibri" pitchFamily="34" charset="0"/>
                <a:ea typeface="Calibri" pitchFamily="34" charset="-122"/>
                <a:cs typeface="Calibri" pitchFamily="34" charset="-120"/>
              </a:rPr>
              <a:t>b/c</a:t>
            </a:r>
            <a:endParaRPr lang="en-US" sz="1300" dirty="0"/>
          </a:p>
        </p:txBody>
      </p:sp>
      <p:sp>
        <p:nvSpPr>
          <p:cNvPr id="27" name="Text 19"/>
          <p:cNvSpPr txBox="1"/>
          <p:nvPr/>
        </p:nvSpPr>
        <p:spPr>
          <a:xfrm>
            <a:off x="5577840" y="2203704"/>
            <a:ext cx="1737360" cy="274320"/>
          </a:xfrm>
          <a:prstGeom prst="rect">
            <a:avLst/>
          </a:prstGeom>
          <a:noFill/>
          <a:ln/>
        </p:spPr>
        <p:txBody>
          <a:bodyPr wrap="square" lIns="0" tIns="0" rIns="0" bIns="0" rtlCol="0" anchor="t"/>
          <a:lstStyle/>
          <a:p>
            <a:pPr marL="0" indent="0">
              <a:buNone/>
            </a:pPr>
            <a:r>
              <a:rPr lang="en-US" sz="1200" dirty="0">
                <a:solidFill>
                  <a:srgbClr val="66758A"/>
                </a:solidFill>
                <a:latin typeface="Calibri" pitchFamily="34" charset="0"/>
                <a:ea typeface="Calibri" pitchFamily="34" charset="-122"/>
                <a:cs typeface="Calibri" pitchFamily="34" charset="-120"/>
              </a:rPr>
              <a:t>with / without</a:t>
            </a:r>
            <a:endParaRPr lang="en-US" sz="1200" dirty="0"/>
          </a:p>
        </p:txBody>
      </p:sp>
      <p:sp>
        <p:nvSpPr>
          <p:cNvPr id="28" name="Text 20"/>
          <p:cNvSpPr txBox="1"/>
          <p:nvPr/>
        </p:nvSpPr>
        <p:spPr>
          <a:xfrm>
            <a:off x="7315200" y="2203704"/>
            <a:ext cx="1188720" cy="274320"/>
          </a:xfrm>
          <a:prstGeom prst="rect">
            <a:avLst/>
          </a:prstGeom>
          <a:noFill/>
          <a:ln/>
        </p:spPr>
        <p:txBody>
          <a:bodyPr wrap="square" lIns="0" tIns="0" rIns="0" bIns="0" rtlCol="0" anchor="t"/>
          <a:lstStyle/>
          <a:p>
            <a:pPr marL="0" indent="0">
              <a:buNone/>
            </a:pPr>
            <a:r>
              <a:rPr lang="en-US" sz="1300" b="1" dirty="0">
                <a:solidFill>
                  <a:srgbClr val="D8641A"/>
                </a:solidFill>
                <a:latin typeface="Calibri" pitchFamily="34" charset="0"/>
                <a:ea typeface="Calibri" pitchFamily="34" charset="-122"/>
                <a:cs typeface="Calibri" pitchFamily="34" charset="-120"/>
              </a:rPr>
              <a:t>w/  w/o</a:t>
            </a:r>
            <a:endParaRPr lang="en-US" sz="1300" dirty="0"/>
          </a:p>
        </p:txBody>
      </p:sp>
      <p:sp>
        <p:nvSpPr>
          <p:cNvPr id="29" name="Text 21"/>
          <p:cNvSpPr txBox="1"/>
          <p:nvPr/>
        </p:nvSpPr>
        <p:spPr>
          <a:xfrm>
            <a:off x="5577840" y="2532888"/>
            <a:ext cx="1737360" cy="274320"/>
          </a:xfrm>
          <a:prstGeom prst="rect">
            <a:avLst/>
          </a:prstGeom>
          <a:noFill/>
          <a:ln/>
        </p:spPr>
        <p:txBody>
          <a:bodyPr wrap="square" lIns="0" tIns="0" rIns="0" bIns="0" rtlCol="0" anchor="t"/>
          <a:lstStyle/>
          <a:p>
            <a:pPr marL="0" indent="0">
              <a:buNone/>
            </a:pPr>
            <a:r>
              <a:rPr lang="en-US" sz="1200" dirty="0">
                <a:solidFill>
                  <a:srgbClr val="66758A"/>
                </a:solidFill>
                <a:latin typeface="Calibri" pitchFamily="34" charset="0"/>
                <a:ea typeface="Calibri" pitchFamily="34" charset="-122"/>
                <a:cs typeface="Calibri" pitchFamily="34" charset="-120"/>
              </a:rPr>
              <a:t>leads to</a:t>
            </a:r>
            <a:endParaRPr lang="en-US" sz="1200" dirty="0"/>
          </a:p>
        </p:txBody>
      </p:sp>
      <p:sp>
        <p:nvSpPr>
          <p:cNvPr id="30" name="Text 22"/>
          <p:cNvSpPr txBox="1"/>
          <p:nvPr/>
        </p:nvSpPr>
        <p:spPr>
          <a:xfrm>
            <a:off x="7315200" y="2532888"/>
            <a:ext cx="1188720" cy="274320"/>
          </a:xfrm>
          <a:prstGeom prst="rect">
            <a:avLst/>
          </a:prstGeom>
          <a:noFill/>
          <a:ln/>
        </p:spPr>
        <p:txBody>
          <a:bodyPr wrap="square" lIns="0" tIns="0" rIns="0" bIns="0" rtlCol="0" anchor="t"/>
          <a:lstStyle/>
          <a:p>
            <a:pPr marL="0" indent="0">
              <a:buNone/>
            </a:pPr>
            <a:r>
              <a:rPr lang="en-US" sz="1300" b="1" dirty="0">
                <a:solidFill>
                  <a:srgbClr val="D8641A"/>
                </a:solidFill>
                <a:latin typeface="Calibri" pitchFamily="34" charset="0"/>
                <a:ea typeface="Calibri" pitchFamily="34" charset="-122"/>
                <a:cs typeface="Calibri" pitchFamily="34" charset="-120"/>
              </a:rPr>
              <a:t>→</a:t>
            </a:r>
            <a:endParaRPr lang="en-US" sz="1300" dirty="0"/>
          </a:p>
        </p:txBody>
      </p:sp>
      <p:sp>
        <p:nvSpPr>
          <p:cNvPr id="31" name="Text 23"/>
          <p:cNvSpPr txBox="1"/>
          <p:nvPr/>
        </p:nvSpPr>
        <p:spPr>
          <a:xfrm>
            <a:off x="5577840" y="2862072"/>
            <a:ext cx="1737360" cy="274320"/>
          </a:xfrm>
          <a:prstGeom prst="rect">
            <a:avLst/>
          </a:prstGeom>
          <a:noFill/>
          <a:ln/>
        </p:spPr>
        <p:txBody>
          <a:bodyPr wrap="square" lIns="0" tIns="0" rIns="0" bIns="0" rtlCol="0" anchor="t"/>
          <a:lstStyle/>
          <a:p>
            <a:pPr marL="0" indent="0">
              <a:buNone/>
            </a:pPr>
            <a:r>
              <a:rPr lang="en-US" sz="1200" dirty="0">
                <a:solidFill>
                  <a:srgbClr val="66758A"/>
                </a:solidFill>
                <a:latin typeface="Calibri" pitchFamily="34" charset="0"/>
                <a:ea typeface="Calibri" pitchFamily="34" charset="-122"/>
                <a:cs typeface="Calibri" pitchFamily="34" charset="-120"/>
              </a:rPr>
              <a:t>not equal</a:t>
            </a:r>
            <a:endParaRPr lang="en-US" sz="1200" dirty="0"/>
          </a:p>
        </p:txBody>
      </p:sp>
      <p:sp>
        <p:nvSpPr>
          <p:cNvPr id="32" name="Text 24"/>
          <p:cNvSpPr txBox="1"/>
          <p:nvPr/>
        </p:nvSpPr>
        <p:spPr>
          <a:xfrm>
            <a:off x="7315200" y="2862072"/>
            <a:ext cx="1188720" cy="274320"/>
          </a:xfrm>
          <a:prstGeom prst="rect">
            <a:avLst/>
          </a:prstGeom>
          <a:noFill/>
          <a:ln/>
        </p:spPr>
        <p:txBody>
          <a:bodyPr wrap="square" lIns="0" tIns="0" rIns="0" bIns="0" rtlCol="0" anchor="t"/>
          <a:lstStyle/>
          <a:p>
            <a:pPr marL="0" indent="0">
              <a:buNone/>
            </a:pPr>
            <a:r>
              <a:rPr lang="en-US" sz="1300" b="1" dirty="0">
                <a:solidFill>
                  <a:srgbClr val="D8641A"/>
                </a:solidFill>
                <a:latin typeface="Calibri" pitchFamily="34" charset="0"/>
                <a:ea typeface="Calibri" pitchFamily="34" charset="-122"/>
                <a:cs typeface="Calibri" pitchFamily="34" charset="-120"/>
              </a:rPr>
              <a:t>≠</a:t>
            </a:r>
            <a:endParaRPr lang="en-US" sz="1300" dirty="0"/>
          </a:p>
        </p:txBody>
      </p:sp>
      <p:sp>
        <p:nvSpPr>
          <p:cNvPr id="33" name="Text 25"/>
          <p:cNvSpPr txBox="1"/>
          <p:nvPr/>
        </p:nvSpPr>
        <p:spPr>
          <a:xfrm>
            <a:off x="5577840" y="3191256"/>
            <a:ext cx="1737360" cy="274320"/>
          </a:xfrm>
          <a:prstGeom prst="rect">
            <a:avLst/>
          </a:prstGeom>
          <a:noFill/>
          <a:ln/>
        </p:spPr>
        <p:txBody>
          <a:bodyPr wrap="square" lIns="0" tIns="0" rIns="0" bIns="0" rtlCol="0" anchor="t"/>
          <a:lstStyle/>
          <a:p>
            <a:pPr marL="0" indent="0">
              <a:buNone/>
            </a:pPr>
            <a:r>
              <a:rPr lang="en-US" sz="1200" dirty="0">
                <a:solidFill>
                  <a:srgbClr val="66758A"/>
                </a:solidFill>
                <a:latin typeface="Calibri" pitchFamily="34" charset="0"/>
                <a:ea typeface="Calibri" pitchFamily="34" charset="-122"/>
                <a:cs typeface="Calibri" pitchFamily="34" charset="-120"/>
              </a:rPr>
              <a:t>example</a:t>
            </a:r>
            <a:endParaRPr lang="en-US" sz="1200" dirty="0"/>
          </a:p>
        </p:txBody>
      </p:sp>
      <p:sp>
        <p:nvSpPr>
          <p:cNvPr id="34" name="Text 26"/>
          <p:cNvSpPr txBox="1"/>
          <p:nvPr/>
        </p:nvSpPr>
        <p:spPr>
          <a:xfrm>
            <a:off x="7315200" y="3191256"/>
            <a:ext cx="1188720" cy="274320"/>
          </a:xfrm>
          <a:prstGeom prst="rect">
            <a:avLst/>
          </a:prstGeom>
          <a:noFill/>
          <a:ln/>
        </p:spPr>
        <p:txBody>
          <a:bodyPr wrap="square" lIns="0" tIns="0" rIns="0" bIns="0" rtlCol="0" anchor="t"/>
          <a:lstStyle/>
          <a:p>
            <a:pPr marL="0" indent="0">
              <a:buNone/>
            </a:pPr>
            <a:r>
              <a:rPr lang="en-US" sz="1300" b="1" dirty="0">
                <a:solidFill>
                  <a:srgbClr val="D8641A"/>
                </a:solidFill>
                <a:latin typeface="Calibri" pitchFamily="34" charset="0"/>
                <a:ea typeface="Calibri" pitchFamily="34" charset="-122"/>
                <a:cs typeface="Calibri" pitchFamily="34" charset="-120"/>
              </a:rPr>
              <a:t>EX</a:t>
            </a:r>
            <a:endParaRPr lang="en-US" sz="1300" dirty="0"/>
          </a:p>
        </p:txBody>
      </p:sp>
      <p:sp>
        <p:nvSpPr>
          <p:cNvPr id="35" name="Text 27"/>
          <p:cNvSpPr txBox="1"/>
          <p:nvPr/>
        </p:nvSpPr>
        <p:spPr>
          <a:xfrm>
            <a:off x="5577840" y="3520440"/>
            <a:ext cx="1737360" cy="274320"/>
          </a:xfrm>
          <a:prstGeom prst="rect">
            <a:avLst/>
          </a:prstGeom>
          <a:noFill/>
          <a:ln/>
        </p:spPr>
        <p:txBody>
          <a:bodyPr wrap="square" lIns="0" tIns="0" rIns="0" bIns="0" rtlCol="0" anchor="t"/>
          <a:lstStyle/>
          <a:p>
            <a:pPr marL="0" indent="0">
              <a:buNone/>
            </a:pPr>
            <a:r>
              <a:rPr lang="en-US" sz="1200" dirty="0">
                <a:solidFill>
                  <a:srgbClr val="66758A"/>
                </a:solidFill>
                <a:latin typeface="Calibri" pitchFamily="34" charset="0"/>
                <a:ea typeface="Calibri" pitchFamily="34" charset="-122"/>
                <a:cs typeface="Calibri" pitchFamily="34" charset="-120"/>
              </a:rPr>
              <a:t>important</a:t>
            </a:r>
            <a:endParaRPr lang="en-US" sz="1200" dirty="0"/>
          </a:p>
        </p:txBody>
      </p:sp>
      <p:sp>
        <p:nvSpPr>
          <p:cNvPr id="36" name="Text 28"/>
          <p:cNvSpPr txBox="1"/>
          <p:nvPr/>
        </p:nvSpPr>
        <p:spPr>
          <a:xfrm>
            <a:off x="7315200" y="3520440"/>
            <a:ext cx="1188720" cy="274320"/>
          </a:xfrm>
          <a:prstGeom prst="rect">
            <a:avLst/>
          </a:prstGeom>
          <a:noFill/>
          <a:ln/>
        </p:spPr>
        <p:txBody>
          <a:bodyPr wrap="square" lIns="0" tIns="0" rIns="0" bIns="0" rtlCol="0" anchor="t"/>
          <a:lstStyle/>
          <a:p>
            <a:pPr marL="0" indent="0">
              <a:buNone/>
            </a:pPr>
            <a:r>
              <a:rPr lang="en-US" sz="1300" b="1" dirty="0">
                <a:solidFill>
                  <a:srgbClr val="D8641A"/>
                </a:solidFill>
                <a:latin typeface="Calibri" pitchFamily="34" charset="0"/>
                <a:ea typeface="Calibri" pitchFamily="34" charset="-122"/>
                <a:cs typeface="Calibri" pitchFamily="34" charset="-120"/>
              </a:rPr>
              <a:t>★</a:t>
            </a:r>
            <a:endParaRPr lang="en-US" sz="1300" dirty="0"/>
          </a:p>
        </p:txBody>
      </p:sp>
      <p:sp>
        <p:nvSpPr>
          <p:cNvPr id="37" name="Text 29"/>
          <p:cNvSpPr txBox="1"/>
          <p:nvPr/>
        </p:nvSpPr>
        <p:spPr>
          <a:xfrm>
            <a:off x="5577840" y="3849624"/>
            <a:ext cx="1737360" cy="274320"/>
          </a:xfrm>
          <a:prstGeom prst="rect">
            <a:avLst/>
          </a:prstGeom>
          <a:noFill/>
          <a:ln/>
        </p:spPr>
        <p:txBody>
          <a:bodyPr wrap="square" lIns="0" tIns="0" rIns="0" bIns="0" rtlCol="0" anchor="t"/>
          <a:lstStyle/>
          <a:p>
            <a:pPr marL="0" indent="0">
              <a:buNone/>
            </a:pPr>
            <a:r>
              <a:rPr lang="en-US" sz="1200" dirty="0">
                <a:solidFill>
                  <a:srgbClr val="66758A"/>
                </a:solidFill>
                <a:latin typeface="Calibri" pitchFamily="34" charset="0"/>
                <a:ea typeface="Calibri" pitchFamily="34" charset="-122"/>
                <a:cs typeface="Calibri" pitchFamily="34" charset="-120"/>
              </a:rPr>
              <a:t>compared to</a:t>
            </a:r>
            <a:endParaRPr lang="en-US" sz="1200" dirty="0"/>
          </a:p>
        </p:txBody>
      </p:sp>
      <p:sp>
        <p:nvSpPr>
          <p:cNvPr id="38" name="Text 30"/>
          <p:cNvSpPr txBox="1"/>
          <p:nvPr/>
        </p:nvSpPr>
        <p:spPr>
          <a:xfrm>
            <a:off x="7315200" y="3849624"/>
            <a:ext cx="1188720" cy="274320"/>
          </a:xfrm>
          <a:prstGeom prst="rect">
            <a:avLst/>
          </a:prstGeom>
          <a:noFill/>
          <a:ln/>
        </p:spPr>
        <p:txBody>
          <a:bodyPr wrap="square" lIns="0" tIns="0" rIns="0" bIns="0" rtlCol="0" anchor="t"/>
          <a:lstStyle/>
          <a:p>
            <a:pPr marL="0" indent="0">
              <a:buNone/>
            </a:pPr>
            <a:r>
              <a:rPr lang="en-US" sz="1300" b="1" dirty="0">
                <a:solidFill>
                  <a:srgbClr val="D8641A"/>
                </a:solidFill>
                <a:latin typeface="Calibri" pitchFamily="34" charset="0"/>
                <a:ea typeface="Calibri" pitchFamily="34" charset="-122"/>
                <a:cs typeface="Calibri" pitchFamily="34" charset="-120"/>
              </a:rPr>
              <a:t>vs</a:t>
            </a:r>
            <a:endParaRPr lang="en-US" sz="1300" dirty="0"/>
          </a:p>
        </p:txBody>
      </p:sp>
      <p:sp>
        <p:nvSpPr>
          <p:cNvPr id="39" name="Text 31"/>
          <p:cNvSpPr txBox="1"/>
          <p:nvPr/>
        </p:nvSpPr>
        <p:spPr>
          <a:xfrm>
            <a:off x="5577840" y="4178808"/>
            <a:ext cx="1737360" cy="274320"/>
          </a:xfrm>
          <a:prstGeom prst="rect">
            <a:avLst/>
          </a:prstGeom>
          <a:noFill/>
          <a:ln/>
        </p:spPr>
        <p:txBody>
          <a:bodyPr wrap="square" lIns="0" tIns="0" rIns="0" bIns="0" rtlCol="0" anchor="t"/>
          <a:lstStyle/>
          <a:p>
            <a:pPr marL="0" indent="0">
              <a:buNone/>
            </a:pPr>
            <a:r>
              <a:rPr lang="en-US" sz="1200" dirty="0">
                <a:solidFill>
                  <a:srgbClr val="66758A"/>
                </a:solidFill>
                <a:latin typeface="Calibri" pitchFamily="34" charset="0"/>
                <a:ea typeface="Calibri" pitchFamily="34" charset="-122"/>
                <a:cs typeface="Calibri" pitchFamily="34" charset="-120"/>
              </a:rPr>
              <a:t>increase / decrease</a:t>
            </a:r>
            <a:endParaRPr lang="en-US" sz="1200" dirty="0"/>
          </a:p>
        </p:txBody>
      </p:sp>
      <p:sp>
        <p:nvSpPr>
          <p:cNvPr id="40" name="Text 32"/>
          <p:cNvSpPr txBox="1"/>
          <p:nvPr/>
        </p:nvSpPr>
        <p:spPr>
          <a:xfrm>
            <a:off x="7315200" y="4178808"/>
            <a:ext cx="1188720" cy="274320"/>
          </a:xfrm>
          <a:prstGeom prst="rect">
            <a:avLst/>
          </a:prstGeom>
          <a:noFill/>
          <a:ln/>
        </p:spPr>
        <p:txBody>
          <a:bodyPr wrap="square" lIns="0" tIns="0" rIns="0" bIns="0" rtlCol="0" anchor="t"/>
          <a:lstStyle/>
          <a:p>
            <a:pPr marL="0" indent="0">
              <a:buNone/>
            </a:pPr>
            <a:r>
              <a:rPr lang="en-US" sz="1300" b="1" dirty="0">
                <a:solidFill>
                  <a:srgbClr val="D8641A"/>
                </a:solidFill>
                <a:latin typeface="Calibri" pitchFamily="34" charset="0"/>
                <a:ea typeface="Calibri" pitchFamily="34" charset="-122"/>
                <a:cs typeface="Calibri" pitchFamily="34" charset="-120"/>
              </a:rPr>
              <a:t>↑  ↓</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NOTE-TAKING · DURING</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Good notes: short, accurate, useful</a:t>
            </a:r>
            <a:endParaRPr lang="en-US" sz="3000" dirty="0"/>
          </a:p>
        </p:txBody>
      </p:sp>
      <p:sp>
        <p:nvSpPr>
          <p:cNvPr id="6" name="Text 3"/>
          <p:cNvSpPr txBox="1"/>
          <p:nvPr/>
        </p:nvSpPr>
        <p:spPr>
          <a:xfrm>
            <a:off x="457200" y="1280160"/>
            <a:ext cx="3657600" cy="33832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222B36"/>
                </a:solidFill>
                <a:latin typeface="Calibri" pitchFamily="34" charset="0"/>
                <a:ea typeface="Calibri" pitchFamily="34" charset="-122"/>
                <a:cs typeface="Calibri" pitchFamily="34" charset="-120"/>
              </a:rPr>
              <a:t>Don't write everything; capture the "meat"</a:t>
            </a:r>
            <a:endParaRPr lang="en-US" sz="1300" dirty="0"/>
          </a:p>
          <a:p>
            <a:pPr marL="342900" indent="-342900">
              <a:spcAft>
                <a:spcPts val="700"/>
              </a:spcAft>
              <a:buSzPct val="100000"/>
              <a:buChar char="•"/>
            </a:pPr>
            <a:r>
              <a:rPr lang="en-US" sz="1300" dirty="0">
                <a:solidFill>
                  <a:srgbClr val="222B36"/>
                </a:solidFill>
                <a:latin typeface="Calibri" pitchFamily="34" charset="0"/>
                <a:ea typeface="Calibri" pitchFamily="34" charset="-122"/>
                <a:cs typeface="Calibri" pitchFamily="34" charset="-120"/>
              </a:rPr>
              <a:t>Key words or very short sentences</a:t>
            </a:r>
            <a:endParaRPr lang="en-US" sz="1300" dirty="0"/>
          </a:p>
          <a:p>
            <a:pPr marL="342900" indent="-342900">
              <a:spcAft>
                <a:spcPts val="700"/>
              </a:spcAft>
              <a:buSzPct val="100000"/>
              <a:buChar char="•"/>
            </a:pPr>
            <a:r>
              <a:rPr lang="en-US" sz="1300" dirty="0">
                <a:solidFill>
                  <a:srgbClr val="222B36"/>
                </a:solidFill>
                <a:latin typeface="Calibri" pitchFamily="34" charset="0"/>
                <a:ea typeface="Calibri" pitchFamily="34" charset="-122"/>
                <a:cs typeface="Calibri" pitchFamily="34" charset="-120"/>
              </a:rPr>
              <a:t>Your own words, same meaning</a:t>
            </a:r>
            <a:endParaRPr lang="en-US" sz="1300" dirty="0"/>
          </a:p>
          <a:p>
            <a:pPr marL="342900" indent="-342900">
              <a:spcAft>
                <a:spcPts val="700"/>
              </a:spcAft>
              <a:buSzPct val="100000"/>
              <a:buChar char="•"/>
            </a:pPr>
            <a:r>
              <a:rPr lang="en-US" sz="1300" dirty="0">
                <a:solidFill>
                  <a:srgbClr val="222B36"/>
                </a:solidFill>
                <a:latin typeface="Calibri" pitchFamily="34" charset="0"/>
                <a:ea typeface="Calibri" pitchFamily="34" charset="-122"/>
                <a:cs typeface="Calibri" pitchFamily="34" charset="-120"/>
              </a:rPr>
              <a:t>Think before you write</a:t>
            </a:r>
            <a:endParaRPr lang="en-US" sz="1300" dirty="0"/>
          </a:p>
          <a:p>
            <a:pPr marL="342900" indent="-342900">
              <a:spcAft>
                <a:spcPts val="700"/>
              </a:spcAft>
              <a:buSzPct val="100000"/>
              <a:buChar char="•"/>
            </a:pPr>
            <a:r>
              <a:rPr lang="en-US" sz="1300" dirty="0">
                <a:solidFill>
                  <a:srgbClr val="222B36"/>
                </a:solidFill>
                <a:latin typeface="Calibri" pitchFamily="34" charset="0"/>
                <a:ea typeface="Calibri" pitchFamily="34" charset="-122"/>
                <a:cs typeface="Calibri" pitchFamily="34" charset="-120"/>
              </a:rPr>
              <a:t>Consistent abbreviations and indented outline</a:t>
            </a:r>
            <a:endParaRPr lang="en-US" sz="1300" dirty="0"/>
          </a:p>
          <a:p>
            <a:pPr marL="342900" indent="-342900">
              <a:spcAft>
                <a:spcPts val="700"/>
              </a:spcAft>
              <a:buSzPct val="100000"/>
              <a:buChar char="•"/>
            </a:pPr>
            <a:r>
              <a:rPr lang="en-US" sz="1300" dirty="0">
                <a:solidFill>
                  <a:srgbClr val="222B36"/>
                </a:solidFill>
                <a:latin typeface="Calibri" pitchFamily="34" charset="0"/>
                <a:ea typeface="Calibri" pitchFamily="34" charset="-122"/>
                <a:cs typeface="Calibri" pitchFamily="34" charset="-120"/>
              </a:rPr>
              <a:t>Leave white space for later additions</a:t>
            </a:r>
            <a:endParaRPr lang="en-US" sz="1300" dirty="0"/>
          </a:p>
          <a:p>
            <a:pPr marL="342900" indent="-342900">
              <a:spcAft>
                <a:spcPts val="700"/>
              </a:spcAft>
              <a:buSzPct val="100000"/>
              <a:buChar char="•"/>
            </a:pPr>
            <a:r>
              <a:rPr lang="en-US" sz="1300" dirty="0">
                <a:solidFill>
                  <a:srgbClr val="222B36"/>
                </a:solidFill>
                <a:latin typeface="Calibri" pitchFamily="34" charset="0"/>
                <a:ea typeface="Calibri" pitchFamily="34" charset="-122"/>
                <a:cs typeface="Calibri" pitchFamily="34" charset="-120"/>
              </a:rPr>
              <a:t>Missed a point? Leave a gap and fill it in later</a:t>
            </a:r>
            <a:endParaRPr lang="en-US" sz="1300" dirty="0"/>
          </a:p>
          <a:p>
            <a:pPr marL="342900" indent="-342900">
              <a:spcAft>
                <a:spcPts val="700"/>
              </a:spcAft>
              <a:buSzPct val="100000"/>
              <a:buChar char="•"/>
            </a:pPr>
            <a:r>
              <a:rPr lang="en-US" sz="1300" dirty="0">
                <a:solidFill>
                  <a:srgbClr val="222B36"/>
                </a:solidFill>
                <a:latin typeface="Calibri" pitchFamily="34" charset="0"/>
                <a:ea typeface="Calibri" pitchFamily="34" charset="-122"/>
                <a:cs typeface="Calibri" pitchFamily="34" charset="-120"/>
              </a:rPr>
              <a:t>Keep notes in one place, in order</a:t>
            </a:r>
            <a:endParaRPr lang="en-US" sz="1300" dirty="0"/>
          </a:p>
        </p:txBody>
      </p:sp>
      <p:sp>
        <p:nvSpPr>
          <p:cNvPr id="7" name="Shape 4"/>
          <p:cNvSpPr/>
          <p:nvPr/>
        </p:nvSpPr>
        <p:spPr>
          <a:xfrm>
            <a:off x="4389120" y="1280160"/>
            <a:ext cx="4297680" cy="960120"/>
          </a:xfrm>
          <a:prstGeom prst="roundRect">
            <a:avLst>
              <a:gd name="adj" fmla="val 7619"/>
            </a:avLst>
          </a:prstGeom>
          <a:solidFill>
            <a:srgbClr val="44546A"/>
          </a:solidFill>
          <a:ln/>
        </p:spPr>
        <p:txBody>
          <a:bodyPr/>
          <a:lstStyle/>
          <a:p>
            <a:endParaRPr lang="en-US"/>
          </a:p>
        </p:txBody>
      </p:sp>
      <p:sp>
        <p:nvSpPr>
          <p:cNvPr id="8" name="Text 5"/>
          <p:cNvSpPr txBox="1"/>
          <p:nvPr/>
        </p:nvSpPr>
        <p:spPr>
          <a:xfrm>
            <a:off x="4526280" y="1280160"/>
            <a:ext cx="4023360" cy="960120"/>
          </a:xfrm>
          <a:prstGeom prst="rect">
            <a:avLst/>
          </a:prstGeom>
          <a:noFill/>
          <a:ln/>
        </p:spPr>
        <p:txBody>
          <a:bodyPr wrap="square" lIns="0" tIns="0" rIns="0" bIns="0" rtlCol="0" anchor="ctr"/>
          <a:lstStyle/>
          <a:p>
            <a:pPr marL="0" indent="0">
              <a:buNone/>
            </a:pPr>
            <a:r>
              <a:rPr lang="en-US" sz="1150" b="1" dirty="0">
                <a:solidFill>
                  <a:srgbClr val="FFC000"/>
                </a:solidFill>
                <a:latin typeface="Calibri" pitchFamily="34" charset="0"/>
                <a:ea typeface="Calibri" pitchFamily="34" charset="-122"/>
                <a:cs typeface="Calibri" pitchFamily="34" charset="-120"/>
              </a:rPr>
              <a:t>Lecturer says: </a:t>
            </a:r>
            <a:r>
              <a:rPr lang="en-US" sz="1150" i="1" dirty="0">
                <a:solidFill>
                  <a:srgbClr val="FFFFFF"/>
                </a:solidFill>
                <a:latin typeface="Calibri" pitchFamily="34" charset="0"/>
                <a:ea typeface="Calibri" pitchFamily="34" charset="-122"/>
                <a:cs typeface="Calibri" pitchFamily="34" charset="-120"/>
              </a:rPr>
              <a:t>"Time management is important for students because if you plan your week, you reduce stress and hand in work on time."</a:t>
            </a:r>
            <a:endParaRPr lang="en-US" sz="1150" dirty="0"/>
          </a:p>
        </p:txBody>
      </p:sp>
      <p:sp>
        <p:nvSpPr>
          <p:cNvPr id="9" name="Shape 6"/>
          <p:cNvSpPr/>
          <p:nvPr/>
        </p:nvSpPr>
        <p:spPr>
          <a:xfrm>
            <a:off x="4389120" y="2377440"/>
            <a:ext cx="4297680" cy="1097280"/>
          </a:xfrm>
          <a:prstGeom prst="roundRect">
            <a:avLst>
              <a:gd name="adj" fmla="val 6667"/>
            </a:avLst>
          </a:prstGeom>
          <a:solidFill>
            <a:srgbClr val="FBE5D6"/>
          </a:solidFill>
          <a:ln/>
        </p:spPr>
        <p:txBody>
          <a:bodyPr/>
          <a:lstStyle/>
          <a:p>
            <a:endParaRPr lang="en-US"/>
          </a:p>
        </p:txBody>
      </p:sp>
      <p:sp>
        <p:nvSpPr>
          <p:cNvPr id="10" name="Shape 7"/>
          <p:cNvSpPr/>
          <p:nvPr/>
        </p:nvSpPr>
        <p:spPr>
          <a:xfrm>
            <a:off x="4526280" y="2487168"/>
            <a:ext cx="329184" cy="329184"/>
          </a:xfrm>
          <a:prstGeom prst="ellipse">
            <a:avLst/>
          </a:prstGeom>
          <a:solidFill>
            <a:srgbClr val="D8641A"/>
          </a:solidFill>
          <a:ln/>
        </p:spPr>
        <p:txBody>
          <a:bodyPr/>
          <a:lstStyle/>
          <a:p>
            <a:endParaRPr lang="en-US"/>
          </a:p>
        </p:txBody>
      </p:sp>
      <p:pic>
        <p:nvPicPr>
          <p:cNvPr id="11" name="Image 0" descr="preencoded.png"/>
          <p:cNvPicPr>
            <a:picLocks noChangeAspect="1"/>
          </p:cNvPicPr>
          <p:nvPr/>
        </p:nvPicPr>
        <p:blipFill>
          <a:blip r:embed="rId3"/>
          <a:stretch>
            <a:fillRect/>
          </a:stretch>
        </p:blipFill>
        <p:spPr>
          <a:xfrm>
            <a:off x="4608576" y="2569464"/>
            <a:ext cx="164592" cy="164592"/>
          </a:xfrm>
          <a:prstGeom prst="rect">
            <a:avLst/>
          </a:prstGeom>
        </p:spPr>
      </p:pic>
      <p:sp>
        <p:nvSpPr>
          <p:cNvPr id="12" name="Text 8"/>
          <p:cNvSpPr txBox="1"/>
          <p:nvPr/>
        </p:nvSpPr>
        <p:spPr>
          <a:xfrm>
            <a:off x="4983480" y="2487168"/>
            <a:ext cx="1828800" cy="329184"/>
          </a:xfrm>
          <a:prstGeom prst="rect">
            <a:avLst/>
          </a:prstGeom>
          <a:noFill/>
          <a:ln/>
        </p:spPr>
        <p:txBody>
          <a:bodyPr wrap="square" lIns="0" tIns="0" rIns="0" bIns="0" rtlCol="0" anchor="ctr"/>
          <a:lstStyle/>
          <a:p>
            <a:pPr marL="0" indent="0">
              <a:buNone/>
            </a:pPr>
            <a:r>
              <a:rPr lang="en-US" sz="1250" b="1" dirty="0">
                <a:solidFill>
                  <a:srgbClr val="D8641A"/>
                </a:solidFill>
                <a:latin typeface="Calibri" pitchFamily="34" charset="0"/>
                <a:ea typeface="Calibri" pitchFamily="34" charset="-122"/>
                <a:cs typeface="Calibri" pitchFamily="34" charset="-120"/>
              </a:rPr>
              <a:t>Too much</a:t>
            </a:r>
            <a:endParaRPr lang="en-US" sz="1250" dirty="0"/>
          </a:p>
        </p:txBody>
      </p:sp>
      <p:sp>
        <p:nvSpPr>
          <p:cNvPr id="13" name="Text 9"/>
          <p:cNvSpPr txBox="1"/>
          <p:nvPr/>
        </p:nvSpPr>
        <p:spPr>
          <a:xfrm>
            <a:off x="4526280" y="2880360"/>
            <a:ext cx="4023360" cy="548640"/>
          </a:xfrm>
          <a:prstGeom prst="rect">
            <a:avLst/>
          </a:prstGeom>
          <a:noFill/>
          <a:ln/>
        </p:spPr>
        <p:txBody>
          <a:bodyPr wrap="square" lIns="0" tIns="0" rIns="0" bIns="0" rtlCol="0" anchor="t"/>
          <a:lstStyle/>
          <a:p>
            <a:pPr marL="0" indent="0">
              <a:buNone/>
            </a:pPr>
            <a:r>
              <a:rPr lang="en-US" sz="1100" dirty="0">
                <a:solidFill>
                  <a:srgbClr val="222B36"/>
                </a:solidFill>
                <a:latin typeface="Calibri" pitchFamily="34" charset="0"/>
                <a:ea typeface="Calibri" pitchFamily="34" charset="-122"/>
                <a:cs typeface="Calibri" pitchFamily="34" charset="-120"/>
              </a:rPr>
              <a:t>The lecturer said time management is important for students because if they plan their week they will reduce stress…</a:t>
            </a:r>
            <a:endParaRPr lang="en-US" sz="1100" dirty="0"/>
          </a:p>
        </p:txBody>
      </p:sp>
      <p:sp>
        <p:nvSpPr>
          <p:cNvPr id="14" name="Shape 10"/>
          <p:cNvSpPr/>
          <p:nvPr/>
        </p:nvSpPr>
        <p:spPr>
          <a:xfrm>
            <a:off x="4389120" y="3611880"/>
            <a:ext cx="4297680" cy="1005840"/>
          </a:xfrm>
          <a:prstGeom prst="roundRect">
            <a:avLst>
              <a:gd name="adj" fmla="val 7273"/>
            </a:avLst>
          </a:prstGeom>
          <a:solidFill>
            <a:srgbClr val="E2F0D9"/>
          </a:solidFill>
          <a:ln/>
        </p:spPr>
        <p:txBody>
          <a:bodyPr/>
          <a:lstStyle/>
          <a:p>
            <a:endParaRPr lang="en-US"/>
          </a:p>
        </p:txBody>
      </p:sp>
      <p:sp>
        <p:nvSpPr>
          <p:cNvPr id="15" name="Shape 11"/>
          <p:cNvSpPr/>
          <p:nvPr/>
        </p:nvSpPr>
        <p:spPr>
          <a:xfrm>
            <a:off x="4526280" y="3703320"/>
            <a:ext cx="329184" cy="329184"/>
          </a:xfrm>
          <a:prstGeom prst="ellipse">
            <a:avLst/>
          </a:prstGeom>
          <a:solidFill>
            <a:srgbClr val="4E8A2E"/>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4608576" y="3785616"/>
            <a:ext cx="164592" cy="164592"/>
          </a:xfrm>
          <a:prstGeom prst="rect">
            <a:avLst/>
          </a:prstGeom>
        </p:spPr>
      </p:pic>
      <p:sp>
        <p:nvSpPr>
          <p:cNvPr id="17" name="Text 12"/>
          <p:cNvSpPr txBox="1"/>
          <p:nvPr/>
        </p:nvSpPr>
        <p:spPr>
          <a:xfrm>
            <a:off x="4983480" y="3703320"/>
            <a:ext cx="1828800" cy="329184"/>
          </a:xfrm>
          <a:prstGeom prst="rect">
            <a:avLst/>
          </a:prstGeom>
          <a:noFill/>
          <a:ln/>
        </p:spPr>
        <p:txBody>
          <a:bodyPr wrap="square" lIns="0" tIns="0" rIns="0" bIns="0" rtlCol="0" anchor="ctr"/>
          <a:lstStyle/>
          <a:p>
            <a:pPr marL="0" indent="0">
              <a:buNone/>
            </a:pPr>
            <a:r>
              <a:rPr lang="en-US" sz="1250" b="1" dirty="0">
                <a:solidFill>
                  <a:srgbClr val="4E8A2E"/>
                </a:solidFill>
                <a:latin typeface="Calibri" pitchFamily="34" charset="0"/>
                <a:ea typeface="Calibri" pitchFamily="34" charset="-122"/>
                <a:cs typeface="Calibri" pitchFamily="34" charset="-120"/>
              </a:rPr>
              <a:t>Better</a:t>
            </a:r>
            <a:endParaRPr lang="en-US" sz="1250" dirty="0"/>
          </a:p>
        </p:txBody>
      </p:sp>
      <p:sp>
        <p:nvSpPr>
          <p:cNvPr id="18" name="Text 13"/>
          <p:cNvSpPr txBox="1"/>
          <p:nvPr/>
        </p:nvSpPr>
        <p:spPr>
          <a:xfrm>
            <a:off x="4526280" y="4114800"/>
            <a:ext cx="4023360" cy="411480"/>
          </a:xfrm>
          <a:prstGeom prst="rect">
            <a:avLst/>
          </a:prstGeom>
          <a:noFill/>
          <a:ln/>
        </p:spPr>
        <p:txBody>
          <a:bodyPr wrap="square" lIns="0" tIns="0" rIns="0" bIns="0" rtlCol="0" anchor="t"/>
          <a:lstStyle/>
          <a:p>
            <a:pPr marL="0" indent="0">
              <a:buNone/>
            </a:pPr>
            <a:r>
              <a:rPr lang="en-US" sz="1300" b="1" dirty="0">
                <a:solidFill>
                  <a:srgbClr val="222B36"/>
                </a:solidFill>
                <a:latin typeface="Calibri" pitchFamily="34" charset="0"/>
                <a:ea typeface="Calibri" pitchFamily="34" charset="-122"/>
                <a:cs typeface="Calibri" pitchFamily="34" charset="-120"/>
              </a:rPr>
              <a:t>Time mgmt: plan wk → ↓ stress, work on time ✓</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SYSTEM 1 · CORNELL METHOD</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The Cornell method: set up the page</a:t>
            </a:r>
            <a:endParaRPr lang="en-US" sz="3000" dirty="0"/>
          </a:p>
        </p:txBody>
      </p:sp>
      <p:sp>
        <p:nvSpPr>
          <p:cNvPr id="6" name="Shape 3"/>
          <p:cNvSpPr/>
          <p:nvPr/>
        </p:nvSpPr>
        <p:spPr>
          <a:xfrm>
            <a:off x="548640" y="1234440"/>
            <a:ext cx="3108960" cy="3383280"/>
          </a:xfrm>
          <a:prstGeom prst="rect">
            <a:avLst/>
          </a:prstGeom>
          <a:solidFill>
            <a:srgbClr val="FFFFFF"/>
          </a:solidFill>
          <a:ln w="25400">
            <a:solidFill>
              <a:srgbClr val="4472C4"/>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548640" y="1234440"/>
            <a:ext cx="960120" cy="2606040"/>
          </a:xfrm>
          <a:prstGeom prst="rect">
            <a:avLst/>
          </a:prstGeom>
          <a:solidFill>
            <a:srgbClr val="FBE5D6"/>
          </a:solidFill>
          <a:ln w="19050">
            <a:solidFill>
              <a:srgbClr val="4472C4"/>
            </a:solidFill>
            <a:prstDash val="solid"/>
          </a:ln>
        </p:spPr>
        <p:txBody>
          <a:bodyPr/>
          <a:lstStyle/>
          <a:p>
            <a:endParaRPr lang="en-US"/>
          </a:p>
        </p:txBody>
      </p:sp>
      <p:sp>
        <p:nvSpPr>
          <p:cNvPr id="8" name="Shape 5"/>
          <p:cNvSpPr/>
          <p:nvPr/>
        </p:nvSpPr>
        <p:spPr>
          <a:xfrm>
            <a:off x="1508760" y="1234440"/>
            <a:ext cx="2148840" cy="2606040"/>
          </a:xfrm>
          <a:prstGeom prst="rect">
            <a:avLst/>
          </a:prstGeom>
          <a:solidFill>
            <a:srgbClr val="FFFFFF"/>
          </a:solidFill>
          <a:ln w="19050">
            <a:solidFill>
              <a:srgbClr val="4472C4"/>
            </a:solidFill>
            <a:prstDash val="solid"/>
          </a:ln>
        </p:spPr>
        <p:txBody>
          <a:bodyPr/>
          <a:lstStyle/>
          <a:p>
            <a:endParaRPr lang="en-US"/>
          </a:p>
        </p:txBody>
      </p:sp>
      <p:sp>
        <p:nvSpPr>
          <p:cNvPr id="9" name="Shape 6"/>
          <p:cNvSpPr/>
          <p:nvPr/>
        </p:nvSpPr>
        <p:spPr>
          <a:xfrm>
            <a:off x="548640" y="3840480"/>
            <a:ext cx="3108960" cy="777240"/>
          </a:xfrm>
          <a:prstGeom prst="rect">
            <a:avLst/>
          </a:prstGeom>
          <a:solidFill>
            <a:srgbClr val="FFF2CC"/>
          </a:solidFill>
          <a:ln w="19050">
            <a:solidFill>
              <a:srgbClr val="4472C4"/>
            </a:solidFill>
            <a:prstDash val="solid"/>
          </a:ln>
        </p:spPr>
        <p:txBody>
          <a:bodyPr/>
          <a:lstStyle/>
          <a:p>
            <a:endParaRPr lang="en-US"/>
          </a:p>
        </p:txBody>
      </p:sp>
      <p:sp>
        <p:nvSpPr>
          <p:cNvPr id="10" name="Text 7"/>
          <p:cNvSpPr txBox="1"/>
          <p:nvPr/>
        </p:nvSpPr>
        <p:spPr>
          <a:xfrm>
            <a:off x="548640" y="2331720"/>
            <a:ext cx="960120" cy="731520"/>
          </a:xfrm>
          <a:prstGeom prst="rect">
            <a:avLst/>
          </a:prstGeom>
          <a:noFill/>
          <a:ln/>
        </p:spPr>
        <p:txBody>
          <a:bodyPr wrap="square" lIns="0" tIns="0" rIns="0" bIns="0" rtlCol="0" anchor="t"/>
          <a:lstStyle/>
          <a:p>
            <a:pPr marL="0" indent="0" algn="ctr">
              <a:buNone/>
            </a:pPr>
            <a:r>
              <a:rPr lang="en-US" sz="1100" b="1" dirty="0">
                <a:solidFill>
                  <a:srgbClr val="D8641A"/>
                </a:solidFill>
                <a:latin typeface="Calibri" pitchFamily="34" charset="0"/>
                <a:ea typeface="Calibri" pitchFamily="34" charset="-122"/>
                <a:cs typeface="Calibri" pitchFamily="34" charset="-120"/>
              </a:rPr>
              <a:t>CUES /</a:t>
            </a:r>
            <a:endParaRPr lang="en-US" sz="1100" dirty="0"/>
          </a:p>
          <a:p>
            <a:pPr marL="0" indent="0" algn="ctr">
              <a:buNone/>
            </a:pPr>
            <a:r>
              <a:rPr lang="en-US" sz="1100" b="1" dirty="0">
                <a:solidFill>
                  <a:srgbClr val="D8641A"/>
                </a:solidFill>
                <a:latin typeface="Calibri" pitchFamily="34" charset="0"/>
                <a:ea typeface="Calibri" pitchFamily="34" charset="-122"/>
                <a:cs typeface="Calibri" pitchFamily="34" charset="-120"/>
              </a:rPr>
              <a:t>QUESTIONS</a:t>
            </a:r>
            <a:endParaRPr lang="en-US" sz="1100" dirty="0"/>
          </a:p>
        </p:txBody>
      </p:sp>
      <p:sp>
        <p:nvSpPr>
          <p:cNvPr id="11" name="Text 8"/>
          <p:cNvSpPr txBox="1"/>
          <p:nvPr/>
        </p:nvSpPr>
        <p:spPr>
          <a:xfrm>
            <a:off x="1508760" y="2514600"/>
            <a:ext cx="2148840" cy="365760"/>
          </a:xfrm>
          <a:prstGeom prst="rect">
            <a:avLst/>
          </a:prstGeom>
          <a:noFill/>
          <a:ln/>
        </p:spPr>
        <p:txBody>
          <a:bodyPr wrap="square" lIns="0" tIns="0" rIns="0" bIns="0" rtlCol="0" anchor="t"/>
          <a:lstStyle/>
          <a:p>
            <a:pPr marL="0" indent="0" algn="ctr">
              <a:buNone/>
            </a:pPr>
            <a:r>
              <a:rPr lang="en-US" sz="1400" b="1" dirty="0">
                <a:solidFill>
                  <a:srgbClr val="4472C4"/>
                </a:solidFill>
                <a:latin typeface="Calibri" pitchFamily="34" charset="0"/>
                <a:ea typeface="Calibri" pitchFamily="34" charset="-122"/>
                <a:cs typeface="Calibri" pitchFamily="34" charset="-120"/>
              </a:rPr>
              <a:t>NOTES</a:t>
            </a:r>
            <a:endParaRPr lang="en-US" sz="1400" dirty="0"/>
          </a:p>
        </p:txBody>
      </p:sp>
      <p:sp>
        <p:nvSpPr>
          <p:cNvPr id="12" name="Text 9"/>
          <p:cNvSpPr txBox="1"/>
          <p:nvPr/>
        </p:nvSpPr>
        <p:spPr>
          <a:xfrm>
            <a:off x="1508760" y="2834640"/>
            <a:ext cx="2148840" cy="274320"/>
          </a:xfrm>
          <a:prstGeom prst="rect">
            <a:avLst/>
          </a:prstGeom>
          <a:noFill/>
          <a:ln/>
        </p:spPr>
        <p:txBody>
          <a:bodyPr wrap="square" lIns="0" tIns="0" rIns="0" bIns="0" rtlCol="0" anchor="t"/>
          <a:lstStyle/>
          <a:p>
            <a:pPr marL="0" indent="0" algn="ctr">
              <a:buNone/>
            </a:pPr>
            <a:r>
              <a:rPr lang="en-US" sz="1050" i="1" dirty="0">
                <a:solidFill>
                  <a:srgbClr val="66758A"/>
                </a:solidFill>
                <a:latin typeface="Calibri" pitchFamily="34" charset="0"/>
                <a:ea typeface="Calibri" pitchFamily="34" charset="-122"/>
                <a:cs typeface="Calibri" pitchFamily="34" charset="-120"/>
              </a:rPr>
              <a:t>lecture notes in point form</a:t>
            </a:r>
            <a:endParaRPr lang="en-US" sz="1050" dirty="0"/>
          </a:p>
        </p:txBody>
      </p:sp>
      <p:sp>
        <p:nvSpPr>
          <p:cNvPr id="13" name="Text 10"/>
          <p:cNvSpPr txBox="1"/>
          <p:nvPr/>
        </p:nvSpPr>
        <p:spPr>
          <a:xfrm>
            <a:off x="548640" y="3950208"/>
            <a:ext cx="3108960" cy="274320"/>
          </a:xfrm>
          <a:prstGeom prst="rect">
            <a:avLst/>
          </a:prstGeom>
          <a:noFill/>
          <a:ln/>
        </p:spPr>
        <p:txBody>
          <a:bodyPr wrap="square" lIns="0" tIns="0" rIns="0" bIns="0" rtlCol="0" anchor="t"/>
          <a:lstStyle/>
          <a:p>
            <a:pPr marL="0" indent="0" algn="ctr">
              <a:buNone/>
            </a:pPr>
            <a:r>
              <a:rPr lang="en-US" sz="1200" b="1" dirty="0">
                <a:solidFill>
                  <a:srgbClr val="B5820F"/>
                </a:solidFill>
                <a:latin typeface="Calibri" pitchFamily="34" charset="0"/>
                <a:ea typeface="Calibri" pitchFamily="34" charset="-122"/>
                <a:cs typeface="Calibri" pitchFamily="34" charset="-120"/>
              </a:rPr>
              <a:t>SUMMARY</a:t>
            </a:r>
            <a:endParaRPr lang="en-US" sz="1200" dirty="0"/>
          </a:p>
        </p:txBody>
      </p:sp>
      <p:sp>
        <p:nvSpPr>
          <p:cNvPr id="14" name="Text 11"/>
          <p:cNvSpPr txBox="1"/>
          <p:nvPr/>
        </p:nvSpPr>
        <p:spPr>
          <a:xfrm>
            <a:off x="548640" y="4224528"/>
            <a:ext cx="3108960" cy="274320"/>
          </a:xfrm>
          <a:prstGeom prst="rect">
            <a:avLst/>
          </a:prstGeom>
          <a:noFill/>
          <a:ln/>
        </p:spPr>
        <p:txBody>
          <a:bodyPr wrap="square" lIns="0" tIns="0" rIns="0" bIns="0" rtlCol="0" anchor="t"/>
          <a:lstStyle/>
          <a:p>
            <a:pPr marL="0" indent="0" algn="ctr">
              <a:buNone/>
            </a:pPr>
            <a:r>
              <a:rPr lang="en-US" sz="1050" i="1" dirty="0">
                <a:solidFill>
                  <a:srgbClr val="66758A"/>
                </a:solidFill>
                <a:latin typeface="Calibri" pitchFamily="34" charset="0"/>
                <a:ea typeface="Calibri" pitchFamily="34" charset="-122"/>
                <a:cs typeface="Calibri" pitchFamily="34" charset="-120"/>
              </a:rPr>
              <a:t>2–3 sentences in your own words</a:t>
            </a:r>
            <a:endParaRPr lang="en-US" sz="1050" dirty="0"/>
          </a:p>
        </p:txBody>
      </p:sp>
      <p:sp>
        <p:nvSpPr>
          <p:cNvPr id="15" name="Shape 12"/>
          <p:cNvSpPr/>
          <p:nvPr/>
        </p:nvSpPr>
        <p:spPr>
          <a:xfrm>
            <a:off x="4023360" y="1280160"/>
            <a:ext cx="365760" cy="365760"/>
          </a:xfrm>
          <a:prstGeom prst="ellipse">
            <a:avLst/>
          </a:prstGeom>
          <a:solidFill>
            <a:srgbClr val="D8641A"/>
          </a:solidFill>
          <a:ln/>
        </p:spPr>
        <p:txBody>
          <a:bodyPr/>
          <a:lstStyle/>
          <a:p>
            <a:endParaRPr lang="en-US"/>
          </a:p>
        </p:txBody>
      </p:sp>
      <p:sp>
        <p:nvSpPr>
          <p:cNvPr id="16" name="Text 13"/>
          <p:cNvSpPr txBox="1"/>
          <p:nvPr/>
        </p:nvSpPr>
        <p:spPr>
          <a:xfrm>
            <a:off x="4023360" y="1280160"/>
            <a:ext cx="365760" cy="365760"/>
          </a:xfrm>
          <a:prstGeom prst="rect">
            <a:avLst/>
          </a:prstGeom>
          <a:noFill/>
          <a:ln/>
        </p:spPr>
        <p:txBody>
          <a:bodyPr wrap="square" lIns="0" tIns="0" rIns="0" bIns="0" rtlCol="0" anchor="ctr"/>
          <a:lstStyle/>
          <a:p>
            <a:pPr marL="0" indent="0" algn="ctr">
              <a:buNone/>
            </a:pPr>
            <a:r>
              <a:rPr lang="en-US" sz="1440" b="1" dirty="0">
                <a:solidFill>
                  <a:srgbClr val="FFFFFF"/>
                </a:solidFill>
                <a:latin typeface="Calibri" pitchFamily="34" charset="0"/>
                <a:ea typeface="Calibri" pitchFamily="34" charset="-122"/>
                <a:cs typeface="Calibri" pitchFamily="34" charset="-120"/>
              </a:rPr>
              <a:t>1</a:t>
            </a:r>
            <a:endParaRPr lang="en-US" sz="1440" dirty="0"/>
          </a:p>
        </p:txBody>
      </p:sp>
      <p:sp>
        <p:nvSpPr>
          <p:cNvPr id="17" name="Text 14"/>
          <p:cNvSpPr txBox="1"/>
          <p:nvPr/>
        </p:nvSpPr>
        <p:spPr>
          <a:xfrm>
            <a:off x="4572000" y="1234440"/>
            <a:ext cx="4114800" cy="274320"/>
          </a:xfrm>
          <a:prstGeom prst="rect">
            <a:avLst/>
          </a:prstGeom>
          <a:noFill/>
          <a:ln/>
        </p:spPr>
        <p:txBody>
          <a:bodyPr wrap="square" lIns="0" tIns="0" rIns="0" bIns="0" rtlCol="0" anchor="t"/>
          <a:lstStyle/>
          <a:p>
            <a:pPr marL="0" indent="0">
              <a:buNone/>
            </a:pPr>
            <a:r>
              <a:rPr lang="en-US" sz="1400" b="1" dirty="0">
                <a:solidFill>
                  <a:srgbClr val="44546A"/>
                </a:solidFill>
                <a:latin typeface="Calibri" pitchFamily="34" charset="0"/>
                <a:ea typeface="Calibri" pitchFamily="34" charset="-122"/>
                <a:cs typeface="Calibri" pitchFamily="34" charset="-120"/>
              </a:rPr>
              <a:t>Draw the lines</a:t>
            </a:r>
            <a:endParaRPr lang="en-US" sz="1400" dirty="0"/>
          </a:p>
        </p:txBody>
      </p:sp>
      <p:sp>
        <p:nvSpPr>
          <p:cNvPr id="18" name="Text 15"/>
          <p:cNvSpPr txBox="1"/>
          <p:nvPr/>
        </p:nvSpPr>
        <p:spPr>
          <a:xfrm>
            <a:off x="4572000" y="1508760"/>
            <a:ext cx="4114800" cy="502920"/>
          </a:xfrm>
          <a:prstGeom prst="rect">
            <a:avLst/>
          </a:prstGeom>
          <a:noFill/>
          <a:ln/>
        </p:spPr>
        <p:txBody>
          <a:bodyPr wrap="square" lIns="0" tIns="0" rIns="0" bIns="0" rtlCol="0" anchor="t"/>
          <a:lstStyle/>
          <a:p>
            <a:pPr marL="0" indent="0">
              <a:buNone/>
            </a:pPr>
            <a:r>
              <a:rPr lang="en-US" sz="1200" dirty="0">
                <a:solidFill>
                  <a:srgbClr val="66758A"/>
                </a:solidFill>
                <a:latin typeface="Calibri" pitchFamily="34" charset="0"/>
                <a:ea typeface="Calibri" pitchFamily="34" charset="-122"/>
                <a:cs typeface="Calibri" pitchFamily="34" charset="-120"/>
              </a:rPr>
              <a:t>A vertical line about 2½" from the left edge, and a horizontal line about 2" above the bottom.</a:t>
            </a:r>
            <a:endParaRPr lang="en-US" sz="1200" dirty="0"/>
          </a:p>
        </p:txBody>
      </p:sp>
      <p:sp>
        <p:nvSpPr>
          <p:cNvPr id="19" name="Shape 16"/>
          <p:cNvSpPr/>
          <p:nvPr/>
        </p:nvSpPr>
        <p:spPr>
          <a:xfrm>
            <a:off x="4023360" y="2121408"/>
            <a:ext cx="365760" cy="365760"/>
          </a:xfrm>
          <a:prstGeom prst="ellipse">
            <a:avLst/>
          </a:prstGeom>
          <a:solidFill>
            <a:srgbClr val="4472C4"/>
          </a:solidFill>
          <a:ln/>
        </p:spPr>
        <p:txBody>
          <a:bodyPr/>
          <a:lstStyle/>
          <a:p>
            <a:endParaRPr lang="en-US"/>
          </a:p>
        </p:txBody>
      </p:sp>
      <p:sp>
        <p:nvSpPr>
          <p:cNvPr id="20" name="Text 17"/>
          <p:cNvSpPr txBox="1"/>
          <p:nvPr/>
        </p:nvSpPr>
        <p:spPr>
          <a:xfrm>
            <a:off x="4023360" y="2121408"/>
            <a:ext cx="365760" cy="365760"/>
          </a:xfrm>
          <a:prstGeom prst="rect">
            <a:avLst/>
          </a:prstGeom>
          <a:noFill/>
          <a:ln/>
        </p:spPr>
        <p:txBody>
          <a:bodyPr wrap="square" lIns="0" tIns="0" rIns="0" bIns="0" rtlCol="0" anchor="ctr"/>
          <a:lstStyle/>
          <a:p>
            <a:pPr marL="0" indent="0" algn="ctr">
              <a:buNone/>
            </a:pPr>
            <a:r>
              <a:rPr lang="en-US" sz="1440" b="1" dirty="0">
                <a:solidFill>
                  <a:srgbClr val="FFFFFF"/>
                </a:solidFill>
                <a:latin typeface="Calibri" pitchFamily="34" charset="0"/>
                <a:ea typeface="Calibri" pitchFamily="34" charset="-122"/>
                <a:cs typeface="Calibri" pitchFamily="34" charset="-120"/>
              </a:rPr>
              <a:t>2</a:t>
            </a:r>
            <a:endParaRPr lang="en-US" sz="1440" dirty="0"/>
          </a:p>
        </p:txBody>
      </p:sp>
      <p:sp>
        <p:nvSpPr>
          <p:cNvPr id="21" name="Text 18"/>
          <p:cNvSpPr txBox="1"/>
          <p:nvPr/>
        </p:nvSpPr>
        <p:spPr>
          <a:xfrm>
            <a:off x="4572000" y="2075688"/>
            <a:ext cx="4114800" cy="274320"/>
          </a:xfrm>
          <a:prstGeom prst="rect">
            <a:avLst/>
          </a:prstGeom>
          <a:noFill/>
          <a:ln/>
        </p:spPr>
        <p:txBody>
          <a:bodyPr wrap="square" lIns="0" tIns="0" rIns="0" bIns="0" rtlCol="0" anchor="t"/>
          <a:lstStyle/>
          <a:p>
            <a:pPr marL="0" indent="0">
              <a:buNone/>
            </a:pPr>
            <a:r>
              <a:rPr lang="en-US" sz="1400" b="1" dirty="0">
                <a:solidFill>
                  <a:srgbClr val="44546A"/>
                </a:solidFill>
                <a:latin typeface="Calibri" pitchFamily="34" charset="0"/>
                <a:ea typeface="Calibri" pitchFamily="34" charset="-122"/>
                <a:cs typeface="Calibri" pitchFamily="34" charset="-120"/>
              </a:rPr>
              <a:t>Right column: notes</a:t>
            </a:r>
            <a:endParaRPr lang="en-US" sz="1400" dirty="0"/>
          </a:p>
        </p:txBody>
      </p:sp>
      <p:sp>
        <p:nvSpPr>
          <p:cNvPr id="22" name="Text 19"/>
          <p:cNvSpPr txBox="1"/>
          <p:nvPr/>
        </p:nvSpPr>
        <p:spPr>
          <a:xfrm>
            <a:off x="4572000" y="2350008"/>
            <a:ext cx="4114800" cy="502920"/>
          </a:xfrm>
          <a:prstGeom prst="rect">
            <a:avLst/>
          </a:prstGeom>
          <a:noFill/>
          <a:ln/>
        </p:spPr>
        <p:txBody>
          <a:bodyPr wrap="square" lIns="0" tIns="0" rIns="0" bIns="0" rtlCol="0" anchor="t"/>
          <a:lstStyle/>
          <a:p>
            <a:pPr marL="0" indent="0">
              <a:buNone/>
            </a:pPr>
            <a:r>
              <a:rPr lang="en-US" sz="1200" dirty="0">
                <a:solidFill>
                  <a:srgbClr val="66758A"/>
                </a:solidFill>
                <a:latin typeface="Calibri" pitchFamily="34" charset="0"/>
                <a:ea typeface="Calibri" pitchFamily="34" charset="-122"/>
                <a:cs typeface="Calibri" pitchFamily="34" charset="-120"/>
              </a:rPr>
              <a:t>Take lecture notes in point form during class.</a:t>
            </a:r>
            <a:endParaRPr lang="en-US" sz="1200" dirty="0"/>
          </a:p>
        </p:txBody>
      </p:sp>
      <p:sp>
        <p:nvSpPr>
          <p:cNvPr id="23" name="Shape 20"/>
          <p:cNvSpPr/>
          <p:nvPr/>
        </p:nvSpPr>
        <p:spPr>
          <a:xfrm>
            <a:off x="4023360" y="2962656"/>
            <a:ext cx="365760" cy="365760"/>
          </a:xfrm>
          <a:prstGeom prst="ellipse">
            <a:avLst/>
          </a:prstGeom>
          <a:solidFill>
            <a:srgbClr val="D8641A"/>
          </a:solidFill>
          <a:ln/>
        </p:spPr>
        <p:txBody>
          <a:bodyPr/>
          <a:lstStyle/>
          <a:p>
            <a:endParaRPr lang="en-US"/>
          </a:p>
        </p:txBody>
      </p:sp>
      <p:sp>
        <p:nvSpPr>
          <p:cNvPr id="24" name="Text 21"/>
          <p:cNvSpPr txBox="1"/>
          <p:nvPr/>
        </p:nvSpPr>
        <p:spPr>
          <a:xfrm>
            <a:off x="4023360" y="2962656"/>
            <a:ext cx="365760" cy="365760"/>
          </a:xfrm>
          <a:prstGeom prst="rect">
            <a:avLst/>
          </a:prstGeom>
          <a:noFill/>
          <a:ln/>
        </p:spPr>
        <p:txBody>
          <a:bodyPr wrap="square" lIns="0" tIns="0" rIns="0" bIns="0" rtlCol="0" anchor="ctr"/>
          <a:lstStyle/>
          <a:p>
            <a:pPr marL="0" indent="0" algn="ctr">
              <a:buNone/>
            </a:pPr>
            <a:r>
              <a:rPr lang="en-US" sz="1440" b="1" dirty="0">
                <a:solidFill>
                  <a:srgbClr val="FFFFFF"/>
                </a:solidFill>
                <a:latin typeface="Calibri" pitchFamily="34" charset="0"/>
                <a:ea typeface="Calibri" pitchFamily="34" charset="-122"/>
                <a:cs typeface="Calibri" pitchFamily="34" charset="-120"/>
              </a:rPr>
              <a:t>3</a:t>
            </a:r>
            <a:endParaRPr lang="en-US" sz="1440" dirty="0"/>
          </a:p>
        </p:txBody>
      </p:sp>
      <p:sp>
        <p:nvSpPr>
          <p:cNvPr id="25" name="Text 22"/>
          <p:cNvSpPr txBox="1"/>
          <p:nvPr/>
        </p:nvSpPr>
        <p:spPr>
          <a:xfrm>
            <a:off x="4572000" y="2916936"/>
            <a:ext cx="4114800" cy="274320"/>
          </a:xfrm>
          <a:prstGeom prst="rect">
            <a:avLst/>
          </a:prstGeom>
          <a:noFill/>
          <a:ln/>
        </p:spPr>
        <p:txBody>
          <a:bodyPr wrap="square" lIns="0" tIns="0" rIns="0" bIns="0" rtlCol="0" anchor="t"/>
          <a:lstStyle/>
          <a:p>
            <a:pPr marL="0" indent="0">
              <a:buNone/>
            </a:pPr>
            <a:r>
              <a:rPr lang="en-US" sz="1400" b="1" dirty="0">
                <a:solidFill>
                  <a:srgbClr val="44546A"/>
                </a:solidFill>
                <a:latin typeface="Calibri" pitchFamily="34" charset="0"/>
                <a:ea typeface="Calibri" pitchFamily="34" charset="-122"/>
                <a:cs typeface="Calibri" pitchFamily="34" charset="-120"/>
              </a:rPr>
              <a:t>Left column: cues</a:t>
            </a:r>
            <a:endParaRPr lang="en-US" sz="1400" dirty="0"/>
          </a:p>
        </p:txBody>
      </p:sp>
      <p:sp>
        <p:nvSpPr>
          <p:cNvPr id="26" name="Text 23"/>
          <p:cNvSpPr txBox="1"/>
          <p:nvPr/>
        </p:nvSpPr>
        <p:spPr>
          <a:xfrm>
            <a:off x="4572000" y="3191256"/>
            <a:ext cx="4114800" cy="502920"/>
          </a:xfrm>
          <a:prstGeom prst="rect">
            <a:avLst/>
          </a:prstGeom>
          <a:noFill/>
          <a:ln/>
        </p:spPr>
        <p:txBody>
          <a:bodyPr wrap="square" lIns="0" tIns="0" rIns="0" bIns="0" rtlCol="0" anchor="t"/>
          <a:lstStyle/>
          <a:p>
            <a:pPr marL="0" indent="0">
              <a:buNone/>
            </a:pPr>
            <a:r>
              <a:rPr lang="en-US" sz="1200" dirty="0">
                <a:solidFill>
                  <a:srgbClr val="66758A"/>
                </a:solidFill>
                <a:latin typeface="Calibri" pitchFamily="34" charset="0"/>
                <a:ea typeface="Calibri" pitchFamily="34" charset="-122"/>
                <a:cs typeface="Calibri" pitchFamily="34" charset="-120"/>
              </a:rPr>
              <a:t>Add key terms or questions after class. Keep most of it blank at first.</a:t>
            </a:r>
            <a:endParaRPr lang="en-US" sz="1200" dirty="0"/>
          </a:p>
        </p:txBody>
      </p:sp>
      <p:sp>
        <p:nvSpPr>
          <p:cNvPr id="27" name="Shape 24"/>
          <p:cNvSpPr/>
          <p:nvPr/>
        </p:nvSpPr>
        <p:spPr>
          <a:xfrm>
            <a:off x="4023360" y="3803904"/>
            <a:ext cx="365760" cy="365760"/>
          </a:xfrm>
          <a:prstGeom prst="ellipse">
            <a:avLst/>
          </a:prstGeom>
          <a:solidFill>
            <a:srgbClr val="4472C4"/>
          </a:solidFill>
          <a:ln/>
        </p:spPr>
        <p:txBody>
          <a:bodyPr/>
          <a:lstStyle/>
          <a:p>
            <a:endParaRPr lang="en-US"/>
          </a:p>
        </p:txBody>
      </p:sp>
      <p:sp>
        <p:nvSpPr>
          <p:cNvPr id="28" name="Text 25"/>
          <p:cNvSpPr txBox="1"/>
          <p:nvPr/>
        </p:nvSpPr>
        <p:spPr>
          <a:xfrm>
            <a:off x="4023360" y="3803904"/>
            <a:ext cx="365760" cy="365760"/>
          </a:xfrm>
          <a:prstGeom prst="rect">
            <a:avLst/>
          </a:prstGeom>
          <a:noFill/>
          <a:ln/>
        </p:spPr>
        <p:txBody>
          <a:bodyPr wrap="square" lIns="0" tIns="0" rIns="0" bIns="0" rtlCol="0" anchor="ctr"/>
          <a:lstStyle/>
          <a:p>
            <a:pPr marL="0" indent="0" algn="ctr">
              <a:buNone/>
            </a:pPr>
            <a:r>
              <a:rPr lang="en-US" sz="1440" b="1" dirty="0">
                <a:solidFill>
                  <a:srgbClr val="FFFFFF"/>
                </a:solidFill>
                <a:latin typeface="Calibri" pitchFamily="34" charset="0"/>
                <a:ea typeface="Calibri" pitchFamily="34" charset="-122"/>
                <a:cs typeface="Calibri" pitchFamily="34" charset="-120"/>
              </a:rPr>
              <a:t>4</a:t>
            </a:r>
            <a:endParaRPr lang="en-US" sz="1440" dirty="0"/>
          </a:p>
        </p:txBody>
      </p:sp>
      <p:sp>
        <p:nvSpPr>
          <p:cNvPr id="29" name="Text 26"/>
          <p:cNvSpPr txBox="1"/>
          <p:nvPr/>
        </p:nvSpPr>
        <p:spPr>
          <a:xfrm>
            <a:off x="4572000" y="3758184"/>
            <a:ext cx="4114800" cy="274320"/>
          </a:xfrm>
          <a:prstGeom prst="rect">
            <a:avLst/>
          </a:prstGeom>
          <a:noFill/>
          <a:ln/>
        </p:spPr>
        <p:txBody>
          <a:bodyPr wrap="square" lIns="0" tIns="0" rIns="0" bIns="0" rtlCol="0" anchor="t"/>
          <a:lstStyle/>
          <a:p>
            <a:pPr marL="0" indent="0">
              <a:buNone/>
            </a:pPr>
            <a:r>
              <a:rPr lang="en-US" sz="1400" b="1" dirty="0">
                <a:solidFill>
                  <a:srgbClr val="44546A"/>
                </a:solidFill>
                <a:latin typeface="Calibri" pitchFamily="34" charset="0"/>
                <a:ea typeface="Calibri" pitchFamily="34" charset="-122"/>
                <a:cs typeface="Calibri" pitchFamily="34" charset="-120"/>
              </a:rPr>
              <a:t>Bottom: summary</a:t>
            </a:r>
            <a:endParaRPr lang="en-US" sz="1400" dirty="0"/>
          </a:p>
        </p:txBody>
      </p:sp>
      <p:sp>
        <p:nvSpPr>
          <p:cNvPr id="30" name="Text 27"/>
          <p:cNvSpPr txBox="1"/>
          <p:nvPr/>
        </p:nvSpPr>
        <p:spPr>
          <a:xfrm>
            <a:off x="4572000" y="4032504"/>
            <a:ext cx="4114800" cy="502920"/>
          </a:xfrm>
          <a:prstGeom prst="rect">
            <a:avLst/>
          </a:prstGeom>
          <a:noFill/>
          <a:ln/>
        </p:spPr>
        <p:txBody>
          <a:bodyPr wrap="square" lIns="0" tIns="0" rIns="0" bIns="0" rtlCol="0" anchor="t"/>
          <a:lstStyle/>
          <a:p>
            <a:pPr marL="0" indent="0">
              <a:buNone/>
            </a:pPr>
            <a:r>
              <a:rPr lang="en-US" sz="1200" dirty="0">
                <a:solidFill>
                  <a:srgbClr val="66758A"/>
                </a:solidFill>
                <a:latin typeface="Calibri" pitchFamily="34" charset="0"/>
                <a:ea typeface="Calibri" pitchFamily="34" charset="-122"/>
                <a:cs typeface="Calibri" pitchFamily="34" charset="-120"/>
              </a:rPr>
              <a:t>Summarize the whole page in your own words.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SYSTEM 1 · CORNELL METHOD</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Cornell notes in action</a:t>
            </a:r>
            <a:endParaRPr lang="en-US" sz="3000" dirty="0"/>
          </a:p>
        </p:txBody>
      </p:sp>
      <p:sp>
        <p:nvSpPr>
          <p:cNvPr id="6" name="Shape 3"/>
          <p:cNvSpPr/>
          <p:nvPr/>
        </p:nvSpPr>
        <p:spPr>
          <a:xfrm>
            <a:off x="457200" y="1234440"/>
            <a:ext cx="5212080" cy="3429000"/>
          </a:xfrm>
          <a:prstGeom prst="rect">
            <a:avLst/>
          </a:prstGeom>
          <a:solidFill>
            <a:srgbClr val="FFFFFF"/>
          </a:solidFill>
          <a:ln w="25400">
            <a:solidFill>
              <a:srgbClr val="4472C4"/>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457200" y="1234440"/>
            <a:ext cx="5212080" cy="292608"/>
          </a:xfrm>
          <a:prstGeom prst="rect">
            <a:avLst/>
          </a:prstGeom>
          <a:solidFill>
            <a:srgbClr val="4472C4"/>
          </a:solidFill>
          <a:ln w="12700">
            <a:solidFill>
              <a:srgbClr val="4472C4"/>
            </a:solidFill>
            <a:prstDash val="solid"/>
          </a:ln>
        </p:spPr>
        <p:txBody>
          <a:bodyPr/>
          <a:lstStyle/>
          <a:p>
            <a:endParaRPr lang="en-US"/>
          </a:p>
        </p:txBody>
      </p:sp>
      <p:sp>
        <p:nvSpPr>
          <p:cNvPr id="8" name="Text 5"/>
          <p:cNvSpPr txBox="1"/>
          <p:nvPr/>
        </p:nvSpPr>
        <p:spPr>
          <a:xfrm>
            <a:off x="548640" y="1234440"/>
            <a:ext cx="5029200" cy="29260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Time Management for Students  ·  ENG 102  ·  12 Oct</a:t>
            </a:r>
            <a:endParaRPr lang="en-US" sz="1050" dirty="0"/>
          </a:p>
        </p:txBody>
      </p:sp>
      <p:sp>
        <p:nvSpPr>
          <p:cNvPr id="9" name="Shape 6"/>
          <p:cNvSpPr/>
          <p:nvPr/>
        </p:nvSpPr>
        <p:spPr>
          <a:xfrm>
            <a:off x="457200" y="1527048"/>
            <a:ext cx="1463040" cy="2267712"/>
          </a:xfrm>
          <a:prstGeom prst="rect">
            <a:avLst/>
          </a:prstGeom>
          <a:solidFill>
            <a:srgbClr val="FBE5D6"/>
          </a:solidFill>
          <a:ln w="12700">
            <a:solidFill>
              <a:srgbClr val="4472C4"/>
            </a:solidFill>
            <a:prstDash val="solid"/>
          </a:ln>
        </p:spPr>
        <p:txBody>
          <a:bodyPr/>
          <a:lstStyle/>
          <a:p>
            <a:endParaRPr lang="en-US"/>
          </a:p>
        </p:txBody>
      </p:sp>
      <p:sp>
        <p:nvSpPr>
          <p:cNvPr id="10" name="Shape 7"/>
          <p:cNvSpPr/>
          <p:nvPr/>
        </p:nvSpPr>
        <p:spPr>
          <a:xfrm>
            <a:off x="457200" y="3794760"/>
            <a:ext cx="5212080" cy="868680"/>
          </a:xfrm>
          <a:prstGeom prst="rect">
            <a:avLst/>
          </a:prstGeom>
          <a:solidFill>
            <a:srgbClr val="FFF2CC"/>
          </a:solidFill>
          <a:ln w="12700">
            <a:solidFill>
              <a:srgbClr val="4472C4"/>
            </a:solidFill>
            <a:prstDash val="solid"/>
          </a:ln>
        </p:spPr>
        <p:txBody>
          <a:bodyPr/>
          <a:lstStyle/>
          <a:p>
            <a:endParaRPr lang="en-US"/>
          </a:p>
        </p:txBody>
      </p:sp>
      <p:sp>
        <p:nvSpPr>
          <p:cNvPr id="11" name="Text 8"/>
          <p:cNvSpPr txBox="1"/>
          <p:nvPr/>
        </p:nvSpPr>
        <p:spPr>
          <a:xfrm>
            <a:off x="548640" y="1645920"/>
            <a:ext cx="1280160" cy="2011680"/>
          </a:xfrm>
          <a:prstGeom prst="rect">
            <a:avLst/>
          </a:prstGeom>
          <a:noFill/>
          <a:ln/>
        </p:spPr>
        <p:txBody>
          <a:bodyPr wrap="square" lIns="0" tIns="0" rIns="0" bIns="0" rtlCol="0" anchor="t"/>
          <a:lstStyle/>
          <a:p>
            <a:pPr marL="0" indent="0">
              <a:spcAft>
                <a:spcPts val="1400"/>
              </a:spcAft>
              <a:buNone/>
            </a:pPr>
            <a:r>
              <a:rPr lang="en-US" sz="1100" b="1" dirty="0">
                <a:solidFill>
                  <a:srgbClr val="D8641A"/>
                </a:solidFill>
                <a:latin typeface="Calibri" pitchFamily="34" charset="0"/>
                <a:ea typeface="Calibri" pitchFamily="34" charset="-122"/>
                <a:cs typeface="Calibri" pitchFamily="34" charset="-120"/>
              </a:rPr>
              <a:t>Why plan?</a:t>
            </a:r>
            <a:endParaRPr lang="en-US" sz="1100" dirty="0"/>
          </a:p>
          <a:p>
            <a:pPr marL="0" indent="0">
              <a:spcAft>
                <a:spcPts val="1400"/>
              </a:spcAft>
              <a:buNone/>
            </a:pPr>
            <a:r>
              <a:rPr lang="en-US" sz="1100" b="1" dirty="0">
                <a:solidFill>
                  <a:srgbClr val="D8641A"/>
                </a:solidFill>
                <a:latin typeface="Calibri" pitchFamily="34" charset="0"/>
                <a:ea typeface="Calibri" pitchFamily="34" charset="-122"/>
                <a:cs typeface="Calibri" pitchFamily="34" charset="-120"/>
              </a:rPr>
              <a:t>3 planning tools?</a:t>
            </a:r>
            <a:endParaRPr lang="en-US" sz="1100" dirty="0"/>
          </a:p>
          <a:p>
            <a:pPr marL="0" indent="0">
              <a:spcAft>
                <a:spcPts val="1400"/>
              </a:spcAft>
              <a:buNone/>
            </a:pPr>
            <a:r>
              <a:rPr lang="en-US" sz="1100" b="1" dirty="0">
                <a:solidFill>
                  <a:srgbClr val="D8641A"/>
                </a:solidFill>
                <a:latin typeface="Calibri" pitchFamily="34" charset="0"/>
                <a:ea typeface="Calibri" pitchFamily="34" charset="-122"/>
                <a:cs typeface="Calibri" pitchFamily="34" charset="-120"/>
              </a:rPr>
              <a:t>What is procrastination?</a:t>
            </a:r>
            <a:endParaRPr lang="en-US" sz="1100" dirty="0"/>
          </a:p>
          <a:p>
            <a:pPr marL="0" indent="0">
              <a:spcAft>
                <a:spcPts val="1400"/>
              </a:spcAft>
              <a:buNone/>
            </a:pPr>
            <a:r>
              <a:rPr lang="en-US" sz="1100" b="1" dirty="0">
                <a:solidFill>
                  <a:srgbClr val="D8641A"/>
                </a:solidFill>
                <a:latin typeface="Calibri" pitchFamily="34" charset="0"/>
                <a:ea typeface="Calibri" pitchFamily="34" charset="-122"/>
                <a:cs typeface="Calibri" pitchFamily="34" charset="-120"/>
              </a:rPr>
              <a:t>Priority rule?</a:t>
            </a:r>
            <a:endParaRPr lang="en-US" sz="1100" dirty="0"/>
          </a:p>
        </p:txBody>
      </p:sp>
      <p:sp>
        <p:nvSpPr>
          <p:cNvPr id="12" name="Text 9"/>
          <p:cNvSpPr txBox="1"/>
          <p:nvPr/>
        </p:nvSpPr>
        <p:spPr>
          <a:xfrm>
            <a:off x="2057400" y="1645920"/>
            <a:ext cx="3474720" cy="210312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22B36"/>
                </a:solidFill>
                <a:latin typeface="Calibri" pitchFamily="34" charset="0"/>
                <a:ea typeface="Calibri" pitchFamily="34" charset="-122"/>
                <a:cs typeface="Calibri" pitchFamily="34" charset="-120"/>
              </a:rPr>
              <a:t>Planning → ↓ stress, work on time</a:t>
            </a:r>
            <a:endParaRPr lang="en-US" sz="1100" dirty="0"/>
          </a:p>
          <a:p>
            <a:pPr marL="342900" indent="-342900">
              <a:spcAft>
                <a:spcPts val="500"/>
              </a:spcAft>
              <a:buSzPct val="100000"/>
              <a:buChar char="•"/>
            </a:pPr>
            <a:r>
              <a:rPr lang="en-US" sz="1100" dirty="0">
                <a:solidFill>
                  <a:srgbClr val="222B36"/>
                </a:solidFill>
                <a:latin typeface="Calibri" pitchFamily="34" charset="0"/>
                <a:ea typeface="Calibri" pitchFamily="34" charset="-122"/>
                <a:cs typeface="Calibri" pitchFamily="34" charset="-120"/>
              </a:rPr>
              <a:t>Tools: to-do list, weekly planner, calendar app</a:t>
            </a:r>
            <a:endParaRPr lang="en-US" sz="1100" dirty="0"/>
          </a:p>
          <a:p>
            <a:pPr marL="342900" indent="-342900">
              <a:spcAft>
                <a:spcPts val="500"/>
              </a:spcAft>
              <a:buSzPct val="100000"/>
              <a:buChar char="•"/>
            </a:pPr>
            <a:r>
              <a:rPr lang="en-US" sz="1100" dirty="0">
                <a:solidFill>
                  <a:srgbClr val="222B36"/>
                </a:solidFill>
                <a:latin typeface="Calibri" pitchFamily="34" charset="0"/>
                <a:ea typeface="Calibri" pitchFamily="34" charset="-122"/>
                <a:cs typeface="Calibri" pitchFamily="34" charset="-120"/>
              </a:rPr>
              <a:t>Procrastination = delaying despite consequences; fix: 25-min blocks</a:t>
            </a:r>
            <a:endParaRPr lang="en-US" sz="1100" dirty="0"/>
          </a:p>
          <a:p>
            <a:pPr marL="342900" indent="-342900">
              <a:spcAft>
                <a:spcPts val="500"/>
              </a:spcAft>
              <a:buSzPct val="100000"/>
              <a:buChar char="•"/>
            </a:pPr>
            <a:r>
              <a:rPr lang="en-US" sz="1100" dirty="0">
                <a:solidFill>
                  <a:srgbClr val="222B36"/>
                </a:solidFill>
                <a:latin typeface="Calibri" pitchFamily="34" charset="0"/>
                <a:ea typeface="Calibri" pitchFamily="34" charset="-122"/>
                <a:cs typeface="Calibri" pitchFamily="34" charset="-120"/>
              </a:rPr>
              <a:t>Do urgent + important first ★</a:t>
            </a:r>
            <a:endParaRPr lang="en-US" sz="1100" dirty="0"/>
          </a:p>
          <a:p>
            <a:pPr marL="342900" indent="-342900">
              <a:spcAft>
                <a:spcPts val="500"/>
              </a:spcAft>
              <a:buSzPct val="100000"/>
              <a:buChar char="•"/>
            </a:pPr>
            <a:r>
              <a:rPr lang="en-US" sz="1100" dirty="0">
                <a:solidFill>
                  <a:srgbClr val="222B36"/>
                </a:solidFill>
                <a:latin typeface="Calibri" pitchFamily="34" charset="0"/>
                <a:ea typeface="Calibri" pitchFamily="34" charset="-122"/>
                <a:cs typeface="Calibri" pitchFamily="34" charset="-120"/>
              </a:rPr>
              <a:t>EX: Sara plans on Sunday → no all-nighters</a:t>
            </a:r>
            <a:endParaRPr lang="en-US" sz="1100" dirty="0"/>
          </a:p>
        </p:txBody>
      </p:sp>
      <p:sp>
        <p:nvSpPr>
          <p:cNvPr id="13" name="Text 10"/>
          <p:cNvSpPr txBox="1"/>
          <p:nvPr/>
        </p:nvSpPr>
        <p:spPr>
          <a:xfrm>
            <a:off x="566928" y="3840480"/>
            <a:ext cx="4992624" cy="777240"/>
          </a:xfrm>
          <a:prstGeom prst="rect">
            <a:avLst/>
          </a:prstGeom>
          <a:noFill/>
          <a:ln/>
        </p:spPr>
        <p:txBody>
          <a:bodyPr wrap="square" lIns="0" tIns="0" rIns="0" bIns="0" rtlCol="0" anchor="ctr"/>
          <a:lstStyle/>
          <a:p>
            <a:pPr marL="0" indent="0">
              <a:buNone/>
            </a:pPr>
            <a:r>
              <a:rPr lang="en-US" sz="1100" b="1" dirty="0">
                <a:solidFill>
                  <a:srgbClr val="B5820F"/>
                </a:solidFill>
                <a:latin typeface="Calibri" pitchFamily="34" charset="0"/>
                <a:ea typeface="Calibri" pitchFamily="34" charset="-122"/>
                <a:cs typeface="Calibri" pitchFamily="34" charset="-120"/>
              </a:rPr>
              <a:t>Summary: </a:t>
            </a:r>
            <a:r>
              <a:rPr lang="en-US" sz="1100" dirty="0">
                <a:solidFill>
                  <a:srgbClr val="222B36"/>
                </a:solidFill>
                <a:latin typeface="Calibri" pitchFamily="34" charset="0"/>
                <a:ea typeface="Calibri" pitchFamily="34" charset="-122"/>
                <a:cs typeface="Calibri" pitchFamily="34" charset="-120"/>
              </a:rPr>
              <a:t>Time management means planning tasks by priority so work is finished calmly and on time. Simple tools and short focus blocks make it easier.</a:t>
            </a:r>
            <a:endParaRPr lang="en-US" sz="1100" dirty="0"/>
          </a:p>
        </p:txBody>
      </p:sp>
      <p:sp>
        <p:nvSpPr>
          <p:cNvPr id="14" name="Shape 11"/>
          <p:cNvSpPr/>
          <p:nvPr/>
        </p:nvSpPr>
        <p:spPr>
          <a:xfrm>
            <a:off x="5943600" y="1234440"/>
            <a:ext cx="2743200" cy="1051560"/>
          </a:xfrm>
          <a:prstGeom prst="roundRect">
            <a:avLst>
              <a:gd name="adj" fmla="val 6957"/>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15" name="Shape 12"/>
          <p:cNvSpPr/>
          <p:nvPr/>
        </p:nvSpPr>
        <p:spPr>
          <a:xfrm>
            <a:off x="6080760" y="1371600"/>
            <a:ext cx="457200" cy="457200"/>
          </a:xfrm>
          <a:prstGeom prst="ellipse">
            <a:avLst/>
          </a:prstGeom>
          <a:solidFill>
            <a:srgbClr val="D8641A"/>
          </a:solidFill>
          <a:ln/>
        </p:spPr>
        <p:txBody>
          <a:bodyPr/>
          <a:lstStyle/>
          <a:p>
            <a:endParaRPr lang="en-US"/>
          </a:p>
        </p:txBody>
      </p:sp>
      <p:pic>
        <p:nvPicPr>
          <p:cNvPr id="16" name="Image 0" descr="preencoded.png"/>
          <p:cNvPicPr>
            <a:picLocks noChangeAspect="1"/>
          </p:cNvPicPr>
          <p:nvPr/>
        </p:nvPicPr>
        <p:blipFill>
          <a:blip r:embed="rId3"/>
          <a:stretch>
            <a:fillRect/>
          </a:stretch>
        </p:blipFill>
        <p:spPr>
          <a:xfrm>
            <a:off x="6195060" y="1485900"/>
            <a:ext cx="228600" cy="228600"/>
          </a:xfrm>
          <a:prstGeom prst="rect">
            <a:avLst/>
          </a:prstGeom>
        </p:spPr>
      </p:pic>
      <p:sp>
        <p:nvSpPr>
          <p:cNvPr id="17" name="Text 13"/>
          <p:cNvSpPr txBox="1"/>
          <p:nvPr/>
        </p:nvSpPr>
        <p:spPr>
          <a:xfrm>
            <a:off x="6675120" y="1344168"/>
            <a:ext cx="1920240" cy="502920"/>
          </a:xfrm>
          <a:prstGeom prst="rect">
            <a:avLst/>
          </a:prstGeom>
          <a:noFill/>
          <a:ln/>
        </p:spPr>
        <p:txBody>
          <a:bodyPr wrap="square" lIns="0" tIns="0" rIns="0" bIns="0" rtlCol="0" anchor="t"/>
          <a:lstStyle/>
          <a:p>
            <a:pPr marL="0" indent="0">
              <a:buNone/>
            </a:pPr>
            <a:r>
              <a:rPr lang="en-US" sz="1250" b="1" dirty="0">
                <a:solidFill>
                  <a:srgbClr val="44546A"/>
                </a:solidFill>
                <a:latin typeface="Calibri" pitchFamily="34" charset="0"/>
                <a:ea typeface="Calibri" pitchFamily="34" charset="-122"/>
                <a:cs typeface="Calibri" pitchFamily="34" charset="-120"/>
              </a:rPr>
              <a:t>Write the cues after class</a:t>
            </a:r>
            <a:endParaRPr lang="en-US" sz="1250" dirty="0"/>
          </a:p>
        </p:txBody>
      </p:sp>
      <p:sp>
        <p:nvSpPr>
          <p:cNvPr id="18" name="Text 14"/>
          <p:cNvSpPr txBox="1"/>
          <p:nvPr/>
        </p:nvSpPr>
        <p:spPr>
          <a:xfrm>
            <a:off x="6675120" y="1828800"/>
            <a:ext cx="1920240" cy="411480"/>
          </a:xfrm>
          <a:prstGeom prst="rect">
            <a:avLst/>
          </a:prstGeom>
          <a:noFill/>
          <a:ln/>
        </p:spPr>
        <p:txBody>
          <a:bodyPr wrap="square" lIns="0" tIns="0" rIns="0" bIns="0" rtlCol="0" anchor="t"/>
          <a:lstStyle/>
          <a:p>
            <a:pPr marL="0" indent="0">
              <a:buNone/>
            </a:pPr>
            <a:r>
              <a:rPr lang="en-US" sz="1100" dirty="0">
                <a:solidFill>
                  <a:srgbClr val="66758A"/>
                </a:solidFill>
                <a:latin typeface="Calibri" pitchFamily="34" charset="0"/>
                <a:ea typeface="Calibri" pitchFamily="34" charset="-122"/>
                <a:cs typeface="Calibri" pitchFamily="34" charset="-120"/>
              </a:rPr>
              <a:t>Turn each note into a question.</a:t>
            </a:r>
            <a:endParaRPr lang="en-US" sz="1100" dirty="0"/>
          </a:p>
        </p:txBody>
      </p:sp>
      <p:sp>
        <p:nvSpPr>
          <p:cNvPr id="19" name="Shape 15"/>
          <p:cNvSpPr/>
          <p:nvPr/>
        </p:nvSpPr>
        <p:spPr>
          <a:xfrm>
            <a:off x="5943600" y="2404872"/>
            <a:ext cx="2743200" cy="1051560"/>
          </a:xfrm>
          <a:prstGeom prst="roundRect">
            <a:avLst>
              <a:gd name="adj" fmla="val 6957"/>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20" name="Shape 16"/>
          <p:cNvSpPr/>
          <p:nvPr/>
        </p:nvSpPr>
        <p:spPr>
          <a:xfrm>
            <a:off x="6080760" y="2542032"/>
            <a:ext cx="457200" cy="457200"/>
          </a:xfrm>
          <a:prstGeom prst="ellipse">
            <a:avLst/>
          </a:prstGeom>
          <a:solidFill>
            <a:srgbClr val="4472C4"/>
          </a:solidFill>
          <a:ln/>
        </p:spPr>
        <p:txBody>
          <a:bodyPr/>
          <a:lstStyle/>
          <a:p>
            <a:endParaRPr lang="en-US"/>
          </a:p>
        </p:txBody>
      </p:sp>
      <p:pic>
        <p:nvPicPr>
          <p:cNvPr id="21" name="Image 1" descr="preencoded.png"/>
          <p:cNvPicPr>
            <a:picLocks noChangeAspect="1"/>
          </p:cNvPicPr>
          <p:nvPr/>
        </p:nvPicPr>
        <p:blipFill>
          <a:blip r:embed="rId4"/>
          <a:stretch>
            <a:fillRect/>
          </a:stretch>
        </p:blipFill>
        <p:spPr>
          <a:xfrm>
            <a:off x="6195060" y="2656332"/>
            <a:ext cx="228600" cy="228600"/>
          </a:xfrm>
          <a:prstGeom prst="rect">
            <a:avLst/>
          </a:prstGeom>
        </p:spPr>
      </p:pic>
      <p:sp>
        <p:nvSpPr>
          <p:cNvPr id="22" name="Text 17"/>
          <p:cNvSpPr txBox="1"/>
          <p:nvPr/>
        </p:nvSpPr>
        <p:spPr>
          <a:xfrm>
            <a:off x="6675120" y="2514600"/>
            <a:ext cx="1920240" cy="502920"/>
          </a:xfrm>
          <a:prstGeom prst="rect">
            <a:avLst/>
          </a:prstGeom>
          <a:noFill/>
          <a:ln/>
        </p:spPr>
        <p:txBody>
          <a:bodyPr wrap="square" lIns="0" tIns="0" rIns="0" bIns="0" rtlCol="0" anchor="t"/>
          <a:lstStyle/>
          <a:p>
            <a:pPr marL="0" indent="0">
              <a:buNone/>
            </a:pPr>
            <a:r>
              <a:rPr lang="en-US" sz="1250" b="1" dirty="0">
                <a:solidFill>
                  <a:srgbClr val="44546A"/>
                </a:solidFill>
                <a:latin typeface="Calibri" pitchFamily="34" charset="0"/>
                <a:ea typeface="Calibri" pitchFamily="34" charset="-122"/>
                <a:cs typeface="Calibri" pitchFamily="34" charset="-120"/>
              </a:rPr>
              <a:t>Cover and self-test</a:t>
            </a:r>
            <a:endParaRPr lang="en-US" sz="1250" dirty="0"/>
          </a:p>
        </p:txBody>
      </p:sp>
      <p:sp>
        <p:nvSpPr>
          <p:cNvPr id="23" name="Text 18"/>
          <p:cNvSpPr txBox="1"/>
          <p:nvPr/>
        </p:nvSpPr>
        <p:spPr>
          <a:xfrm>
            <a:off x="6675120" y="2999232"/>
            <a:ext cx="1920240" cy="411480"/>
          </a:xfrm>
          <a:prstGeom prst="rect">
            <a:avLst/>
          </a:prstGeom>
          <a:noFill/>
          <a:ln/>
        </p:spPr>
        <p:txBody>
          <a:bodyPr wrap="square" lIns="0" tIns="0" rIns="0" bIns="0" rtlCol="0" anchor="t"/>
          <a:lstStyle/>
          <a:p>
            <a:pPr marL="0" indent="0">
              <a:buNone/>
            </a:pPr>
            <a:r>
              <a:rPr lang="en-US" sz="1100" dirty="0">
                <a:solidFill>
                  <a:srgbClr val="66758A"/>
                </a:solidFill>
                <a:latin typeface="Calibri" pitchFamily="34" charset="0"/>
                <a:ea typeface="Calibri" pitchFamily="34" charset="-122"/>
                <a:cs typeface="Calibri" pitchFamily="34" charset="-120"/>
              </a:rPr>
              <a:t>Hide the notes, answer from the cues.</a:t>
            </a:r>
            <a:endParaRPr lang="en-US" sz="1100" dirty="0"/>
          </a:p>
        </p:txBody>
      </p:sp>
      <p:sp>
        <p:nvSpPr>
          <p:cNvPr id="24" name="Shape 19"/>
          <p:cNvSpPr/>
          <p:nvPr/>
        </p:nvSpPr>
        <p:spPr>
          <a:xfrm>
            <a:off x="5943600" y="3575304"/>
            <a:ext cx="2743200" cy="1051560"/>
          </a:xfrm>
          <a:prstGeom prst="roundRect">
            <a:avLst>
              <a:gd name="adj" fmla="val 6957"/>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25" name="Shape 20"/>
          <p:cNvSpPr/>
          <p:nvPr/>
        </p:nvSpPr>
        <p:spPr>
          <a:xfrm>
            <a:off x="6080760" y="3712464"/>
            <a:ext cx="457200" cy="457200"/>
          </a:xfrm>
          <a:prstGeom prst="ellipse">
            <a:avLst/>
          </a:prstGeom>
          <a:solidFill>
            <a:srgbClr val="D8641A"/>
          </a:solidFill>
          <a:ln/>
        </p:spPr>
        <p:txBody>
          <a:bodyPr/>
          <a:lstStyle/>
          <a:p>
            <a:endParaRPr lang="en-US"/>
          </a:p>
        </p:txBody>
      </p:sp>
      <p:pic>
        <p:nvPicPr>
          <p:cNvPr id="26" name="Image 2" descr="preencoded.png"/>
          <p:cNvPicPr>
            <a:picLocks noChangeAspect="1"/>
          </p:cNvPicPr>
          <p:nvPr/>
        </p:nvPicPr>
        <p:blipFill>
          <a:blip r:embed="rId5"/>
          <a:stretch>
            <a:fillRect/>
          </a:stretch>
        </p:blipFill>
        <p:spPr>
          <a:xfrm>
            <a:off x="6195060" y="3826764"/>
            <a:ext cx="228600" cy="228600"/>
          </a:xfrm>
          <a:prstGeom prst="rect">
            <a:avLst/>
          </a:prstGeom>
        </p:spPr>
      </p:pic>
      <p:sp>
        <p:nvSpPr>
          <p:cNvPr id="27" name="Text 21"/>
          <p:cNvSpPr txBox="1"/>
          <p:nvPr/>
        </p:nvSpPr>
        <p:spPr>
          <a:xfrm>
            <a:off x="6675120" y="3685032"/>
            <a:ext cx="1920240" cy="502920"/>
          </a:xfrm>
          <a:prstGeom prst="rect">
            <a:avLst/>
          </a:prstGeom>
          <a:noFill/>
          <a:ln/>
        </p:spPr>
        <p:txBody>
          <a:bodyPr wrap="square" lIns="0" tIns="0" rIns="0" bIns="0" rtlCol="0" anchor="t"/>
          <a:lstStyle/>
          <a:p>
            <a:pPr marL="0" indent="0">
              <a:buNone/>
            </a:pPr>
            <a:r>
              <a:rPr lang="en-US" sz="1250" b="1" dirty="0">
                <a:solidFill>
                  <a:srgbClr val="44546A"/>
                </a:solidFill>
                <a:latin typeface="Calibri" pitchFamily="34" charset="0"/>
                <a:ea typeface="Calibri" pitchFamily="34" charset="-122"/>
                <a:cs typeface="Calibri" pitchFamily="34" charset="-120"/>
              </a:rPr>
              <a:t>Summarize last</a:t>
            </a:r>
            <a:endParaRPr lang="en-US" sz="1250" dirty="0"/>
          </a:p>
        </p:txBody>
      </p:sp>
      <p:sp>
        <p:nvSpPr>
          <p:cNvPr id="28" name="Text 22"/>
          <p:cNvSpPr txBox="1"/>
          <p:nvPr/>
        </p:nvSpPr>
        <p:spPr>
          <a:xfrm>
            <a:off x="6675120" y="4169664"/>
            <a:ext cx="1920240" cy="411480"/>
          </a:xfrm>
          <a:prstGeom prst="rect">
            <a:avLst/>
          </a:prstGeom>
          <a:noFill/>
          <a:ln/>
        </p:spPr>
        <p:txBody>
          <a:bodyPr wrap="square" lIns="0" tIns="0" rIns="0" bIns="0" rtlCol="0" anchor="t"/>
          <a:lstStyle/>
          <a:p>
            <a:pPr marL="0" indent="0">
              <a:buNone/>
            </a:pPr>
            <a:r>
              <a:rPr lang="en-US" sz="1100" dirty="0">
                <a:solidFill>
                  <a:srgbClr val="66758A"/>
                </a:solidFill>
                <a:latin typeface="Calibri" pitchFamily="34" charset="0"/>
                <a:ea typeface="Calibri" pitchFamily="34" charset="-122"/>
                <a:cs typeface="Calibri" pitchFamily="34" charset="-120"/>
              </a:rPr>
              <a:t>Use your own words, not a copy.</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SYSTEM 1 · CORNELL METHOD</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A real Cornell page: what to notice</a:t>
            </a:r>
            <a:endParaRPr lang="en-US" sz="3000" dirty="0"/>
          </a:p>
        </p:txBody>
      </p:sp>
      <p:sp>
        <p:nvSpPr>
          <p:cNvPr id="6" name="Shape 3"/>
          <p:cNvSpPr/>
          <p:nvPr/>
        </p:nvSpPr>
        <p:spPr>
          <a:xfrm>
            <a:off x="457200" y="1234440"/>
            <a:ext cx="3749040" cy="3429000"/>
          </a:xfrm>
          <a:prstGeom prst="roundRect">
            <a:avLst>
              <a:gd name="adj" fmla="val 2133"/>
            </a:avLst>
          </a:prstGeom>
          <a:solidFill>
            <a:srgbClr val="FFFFFF"/>
          </a:solidFill>
          <a:ln/>
          <a:effectLst>
            <a:outerShdw blurRad="76200" dist="25400" dir="5400000" algn="bl" rotWithShape="0">
              <a:srgbClr val="000000">
                <a:alpha val="12000"/>
              </a:srgbClr>
            </a:outerShdw>
          </a:effectLst>
        </p:spPr>
        <p:txBody>
          <a:bodyPr/>
          <a:lstStyle/>
          <a:p>
            <a:endParaRPr lang="en-US"/>
          </a:p>
        </p:txBody>
      </p:sp>
      <p:pic>
        <p:nvPicPr>
          <p:cNvPr id="7" name="Image 0" descr="/home/claude/deck/assets/cornell_ex.jpg"/>
          <p:cNvPicPr>
            <a:picLocks noChangeAspect="1"/>
          </p:cNvPicPr>
          <p:nvPr/>
        </p:nvPicPr>
        <p:blipFill>
          <a:blip r:embed="rId3"/>
          <a:stretch>
            <a:fillRect/>
          </a:stretch>
        </p:blipFill>
        <p:spPr>
          <a:xfrm>
            <a:off x="640080" y="1344168"/>
            <a:ext cx="3383280" cy="3223260"/>
          </a:xfrm>
          <a:prstGeom prst="rect">
            <a:avLst/>
          </a:prstGeom>
        </p:spPr>
      </p:pic>
      <p:sp>
        <p:nvSpPr>
          <p:cNvPr id="8" name="Text 4"/>
          <p:cNvSpPr txBox="1"/>
          <p:nvPr/>
        </p:nvSpPr>
        <p:spPr>
          <a:xfrm>
            <a:off x="4480560" y="1234440"/>
            <a:ext cx="4206240" cy="320040"/>
          </a:xfrm>
          <a:prstGeom prst="rect">
            <a:avLst/>
          </a:prstGeom>
          <a:noFill/>
          <a:ln/>
        </p:spPr>
        <p:txBody>
          <a:bodyPr wrap="square" lIns="0" tIns="0" rIns="0" bIns="0" rtlCol="0" anchor="t"/>
          <a:lstStyle/>
          <a:p>
            <a:pPr marL="0" indent="0">
              <a:buNone/>
            </a:pPr>
            <a:r>
              <a:rPr lang="en-US" sz="1700" b="1" dirty="0">
                <a:solidFill>
                  <a:srgbClr val="44546A"/>
                </a:solidFill>
                <a:latin typeface="Calibri" pitchFamily="34" charset="0"/>
                <a:ea typeface="Calibri" pitchFamily="34" charset="-122"/>
                <a:cs typeface="Calibri" pitchFamily="34" charset="-120"/>
              </a:rPr>
              <a:t>What to notice</a:t>
            </a:r>
            <a:endParaRPr lang="en-US" sz="1700" dirty="0"/>
          </a:p>
        </p:txBody>
      </p:sp>
      <p:sp>
        <p:nvSpPr>
          <p:cNvPr id="9" name="Text 5"/>
          <p:cNvSpPr txBox="1"/>
          <p:nvPr/>
        </p:nvSpPr>
        <p:spPr>
          <a:xfrm>
            <a:off x="4480560" y="1645920"/>
            <a:ext cx="4206240" cy="17830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22B36"/>
                </a:solidFill>
                <a:latin typeface="Calibri" pitchFamily="34" charset="0"/>
                <a:ea typeface="Calibri" pitchFamily="34" charset="-122"/>
                <a:cs typeface="Calibri" pitchFamily="34" charset="-120"/>
              </a:rPr>
              <a:t>Left column: numbered topics (1 Militarism, 2 Alliances) act as cues</a:t>
            </a:r>
            <a:endParaRPr lang="en-US" sz="1250" dirty="0"/>
          </a:p>
          <a:p>
            <a:pPr marL="342900" indent="-342900">
              <a:spcAft>
                <a:spcPts val="600"/>
              </a:spcAft>
              <a:buSzPct val="100000"/>
              <a:buChar char="•"/>
            </a:pPr>
            <a:r>
              <a:rPr lang="en-US" sz="1250" dirty="0">
                <a:solidFill>
                  <a:srgbClr val="222B36"/>
                </a:solidFill>
                <a:latin typeface="Calibri" pitchFamily="34" charset="0"/>
                <a:ea typeface="Calibri" pitchFamily="34" charset="-122"/>
                <a:cs typeface="Calibri" pitchFamily="34" charset="-120"/>
              </a:rPr>
              <a:t>Right column: short notes, arrows and key dates, not full sentences</a:t>
            </a:r>
            <a:endParaRPr lang="en-US" sz="1250" dirty="0"/>
          </a:p>
          <a:p>
            <a:pPr marL="342900" indent="-342900">
              <a:spcAft>
                <a:spcPts val="600"/>
              </a:spcAft>
              <a:buSzPct val="100000"/>
              <a:buChar char="•"/>
            </a:pPr>
            <a:r>
              <a:rPr lang="en-US" sz="1250" dirty="0">
                <a:solidFill>
                  <a:srgbClr val="222B36"/>
                </a:solidFill>
                <a:latin typeface="Calibri" pitchFamily="34" charset="0"/>
                <a:ea typeface="Calibri" pitchFamily="34" charset="-122"/>
                <a:cs typeface="Calibri" pitchFamily="34" charset="-120"/>
              </a:rPr>
              <a:t>Stars, underlines and brackets mark what matters most</a:t>
            </a:r>
            <a:endParaRPr lang="en-US" sz="1250" dirty="0"/>
          </a:p>
          <a:p>
            <a:pPr marL="342900" indent="-342900">
              <a:spcAft>
                <a:spcPts val="600"/>
              </a:spcAft>
              <a:buSzPct val="100000"/>
              <a:buChar char="•"/>
            </a:pPr>
            <a:r>
              <a:rPr lang="en-US" sz="1250" dirty="0">
                <a:solidFill>
                  <a:srgbClr val="222B36"/>
                </a:solidFill>
                <a:latin typeface="Calibri" pitchFamily="34" charset="0"/>
                <a:ea typeface="Calibri" pitchFamily="34" charset="-122"/>
                <a:cs typeface="Calibri" pitchFamily="34" charset="-120"/>
              </a:rPr>
              <a:t>Margin comments add your own thinking ("polarizing")</a:t>
            </a:r>
            <a:endParaRPr lang="en-US" sz="1250" dirty="0"/>
          </a:p>
        </p:txBody>
      </p:sp>
      <p:pic>
        <p:nvPicPr>
          <p:cNvPr id="10" name="Image 1" descr="/home/claude/deck/assets/studying.jpg"/>
          <p:cNvPicPr>
            <a:picLocks noChangeAspect="1"/>
          </p:cNvPicPr>
          <p:nvPr/>
        </p:nvPicPr>
        <p:blipFill>
          <a:blip r:embed="rId4"/>
          <a:stretch>
            <a:fillRect/>
          </a:stretch>
        </p:blipFill>
        <p:spPr>
          <a:xfrm>
            <a:off x="4480560" y="3520440"/>
            <a:ext cx="2011680" cy="1156716"/>
          </a:xfrm>
          <a:prstGeom prst="rect">
            <a:avLst/>
          </a:prstGeom>
        </p:spPr>
      </p:pic>
      <p:sp>
        <p:nvSpPr>
          <p:cNvPr id="11" name="Text 6"/>
          <p:cNvSpPr txBox="1"/>
          <p:nvPr/>
        </p:nvSpPr>
        <p:spPr>
          <a:xfrm>
            <a:off x="6675120" y="3611880"/>
            <a:ext cx="2011680" cy="274320"/>
          </a:xfrm>
          <a:prstGeom prst="rect">
            <a:avLst/>
          </a:prstGeom>
          <a:noFill/>
          <a:ln/>
        </p:spPr>
        <p:txBody>
          <a:bodyPr wrap="square" lIns="0" tIns="0" rIns="0" bIns="0" rtlCol="0" anchor="t"/>
          <a:lstStyle/>
          <a:p>
            <a:pPr marL="0" indent="0">
              <a:buNone/>
            </a:pPr>
            <a:r>
              <a:rPr lang="en-US" sz="1300" b="1" dirty="0">
                <a:solidFill>
                  <a:srgbClr val="44546A"/>
                </a:solidFill>
                <a:latin typeface="Calibri" pitchFamily="34" charset="0"/>
                <a:ea typeface="Calibri" pitchFamily="34" charset="-122"/>
                <a:cs typeface="Calibri" pitchFamily="34" charset="-120"/>
              </a:rPr>
              <a:t>Learn more</a:t>
            </a:r>
            <a:endParaRPr lang="en-US" sz="1300" dirty="0"/>
          </a:p>
        </p:txBody>
      </p:sp>
      <p:sp>
        <p:nvSpPr>
          <p:cNvPr id="12" name="Text 7"/>
          <p:cNvSpPr txBox="1"/>
          <p:nvPr/>
        </p:nvSpPr>
        <p:spPr>
          <a:xfrm>
            <a:off x="6675120" y="3886200"/>
            <a:ext cx="2011680" cy="274320"/>
          </a:xfrm>
          <a:prstGeom prst="rect">
            <a:avLst/>
          </a:prstGeom>
          <a:noFill/>
          <a:ln/>
        </p:spPr>
        <p:txBody>
          <a:bodyPr wrap="square" lIns="0" tIns="0" rIns="0" bIns="0" rtlCol="0" anchor="t"/>
          <a:lstStyle/>
          <a:p>
            <a:pPr marL="0" indent="0">
              <a:buNone/>
            </a:pPr>
            <a:r>
              <a:rPr lang="en-US" sz="1100" dirty="0">
                <a:solidFill>
                  <a:srgbClr val="66758A"/>
                </a:solidFill>
                <a:latin typeface="Calibri" pitchFamily="34" charset="0"/>
                <a:ea typeface="Calibri" pitchFamily="34" charset="-122"/>
                <a:cs typeface="Calibri" pitchFamily="34" charset="-120"/>
              </a:rPr>
              <a:t>Cornell notes video:</a:t>
            </a:r>
            <a:endParaRPr lang="en-US" sz="1100" dirty="0"/>
          </a:p>
        </p:txBody>
      </p:sp>
      <p:sp>
        <p:nvSpPr>
          <p:cNvPr id="13" name="Text 8"/>
          <p:cNvSpPr txBox="1"/>
          <p:nvPr/>
        </p:nvSpPr>
        <p:spPr>
          <a:xfrm>
            <a:off x="6675120" y="4114800"/>
            <a:ext cx="2011680" cy="274320"/>
          </a:xfrm>
          <a:prstGeom prst="rect">
            <a:avLst/>
          </a:prstGeom>
          <a:noFill/>
          <a:ln/>
        </p:spPr>
        <p:txBody>
          <a:bodyPr wrap="square" lIns="0" tIns="0" rIns="0" bIns="0" rtlCol="0" anchor="t"/>
          <a:lstStyle/>
          <a:p>
            <a:pPr marL="0" indent="0">
              <a:buNone/>
            </a:pPr>
            <a:r>
              <a:rPr lang="en-US" sz="1100" b="1" u="sng" dirty="0">
                <a:solidFill>
                  <a:srgbClr val="4472C4"/>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youtu.be/OPnQGLdeOnA</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649E9A-58D7-C423-C61E-2514B8E0507B}"/>
              </a:ext>
            </a:extLst>
          </p:cNvPr>
          <p:cNvPicPr>
            <a:picLocks noChangeAspect="1"/>
          </p:cNvPicPr>
          <p:nvPr/>
        </p:nvPicPr>
        <p:blipFill>
          <a:blip r:embed="rId2"/>
          <a:stretch>
            <a:fillRect/>
          </a:stretch>
        </p:blipFill>
        <p:spPr>
          <a:xfrm>
            <a:off x="2603004" y="0"/>
            <a:ext cx="3937992" cy="5143500"/>
          </a:xfrm>
          <a:prstGeom prst="rect">
            <a:avLst/>
          </a:prstGeom>
        </p:spPr>
      </p:pic>
      <p:pic>
        <p:nvPicPr>
          <p:cNvPr id="5" name="Picture 4">
            <a:extLst>
              <a:ext uri="{FF2B5EF4-FFF2-40B4-BE49-F238E27FC236}">
                <a16:creationId xmlns:a16="http://schemas.microsoft.com/office/drawing/2014/main" id="{ED85C79B-E86B-329C-42A7-DC041353A65E}"/>
              </a:ext>
            </a:extLst>
          </p:cNvPr>
          <p:cNvPicPr>
            <a:picLocks noChangeAspect="1"/>
          </p:cNvPicPr>
          <p:nvPr/>
        </p:nvPicPr>
        <p:blipFill>
          <a:blip r:embed="rId3"/>
          <a:stretch>
            <a:fillRect/>
          </a:stretch>
        </p:blipFill>
        <p:spPr>
          <a:xfrm rot="5400000">
            <a:off x="6444404" y="2443904"/>
            <a:ext cx="5143500" cy="255691"/>
          </a:xfrm>
          <a:prstGeom prst="rect">
            <a:avLst/>
          </a:prstGeom>
        </p:spPr>
      </p:pic>
      <p:pic>
        <p:nvPicPr>
          <p:cNvPr id="7" name="Picture 6">
            <a:extLst>
              <a:ext uri="{FF2B5EF4-FFF2-40B4-BE49-F238E27FC236}">
                <a16:creationId xmlns:a16="http://schemas.microsoft.com/office/drawing/2014/main" id="{A606A611-10C4-E620-D314-2D8326219709}"/>
              </a:ext>
            </a:extLst>
          </p:cNvPr>
          <p:cNvPicPr>
            <a:picLocks noChangeAspect="1"/>
          </p:cNvPicPr>
          <p:nvPr/>
        </p:nvPicPr>
        <p:blipFill>
          <a:blip r:embed="rId3"/>
          <a:stretch>
            <a:fillRect/>
          </a:stretch>
        </p:blipFill>
        <p:spPr>
          <a:xfrm rot="5400000">
            <a:off x="-2443904" y="2443905"/>
            <a:ext cx="5143500" cy="255691"/>
          </a:xfrm>
          <a:prstGeom prst="rect">
            <a:avLst/>
          </a:prstGeom>
        </p:spPr>
      </p:pic>
    </p:spTree>
    <p:extLst>
      <p:ext uri="{BB962C8B-B14F-4D97-AF65-F5344CB8AC3E}">
        <p14:creationId xmlns:p14="http://schemas.microsoft.com/office/powerpoint/2010/main" val="11235213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SYSTEM 2 · SOPRANO TECHNIQUE</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The Soprano technique: 6 steps</a:t>
            </a:r>
            <a:endParaRPr lang="en-US" sz="3000" dirty="0"/>
          </a:p>
        </p:txBody>
      </p:sp>
      <p:sp>
        <p:nvSpPr>
          <p:cNvPr id="6" name="Shape 3"/>
          <p:cNvSpPr/>
          <p:nvPr/>
        </p:nvSpPr>
        <p:spPr>
          <a:xfrm>
            <a:off x="457200" y="1280160"/>
            <a:ext cx="2651760" cy="1417320"/>
          </a:xfrm>
          <a:prstGeom prst="roundRect">
            <a:avLst>
              <a:gd name="adj" fmla="val 5161"/>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594360" y="1417320"/>
            <a:ext cx="365760" cy="365760"/>
          </a:xfrm>
          <a:prstGeom prst="ellipse">
            <a:avLst/>
          </a:prstGeom>
          <a:solidFill>
            <a:srgbClr val="D8641A"/>
          </a:solidFill>
          <a:ln/>
        </p:spPr>
        <p:txBody>
          <a:bodyPr/>
          <a:lstStyle/>
          <a:p>
            <a:endParaRPr lang="en-US"/>
          </a:p>
        </p:txBody>
      </p:sp>
      <p:sp>
        <p:nvSpPr>
          <p:cNvPr id="8" name="Text 5"/>
          <p:cNvSpPr txBox="1"/>
          <p:nvPr/>
        </p:nvSpPr>
        <p:spPr>
          <a:xfrm>
            <a:off x="594360" y="1417320"/>
            <a:ext cx="365760" cy="365760"/>
          </a:xfrm>
          <a:prstGeom prst="rect">
            <a:avLst/>
          </a:prstGeom>
          <a:noFill/>
          <a:ln/>
        </p:spPr>
        <p:txBody>
          <a:bodyPr wrap="square" lIns="0" tIns="0" rIns="0" bIns="0" rtlCol="0" anchor="ctr"/>
          <a:lstStyle/>
          <a:p>
            <a:pPr marL="0" indent="0" algn="ctr">
              <a:buNone/>
            </a:pPr>
            <a:r>
              <a:rPr lang="en-US" sz="1440" b="1" dirty="0">
                <a:solidFill>
                  <a:srgbClr val="FFFFFF"/>
                </a:solidFill>
                <a:latin typeface="Calibri" pitchFamily="34" charset="0"/>
                <a:ea typeface="Calibri" pitchFamily="34" charset="-122"/>
                <a:cs typeface="Calibri" pitchFamily="34" charset="-120"/>
              </a:rPr>
              <a:t>1</a:t>
            </a:r>
            <a:endParaRPr lang="en-US" sz="1440" dirty="0"/>
          </a:p>
        </p:txBody>
      </p:sp>
      <p:sp>
        <p:nvSpPr>
          <p:cNvPr id="9" name="Text 6"/>
          <p:cNvSpPr txBox="1"/>
          <p:nvPr/>
        </p:nvSpPr>
        <p:spPr>
          <a:xfrm>
            <a:off x="1097280" y="1417320"/>
            <a:ext cx="1463040" cy="365760"/>
          </a:xfrm>
          <a:prstGeom prst="rect">
            <a:avLst/>
          </a:prstGeom>
          <a:noFill/>
          <a:ln/>
        </p:spPr>
        <p:txBody>
          <a:bodyPr wrap="square" lIns="0" tIns="0" rIns="0" bIns="0" rtlCol="0" anchor="ctr"/>
          <a:lstStyle/>
          <a:p>
            <a:pPr marL="0" indent="0">
              <a:buNone/>
            </a:pPr>
            <a:r>
              <a:rPr lang="en-US" sz="1600" b="1" dirty="0">
                <a:solidFill>
                  <a:srgbClr val="44546A"/>
                </a:solidFill>
                <a:latin typeface="Calibri" pitchFamily="34" charset="0"/>
                <a:ea typeface="Calibri" pitchFamily="34" charset="-122"/>
                <a:cs typeface="Calibri" pitchFamily="34" charset="-120"/>
              </a:rPr>
              <a:t>Read</a:t>
            </a:r>
            <a:endParaRPr lang="en-US" sz="1600" dirty="0"/>
          </a:p>
        </p:txBody>
      </p:sp>
      <p:pic>
        <p:nvPicPr>
          <p:cNvPr id="10" name="Image 0" descr="preencoded.png"/>
          <p:cNvPicPr>
            <a:picLocks noChangeAspect="1"/>
          </p:cNvPicPr>
          <p:nvPr/>
        </p:nvPicPr>
        <p:blipFill>
          <a:blip r:embed="rId3"/>
          <a:stretch>
            <a:fillRect/>
          </a:stretch>
        </p:blipFill>
        <p:spPr>
          <a:xfrm>
            <a:off x="2606040" y="1463040"/>
            <a:ext cx="320040" cy="320040"/>
          </a:xfrm>
          <a:prstGeom prst="rect">
            <a:avLst/>
          </a:prstGeom>
        </p:spPr>
      </p:pic>
      <p:sp>
        <p:nvSpPr>
          <p:cNvPr id="11" name="Text 7"/>
          <p:cNvSpPr txBox="1"/>
          <p:nvPr/>
        </p:nvSpPr>
        <p:spPr>
          <a:xfrm>
            <a:off x="594360" y="1901952"/>
            <a:ext cx="2377440" cy="777240"/>
          </a:xfrm>
          <a:prstGeom prst="rect">
            <a:avLst/>
          </a:prstGeom>
          <a:noFill/>
          <a:ln/>
        </p:spPr>
        <p:txBody>
          <a:bodyPr wrap="square" lIns="0" tIns="0" rIns="0" bIns="0" rtlCol="0" anchor="t"/>
          <a:lstStyle/>
          <a:p>
            <a:pPr marL="0" indent="0">
              <a:buNone/>
            </a:pPr>
            <a:r>
              <a:rPr lang="en-US" sz="1150" dirty="0">
                <a:solidFill>
                  <a:srgbClr val="222B36"/>
                </a:solidFill>
                <a:latin typeface="Calibri" pitchFamily="34" charset="0"/>
                <a:ea typeface="Calibri" pitchFamily="34" charset="-122"/>
                <a:cs typeface="Calibri" pitchFamily="34" charset="-120"/>
              </a:rPr>
              <a:t>Read one paragraph at a time. Pen and highlighter down.</a:t>
            </a:r>
            <a:endParaRPr lang="en-US" sz="1150" dirty="0"/>
          </a:p>
        </p:txBody>
      </p:sp>
      <p:sp>
        <p:nvSpPr>
          <p:cNvPr id="12" name="Shape 8"/>
          <p:cNvSpPr/>
          <p:nvPr/>
        </p:nvSpPr>
        <p:spPr>
          <a:xfrm>
            <a:off x="3246120" y="1280160"/>
            <a:ext cx="2651760" cy="1417320"/>
          </a:xfrm>
          <a:prstGeom prst="roundRect">
            <a:avLst>
              <a:gd name="adj" fmla="val 5161"/>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13" name="Shape 9"/>
          <p:cNvSpPr/>
          <p:nvPr/>
        </p:nvSpPr>
        <p:spPr>
          <a:xfrm>
            <a:off x="3383280" y="1417320"/>
            <a:ext cx="365760" cy="365760"/>
          </a:xfrm>
          <a:prstGeom prst="ellipse">
            <a:avLst/>
          </a:prstGeom>
          <a:solidFill>
            <a:srgbClr val="4472C4"/>
          </a:solidFill>
          <a:ln/>
        </p:spPr>
        <p:txBody>
          <a:bodyPr/>
          <a:lstStyle/>
          <a:p>
            <a:endParaRPr lang="en-US"/>
          </a:p>
        </p:txBody>
      </p:sp>
      <p:sp>
        <p:nvSpPr>
          <p:cNvPr id="14" name="Text 10"/>
          <p:cNvSpPr txBox="1"/>
          <p:nvPr/>
        </p:nvSpPr>
        <p:spPr>
          <a:xfrm>
            <a:off x="3383280" y="1417320"/>
            <a:ext cx="365760" cy="365760"/>
          </a:xfrm>
          <a:prstGeom prst="rect">
            <a:avLst/>
          </a:prstGeom>
          <a:noFill/>
          <a:ln/>
        </p:spPr>
        <p:txBody>
          <a:bodyPr wrap="square" lIns="0" tIns="0" rIns="0" bIns="0" rtlCol="0" anchor="ctr"/>
          <a:lstStyle/>
          <a:p>
            <a:pPr marL="0" indent="0" algn="ctr">
              <a:buNone/>
            </a:pPr>
            <a:r>
              <a:rPr lang="en-US" sz="1440" b="1" dirty="0">
                <a:solidFill>
                  <a:srgbClr val="FFFFFF"/>
                </a:solidFill>
                <a:latin typeface="Calibri" pitchFamily="34" charset="0"/>
                <a:ea typeface="Calibri" pitchFamily="34" charset="-122"/>
                <a:cs typeface="Calibri" pitchFamily="34" charset="-120"/>
              </a:rPr>
              <a:t>2</a:t>
            </a:r>
            <a:endParaRPr lang="en-US" sz="1440" dirty="0"/>
          </a:p>
        </p:txBody>
      </p:sp>
      <p:sp>
        <p:nvSpPr>
          <p:cNvPr id="15" name="Text 11"/>
          <p:cNvSpPr txBox="1"/>
          <p:nvPr/>
        </p:nvSpPr>
        <p:spPr>
          <a:xfrm>
            <a:off x="3886200" y="1417320"/>
            <a:ext cx="1463040" cy="365760"/>
          </a:xfrm>
          <a:prstGeom prst="rect">
            <a:avLst/>
          </a:prstGeom>
          <a:noFill/>
          <a:ln/>
        </p:spPr>
        <p:txBody>
          <a:bodyPr wrap="square" lIns="0" tIns="0" rIns="0" bIns="0" rtlCol="0" anchor="ctr"/>
          <a:lstStyle/>
          <a:p>
            <a:pPr marL="0" indent="0">
              <a:buNone/>
            </a:pPr>
            <a:r>
              <a:rPr lang="en-US" sz="1600" b="1" dirty="0">
                <a:solidFill>
                  <a:srgbClr val="44546A"/>
                </a:solidFill>
                <a:latin typeface="Calibri" pitchFamily="34" charset="0"/>
                <a:ea typeface="Calibri" pitchFamily="34" charset="-122"/>
                <a:cs typeface="Calibri" pitchFamily="34" charset="-120"/>
              </a:rPr>
              <a:t>Decide</a:t>
            </a:r>
            <a:endParaRPr lang="en-US" sz="1600" dirty="0"/>
          </a:p>
        </p:txBody>
      </p:sp>
      <p:pic>
        <p:nvPicPr>
          <p:cNvPr id="16" name="Image 1" descr="preencoded.png"/>
          <p:cNvPicPr>
            <a:picLocks noChangeAspect="1"/>
          </p:cNvPicPr>
          <p:nvPr/>
        </p:nvPicPr>
        <p:blipFill>
          <a:blip r:embed="rId4"/>
          <a:stretch>
            <a:fillRect/>
          </a:stretch>
        </p:blipFill>
        <p:spPr>
          <a:xfrm>
            <a:off x="5394960" y="1463040"/>
            <a:ext cx="320040" cy="320040"/>
          </a:xfrm>
          <a:prstGeom prst="rect">
            <a:avLst/>
          </a:prstGeom>
        </p:spPr>
      </p:pic>
      <p:sp>
        <p:nvSpPr>
          <p:cNvPr id="17" name="Text 12"/>
          <p:cNvSpPr txBox="1"/>
          <p:nvPr/>
        </p:nvSpPr>
        <p:spPr>
          <a:xfrm>
            <a:off x="3383280" y="1901952"/>
            <a:ext cx="2377440" cy="777240"/>
          </a:xfrm>
          <a:prstGeom prst="rect">
            <a:avLst/>
          </a:prstGeom>
          <a:noFill/>
          <a:ln/>
        </p:spPr>
        <p:txBody>
          <a:bodyPr wrap="square" lIns="0" tIns="0" rIns="0" bIns="0" rtlCol="0" anchor="t"/>
          <a:lstStyle/>
          <a:p>
            <a:pPr marL="0" indent="0">
              <a:buNone/>
            </a:pPr>
            <a:r>
              <a:rPr lang="en-US" sz="1150" dirty="0">
                <a:solidFill>
                  <a:srgbClr val="222B36"/>
                </a:solidFill>
                <a:latin typeface="Calibri" pitchFamily="34" charset="0"/>
                <a:ea typeface="Calibri" pitchFamily="34" charset="-122"/>
                <a:cs typeface="Calibri" pitchFamily="34" charset="-120"/>
              </a:rPr>
              <a:t>Ask: "Is this really important? Does it support the main topic?"</a:t>
            </a:r>
            <a:endParaRPr lang="en-US" sz="1150" dirty="0"/>
          </a:p>
        </p:txBody>
      </p:sp>
      <p:sp>
        <p:nvSpPr>
          <p:cNvPr id="18" name="Shape 13"/>
          <p:cNvSpPr/>
          <p:nvPr/>
        </p:nvSpPr>
        <p:spPr>
          <a:xfrm>
            <a:off x="6035040" y="1280160"/>
            <a:ext cx="2651760" cy="1417320"/>
          </a:xfrm>
          <a:prstGeom prst="roundRect">
            <a:avLst>
              <a:gd name="adj" fmla="val 5161"/>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19" name="Shape 14"/>
          <p:cNvSpPr/>
          <p:nvPr/>
        </p:nvSpPr>
        <p:spPr>
          <a:xfrm>
            <a:off x="6172200" y="1417320"/>
            <a:ext cx="365760" cy="365760"/>
          </a:xfrm>
          <a:prstGeom prst="ellipse">
            <a:avLst/>
          </a:prstGeom>
          <a:solidFill>
            <a:srgbClr val="D8641A"/>
          </a:solidFill>
          <a:ln/>
        </p:spPr>
        <p:txBody>
          <a:bodyPr/>
          <a:lstStyle/>
          <a:p>
            <a:endParaRPr lang="en-US"/>
          </a:p>
        </p:txBody>
      </p:sp>
      <p:sp>
        <p:nvSpPr>
          <p:cNvPr id="20" name="Text 15"/>
          <p:cNvSpPr txBox="1"/>
          <p:nvPr/>
        </p:nvSpPr>
        <p:spPr>
          <a:xfrm>
            <a:off x="6172200" y="1417320"/>
            <a:ext cx="365760" cy="365760"/>
          </a:xfrm>
          <a:prstGeom prst="rect">
            <a:avLst/>
          </a:prstGeom>
          <a:noFill/>
          <a:ln/>
        </p:spPr>
        <p:txBody>
          <a:bodyPr wrap="square" lIns="0" tIns="0" rIns="0" bIns="0" rtlCol="0" anchor="ctr"/>
          <a:lstStyle/>
          <a:p>
            <a:pPr marL="0" indent="0" algn="ctr">
              <a:buNone/>
            </a:pPr>
            <a:r>
              <a:rPr lang="en-US" sz="1440" b="1" dirty="0">
                <a:solidFill>
                  <a:srgbClr val="FFFFFF"/>
                </a:solidFill>
                <a:latin typeface="Calibri" pitchFamily="34" charset="0"/>
                <a:ea typeface="Calibri" pitchFamily="34" charset="-122"/>
                <a:cs typeface="Calibri" pitchFamily="34" charset="-120"/>
              </a:rPr>
              <a:t>3</a:t>
            </a:r>
            <a:endParaRPr lang="en-US" sz="1440" dirty="0"/>
          </a:p>
        </p:txBody>
      </p:sp>
      <p:sp>
        <p:nvSpPr>
          <p:cNvPr id="21" name="Text 16"/>
          <p:cNvSpPr txBox="1"/>
          <p:nvPr/>
        </p:nvSpPr>
        <p:spPr>
          <a:xfrm>
            <a:off x="6675120" y="1417320"/>
            <a:ext cx="1463040" cy="365760"/>
          </a:xfrm>
          <a:prstGeom prst="rect">
            <a:avLst/>
          </a:prstGeom>
          <a:noFill/>
          <a:ln/>
        </p:spPr>
        <p:txBody>
          <a:bodyPr wrap="square" lIns="0" tIns="0" rIns="0" bIns="0" rtlCol="0" anchor="ctr"/>
          <a:lstStyle/>
          <a:p>
            <a:pPr marL="0" indent="0">
              <a:buNone/>
            </a:pPr>
            <a:r>
              <a:rPr lang="en-US" sz="1600" b="1" dirty="0">
                <a:solidFill>
                  <a:srgbClr val="44546A"/>
                </a:solidFill>
                <a:latin typeface="Calibri" pitchFamily="34" charset="0"/>
                <a:ea typeface="Calibri" pitchFamily="34" charset="-122"/>
                <a:cs typeface="Calibri" pitchFamily="34" charset="-120"/>
              </a:rPr>
              <a:t>Mark</a:t>
            </a:r>
            <a:endParaRPr lang="en-US" sz="1600" dirty="0"/>
          </a:p>
        </p:txBody>
      </p:sp>
      <p:pic>
        <p:nvPicPr>
          <p:cNvPr id="22" name="Image 2" descr="preencoded.png"/>
          <p:cNvPicPr>
            <a:picLocks noChangeAspect="1"/>
          </p:cNvPicPr>
          <p:nvPr/>
        </p:nvPicPr>
        <p:blipFill>
          <a:blip r:embed="rId5"/>
          <a:stretch>
            <a:fillRect/>
          </a:stretch>
        </p:blipFill>
        <p:spPr>
          <a:xfrm>
            <a:off x="8183880" y="1463040"/>
            <a:ext cx="320040" cy="320040"/>
          </a:xfrm>
          <a:prstGeom prst="rect">
            <a:avLst/>
          </a:prstGeom>
        </p:spPr>
      </p:pic>
      <p:sp>
        <p:nvSpPr>
          <p:cNvPr id="23" name="Text 17"/>
          <p:cNvSpPr txBox="1"/>
          <p:nvPr/>
        </p:nvSpPr>
        <p:spPr>
          <a:xfrm>
            <a:off x="6172200" y="1901952"/>
            <a:ext cx="2377440" cy="777240"/>
          </a:xfrm>
          <a:prstGeom prst="rect">
            <a:avLst/>
          </a:prstGeom>
          <a:noFill/>
          <a:ln/>
        </p:spPr>
        <p:txBody>
          <a:bodyPr wrap="square" lIns="0" tIns="0" rIns="0" bIns="0" rtlCol="0" anchor="t"/>
          <a:lstStyle/>
          <a:p>
            <a:pPr marL="0" indent="0">
              <a:buNone/>
            </a:pPr>
            <a:r>
              <a:rPr lang="en-US" sz="1150" dirty="0">
                <a:solidFill>
                  <a:srgbClr val="222B36"/>
                </a:solidFill>
                <a:latin typeface="Calibri" pitchFamily="34" charset="0"/>
                <a:ea typeface="Calibri" pitchFamily="34" charset="-122"/>
                <a:cs typeface="Calibri" pitchFamily="34" charset="-120"/>
              </a:rPr>
              <a:t>Highlight or underline key words, or write key-word notes in the margin.</a:t>
            </a:r>
            <a:endParaRPr lang="en-US" sz="1150" dirty="0"/>
          </a:p>
        </p:txBody>
      </p:sp>
      <p:sp>
        <p:nvSpPr>
          <p:cNvPr id="24" name="Shape 18"/>
          <p:cNvSpPr/>
          <p:nvPr/>
        </p:nvSpPr>
        <p:spPr>
          <a:xfrm>
            <a:off x="457200" y="2834640"/>
            <a:ext cx="2651760" cy="1417320"/>
          </a:xfrm>
          <a:prstGeom prst="roundRect">
            <a:avLst>
              <a:gd name="adj" fmla="val 5161"/>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25" name="Shape 19"/>
          <p:cNvSpPr/>
          <p:nvPr/>
        </p:nvSpPr>
        <p:spPr>
          <a:xfrm>
            <a:off x="594360" y="2971800"/>
            <a:ext cx="365760" cy="365760"/>
          </a:xfrm>
          <a:prstGeom prst="ellipse">
            <a:avLst/>
          </a:prstGeom>
          <a:solidFill>
            <a:srgbClr val="4472C4"/>
          </a:solidFill>
          <a:ln/>
        </p:spPr>
        <p:txBody>
          <a:bodyPr/>
          <a:lstStyle/>
          <a:p>
            <a:endParaRPr lang="en-US"/>
          </a:p>
        </p:txBody>
      </p:sp>
      <p:sp>
        <p:nvSpPr>
          <p:cNvPr id="26" name="Text 20"/>
          <p:cNvSpPr txBox="1"/>
          <p:nvPr/>
        </p:nvSpPr>
        <p:spPr>
          <a:xfrm>
            <a:off x="594360" y="2971800"/>
            <a:ext cx="365760" cy="365760"/>
          </a:xfrm>
          <a:prstGeom prst="rect">
            <a:avLst/>
          </a:prstGeom>
          <a:noFill/>
          <a:ln/>
        </p:spPr>
        <p:txBody>
          <a:bodyPr wrap="square" lIns="0" tIns="0" rIns="0" bIns="0" rtlCol="0" anchor="ctr"/>
          <a:lstStyle/>
          <a:p>
            <a:pPr marL="0" indent="0" algn="ctr">
              <a:buNone/>
            </a:pPr>
            <a:r>
              <a:rPr lang="en-US" sz="1440" b="1" dirty="0">
                <a:solidFill>
                  <a:srgbClr val="FFFFFF"/>
                </a:solidFill>
                <a:latin typeface="Calibri" pitchFamily="34" charset="0"/>
                <a:ea typeface="Calibri" pitchFamily="34" charset="-122"/>
                <a:cs typeface="Calibri" pitchFamily="34" charset="-120"/>
              </a:rPr>
              <a:t>4</a:t>
            </a:r>
            <a:endParaRPr lang="en-US" sz="1440" dirty="0"/>
          </a:p>
        </p:txBody>
      </p:sp>
      <p:sp>
        <p:nvSpPr>
          <p:cNvPr id="27" name="Text 21"/>
          <p:cNvSpPr txBox="1"/>
          <p:nvPr/>
        </p:nvSpPr>
        <p:spPr>
          <a:xfrm>
            <a:off x="1097280" y="2971800"/>
            <a:ext cx="1463040" cy="365760"/>
          </a:xfrm>
          <a:prstGeom prst="rect">
            <a:avLst/>
          </a:prstGeom>
          <a:noFill/>
          <a:ln/>
        </p:spPr>
        <p:txBody>
          <a:bodyPr wrap="square" lIns="0" tIns="0" rIns="0" bIns="0" rtlCol="0" anchor="ctr"/>
          <a:lstStyle/>
          <a:p>
            <a:pPr marL="0" indent="0">
              <a:buNone/>
            </a:pPr>
            <a:r>
              <a:rPr lang="en-US" sz="1600" b="1" dirty="0">
                <a:solidFill>
                  <a:srgbClr val="44546A"/>
                </a:solidFill>
                <a:latin typeface="Calibri" pitchFamily="34" charset="0"/>
                <a:ea typeface="Calibri" pitchFamily="34" charset="-122"/>
                <a:cs typeface="Calibri" pitchFamily="34" charset="-120"/>
              </a:rPr>
              <a:t>Number</a:t>
            </a:r>
            <a:endParaRPr lang="en-US" sz="1600" dirty="0"/>
          </a:p>
        </p:txBody>
      </p:sp>
      <p:pic>
        <p:nvPicPr>
          <p:cNvPr id="28" name="Image 3" descr="preencoded.png"/>
          <p:cNvPicPr>
            <a:picLocks noChangeAspect="1"/>
          </p:cNvPicPr>
          <p:nvPr/>
        </p:nvPicPr>
        <p:blipFill>
          <a:blip r:embed="rId6"/>
          <a:stretch>
            <a:fillRect/>
          </a:stretch>
        </p:blipFill>
        <p:spPr>
          <a:xfrm>
            <a:off x="2606040" y="3017520"/>
            <a:ext cx="320040" cy="320040"/>
          </a:xfrm>
          <a:prstGeom prst="rect">
            <a:avLst/>
          </a:prstGeom>
        </p:spPr>
      </p:pic>
      <p:sp>
        <p:nvSpPr>
          <p:cNvPr id="29" name="Text 22"/>
          <p:cNvSpPr txBox="1"/>
          <p:nvPr/>
        </p:nvSpPr>
        <p:spPr>
          <a:xfrm>
            <a:off x="594360" y="3456432"/>
            <a:ext cx="2377440" cy="777240"/>
          </a:xfrm>
          <a:prstGeom prst="rect">
            <a:avLst/>
          </a:prstGeom>
          <a:noFill/>
          <a:ln/>
        </p:spPr>
        <p:txBody>
          <a:bodyPr wrap="square" lIns="0" tIns="0" rIns="0" bIns="0" rtlCol="0" anchor="t"/>
          <a:lstStyle/>
          <a:p>
            <a:pPr marL="0" indent="0">
              <a:buNone/>
            </a:pPr>
            <a:r>
              <a:rPr lang="en-US" sz="1150" dirty="0">
                <a:solidFill>
                  <a:srgbClr val="222B36"/>
                </a:solidFill>
                <a:latin typeface="Calibri" pitchFamily="34" charset="0"/>
                <a:ea typeface="Calibri" pitchFamily="34" charset="-122"/>
                <a:cs typeface="Calibri" pitchFamily="34" charset="-120"/>
              </a:rPr>
              <a:t>Put a number in the margin. Ascending order shows importance.</a:t>
            </a:r>
            <a:endParaRPr lang="en-US" sz="1150" dirty="0"/>
          </a:p>
        </p:txBody>
      </p:sp>
      <p:sp>
        <p:nvSpPr>
          <p:cNvPr id="30" name="Shape 23"/>
          <p:cNvSpPr/>
          <p:nvPr/>
        </p:nvSpPr>
        <p:spPr>
          <a:xfrm>
            <a:off x="3246120" y="2834640"/>
            <a:ext cx="2651760" cy="1417320"/>
          </a:xfrm>
          <a:prstGeom prst="roundRect">
            <a:avLst>
              <a:gd name="adj" fmla="val 5161"/>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31" name="Shape 24"/>
          <p:cNvSpPr/>
          <p:nvPr/>
        </p:nvSpPr>
        <p:spPr>
          <a:xfrm>
            <a:off x="3383280" y="2971800"/>
            <a:ext cx="365760" cy="365760"/>
          </a:xfrm>
          <a:prstGeom prst="ellipse">
            <a:avLst/>
          </a:prstGeom>
          <a:solidFill>
            <a:srgbClr val="D8641A"/>
          </a:solidFill>
          <a:ln/>
        </p:spPr>
        <p:txBody>
          <a:bodyPr/>
          <a:lstStyle/>
          <a:p>
            <a:endParaRPr lang="en-US"/>
          </a:p>
        </p:txBody>
      </p:sp>
      <p:sp>
        <p:nvSpPr>
          <p:cNvPr id="32" name="Text 25"/>
          <p:cNvSpPr txBox="1"/>
          <p:nvPr/>
        </p:nvSpPr>
        <p:spPr>
          <a:xfrm>
            <a:off x="3383280" y="2971800"/>
            <a:ext cx="365760" cy="365760"/>
          </a:xfrm>
          <a:prstGeom prst="rect">
            <a:avLst/>
          </a:prstGeom>
          <a:noFill/>
          <a:ln/>
        </p:spPr>
        <p:txBody>
          <a:bodyPr wrap="square" lIns="0" tIns="0" rIns="0" bIns="0" rtlCol="0" anchor="ctr"/>
          <a:lstStyle/>
          <a:p>
            <a:pPr marL="0" indent="0" algn="ctr">
              <a:buNone/>
            </a:pPr>
            <a:r>
              <a:rPr lang="en-US" sz="1440" b="1" dirty="0">
                <a:solidFill>
                  <a:srgbClr val="FFFFFF"/>
                </a:solidFill>
                <a:latin typeface="Calibri" pitchFamily="34" charset="0"/>
                <a:ea typeface="Calibri" pitchFamily="34" charset="-122"/>
                <a:cs typeface="Calibri" pitchFamily="34" charset="-120"/>
              </a:rPr>
              <a:t>5</a:t>
            </a:r>
            <a:endParaRPr lang="en-US" sz="1440" dirty="0"/>
          </a:p>
        </p:txBody>
      </p:sp>
      <p:sp>
        <p:nvSpPr>
          <p:cNvPr id="33" name="Text 26"/>
          <p:cNvSpPr txBox="1"/>
          <p:nvPr/>
        </p:nvSpPr>
        <p:spPr>
          <a:xfrm>
            <a:off x="3886200" y="2971800"/>
            <a:ext cx="1463040" cy="365760"/>
          </a:xfrm>
          <a:prstGeom prst="rect">
            <a:avLst/>
          </a:prstGeom>
          <a:noFill/>
          <a:ln/>
        </p:spPr>
        <p:txBody>
          <a:bodyPr wrap="square" lIns="0" tIns="0" rIns="0" bIns="0" rtlCol="0" anchor="ctr"/>
          <a:lstStyle/>
          <a:p>
            <a:pPr marL="0" indent="0">
              <a:buNone/>
            </a:pPr>
            <a:r>
              <a:rPr lang="en-US" sz="1600" b="1" dirty="0">
                <a:solidFill>
                  <a:srgbClr val="44546A"/>
                </a:solidFill>
                <a:latin typeface="Calibri" pitchFamily="34" charset="0"/>
                <a:ea typeface="Calibri" pitchFamily="34" charset="-122"/>
                <a:cs typeface="Calibri" pitchFamily="34" charset="-120"/>
              </a:rPr>
              <a:t>Question</a:t>
            </a:r>
            <a:endParaRPr lang="en-US" sz="1600" dirty="0"/>
          </a:p>
        </p:txBody>
      </p:sp>
      <p:pic>
        <p:nvPicPr>
          <p:cNvPr id="34" name="Image 4" descr="preencoded.png"/>
          <p:cNvPicPr>
            <a:picLocks noChangeAspect="1"/>
          </p:cNvPicPr>
          <p:nvPr/>
        </p:nvPicPr>
        <p:blipFill>
          <a:blip r:embed="rId7"/>
          <a:stretch>
            <a:fillRect/>
          </a:stretch>
        </p:blipFill>
        <p:spPr>
          <a:xfrm>
            <a:off x="5394960" y="3017520"/>
            <a:ext cx="320040" cy="320040"/>
          </a:xfrm>
          <a:prstGeom prst="rect">
            <a:avLst/>
          </a:prstGeom>
        </p:spPr>
      </p:pic>
      <p:sp>
        <p:nvSpPr>
          <p:cNvPr id="35" name="Text 27"/>
          <p:cNvSpPr txBox="1"/>
          <p:nvPr/>
        </p:nvSpPr>
        <p:spPr>
          <a:xfrm>
            <a:off x="3383280" y="3456432"/>
            <a:ext cx="2377440" cy="777240"/>
          </a:xfrm>
          <a:prstGeom prst="rect">
            <a:avLst/>
          </a:prstGeom>
          <a:noFill/>
          <a:ln/>
        </p:spPr>
        <p:txBody>
          <a:bodyPr wrap="square" lIns="0" tIns="0" rIns="0" bIns="0" rtlCol="0" anchor="t"/>
          <a:lstStyle/>
          <a:p>
            <a:pPr marL="0" indent="0">
              <a:buNone/>
            </a:pPr>
            <a:r>
              <a:rPr lang="en-US" sz="1150" dirty="0">
                <a:solidFill>
                  <a:srgbClr val="222B36"/>
                </a:solidFill>
                <a:latin typeface="Calibri" pitchFamily="34" charset="0"/>
                <a:ea typeface="Calibri" pitchFamily="34" charset="-122"/>
                <a:cs typeface="Calibri" pitchFamily="34" charset="-120"/>
              </a:rPr>
              <a:t>Copy the number and page to your notebook. Write a question the highlight answers.</a:t>
            </a:r>
            <a:endParaRPr lang="en-US" sz="1150" dirty="0"/>
          </a:p>
        </p:txBody>
      </p:sp>
      <p:sp>
        <p:nvSpPr>
          <p:cNvPr id="36" name="Shape 28"/>
          <p:cNvSpPr/>
          <p:nvPr/>
        </p:nvSpPr>
        <p:spPr>
          <a:xfrm>
            <a:off x="6035040" y="2834640"/>
            <a:ext cx="2651760" cy="1417320"/>
          </a:xfrm>
          <a:prstGeom prst="roundRect">
            <a:avLst>
              <a:gd name="adj" fmla="val 5161"/>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37" name="Shape 29"/>
          <p:cNvSpPr/>
          <p:nvPr/>
        </p:nvSpPr>
        <p:spPr>
          <a:xfrm>
            <a:off x="6172200" y="2971800"/>
            <a:ext cx="365760" cy="365760"/>
          </a:xfrm>
          <a:prstGeom prst="ellipse">
            <a:avLst/>
          </a:prstGeom>
          <a:solidFill>
            <a:srgbClr val="4472C4"/>
          </a:solidFill>
          <a:ln/>
        </p:spPr>
        <p:txBody>
          <a:bodyPr/>
          <a:lstStyle/>
          <a:p>
            <a:endParaRPr lang="en-US"/>
          </a:p>
        </p:txBody>
      </p:sp>
      <p:sp>
        <p:nvSpPr>
          <p:cNvPr id="38" name="Text 30"/>
          <p:cNvSpPr txBox="1"/>
          <p:nvPr/>
        </p:nvSpPr>
        <p:spPr>
          <a:xfrm>
            <a:off x="6172200" y="2971800"/>
            <a:ext cx="365760" cy="365760"/>
          </a:xfrm>
          <a:prstGeom prst="rect">
            <a:avLst/>
          </a:prstGeom>
          <a:noFill/>
          <a:ln/>
        </p:spPr>
        <p:txBody>
          <a:bodyPr wrap="square" lIns="0" tIns="0" rIns="0" bIns="0" rtlCol="0" anchor="ctr"/>
          <a:lstStyle/>
          <a:p>
            <a:pPr marL="0" indent="0" algn="ctr">
              <a:buNone/>
            </a:pPr>
            <a:r>
              <a:rPr lang="en-US" sz="1440" b="1" dirty="0">
                <a:solidFill>
                  <a:srgbClr val="FFFFFF"/>
                </a:solidFill>
                <a:latin typeface="Calibri" pitchFamily="34" charset="0"/>
                <a:ea typeface="Calibri" pitchFamily="34" charset="-122"/>
                <a:cs typeface="Calibri" pitchFamily="34" charset="-120"/>
              </a:rPr>
              <a:t>6</a:t>
            </a:r>
            <a:endParaRPr lang="en-US" sz="1440" dirty="0"/>
          </a:p>
        </p:txBody>
      </p:sp>
      <p:sp>
        <p:nvSpPr>
          <p:cNvPr id="39" name="Text 31"/>
          <p:cNvSpPr txBox="1"/>
          <p:nvPr/>
        </p:nvSpPr>
        <p:spPr>
          <a:xfrm>
            <a:off x="6675120" y="2971800"/>
            <a:ext cx="1463040" cy="365760"/>
          </a:xfrm>
          <a:prstGeom prst="rect">
            <a:avLst/>
          </a:prstGeom>
          <a:noFill/>
          <a:ln/>
        </p:spPr>
        <p:txBody>
          <a:bodyPr wrap="square" lIns="0" tIns="0" rIns="0" bIns="0" rtlCol="0" anchor="ctr"/>
          <a:lstStyle/>
          <a:p>
            <a:pPr marL="0" indent="0">
              <a:buNone/>
            </a:pPr>
            <a:r>
              <a:rPr lang="en-US" sz="1600" b="1" dirty="0">
                <a:solidFill>
                  <a:srgbClr val="44546A"/>
                </a:solidFill>
                <a:latin typeface="Calibri" pitchFamily="34" charset="0"/>
                <a:ea typeface="Calibri" pitchFamily="34" charset="-122"/>
                <a:cs typeface="Calibri" pitchFamily="34" charset="-120"/>
              </a:rPr>
              <a:t>Repeat</a:t>
            </a:r>
            <a:endParaRPr lang="en-US" sz="1600" dirty="0"/>
          </a:p>
        </p:txBody>
      </p:sp>
      <p:pic>
        <p:nvPicPr>
          <p:cNvPr id="40" name="Image 5" descr="preencoded.png"/>
          <p:cNvPicPr>
            <a:picLocks noChangeAspect="1"/>
          </p:cNvPicPr>
          <p:nvPr/>
        </p:nvPicPr>
        <p:blipFill>
          <a:blip r:embed="rId8"/>
          <a:stretch>
            <a:fillRect/>
          </a:stretch>
        </p:blipFill>
        <p:spPr>
          <a:xfrm>
            <a:off x="8183880" y="3017520"/>
            <a:ext cx="320040" cy="320040"/>
          </a:xfrm>
          <a:prstGeom prst="rect">
            <a:avLst/>
          </a:prstGeom>
        </p:spPr>
      </p:pic>
      <p:sp>
        <p:nvSpPr>
          <p:cNvPr id="41" name="Text 32"/>
          <p:cNvSpPr txBox="1"/>
          <p:nvPr/>
        </p:nvSpPr>
        <p:spPr>
          <a:xfrm>
            <a:off x="6172200" y="3456432"/>
            <a:ext cx="2377440" cy="777240"/>
          </a:xfrm>
          <a:prstGeom prst="rect">
            <a:avLst/>
          </a:prstGeom>
          <a:noFill/>
          <a:ln/>
        </p:spPr>
        <p:txBody>
          <a:bodyPr wrap="square" lIns="0" tIns="0" rIns="0" bIns="0" rtlCol="0" anchor="t"/>
          <a:lstStyle/>
          <a:p>
            <a:pPr marL="0" indent="0">
              <a:buNone/>
            </a:pPr>
            <a:r>
              <a:rPr lang="en-US" sz="1150" dirty="0">
                <a:solidFill>
                  <a:srgbClr val="222B36"/>
                </a:solidFill>
                <a:latin typeface="Calibri" pitchFamily="34" charset="0"/>
                <a:ea typeface="Calibri" pitchFamily="34" charset="-122"/>
                <a:cs typeface="Calibri" pitchFamily="34" charset="-120"/>
              </a:rPr>
              <a:t>Move to the next paragraph and keep numbering and questioning.</a:t>
            </a:r>
            <a:endParaRPr lang="en-US" sz="1150" dirty="0"/>
          </a:p>
        </p:txBody>
      </p:sp>
      <p:sp>
        <p:nvSpPr>
          <p:cNvPr id="42" name="Text 33"/>
          <p:cNvSpPr txBox="1"/>
          <p:nvPr/>
        </p:nvSpPr>
        <p:spPr>
          <a:xfrm>
            <a:off x="457200" y="4480560"/>
            <a:ext cx="8229600" cy="274320"/>
          </a:xfrm>
          <a:prstGeom prst="rect">
            <a:avLst/>
          </a:prstGeom>
          <a:noFill/>
          <a:ln/>
        </p:spPr>
        <p:txBody>
          <a:bodyPr wrap="square" lIns="0" tIns="0" rIns="0" bIns="0" rtlCol="0" anchor="t"/>
          <a:lstStyle/>
          <a:p>
            <a:pPr marL="0" indent="0" algn="ctr">
              <a:buNone/>
            </a:pPr>
            <a:r>
              <a:rPr lang="en-US" sz="1200" i="1" dirty="0">
                <a:solidFill>
                  <a:srgbClr val="66758A"/>
                </a:solidFill>
                <a:latin typeface="Calibri" pitchFamily="34" charset="0"/>
                <a:ea typeface="Calibri" pitchFamily="34" charset="-122"/>
                <a:cs typeface="Calibri" pitchFamily="34" charset="-120"/>
              </a:rPr>
              <a:t>Soprano vs SQ4R: try both methods, then keep the one that works best for you.</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SYSTEM 2 · SOPRANO TECHNIQUE</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Soprano example 1: The importance of sleep</a:t>
            </a:r>
            <a:endParaRPr lang="en-US" sz="3000" dirty="0"/>
          </a:p>
        </p:txBody>
      </p:sp>
      <p:sp>
        <p:nvSpPr>
          <p:cNvPr id="6" name="Shape 3"/>
          <p:cNvSpPr/>
          <p:nvPr/>
        </p:nvSpPr>
        <p:spPr>
          <a:xfrm>
            <a:off x="457200" y="1234440"/>
            <a:ext cx="4297680" cy="2788920"/>
          </a:xfrm>
          <a:prstGeom prst="roundRect">
            <a:avLst>
              <a:gd name="adj" fmla="val 2623"/>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640080" y="1325880"/>
            <a:ext cx="3931920" cy="274320"/>
          </a:xfrm>
          <a:prstGeom prst="rect">
            <a:avLst/>
          </a:prstGeom>
          <a:noFill/>
          <a:ln/>
        </p:spPr>
        <p:txBody>
          <a:bodyPr wrap="square" lIns="0" tIns="0" rIns="0" bIns="0" rtlCol="0" anchor="t"/>
          <a:lstStyle/>
          <a:p>
            <a:pPr marL="0" indent="0">
              <a:buNone/>
            </a:pPr>
            <a:r>
              <a:rPr lang="en-US" sz="1200" b="1" dirty="0">
                <a:solidFill>
                  <a:srgbClr val="66758A"/>
                </a:solidFill>
                <a:latin typeface="Calibri" pitchFamily="34" charset="0"/>
                <a:ea typeface="Calibri" pitchFamily="34" charset="-122"/>
                <a:cs typeface="Calibri" pitchFamily="34" charset="-120"/>
              </a:rPr>
              <a:t>Paragraph (highlighted)</a:t>
            </a:r>
            <a:endParaRPr lang="en-US" sz="1200" dirty="0"/>
          </a:p>
        </p:txBody>
      </p:sp>
      <p:sp>
        <p:nvSpPr>
          <p:cNvPr id="8" name="Text 5"/>
          <p:cNvSpPr txBox="1"/>
          <p:nvPr/>
        </p:nvSpPr>
        <p:spPr>
          <a:xfrm>
            <a:off x="640080" y="1627632"/>
            <a:ext cx="3931920" cy="2331720"/>
          </a:xfrm>
          <a:prstGeom prst="rect">
            <a:avLst/>
          </a:prstGeom>
          <a:noFill/>
          <a:ln/>
        </p:spPr>
        <p:txBody>
          <a:bodyPr wrap="square" lIns="0" tIns="0" rIns="0" bIns="0" rtlCol="0" anchor="t"/>
          <a:lstStyle/>
          <a:p>
            <a:pPr marL="0" indent="0">
              <a:lnSpc>
                <a:spcPct val="105000"/>
              </a:lnSpc>
              <a:buNone/>
            </a:pPr>
            <a:r>
              <a:rPr lang="en-US" sz="1300" dirty="0">
                <a:solidFill>
                  <a:srgbClr val="222B36"/>
                </a:solidFill>
                <a:latin typeface="Calibri" pitchFamily="34" charset="0"/>
                <a:ea typeface="Calibri" pitchFamily="34" charset="-122"/>
                <a:cs typeface="Calibri" pitchFamily="34" charset="-120"/>
              </a:rPr>
              <a:t>Sleep plays a </a:t>
            </a:r>
            <a:r>
              <a:rPr lang="en-US" sz="1300" dirty="0">
                <a:solidFill>
                  <a:srgbClr val="222B36"/>
                </a:solidFill>
                <a:highlight>
                  <a:srgbClr val="FFE066"/>
                </a:highlight>
                <a:latin typeface="Calibri" pitchFamily="34" charset="0"/>
                <a:ea typeface="Calibri" pitchFamily="34" charset="-122"/>
                <a:cs typeface="Calibri" pitchFamily="34" charset="-120"/>
              </a:rPr>
              <a:t>vital role in maintaining both physical and mental health</a:t>
            </a:r>
            <a:r>
              <a:rPr lang="en-US" sz="1300" b="1" dirty="0">
                <a:solidFill>
                  <a:srgbClr val="D8641A"/>
                </a:solidFill>
                <a:latin typeface="Calibri" pitchFamily="34" charset="0"/>
                <a:ea typeface="Calibri" pitchFamily="34" charset="-122"/>
                <a:cs typeface="Calibri" pitchFamily="34" charset="-120"/>
              </a:rPr>
              <a:t> [1] </a:t>
            </a:r>
            <a:r>
              <a:rPr lang="en-US" sz="1300" dirty="0">
                <a:solidFill>
                  <a:srgbClr val="222B36"/>
                </a:solidFill>
                <a:latin typeface="Calibri" pitchFamily="34" charset="0"/>
                <a:ea typeface="Calibri" pitchFamily="34" charset="-122"/>
                <a:cs typeface="Calibri" pitchFamily="34" charset="-120"/>
              </a:rPr>
              <a:t>. During sleep, the body repairs tissues, strengthens the immune system, and supports brain function. </a:t>
            </a:r>
            <a:r>
              <a:rPr lang="en-US" sz="1300" dirty="0">
                <a:solidFill>
                  <a:srgbClr val="222B36"/>
                </a:solidFill>
                <a:highlight>
                  <a:srgbClr val="FFE066"/>
                </a:highlight>
                <a:latin typeface="Calibri" pitchFamily="34" charset="0"/>
                <a:ea typeface="Calibri" pitchFamily="34" charset="-122"/>
                <a:cs typeface="Calibri" pitchFamily="34" charset="-120"/>
              </a:rPr>
              <a:t>Lack of sleep</a:t>
            </a:r>
            <a:r>
              <a:rPr lang="en-US" sz="1300" dirty="0">
                <a:solidFill>
                  <a:srgbClr val="222B36"/>
                </a:solidFill>
                <a:latin typeface="Calibri" pitchFamily="34" charset="0"/>
                <a:ea typeface="Calibri" pitchFamily="34" charset="-122"/>
                <a:cs typeface="Calibri" pitchFamily="34" charset="-120"/>
              </a:rPr>
              <a:t> can lead to problems such as </a:t>
            </a:r>
            <a:r>
              <a:rPr lang="en-US" sz="1300" dirty="0">
                <a:solidFill>
                  <a:srgbClr val="222B36"/>
                </a:solidFill>
                <a:highlight>
                  <a:srgbClr val="FFE066"/>
                </a:highlight>
                <a:latin typeface="Calibri" pitchFamily="34" charset="0"/>
                <a:ea typeface="Calibri" pitchFamily="34" charset="-122"/>
                <a:cs typeface="Calibri" pitchFamily="34" charset="-120"/>
              </a:rPr>
              <a:t>poor concentration, weakened memory, and increased stress</a:t>
            </a:r>
            <a:r>
              <a:rPr lang="en-US" sz="1300" b="1" dirty="0">
                <a:solidFill>
                  <a:srgbClr val="D8641A"/>
                </a:solidFill>
                <a:latin typeface="Calibri" pitchFamily="34" charset="0"/>
                <a:ea typeface="Calibri" pitchFamily="34" charset="-122"/>
                <a:cs typeface="Calibri" pitchFamily="34" charset="-120"/>
              </a:rPr>
              <a:t> [2] </a:t>
            </a:r>
            <a:r>
              <a:rPr lang="en-US" sz="1300" dirty="0">
                <a:solidFill>
                  <a:srgbClr val="222B36"/>
                </a:solidFill>
                <a:latin typeface="Calibri" pitchFamily="34" charset="0"/>
                <a:ea typeface="Calibri" pitchFamily="34" charset="-122"/>
                <a:cs typeface="Calibri" pitchFamily="34" charset="-120"/>
              </a:rPr>
              <a:t>. Research shows that adults need about </a:t>
            </a:r>
            <a:r>
              <a:rPr lang="en-US" sz="1300" dirty="0">
                <a:solidFill>
                  <a:srgbClr val="222B36"/>
                </a:solidFill>
                <a:highlight>
                  <a:srgbClr val="FFE066"/>
                </a:highlight>
                <a:latin typeface="Calibri" pitchFamily="34" charset="0"/>
                <a:ea typeface="Calibri" pitchFamily="34" charset="-122"/>
                <a:cs typeface="Calibri" pitchFamily="34" charset="-120"/>
              </a:rPr>
              <a:t>seven to eight hours</a:t>
            </a:r>
            <a:r>
              <a:rPr lang="en-US" sz="1300" b="1" dirty="0">
                <a:solidFill>
                  <a:srgbClr val="D8641A"/>
                </a:solidFill>
                <a:latin typeface="Calibri" pitchFamily="34" charset="0"/>
                <a:ea typeface="Calibri" pitchFamily="34" charset="-122"/>
                <a:cs typeface="Calibri" pitchFamily="34" charset="-120"/>
              </a:rPr>
              <a:t> [3] </a:t>
            </a:r>
            <a:r>
              <a:rPr lang="en-US" sz="1300" dirty="0">
                <a:solidFill>
                  <a:srgbClr val="222B36"/>
                </a:solidFill>
                <a:latin typeface="Calibri" pitchFamily="34" charset="0"/>
                <a:ea typeface="Calibri" pitchFamily="34" charset="-122"/>
                <a:cs typeface="Calibri" pitchFamily="34" charset="-120"/>
              </a:rPr>
              <a:t> of sleep each night to perform well during the day. Creating a </a:t>
            </a:r>
            <a:r>
              <a:rPr lang="en-US" sz="1300" dirty="0">
                <a:solidFill>
                  <a:srgbClr val="222B36"/>
                </a:solidFill>
                <a:highlight>
                  <a:srgbClr val="FFE066"/>
                </a:highlight>
                <a:latin typeface="Calibri" pitchFamily="34" charset="0"/>
                <a:ea typeface="Calibri" pitchFamily="34" charset="-122"/>
                <a:cs typeface="Calibri" pitchFamily="34" charset="-120"/>
              </a:rPr>
              <a:t>consistent bedtime routine</a:t>
            </a:r>
            <a:r>
              <a:rPr lang="en-US" sz="1300" dirty="0">
                <a:solidFill>
                  <a:srgbClr val="222B36"/>
                </a:solidFill>
                <a:latin typeface="Calibri" pitchFamily="34" charset="0"/>
                <a:ea typeface="Calibri" pitchFamily="34" charset="-122"/>
                <a:cs typeface="Calibri" pitchFamily="34" charset="-120"/>
              </a:rPr>
              <a:t> and </a:t>
            </a:r>
            <a:r>
              <a:rPr lang="en-US" sz="1300" dirty="0">
                <a:solidFill>
                  <a:srgbClr val="222B36"/>
                </a:solidFill>
                <a:highlight>
                  <a:srgbClr val="FFE066"/>
                </a:highlight>
                <a:latin typeface="Calibri" pitchFamily="34" charset="0"/>
                <a:ea typeface="Calibri" pitchFamily="34" charset="-122"/>
                <a:cs typeface="Calibri" pitchFamily="34" charset="-120"/>
              </a:rPr>
              <a:t>avoiding electronic devices</a:t>
            </a:r>
            <a:r>
              <a:rPr lang="en-US" sz="1300" dirty="0">
                <a:solidFill>
                  <a:srgbClr val="222B36"/>
                </a:solidFill>
                <a:latin typeface="Calibri" pitchFamily="34" charset="0"/>
                <a:ea typeface="Calibri" pitchFamily="34" charset="-122"/>
                <a:cs typeface="Calibri" pitchFamily="34" charset="-120"/>
              </a:rPr>
              <a:t> before sleeping can significantly improve sleep quality.</a:t>
            </a:r>
            <a:r>
              <a:rPr lang="en-US" sz="1300" b="1" dirty="0">
                <a:solidFill>
                  <a:srgbClr val="D8641A"/>
                </a:solidFill>
                <a:latin typeface="Calibri" pitchFamily="34" charset="0"/>
                <a:ea typeface="Calibri" pitchFamily="34" charset="-122"/>
                <a:cs typeface="Calibri" pitchFamily="34" charset="-120"/>
              </a:rPr>
              <a:t> [4] </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937760" y="1234440"/>
          <a:ext cx="3749040" cy="1981200"/>
        </p:xfrm>
        <a:graphic>
          <a:graphicData uri="http://schemas.openxmlformats.org/drawingml/2006/table">
            <a:tbl>
              <a:tblPr/>
              <a:tblGrid>
                <a:gridCol w="36576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44546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Key point</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44546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Your question</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44546A"/>
                    </a:solidFill>
                  </a:tcPr>
                </a:tc>
                <a:extLst>
                  <a:ext uri="{0D108BD9-81ED-4DB2-BD59-A6C34878D82A}">
                    <a16:rowId xmlns:a16="http://schemas.microsoft.com/office/drawing/2014/main" val="10000"/>
                  </a:ext>
                </a:extLst>
              </a:tr>
              <a:tr h="0">
                <a:tc>
                  <a:txBody>
                    <a:bodyPr/>
                    <a:lstStyle/>
                    <a:p>
                      <a:pPr marL="0" indent="0" algn="ctr">
                        <a:buNone/>
                      </a:pPr>
                      <a:r>
                        <a:rPr lang="en-US" sz="1200" b="1" dirty="0">
                          <a:solidFill>
                            <a:srgbClr val="D8641A"/>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100" dirty="0">
                          <a:solidFill>
                            <a:srgbClr val="222B36"/>
                          </a:solidFill>
                          <a:latin typeface="Calibri" pitchFamily="34" charset="0"/>
                          <a:ea typeface="Calibri" pitchFamily="34" charset="-122"/>
                          <a:cs typeface="Calibri" pitchFamily="34" charset="-120"/>
                        </a:rPr>
                        <a:t>Sleep is vital for health</a:t>
                      </a:r>
                      <a:endParaRPr lang="en-US" sz="11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100" i="1" dirty="0">
                          <a:solidFill>
                            <a:srgbClr val="4472C4"/>
                          </a:solidFill>
                          <a:latin typeface="Calibri" pitchFamily="34" charset="0"/>
                          <a:ea typeface="Calibri" pitchFamily="34" charset="-122"/>
                          <a:cs typeface="Calibri" pitchFamily="34" charset="-120"/>
                        </a:rPr>
                        <a:t>Why is sleep important for health?</a:t>
                      </a:r>
                      <a:endParaRPr lang="en-US" sz="11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200" b="1" dirty="0">
                          <a:solidFill>
                            <a:srgbClr val="D8641A"/>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100" dirty="0">
                          <a:solidFill>
                            <a:srgbClr val="222B36"/>
                          </a:solidFill>
                          <a:latin typeface="Calibri" pitchFamily="34" charset="0"/>
                          <a:ea typeface="Calibri" pitchFamily="34" charset="-122"/>
                          <a:cs typeface="Calibri" pitchFamily="34" charset="-120"/>
                        </a:rPr>
                        <a:t>Lack of sleep harms focus and memory</a:t>
                      </a:r>
                      <a:endParaRPr lang="en-US" sz="11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100" i="1" dirty="0">
                          <a:solidFill>
                            <a:srgbClr val="4472C4"/>
                          </a:solidFill>
                          <a:latin typeface="Calibri" pitchFamily="34" charset="0"/>
                          <a:ea typeface="Calibri" pitchFamily="34" charset="-122"/>
                          <a:cs typeface="Calibri" pitchFamily="34" charset="-120"/>
                        </a:rPr>
                        <a:t>What problems does lack of sleep cause?</a:t>
                      </a:r>
                      <a:endParaRPr lang="en-US" sz="11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ctr">
                        <a:buNone/>
                      </a:pPr>
                      <a:r>
                        <a:rPr lang="en-US" sz="1200" b="1" dirty="0">
                          <a:solidFill>
                            <a:srgbClr val="D8641A"/>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100" dirty="0">
                          <a:solidFill>
                            <a:srgbClr val="222B36"/>
                          </a:solidFill>
                          <a:latin typeface="Calibri" pitchFamily="34" charset="0"/>
                          <a:ea typeface="Calibri" pitchFamily="34" charset="-122"/>
                          <a:cs typeface="Calibri" pitchFamily="34" charset="-120"/>
                        </a:rPr>
                        <a:t>Adults need 7–8 hours</a:t>
                      </a:r>
                      <a:endParaRPr lang="en-US" sz="11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100" i="1" dirty="0">
                          <a:solidFill>
                            <a:srgbClr val="4472C4"/>
                          </a:solidFill>
                          <a:latin typeface="Calibri" pitchFamily="34" charset="0"/>
                          <a:ea typeface="Calibri" pitchFamily="34" charset="-122"/>
                          <a:cs typeface="Calibri" pitchFamily="34" charset="-120"/>
                        </a:rPr>
                        <a:t>How many hours do adults need?</a:t>
                      </a:r>
                      <a:endParaRPr lang="en-US" sz="11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1200" b="1" dirty="0">
                          <a:solidFill>
                            <a:srgbClr val="D8641A"/>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100" dirty="0">
                          <a:solidFill>
                            <a:srgbClr val="222B36"/>
                          </a:solidFill>
                          <a:latin typeface="Calibri" pitchFamily="34" charset="0"/>
                          <a:ea typeface="Calibri" pitchFamily="34" charset="-122"/>
                          <a:cs typeface="Calibri" pitchFamily="34" charset="-120"/>
                        </a:rPr>
                        <a:t>Routine and no devices help</a:t>
                      </a:r>
                      <a:endParaRPr lang="en-US" sz="11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100" i="1" dirty="0">
                          <a:solidFill>
                            <a:srgbClr val="4472C4"/>
                          </a:solidFill>
                          <a:latin typeface="Calibri" pitchFamily="34" charset="0"/>
                          <a:ea typeface="Calibri" pitchFamily="34" charset="-122"/>
                          <a:cs typeface="Calibri" pitchFamily="34" charset="-120"/>
                        </a:rPr>
                        <a:t>How can we improve sleep quality?</a:t>
                      </a:r>
                      <a:endParaRPr lang="en-US" sz="11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Shape 6"/>
          <p:cNvSpPr/>
          <p:nvPr/>
        </p:nvSpPr>
        <p:spPr>
          <a:xfrm>
            <a:off x="457200" y="4160520"/>
            <a:ext cx="8229600" cy="502920"/>
          </a:xfrm>
          <a:prstGeom prst="roundRect">
            <a:avLst>
              <a:gd name="adj" fmla="val 14545"/>
            </a:avLst>
          </a:prstGeom>
          <a:solidFill>
            <a:srgbClr val="FFF2CC"/>
          </a:solidFill>
          <a:ln/>
        </p:spPr>
        <p:txBody>
          <a:bodyPr/>
          <a:lstStyle/>
          <a:p>
            <a:endParaRPr lang="en-US"/>
          </a:p>
        </p:txBody>
      </p:sp>
      <p:sp>
        <p:nvSpPr>
          <p:cNvPr id="11" name="Text 7"/>
          <p:cNvSpPr txBox="1"/>
          <p:nvPr/>
        </p:nvSpPr>
        <p:spPr>
          <a:xfrm>
            <a:off x="457200" y="4160520"/>
            <a:ext cx="8229600" cy="502920"/>
          </a:xfrm>
          <a:prstGeom prst="rect">
            <a:avLst/>
          </a:prstGeom>
          <a:noFill/>
          <a:ln/>
        </p:spPr>
        <p:txBody>
          <a:bodyPr wrap="square" lIns="0" tIns="0" rIns="0" bIns="0" rtlCol="0" anchor="ctr"/>
          <a:lstStyle/>
          <a:p>
            <a:pPr marL="0" indent="0" algn="ctr">
              <a:buNone/>
            </a:pPr>
            <a:r>
              <a:rPr lang="en-US" sz="1250" b="1" dirty="0">
                <a:solidFill>
                  <a:srgbClr val="222B36"/>
                </a:solidFill>
                <a:latin typeface="Calibri" pitchFamily="34" charset="0"/>
                <a:ea typeface="Calibri" pitchFamily="34" charset="-122"/>
                <a:cs typeface="Calibri" pitchFamily="34" charset="-120"/>
              </a:rPr>
              <a:t>Your highlights may differ. No two people's notes should look the same. That is what makes you an active learner.</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SYSTEM 2 · SOPRANO TECHNIQUE</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Soprano example 2: Technology and sleep</a:t>
            </a:r>
            <a:endParaRPr lang="en-US" sz="3000" dirty="0"/>
          </a:p>
        </p:txBody>
      </p:sp>
      <p:sp>
        <p:nvSpPr>
          <p:cNvPr id="6" name="Shape 3"/>
          <p:cNvSpPr/>
          <p:nvPr/>
        </p:nvSpPr>
        <p:spPr>
          <a:xfrm>
            <a:off x="457200" y="1234440"/>
            <a:ext cx="4297680" cy="2788920"/>
          </a:xfrm>
          <a:prstGeom prst="roundRect">
            <a:avLst>
              <a:gd name="adj" fmla="val 2623"/>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640080" y="1325880"/>
            <a:ext cx="3931920" cy="274320"/>
          </a:xfrm>
          <a:prstGeom prst="rect">
            <a:avLst/>
          </a:prstGeom>
          <a:noFill/>
          <a:ln/>
        </p:spPr>
        <p:txBody>
          <a:bodyPr wrap="square" lIns="0" tIns="0" rIns="0" bIns="0" rtlCol="0" anchor="t"/>
          <a:lstStyle/>
          <a:p>
            <a:pPr marL="0" indent="0">
              <a:buNone/>
            </a:pPr>
            <a:r>
              <a:rPr lang="en-US" sz="1200" b="1" dirty="0">
                <a:solidFill>
                  <a:srgbClr val="66758A"/>
                </a:solidFill>
                <a:latin typeface="Calibri" pitchFamily="34" charset="0"/>
                <a:ea typeface="Calibri" pitchFamily="34" charset="-122"/>
                <a:cs typeface="Calibri" pitchFamily="34" charset="-120"/>
              </a:rPr>
              <a:t>Paragraph (highlighted)</a:t>
            </a:r>
            <a:endParaRPr lang="en-US" sz="1200" dirty="0"/>
          </a:p>
        </p:txBody>
      </p:sp>
      <p:sp>
        <p:nvSpPr>
          <p:cNvPr id="8" name="Text 5"/>
          <p:cNvSpPr txBox="1"/>
          <p:nvPr/>
        </p:nvSpPr>
        <p:spPr>
          <a:xfrm>
            <a:off x="640080" y="1627632"/>
            <a:ext cx="3931920" cy="2331720"/>
          </a:xfrm>
          <a:prstGeom prst="rect">
            <a:avLst/>
          </a:prstGeom>
          <a:noFill/>
          <a:ln/>
        </p:spPr>
        <p:txBody>
          <a:bodyPr wrap="square" lIns="0" tIns="0" rIns="0" bIns="0" rtlCol="0" anchor="t"/>
          <a:lstStyle/>
          <a:p>
            <a:pPr marL="0" indent="0">
              <a:lnSpc>
                <a:spcPct val="105000"/>
              </a:lnSpc>
              <a:buNone/>
            </a:pPr>
            <a:r>
              <a:rPr lang="en-US" sz="1300" dirty="0">
                <a:solidFill>
                  <a:srgbClr val="222B36"/>
                </a:solidFill>
                <a:latin typeface="Calibri" pitchFamily="34" charset="0"/>
                <a:ea typeface="Calibri" pitchFamily="34" charset="-122"/>
                <a:cs typeface="Calibri" pitchFamily="34" charset="-120"/>
              </a:rPr>
              <a:t>Using </a:t>
            </a:r>
            <a:r>
              <a:rPr lang="en-US" sz="1300" dirty="0">
                <a:solidFill>
                  <a:srgbClr val="222B36"/>
                </a:solidFill>
                <a:highlight>
                  <a:srgbClr val="FFE066"/>
                </a:highlight>
                <a:latin typeface="Calibri" pitchFamily="34" charset="0"/>
                <a:ea typeface="Calibri" pitchFamily="34" charset="-122"/>
                <a:cs typeface="Calibri" pitchFamily="34" charset="-120"/>
              </a:rPr>
              <a:t>electronic devices before bed</a:t>
            </a:r>
            <a:r>
              <a:rPr lang="en-US" sz="1300" dirty="0">
                <a:solidFill>
                  <a:srgbClr val="222B36"/>
                </a:solidFill>
                <a:latin typeface="Calibri" pitchFamily="34" charset="0"/>
                <a:ea typeface="Calibri" pitchFamily="34" charset="-122"/>
                <a:cs typeface="Calibri" pitchFamily="34" charset="-120"/>
              </a:rPr>
              <a:t> can negatively affect sleep quality. The </a:t>
            </a:r>
            <a:r>
              <a:rPr lang="en-US" sz="1300" dirty="0">
                <a:solidFill>
                  <a:srgbClr val="222B36"/>
                </a:solidFill>
                <a:highlight>
                  <a:srgbClr val="FFE066"/>
                </a:highlight>
                <a:latin typeface="Calibri" pitchFamily="34" charset="0"/>
                <a:ea typeface="Calibri" pitchFamily="34" charset="-122"/>
                <a:cs typeface="Calibri" pitchFamily="34" charset="-120"/>
              </a:rPr>
              <a:t>blue light</a:t>
            </a:r>
            <a:r>
              <a:rPr lang="en-US" sz="1300" dirty="0">
                <a:solidFill>
                  <a:srgbClr val="222B36"/>
                </a:solidFill>
                <a:latin typeface="Calibri" pitchFamily="34" charset="0"/>
                <a:ea typeface="Calibri" pitchFamily="34" charset="-122"/>
                <a:cs typeface="Calibri" pitchFamily="34" charset="-120"/>
              </a:rPr>
              <a:t> from phones, tablets, and computers </a:t>
            </a:r>
            <a:r>
              <a:rPr lang="en-US" sz="1300" dirty="0">
                <a:solidFill>
                  <a:srgbClr val="222B36"/>
                </a:solidFill>
                <a:highlight>
                  <a:srgbClr val="FFE066"/>
                </a:highlight>
                <a:latin typeface="Calibri" pitchFamily="34" charset="0"/>
                <a:ea typeface="Calibri" pitchFamily="34" charset="-122"/>
                <a:cs typeface="Calibri" pitchFamily="34" charset="-120"/>
              </a:rPr>
              <a:t>reduces the production of melatonin</a:t>
            </a:r>
            <a:r>
              <a:rPr lang="en-US" sz="1300" dirty="0">
                <a:solidFill>
                  <a:srgbClr val="222B36"/>
                </a:solidFill>
                <a:latin typeface="Calibri" pitchFamily="34" charset="0"/>
                <a:ea typeface="Calibri" pitchFamily="34" charset="-122"/>
                <a:cs typeface="Calibri" pitchFamily="34" charset="-120"/>
              </a:rPr>
              <a:t>, a hormone that helps people fall asleep.</a:t>
            </a:r>
            <a:r>
              <a:rPr lang="en-US" sz="1300" b="1" dirty="0">
                <a:solidFill>
                  <a:srgbClr val="D8641A"/>
                </a:solidFill>
                <a:latin typeface="Calibri" pitchFamily="34" charset="0"/>
                <a:ea typeface="Calibri" pitchFamily="34" charset="-122"/>
                <a:cs typeface="Calibri" pitchFamily="34" charset="-120"/>
              </a:rPr>
              <a:t> [1] </a:t>
            </a:r>
            <a:r>
              <a:rPr lang="en-US" sz="1300" dirty="0">
                <a:solidFill>
                  <a:srgbClr val="222B36"/>
                </a:solidFill>
                <a:latin typeface="Calibri" pitchFamily="34" charset="0"/>
                <a:ea typeface="Calibri" pitchFamily="34" charset="-122"/>
                <a:cs typeface="Calibri" pitchFamily="34" charset="-120"/>
              </a:rPr>
              <a:t> As a result, many people </a:t>
            </a:r>
            <a:r>
              <a:rPr lang="en-US" sz="1300" dirty="0">
                <a:solidFill>
                  <a:srgbClr val="222B36"/>
                </a:solidFill>
                <a:highlight>
                  <a:srgbClr val="FFE066"/>
                </a:highlight>
                <a:latin typeface="Calibri" pitchFamily="34" charset="0"/>
                <a:ea typeface="Calibri" pitchFamily="34" charset="-122"/>
                <a:cs typeface="Calibri" pitchFamily="34" charset="-120"/>
              </a:rPr>
              <a:t>take longer to fall asleep</a:t>
            </a:r>
            <a:r>
              <a:rPr lang="en-US" sz="1300" dirty="0">
                <a:solidFill>
                  <a:srgbClr val="222B36"/>
                </a:solidFill>
                <a:latin typeface="Calibri" pitchFamily="34" charset="0"/>
                <a:ea typeface="Calibri" pitchFamily="34" charset="-122"/>
                <a:cs typeface="Calibri" pitchFamily="34" charset="-120"/>
              </a:rPr>
              <a:t> and experience </a:t>
            </a:r>
            <a:r>
              <a:rPr lang="en-US" sz="1300" dirty="0">
                <a:solidFill>
                  <a:srgbClr val="222B36"/>
                </a:solidFill>
                <a:highlight>
                  <a:srgbClr val="FFE066"/>
                </a:highlight>
                <a:latin typeface="Calibri" pitchFamily="34" charset="0"/>
                <a:ea typeface="Calibri" pitchFamily="34" charset="-122"/>
                <a:cs typeface="Calibri" pitchFamily="34" charset="-120"/>
              </a:rPr>
              <a:t>lighter sleep</a:t>
            </a:r>
            <a:r>
              <a:rPr lang="en-US" sz="1300" dirty="0">
                <a:solidFill>
                  <a:srgbClr val="222B36"/>
                </a:solidFill>
                <a:latin typeface="Calibri" pitchFamily="34" charset="0"/>
                <a:ea typeface="Calibri" pitchFamily="34" charset="-122"/>
                <a:cs typeface="Calibri" pitchFamily="34" charset="-120"/>
              </a:rPr>
              <a:t> throughout the night.</a:t>
            </a:r>
            <a:r>
              <a:rPr lang="en-US" sz="1300" b="1" dirty="0">
                <a:solidFill>
                  <a:srgbClr val="D8641A"/>
                </a:solidFill>
                <a:latin typeface="Calibri" pitchFamily="34" charset="0"/>
                <a:ea typeface="Calibri" pitchFamily="34" charset="-122"/>
                <a:cs typeface="Calibri" pitchFamily="34" charset="-120"/>
              </a:rPr>
              <a:t> [2] </a:t>
            </a:r>
            <a:r>
              <a:rPr lang="en-US" sz="1300" dirty="0">
                <a:solidFill>
                  <a:srgbClr val="222B36"/>
                </a:solidFill>
                <a:latin typeface="Calibri" pitchFamily="34" charset="0"/>
                <a:ea typeface="Calibri" pitchFamily="34" charset="-122"/>
                <a:cs typeface="Calibri" pitchFamily="34" charset="-120"/>
              </a:rPr>
              <a:t> Experts recommend </a:t>
            </a:r>
            <a:r>
              <a:rPr lang="en-US" sz="1300" dirty="0">
                <a:solidFill>
                  <a:srgbClr val="222B36"/>
                </a:solidFill>
                <a:highlight>
                  <a:srgbClr val="FFE066"/>
                </a:highlight>
                <a:latin typeface="Calibri" pitchFamily="34" charset="0"/>
                <a:ea typeface="Calibri" pitchFamily="34" charset="-122"/>
                <a:cs typeface="Calibri" pitchFamily="34" charset="-120"/>
              </a:rPr>
              <a:t>avoiding screens at least one hour before bedtime</a:t>
            </a:r>
            <a:r>
              <a:rPr lang="en-US" sz="1300" dirty="0">
                <a:solidFill>
                  <a:srgbClr val="222B36"/>
                </a:solidFill>
                <a:latin typeface="Calibri" pitchFamily="34" charset="0"/>
                <a:ea typeface="Calibri" pitchFamily="34" charset="-122"/>
                <a:cs typeface="Calibri" pitchFamily="34" charset="-120"/>
              </a:rPr>
              <a:t> and choosing relaxing activities like reading or listening to calm music instead.</a:t>
            </a:r>
            <a:r>
              <a:rPr lang="en-US" sz="1300" b="1" dirty="0">
                <a:solidFill>
                  <a:srgbClr val="D8641A"/>
                </a:solidFill>
                <a:latin typeface="Calibri" pitchFamily="34" charset="0"/>
                <a:ea typeface="Calibri" pitchFamily="34" charset="-122"/>
                <a:cs typeface="Calibri" pitchFamily="34" charset="-120"/>
              </a:rPr>
              <a:t> [3] </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937760" y="1234440"/>
          <a:ext cx="3749040" cy="1554480"/>
        </p:xfrm>
        <a:graphic>
          <a:graphicData uri="http://schemas.openxmlformats.org/drawingml/2006/table">
            <a:tbl>
              <a:tblPr/>
              <a:tblGrid>
                <a:gridCol w="36576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44546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Key point</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44546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Your question</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44546A"/>
                    </a:solidFill>
                  </a:tcPr>
                </a:tc>
                <a:extLst>
                  <a:ext uri="{0D108BD9-81ED-4DB2-BD59-A6C34878D82A}">
                    <a16:rowId xmlns:a16="http://schemas.microsoft.com/office/drawing/2014/main" val="10000"/>
                  </a:ext>
                </a:extLst>
              </a:tr>
              <a:tr h="0">
                <a:tc>
                  <a:txBody>
                    <a:bodyPr/>
                    <a:lstStyle/>
                    <a:p>
                      <a:pPr marL="0" indent="0" algn="ctr">
                        <a:buNone/>
                      </a:pPr>
                      <a:r>
                        <a:rPr lang="en-US" sz="1200" b="1" dirty="0">
                          <a:solidFill>
                            <a:srgbClr val="D8641A"/>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100" dirty="0">
                          <a:solidFill>
                            <a:srgbClr val="222B36"/>
                          </a:solidFill>
                          <a:latin typeface="Calibri" pitchFamily="34" charset="0"/>
                          <a:ea typeface="Calibri" pitchFamily="34" charset="-122"/>
                          <a:cs typeface="Calibri" pitchFamily="34" charset="-120"/>
                        </a:rPr>
                        <a:t>Blue light lowers melatonin</a:t>
                      </a:r>
                      <a:endParaRPr lang="en-US" sz="11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100" i="1" dirty="0">
                          <a:solidFill>
                            <a:srgbClr val="4472C4"/>
                          </a:solidFill>
                          <a:latin typeface="Calibri" pitchFamily="34" charset="0"/>
                          <a:ea typeface="Calibri" pitchFamily="34" charset="-122"/>
                          <a:cs typeface="Calibri" pitchFamily="34" charset="-120"/>
                        </a:rPr>
                        <a:t>What does blue light do to melatonin?</a:t>
                      </a:r>
                      <a:endParaRPr lang="en-US" sz="11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200" b="1" dirty="0">
                          <a:solidFill>
                            <a:srgbClr val="D8641A"/>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100" dirty="0">
                          <a:solidFill>
                            <a:srgbClr val="222B36"/>
                          </a:solidFill>
                          <a:latin typeface="Calibri" pitchFamily="34" charset="0"/>
                          <a:ea typeface="Calibri" pitchFamily="34" charset="-122"/>
                          <a:cs typeface="Calibri" pitchFamily="34" charset="-120"/>
                        </a:rPr>
                        <a:t>Slower, lighter sleep</a:t>
                      </a:r>
                      <a:endParaRPr lang="en-US" sz="11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100" i="1" dirty="0">
                          <a:solidFill>
                            <a:srgbClr val="4472C4"/>
                          </a:solidFill>
                          <a:latin typeface="Calibri" pitchFamily="34" charset="0"/>
                          <a:ea typeface="Calibri" pitchFamily="34" charset="-122"/>
                          <a:cs typeface="Calibri" pitchFamily="34" charset="-120"/>
                        </a:rPr>
                        <a:t>How does it affect sleep quality?</a:t>
                      </a:r>
                      <a:endParaRPr lang="en-US" sz="11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ctr">
                        <a:buNone/>
                      </a:pPr>
                      <a:r>
                        <a:rPr lang="en-US" sz="1200" b="1" dirty="0">
                          <a:solidFill>
                            <a:srgbClr val="D8641A"/>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100" dirty="0">
                          <a:solidFill>
                            <a:srgbClr val="222B36"/>
                          </a:solidFill>
                          <a:latin typeface="Calibri" pitchFamily="34" charset="0"/>
                          <a:ea typeface="Calibri" pitchFamily="34" charset="-122"/>
                          <a:cs typeface="Calibri" pitchFamily="34" charset="-120"/>
                        </a:rPr>
                        <a:t>No screens 1 hour before bed</a:t>
                      </a:r>
                      <a:endParaRPr lang="en-US" sz="11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100" i="1" dirty="0">
                          <a:solidFill>
                            <a:srgbClr val="4472C4"/>
                          </a:solidFill>
                          <a:latin typeface="Calibri" pitchFamily="34" charset="0"/>
                          <a:ea typeface="Calibri" pitchFamily="34" charset="-122"/>
                          <a:cs typeface="Calibri" pitchFamily="34" charset="-120"/>
                        </a:rPr>
                        <a:t>What can people do to sleep better?</a:t>
                      </a:r>
                      <a:endParaRPr lang="en-US" sz="11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Shape 6"/>
          <p:cNvSpPr/>
          <p:nvPr/>
        </p:nvSpPr>
        <p:spPr>
          <a:xfrm>
            <a:off x="457200" y="4160520"/>
            <a:ext cx="8229600" cy="502920"/>
          </a:xfrm>
          <a:prstGeom prst="roundRect">
            <a:avLst>
              <a:gd name="adj" fmla="val 14545"/>
            </a:avLst>
          </a:prstGeom>
          <a:solidFill>
            <a:srgbClr val="FFF2CC"/>
          </a:solidFill>
          <a:ln/>
        </p:spPr>
        <p:txBody>
          <a:bodyPr/>
          <a:lstStyle/>
          <a:p>
            <a:endParaRPr lang="en-US"/>
          </a:p>
        </p:txBody>
      </p:sp>
      <p:sp>
        <p:nvSpPr>
          <p:cNvPr id="11" name="Text 7"/>
          <p:cNvSpPr txBox="1"/>
          <p:nvPr/>
        </p:nvSpPr>
        <p:spPr>
          <a:xfrm>
            <a:off x="457200" y="4160520"/>
            <a:ext cx="8229600" cy="502920"/>
          </a:xfrm>
          <a:prstGeom prst="rect">
            <a:avLst/>
          </a:prstGeom>
          <a:noFill/>
          <a:ln/>
        </p:spPr>
        <p:txBody>
          <a:bodyPr wrap="square" lIns="0" tIns="0" rIns="0" bIns="0" rtlCol="0" anchor="ctr"/>
          <a:lstStyle/>
          <a:p>
            <a:pPr marL="0" indent="0" algn="ctr">
              <a:buNone/>
            </a:pPr>
            <a:r>
              <a:rPr lang="en-US" sz="1250" b="1" dirty="0">
                <a:solidFill>
                  <a:srgbClr val="222B36"/>
                </a:solidFill>
                <a:latin typeface="Calibri" pitchFamily="34" charset="0"/>
                <a:ea typeface="Calibri" pitchFamily="34" charset="-122"/>
                <a:cs typeface="Calibri" pitchFamily="34" charset="-120"/>
              </a:rPr>
              <a:t>Self-test: cover the paragraph and answer each question. The highlighted text should answer it.</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SYSTEM 3 · MIND MAPPING</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Mind mapping: see the big picture</a:t>
            </a:r>
            <a:endParaRPr lang="en-US" sz="3000" dirty="0"/>
          </a:p>
        </p:txBody>
      </p:sp>
      <p:sp>
        <p:nvSpPr>
          <p:cNvPr id="6" name="Text 3"/>
          <p:cNvSpPr txBox="1"/>
          <p:nvPr/>
        </p:nvSpPr>
        <p:spPr>
          <a:xfrm>
            <a:off x="457200" y="1280160"/>
            <a:ext cx="3566160" cy="640080"/>
          </a:xfrm>
          <a:prstGeom prst="rect">
            <a:avLst/>
          </a:prstGeom>
          <a:noFill/>
          <a:ln/>
        </p:spPr>
        <p:txBody>
          <a:bodyPr wrap="square" lIns="0" tIns="0" rIns="0" bIns="0" rtlCol="0" anchor="t"/>
          <a:lstStyle/>
          <a:p>
            <a:pPr marL="0" indent="0">
              <a:buNone/>
            </a:pPr>
            <a:r>
              <a:rPr lang="en-US" sz="1250" dirty="0">
                <a:solidFill>
                  <a:srgbClr val="66758A"/>
                </a:solidFill>
                <a:latin typeface="Calibri" pitchFamily="34" charset="0"/>
                <a:ea typeface="Calibri" pitchFamily="34" charset="-122"/>
                <a:cs typeface="Calibri" pitchFamily="34" charset="-120"/>
              </a:rPr>
              <a:t>A visual note-taking method: one central idea, with branches for related ideas.</a:t>
            </a:r>
            <a:endParaRPr lang="en-US" sz="1250" dirty="0"/>
          </a:p>
        </p:txBody>
      </p:sp>
      <p:sp>
        <p:nvSpPr>
          <p:cNvPr id="7" name="Shape 4"/>
          <p:cNvSpPr/>
          <p:nvPr/>
        </p:nvSpPr>
        <p:spPr>
          <a:xfrm>
            <a:off x="457200" y="2093976"/>
            <a:ext cx="329184" cy="329184"/>
          </a:xfrm>
          <a:prstGeom prst="ellipse">
            <a:avLst/>
          </a:prstGeom>
          <a:solidFill>
            <a:srgbClr val="D8641A"/>
          </a:solidFill>
          <a:ln/>
        </p:spPr>
        <p:txBody>
          <a:bodyPr/>
          <a:lstStyle/>
          <a:p>
            <a:endParaRPr lang="en-US"/>
          </a:p>
        </p:txBody>
      </p:sp>
      <p:sp>
        <p:nvSpPr>
          <p:cNvPr id="8" name="Text 5"/>
          <p:cNvSpPr txBox="1"/>
          <p:nvPr/>
        </p:nvSpPr>
        <p:spPr>
          <a:xfrm>
            <a:off x="457200" y="2093976"/>
            <a:ext cx="329184" cy="329184"/>
          </a:xfrm>
          <a:prstGeom prst="rect">
            <a:avLst/>
          </a:prstGeom>
          <a:noFill/>
          <a:ln/>
        </p:spPr>
        <p:txBody>
          <a:bodyPr wrap="square" lIns="0" tIns="0" rIns="0" bIns="0" rtlCol="0" anchor="ctr"/>
          <a:lstStyle/>
          <a:p>
            <a:pPr marL="0" indent="0" algn="ctr">
              <a:buNone/>
            </a:pPr>
            <a:r>
              <a:rPr lang="en-US" sz="1296" b="1" dirty="0">
                <a:solidFill>
                  <a:srgbClr val="FFFFFF"/>
                </a:solidFill>
                <a:latin typeface="Calibri" pitchFamily="34" charset="0"/>
                <a:ea typeface="Calibri" pitchFamily="34" charset="-122"/>
                <a:cs typeface="Calibri" pitchFamily="34" charset="-120"/>
              </a:rPr>
              <a:t>1</a:t>
            </a:r>
            <a:endParaRPr lang="en-US" sz="1296" dirty="0"/>
          </a:p>
        </p:txBody>
      </p:sp>
      <p:sp>
        <p:nvSpPr>
          <p:cNvPr id="9" name="Text 6"/>
          <p:cNvSpPr txBox="1"/>
          <p:nvPr/>
        </p:nvSpPr>
        <p:spPr>
          <a:xfrm>
            <a:off x="914400" y="2057400"/>
            <a:ext cx="3108960" cy="457200"/>
          </a:xfrm>
          <a:prstGeom prst="rect">
            <a:avLst/>
          </a:prstGeom>
          <a:noFill/>
          <a:ln/>
        </p:spPr>
        <p:txBody>
          <a:bodyPr wrap="square" lIns="0" tIns="0" rIns="0" bIns="0" rtlCol="0" anchor="ctr"/>
          <a:lstStyle/>
          <a:p>
            <a:pPr marL="0" indent="0">
              <a:buNone/>
            </a:pPr>
            <a:r>
              <a:rPr lang="en-US" sz="1250" dirty="0">
                <a:solidFill>
                  <a:srgbClr val="222B36"/>
                </a:solidFill>
                <a:latin typeface="Calibri" pitchFamily="34" charset="0"/>
                <a:ea typeface="Calibri" pitchFamily="34" charset="-122"/>
                <a:cs typeface="Calibri" pitchFamily="34" charset="-120"/>
              </a:rPr>
              <a:t>Write the central idea in the middle</a:t>
            </a:r>
            <a:endParaRPr lang="en-US" sz="1250" dirty="0"/>
          </a:p>
        </p:txBody>
      </p:sp>
      <p:sp>
        <p:nvSpPr>
          <p:cNvPr id="10" name="Shape 7"/>
          <p:cNvSpPr/>
          <p:nvPr/>
        </p:nvSpPr>
        <p:spPr>
          <a:xfrm>
            <a:off x="457200" y="2660904"/>
            <a:ext cx="329184" cy="329184"/>
          </a:xfrm>
          <a:prstGeom prst="ellipse">
            <a:avLst/>
          </a:prstGeom>
          <a:solidFill>
            <a:srgbClr val="4472C4"/>
          </a:solidFill>
          <a:ln/>
        </p:spPr>
        <p:txBody>
          <a:bodyPr/>
          <a:lstStyle/>
          <a:p>
            <a:endParaRPr lang="en-US"/>
          </a:p>
        </p:txBody>
      </p:sp>
      <p:sp>
        <p:nvSpPr>
          <p:cNvPr id="11" name="Text 8"/>
          <p:cNvSpPr txBox="1"/>
          <p:nvPr/>
        </p:nvSpPr>
        <p:spPr>
          <a:xfrm>
            <a:off x="457200" y="2660904"/>
            <a:ext cx="329184" cy="329184"/>
          </a:xfrm>
          <a:prstGeom prst="rect">
            <a:avLst/>
          </a:prstGeom>
          <a:noFill/>
          <a:ln/>
        </p:spPr>
        <p:txBody>
          <a:bodyPr wrap="square" lIns="0" tIns="0" rIns="0" bIns="0" rtlCol="0" anchor="ctr"/>
          <a:lstStyle/>
          <a:p>
            <a:pPr marL="0" indent="0" algn="ctr">
              <a:buNone/>
            </a:pPr>
            <a:r>
              <a:rPr lang="en-US" sz="1296" b="1" dirty="0">
                <a:solidFill>
                  <a:srgbClr val="FFFFFF"/>
                </a:solidFill>
                <a:latin typeface="Calibri" pitchFamily="34" charset="0"/>
                <a:ea typeface="Calibri" pitchFamily="34" charset="-122"/>
                <a:cs typeface="Calibri" pitchFamily="34" charset="-120"/>
              </a:rPr>
              <a:t>2</a:t>
            </a:r>
            <a:endParaRPr lang="en-US" sz="1296" dirty="0"/>
          </a:p>
        </p:txBody>
      </p:sp>
      <p:sp>
        <p:nvSpPr>
          <p:cNvPr id="12" name="Text 9"/>
          <p:cNvSpPr txBox="1"/>
          <p:nvPr/>
        </p:nvSpPr>
        <p:spPr>
          <a:xfrm>
            <a:off x="914400" y="2624328"/>
            <a:ext cx="3108960" cy="457200"/>
          </a:xfrm>
          <a:prstGeom prst="rect">
            <a:avLst/>
          </a:prstGeom>
          <a:noFill/>
          <a:ln/>
        </p:spPr>
        <p:txBody>
          <a:bodyPr wrap="square" lIns="0" tIns="0" rIns="0" bIns="0" rtlCol="0" anchor="ctr"/>
          <a:lstStyle/>
          <a:p>
            <a:pPr marL="0" indent="0">
              <a:buNone/>
            </a:pPr>
            <a:r>
              <a:rPr lang="en-US" sz="1250" dirty="0">
                <a:solidFill>
                  <a:srgbClr val="222B36"/>
                </a:solidFill>
                <a:latin typeface="Calibri" pitchFamily="34" charset="0"/>
                <a:ea typeface="Calibri" pitchFamily="34" charset="-122"/>
                <a:cs typeface="Calibri" pitchFamily="34" charset="-120"/>
              </a:rPr>
              <a:t>Draw a main branch for each big idea</a:t>
            </a:r>
            <a:endParaRPr lang="en-US" sz="1250" dirty="0"/>
          </a:p>
        </p:txBody>
      </p:sp>
      <p:sp>
        <p:nvSpPr>
          <p:cNvPr id="13" name="Shape 10"/>
          <p:cNvSpPr/>
          <p:nvPr/>
        </p:nvSpPr>
        <p:spPr>
          <a:xfrm>
            <a:off x="457200" y="3227832"/>
            <a:ext cx="329184" cy="329184"/>
          </a:xfrm>
          <a:prstGeom prst="ellipse">
            <a:avLst/>
          </a:prstGeom>
          <a:solidFill>
            <a:srgbClr val="D8641A"/>
          </a:solidFill>
          <a:ln/>
        </p:spPr>
        <p:txBody>
          <a:bodyPr/>
          <a:lstStyle/>
          <a:p>
            <a:endParaRPr lang="en-US"/>
          </a:p>
        </p:txBody>
      </p:sp>
      <p:sp>
        <p:nvSpPr>
          <p:cNvPr id="14" name="Text 11"/>
          <p:cNvSpPr txBox="1"/>
          <p:nvPr/>
        </p:nvSpPr>
        <p:spPr>
          <a:xfrm>
            <a:off x="457200" y="3227832"/>
            <a:ext cx="329184" cy="329184"/>
          </a:xfrm>
          <a:prstGeom prst="rect">
            <a:avLst/>
          </a:prstGeom>
          <a:noFill/>
          <a:ln/>
        </p:spPr>
        <p:txBody>
          <a:bodyPr wrap="square" lIns="0" tIns="0" rIns="0" bIns="0" rtlCol="0" anchor="ctr"/>
          <a:lstStyle/>
          <a:p>
            <a:pPr marL="0" indent="0" algn="ctr">
              <a:buNone/>
            </a:pPr>
            <a:r>
              <a:rPr lang="en-US" sz="1296" b="1" dirty="0">
                <a:solidFill>
                  <a:srgbClr val="FFFFFF"/>
                </a:solidFill>
                <a:latin typeface="Calibri" pitchFamily="34" charset="0"/>
                <a:ea typeface="Calibri" pitchFamily="34" charset="-122"/>
                <a:cs typeface="Calibri" pitchFamily="34" charset="-120"/>
              </a:rPr>
              <a:t>3</a:t>
            </a:r>
            <a:endParaRPr lang="en-US" sz="1296" dirty="0"/>
          </a:p>
        </p:txBody>
      </p:sp>
      <p:sp>
        <p:nvSpPr>
          <p:cNvPr id="15" name="Text 12"/>
          <p:cNvSpPr txBox="1"/>
          <p:nvPr/>
        </p:nvSpPr>
        <p:spPr>
          <a:xfrm>
            <a:off x="914400" y="3191256"/>
            <a:ext cx="3108960" cy="457200"/>
          </a:xfrm>
          <a:prstGeom prst="rect">
            <a:avLst/>
          </a:prstGeom>
          <a:noFill/>
          <a:ln/>
        </p:spPr>
        <p:txBody>
          <a:bodyPr wrap="square" lIns="0" tIns="0" rIns="0" bIns="0" rtlCol="0" anchor="ctr"/>
          <a:lstStyle/>
          <a:p>
            <a:pPr marL="0" indent="0">
              <a:buNone/>
            </a:pPr>
            <a:r>
              <a:rPr lang="en-US" sz="1250" dirty="0">
                <a:solidFill>
                  <a:srgbClr val="222B36"/>
                </a:solidFill>
                <a:latin typeface="Calibri" pitchFamily="34" charset="0"/>
                <a:ea typeface="Calibri" pitchFamily="34" charset="-122"/>
                <a:cs typeface="Calibri" pitchFamily="34" charset="-120"/>
              </a:rPr>
              <a:t>Add sub-branches with key words only</a:t>
            </a:r>
            <a:endParaRPr lang="en-US" sz="1250" dirty="0"/>
          </a:p>
        </p:txBody>
      </p:sp>
      <p:sp>
        <p:nvSpPr>
          <p:cNvPr id="16" name="Shape 13"/>
          <p:cNvSpPr/>
          <p:nvPr/>
        </p:nvSpPr>
        <p:spPr>
          <a:xfrm>
            <a:off x="457200" y="3794760"/>
            <a:ext cx="329184" cy="329184"/>
          </a:xfrm>
          <a:prstGeom prst="ellipse">
            <a:avLst/>
          </a:prstGeom>
          <a:solidFill>
            <a:srgbClr val="4472C4"/>
          </a:solidFill>
          <a:ln/>
        </p:spPr>
        <p:txBody>
          <a:bodyPr/>
          <a:lstStyle/>
          <a:p>
            <a:endParaRPr lang="en-US"/>
          </a:p>
        </p:txBody>
      </p:sp>
      <p:sp>
        <p:nvSpPr>
          <p:cNvPr id="17" name="Text 14"/>
          <p:cNvSpPr txBox="1"/>
          <p:nvPr/>
        </p:nvSpPr>
        <p:spPr>
          <a:xfrm>
            <a:off x="457200" y="3794760"/>
            <a:ext cx="329184" cy="329184"/>
          </a:xfrm>
          <a:prstGeom prst="rect">
            <a:avLst/>
          </a:prstGeom>
          <a:noFill/>
          <a:ln/>
        </p:spPr>
        <p:txBody>
          <a:bodyPr wrap="square" lIns="0" tIns="0" rIns="0" bIns="0" rtlCol="0" anchor="ctr"/>
          <a:lstStyle/>
          <a:p>
            <a:pPr marL="0" indent="0" algn="ctr">
              <a:buNone/>
            </a:pPr>
            <a:r>
              <a:rPr lang="en-US" sz="1296" b="1" dirty="0">
                <a:solidFill>
                  <a:srgbClr val="FFFFFF"/>
                </a:solidFill>
                <a:latin typeface="Calibri" pitchFamily="34" charset="0"/>
                <a:ea typeface="Calibri" pitchFamily="34" charset="-122"/>
                <a:cs typeface="Calibri" pitchFamily="34" charset="-120"/>
              </a:rPr>
              <a:t>4</a:t>
            </a:r>
            <a:endParaRPr lang="en-US" sz="1296" dirty="0"/>
          </a:p>
        </p:txBody>
      </p:sp>
      <p:sp>
        <p:nvSpPr>
          <p:cNvPr id="18" name="Text 15"/>
          <p:cNvSpPr txBox="1"/>
          <p:nvPr/>
        </p:nvSpPr>
        <p:spPr>
          <a:xfrm>
            <a:off x="914400" y="3758184"/>
            <a:ext cx="3108960" cy="457200"/>
          </a:xfrm>
          <a:prstGeom prst="rect">
            <a:avLst/>
          </a:prstGeom>
          <a:noFill/>
          <a:ln/>
        </p:spPr>
        <p:txBody>
          <a:bodyPr wrap="square" lIns="0" tIns="0" rIns="0" bIns="0" rtlCol="0" anchor="ctr"/>
          <a:lstStyle/>
          <a:p>
            <a:pPr marL="0" indent="0">
              <a:buNone/>
            </a:pPr>
            <a:r>
              <a:rPr lang="en-US" sz="1250" dirty="0">
                <a:solidFill>
                  <a:srgbClr val="222B36"/>
                </a:solidFill>
                <a:latin typeface="Calibri" pitchFamily="34" charset="0"/>
                <a:ea typeface="Calibri" pitchFamily="34" charset="-122"/>
                <a:cs typeface="Calibri" pitchFamily="34" charset="-120"/>
              </a:rPr>
              <a:t>Use colors, symbols and small images</a:t>
            </a:r>
            <a:endParaRPr lang="en-US" sz="1250" dirty="0"/>
          </a:p>
        </p:txBody>
      </p:sp>
      <p:sp>
        <p:nvSpPr>
          <p:cNvPr id="19" name="Shape 16"/>
          <p:cNvSpPr/>
          <p:nvPr/>
        </p:nvSpPr>
        <p:spPr>
          <a:xfrm>
            <a:off x="457200" y="4389120"/>
            <a:ext cx="3566160" cy="384048"/>
          </a:xfrm>
          <a:prstGeom prst="roundRect">
            <a:avLst>
              <a:gd name="adj" fmla="val 19048"/>
            </a:avLst>
          </a:prstGeom>
          <a:solidFill>
            <a:srgbClr val="FFF2CC"/>
          </a:solidFill>
          <a:ln/>
        </p:spPr>
        <p:txBody>
          <a:bodyPr/>
          <a:lstStyle/>
          <a:p>
            <a:endParaRPr lang="en-US"/>
          </a:p>
        </p:txBody>
      </p:sp>
      <p:sp>
        <p:nvSpPr>
          <p:cNvPr id="20" name="Text 17"/>
          <p:cNvSpPr txBox="1"/>
          <p:nvPr/>
        </p:nvSpPr>
        <p:spPr>
          <a:xfrm>
            <a:off x="457200" y="4389120"/>
            <a:ext cx="3566160" cy="384048"/>
          </a:xfrm>
          <a:prstGeom prst="rect">
            <a:avLst/>
          </a:prstGeom>
          <a:noFill/>
          <a:ln/>
        </p:spPr>
        <p:txBody>
          <a:bodyPr wrap="square" lIns="0" tIns="0" rIns="0" bIns="0" rtlCol="0" anchor="ctr"/>
          <a:lstStyle/>
          <a:p>
            <a:pPr marL="0" indent="0" algn="ctr">
              <a:buNone/>
            </a:pPr>
            <a:r>
              <a:rPr lang="en-US" sz="1150" b="1" dirty="0">
                <a:solidFill>
                  <a:srgbClr val="222B36"/>
                </a:solidFill>
                <a:latin typeface="Calibri" pitchFamily="34" charset="0"/>
                <a:ea typeface="Calibri" pitchFamily="34" charset="-122"/>
                <a:cs typeface="Calibri" pitchFamily="34" charset="-120"/>
              </a:rPr>
              <a:t>Best for: brainstorming, revision, seeing links</a:t>
            </a:r>
            <a:endParaRPr lang="en-US" sz="1150" dirty="0"/>
          </a:p>
        </p:txBody>
      </p:sp>
      <p:sp>
        <p:nvSpPr>
          <p:cNvPr id="21" name="Shape 18"/>
          <p:cNvSpPr/>
          <p:nvPr/>
        </p:nvSpPr>
        <p:spPr>
          <a:xfrm>
            <a:off x="4206240" y="1234440"/>
            <a:ext cx="4480560" cy="3520440"/>
          </a:xfrm>
          <a:prstGeom prst="roundRect">
            <a:avLst>
              <a:gd name="adj" fmla="val 2078"/>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22" name="Shape 19"/>
          <p:cNvSpPr/>
          <p:nvPr/>
        </p:nvSpPr>
        <p:spPr>
          <a:xfrm>
            <a:off x="5257800" y="1691640"/>
            <a:ext cx="1188720" cy="1234440"/>
          </a:xfrm>
          <a:prstGeom prst="line">
            <a:avLst/>
          </a:prstGeom>
          <a:noFill/>
          <a:ln w="38100">
            <a:solidFill>
              <a:srgbClr val="D8641A"/>
            </a:solidFill>
            <a:prstDash val="solid"/>
          </a:ln>
        </p:spPr>
        <p:txBody>
          <a:bodyPr/>
          <a:lstStyle/>
          <a:p>
            <a:endParaRPr lang="en-US"/>
          </a:p>
        </p:txBody>
      </p:sp>
      <p:sp>
        <p:nvSpPr>
          <p:cNvPr id="23" name="Shape 20"/>
          <p:cNvSpPr/>
          <p:nvPr/>
        </p:nvSpPr>
        <p:spPr>
          <a:xfrm flipV="1">
            <a:off x="6446520" y="1691640"/>
            <a:ext cx="1234440" cy="1234440"/>
          </a:xfrm>
          <a:prstGeom prst="line">
            <a:avLst/>
          </a:prstGeom>
          <a:noFill/>
          <a:ln w="38100">
            <a:solidFill>
              <a:srgbClr val="4472C4"/>
            </a:solidFill>
            <a:prstDash val="solid"/>
          </a:ln>
        </p:spPr>
        <p:txBody>
          <a:bodyPr/>
          <a:lstStyle/>
          <a:p>
            <a:endParaRPr lang="en-US"/>
          </a:p>
        </p:txBody>
      </p:sp>
      <p:sp>
        <p:nvSpPr>
          <p:cNvPr id="24" name="Shape 21"/>
          <p:cNvSpPr/>
          <p:nvPr/>
        </p:nvSpPr>
        <p:spPr>
          <a:xfrm flipV="1">
            <a:off x="5257800" y="2926080"/>
            <a:ext cx="1188720" cy="1234440"/>
          </a:xfrm>
          <a:prstGeom prst="line">
            <a:avLst/>
          </a:prstGeom>
          <a:noFill/>
          <a:ln w="38100">
            <a:solidFill>
              <a:srgbClr val="FFC000"/>
            </a:solidFill>
            <a:prstDash val="solid"/>
          </a:ln>
        </p:spPr>
        <p:txBody>
          <a:bodyPr/>
          <a:lstStyle/>
          <a:p>
            <a:endParaRPr lang="en-US"/>
          </a:p>
        </p:txBody>
      </p:sp>
      <p:sp>
        <p:nvSpPr>
          <p:cNvPr id="25" name="Shape 22"/>
          <p:cNvSpPr/>
          <p:nvPr/>
        </p:nvSpPr>
        <p:spPr>
          <a:xfrm>
            <a:off x="6446520" y="2926080"/>
            <a:ext cx="1234440" cy="1234440"/>
          </a:xfrm>
          <a:prstGeom prst="line">
            <a:avLst/>
          </a:prstGeom>
          <a:noFill/>
          <a:ln w="38100">
            <a:solidFill>
              <a:srgbClr val="4E8A2E"/>
            </a:solidFill>
            <a:prstDash val="solid"/>
          </a:ln>
        </p:spPr>
        <p:txBody>
          <a:bodyPr/>
          <a:lstStyle/>
          <a:p>
            <a:endParaRPr lang="en-US"/>
          </a:p>
        </p:txBody>
      </p:sp>
      <p:sp>
        <p:nvSpPr>
          <p:cNvPr id="26" name="Shape 23"/>
          <p:cNvSpPr/>
          <p:nvPr/>
        </p:nvSpPr>
        <p:spPr>
          <a:xfrm>
            <a:off x="5669280" y="2514600"/>
            <a:ext cx="1554480" cy="822960"/>
          </a:xfrm>
          <a:prstGeom prst="ellipse">
            <a:avLst/>
          </a:prstGeom>
          <a:solidFill>
            <a:srgbClr val="44546A"/>
          </a:solidFill>
          <a:ln/>
        </p:spPr>
        <p:txBody>
          <a:bodyPr/>
          <a:lstStyle/>
          <a:p>
            <a:endParaRPr lang="en-US"/>
          </a:p>
        </p:txBody>
      </p:sp>
      <p:sp>
        <p:nvSpPr>
          <p:cNvPr id="27" name="Text 24"/>
          <p:cNvSpPr txBox="1"/>
          <p:nvPr/>
        </p:nvSpPr>
        <p:spPr>
          <a:xfrm>
            <a:off x="5669280" y="2514600"/>
            <a:ext cx="1554480" cy="8229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Active</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listening</a:t>
            </a:r>
            <a:endParaRPr lang="en-US" sz="1300" dirty="0"/>
          </a:p>
        </p:txBody>
      </p:sp>
      <p:sp>
        <p:nvSpPr>
          <p:cNvPr id="28" name="Shape 25"/>
          <p:cNvSpPr/>
          <p:nvPr/>
        </p:nvSpPr>
        <p:spPr>
          <a:xfrm>
            <a:off x="4480560" y="1399032"/>
            <a:ext cx="1554480" cy="585216"/>
          </a:xfrm>
          <a:prstGeom prst="roundRect">
            <a:avLst>
              <a:gd name="adj" fmla="val 18750"/>
            </a:avLst>
          </a:prstGeom>
          <a:solidFill>
            <a:srgbClr val="D8641A"/>
          </a:solidFill>
          <a:ln/>
        </p:spPr>
        <p:txBody>
          <a:bodyPr/>
          <a:lstStyle/>
          <a:p>
            <a:endParaRPr lang="en-US"/>
          </a:p>
        </p:txBody>
      </p:sp>
      <p:sp>
        <p:nvSpPr>
          <p:cNvPr id="29" name="Text 26"/>
          <p:cNvSpPr txBox="1"/>
          <p:nvPr/>
        </p:nvSpPr>
        <p:spPr>
          <a:xfrm>
            <a:off x="4480560" y="1399032"/>
            <a:ext cx="1554480" cy="58521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Eye contact</a:t>
            </a:r>
            <a:endParaRPr lang="en-US" sz="1300" dirty="0"/>
          </a:p>
          <a:p>
            <a:pPr marL="0" indent="0" algn="ctr">
              <a:buNone/>
            </a:pPr>
            <a:r>
              <a:rPr lang="en-US" sz="950" dirty="0">
                <a:solidFill>
                  <a:srgbClr val="FFFFFF"/>
                </a:solidFill>
                <a:latin typeface="Calibri" pitchFamily="34" charset="0"/>
                <a:ea typeface="Calibri" pitchFamily="34" charset="-122"/>
                <a:cs typeface="Calibri" pitchFamily="34" charset="-120"/>
              </a:rPr>
              <a:t>50/70 rule</a:t>
            </a:r>
            <a:endParaRPr lang="en-US" sz="1300" dirty="0"/>
          </a:p>
        </p:txBody>
      </p:sp>
      <p:sp>
        <p:nvSpPr>
          <p:cNvPr id="30" name="Shape 27"/>
          <p:cNvSpPr/>
          <p:nvPr/>
        </p:nvSpPr>
        <p:spPr>
          <a:xfrm>
            <a:off x="6903720" y="1399032"/>
            <a:ext cx="1554480" cy="585216"/>
          </a:xfrm>
          <a:prstGeom prst="roundRect">
            <a:avLst>
              <a:gd name="adj" fmla="val 18750"/>
            </a:avLst>
          </a:prstGeom>
          <a:solidFill>
            <a:srgbClr val="4472C4"/>
          </a:solidFill>
          <a:ln/>
        </p:spPr>
        <p:txBody>
          <a:bodyPr/>
          <a:lstStyle/>
          <a:p>
            <a:endParaRPr lang="en-US"/>
          </a:p>
        </p:txBody>
      </p:sp>
      <p:sp>
        <p:nvSpPr>
          <p:cNvPr id="31" name="Text 28"/>
          <p:cNvSpPr txBox="1"/>
          <p:nvPr/>
        </p:nvSpPr>
        <p:spPr>
          <a:xfrm>
            <a:off x="6903720" y="1399032"/>
            <a:ext cx="1554480" cy="58521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Nodding</a:t>
            </a:r>
            <a:endParaRPr lang="en-US" sz="1300" dirty="0"/>
          </a:p>
          <a:p>
            <a:pPr marL="0" indent="0" algn="ctr">
              <a:buNone/>
            </a:pPr>
            <a:r>
              <a:rPr lang="en-US" sz="950" dirty="0">
                <a:solidFill>
                  <a:srgbClr val="FFFFFF"/>
                </a:solidFill>
                <a:latin typeface="Calibri" pitchFamily="34" charset="0"/>
                <a:ea typeface="Calibri" pitchFamily="34" charset="-122"/>
                <a:cs typeface="Calibri" pitchFamily="34" charset="-120"/>
              </a:rPr>
              <a:t>"I see" · "Yes"</a:t>
            </a:r>
            <a:endParaRPr lang="en-US" sz="1300" dirty="0"/>
          </a:p>
        </p:txBody>
      </p:sp>
      <p:sp>
        <p:nvSpPr>
          <p:cNvPr id="32" name="Shape 29"/>
          <p:cNvSpPr/>
          <p:nvPr/>
        </p:nvSpPr>
        <p:spPr>
          <a:xfrm>
            <a:off x="4480560" y="3867912"/>
            <a:ext cx="1554480" cy="585216"/>
          </a:xfrm>
          <a:prstGeom prst="roundRect">
            <a:avLst>
              <a:gd name="adj" fmla="val 18750"/>
            </a:avLst>
          </a:prstGeom>
          <a:solidFill>
            <a:srgbClr val="FFC000"/>
          </a:solidFill>
          <a:ln/>
        </p:spPr>
        <p:txBody>
          <a:bodyPr/>
          <a:lstStyle/>
          <a:p>
            <a:endParaRPr lang="en-US"/>
          </a:p>
        </p:txBody>
      </p:sp>
      <p:sp>
        <p:nvSpPr>
          <p:cNvPr id="33" name="Text 30"/>
          <p:cNvSpPr txBox="1"/>
          <p:nvPr/>
        </p:nvSpPr>
        <p:spPr>
          <a:xfrm>
            <a:off x="4480560" y="3867912"/>
            <a:ext cx="1554480" cy="585216"/>
          </a:xfrm>
          <a:prstGeom prst="rect">
            <a:avLst/>
          </a:prstGeom>
          <a:noFill/>
          <a:ln/>
        </p:spPr>
        <p:txBody>
          <a:bodyPr wrap="square" lIns="0" tIns="0" rIns="0" bIns="0" rtlCol="0" anchor="ctr"/>
          <a:lstStyle/>
          <a:p>
            <a:pPr marL="0" indent="0" algn="ctr">
              <a:buNone/>
            </a:pPr>
            <a:r>
              <a:rPr lang="en-US" sz="1200" b="1" dirty="0">
                <a:solidFill>
                  <a:srgbClr val="44546A"/>
                </a:solidFill>
                <a:latin typeface="Calibri" pitchFamily="34" charset="0"/>
                <a:ea typeface="Calibri" pitchFamily="34" charset="-122"/>
                <a:cs typeface="Calibri" pitchFamily="34" charset="-120"/>
              </a:rPr>
              <a:t>Clarifying Qs</a:t>
            </a:r>
            <a:endParaRPr lang="en-US" sz="1300" dirty="0"/>
          </a:p>
          <a:p>
            <a:pPr marL="0" indent="0" algn="ctr">
              <a:buNone/>
            </a:pPr>
            <a:r>
              <a:rPr lang="en-US" sz="950" dirty="0">
                <a:solidFill>
                  <a:srgbClr val="44546A"/>
                </a:solidFill>
                <a:latin typeface="Calibri" pitchFamily="34" charset="0"/>
                <a:ea typeface="Calibri" pitchFamily="34" charset="-122"/>
                <a:cs typeface="Calibri" pitchFamily="34" charset="-120"/>
              </a:rPr>
              <a:t>confirm · detail</a:t>
            </a:r>
            <a:endParaRPr lang="en-US" sz="1300" dirty="0"/>
          </a:p>
        </p:txBody>
      </p:sp>
      <p:sp>
        <p:nvSpPr>
          <p:cNvPr id="34" name="Shape 31"/>
          <p:cNvSpPr/>
          <p:nvPr/>
        </p:nvSpPr>
        <p:spPr>
          <a:xfrm>
            <a:off x="6903720" y="3867912"/>
            <a:ext cx="1554480" cy="585216"/>
          </a:xfrm>
          <a:prstGeom prst="roundRect">
            <a:avLst>
              <a:gd name="adj" fmla="val 18750"/>
            </a:avLst>
          </a:prstGeom>
          <a:solidFill>
            <a:srgbClr val="4E8A2E"/>
          </a:solidFill>
          <a:ln/>
        </p:spPr>
        <p:txBody>
          <a:bodyPr/>
          <a:lstStyle/>
          <a:p>
            <a:endParaRPr lang="en-US"/>
          </a:p>
        </p:txBody>
      </p:sp>
      <p:sp>
        <p:nvSpPr>
          <p:cNvPr id="35" name="Text 32"/>
          <p:cNvSpPr txBox="1"/>
          <p:nvPr/>
        </p:nvSpPr>
        <p:spPr>
          <a:xfrm>
            <a:off x="6903720" y="3867912"/>
            <a:ext cx="1554480" cy="58521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Focus</a:t>
            </a:r>
            <a:endParaRPr lang="en-US" sz="1300" dirty="0"/>
          </a:p>
          <a:p>
            <a:pPr marL="0" indent="0" algn="ctr">
              <a:buNone/>
            </a:pPr>
            <a:r>
              <a:rPr lang="en-US" sz="950" dirty="0">
                <a:solidFill>
                  <a:srgbClr val="FFFFFF"/>
                </a:solidFill>
                <a:latin typeface="Calibri" pitchFamily="34" charset="0"/>
                <a:ea typeface="Calibri" pitchFamily="34" charset="-122"/>
                <a:cs typeface="Calibri" pitchFamily="34" charset="-120"/>
              </a:rPr>
              <a:t>phone away · front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SYSTEM 4 · SKETCHNOTING</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Sketchnoting: notes with pictures</a:t>
            </a:r>
            <a:endParaRPr lang="en-US" sz="3000" dirty="0"/>
          </a:p>
        </p:txBody>
      </p:sp>
      <p:sp>
        <p:nvSpPr>
          <p:cNvPr id="6" name="Shape 3"/>
          <p:cNvSpPr/>
          <p:nvPr/>
        </p:nvSpPr>
        <p:spPr>
          <a:xfrm>
            <a:off x="457200" y="1280160"/>
            <a:ext cx="457200" cy="457200"/>
          </a:xfrm>
          <a:prstGeom prst="ellipse">
            <a:avLst/>
          </a:prstGeom>
          <a:solidFill>
            <a:srgbClr val="D8641A"/>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571500" y="1394460"/>
            <a:ext cx="228600" cy="228600"/>
          </a:xfrm>
          <a:prstGeom prst="rect">
            <a:avLst/>
          </a:prstGeom>
        </p:spPr>
      </p:pic>
      <p:sp>
        <p:nvSpPr>
          <p:cNvPr id="8" name="Text 4"/>
          <p:cNvSpPr txBox="1"/>
          <p:nvPr/>
        </p:nvSpPr>
        <p:spPr>
          <a:xfrm>
            <a:off x="1051560" y="1261872"/>
            <a:ext cx="2926080" cy="246888"/>
          </a:xfrm>
          <a:prstGeom prst="rect">
            <a:avLst/>
          </a:prstGeom>
          <a:noFill/>
          <a:ln/>
        </p:spPr>
        <p:txBody>
          <a:bodyPr wrap="square" lIns="0" tIns="0" rIns="0" bIns="0" rtlCol="0" anchor="t"/>
          <a:lstStyle/>
          <a:p>
            <a:pPr marL="0" indent="0">
              <a:buNone/>
            </a:pPr>
            <a:r>
              <a:rPr lang="en-US" sz="1300" b="1" dirty="0">
                <a:solidFill>
                  <a:srgbClr val="44546A"/>
                </a:solidFill>
                <a:latin typeface="Calibri" pitchFamily="34" charset="0"/>
                <a:ea typeface="Calibri" pitchFamily="34" charset="-122"/>
                <a:cs typeface="Calibri" pitchFamily="34" charset="-120"/>
              </a:rPr>
              <a:t>Doodles and icons</a:t>
            </a:r>
            <a:endParaRPr lang="en-US" sz="1300" dirty="0"/>
          </a:p>
        </p:txBody>
      </p:sp>
      <p:sp>
        <p:nvSpPr>
          <p:cNvPr id="9" name="Text 5"/>
          <p:cNvSpPr txBox="1"/>
          <p:nvPr/>
        </p:nvSpPr>
        <p:spPr>
          <a:xfrm>
            <a:off x="1051560" y="1508760"/>
            <a:ext cx="2926080" cy="246888"/>
          </a:xfrm>
          <a:prstGeom prst="rect">
            <a:avLst/>
          </a:prstGeom>
          <a:noFill/>
          <a:ln/>
        </p:spPr>
        <p:txBody>
          <a:bodyPr wrap="square" lIns="0" tIns="0" rIns="0" bIns="0" rtlCol="0" anchor="t"/>
          <a:lstStyle/>
          <a:p>
            <a:pPr marL="0" indent="0">
              <a:buNone/>
            </a:pPr>
            <a:r>
              <a:rPr lang="en-US" sz="1100" dirty="0">
                <a:solidFill>
                  <a:srgbClr val="66758A"/>
                </a:solidFill>
                <a:latin typeface="Calibri" pitchFamily="34" charset="0"/>
                <a:ea typeface="Calibri" pitchFamily="34" charset="-122"/>
                <a:cs typeface="Calibri" pitchFamily="34" charset="-120"/>
              </a:rPr>
              <a:t>a moon for sleep, a bulb for an idea</a:t>
            </a:r>
            <a:endParaRPr lang="en-US" sz="1100" dirty="0"/>
          </a:p>
        </p:txBody>
      </p:sp>
      <p:sp>
        <p:nvSpPr>
          <p:cNvPr id="10" name="Shape 6"/>
          <p:cNvSpPr/>
          <p:nvPr/>
        </p:nvSpPr>
        <p:spPr>
          <a:xfrm>
            <a:off x="457200" y="1883664"/>
            <a:ext cx="457200" cy="457200"/>
          </a:xfrm>
          <a:prstGeom prst="ellipse">
            <a:avLst/>
          </a:prstGeom>
          <a:solidFill>
            <a:srgbClr val="4472C4"/>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571500" y="1997964"/>
            <a:ext cx="228600" cy="228600"/>
          </a:xfrm>
          <a:prstGeom prst="rect">
            <a:avLst/>
          </a:prstGeom>
        </p:spPr>
      </p:pic>
      <p:sp>
        <p:nvSpPr>
          <p:cNvPr id="12" name="Text 7"/>
          <p:cNvSpPr txBox="1"/>
          <p:nvPr/>
        </p:nvSpPr>
        <p:spPr>
          <a:xfrm>
            <a:off x="1051560" y="1865376"/>
            <a:ext cx="2926080" cy="246888"/>
          </a:xfrm>
          <a:prstGeom prst="rect">
            <a:avLst/>
          </a:prstGeom>
          <a:noFill/>
          <a:ln/>
        </p:spPr>
        <p:txBody>
          <a:bodyPr wrap="square" lIns="0" tIns="0" rIns="0" bIns="0" rtlCol="0" anchor="t"/>
          <a:lstStyle/>
          <a:p>
            <a:pPr marL="0" indent="0">
              <a:buNone/>
            </a:pPr>
            <a:r>
              <a:rPr lang="en-US" sz="1300" b="1" dirty="0">
                <a:solidFill>
                  <a:srgbClr val="44546A"/>
                </a:solidFill>
                <a:latin typeface="Calibri" pitchFamily="34" charset="0"/>
                <a:ea typeface="Calibri" pitchFamily="34" charset="-122"/>
                <a:cs typeface="Calibri" pitchFamily="34" charset="-120"/>
              </a:rPr>
              <a:t>Containers</a:t>
            </a:r>
            <a:endParaRPr lang="en-US" sz="1300" dirty="0"/>
          </a:p>
        </p:txBody>
      </p:sp>
      <p:sp>
        <p:nvSpPr>
          <p:cNvPr id="13" name="Text 8"/>
          <p:cNvSpPr txBox="1"/>
          <p:nvPr/>
        </p:nvSpPr>
        <p:spPr>
          <a:xfrm>
            <a:off x="1051560" y="2112264"/>
            <a:ext cx="2926080" cy="246888"/>
          </a:xfrm>
          <a:prstGeom prst="rect">
            <a:avLst/>
          </a:prstGeom>
          <a:noFill/>
          <a:ln/>
        </p:spPr>
        <p:txBody>
          <a:bodyPr wrap="square" lIns="0" tIns="0" rIns="0" bIns="0" rtlCol="0" anchor="t"/>
          <a:lstStyle/>
          <a:p>
            <a:pPr marL="0" indent="0">
              <a:buNone/>
            </a:pPr>
            <a:r>
              <a:rPr lang="en-US" sz="1100" dirty="0">
                <a:solidFill>
                  <a:srgbClr val="66758A"/>
                </a:solidFill>
                <a:latin typeface="Calibri" pitchFamily="34" charset="0"/>
                <a:ea typeface="Calibri" pitchFamily="34" charset="-122"/>
                <a:cs typeface="Calibri" pitchFamily="34" charset="-120"/>
              </a:rPr>
              <a:t>boxes, banners, clouds around key ideas</a:t>
            </a:r>
            <a:endParaRPr lang="en-US" sz="1100" dirty="0"/>
          </a:p>
        </p:txBody>
      </p:sp>
      <p:sp>
        <p:nvSpPr>
          <p:cNvPr id="14" name="Shape 9"/>
          <p:cNvSpPr/>
          <p:nvPr/>
        </p:nvSpPr>
        <p:spPr>
          <a:xfrm>
            <a:off x="457200" y="2487168"/>
            <a:ext cx="457200" cy="457200"/>
          </a:xfrm>
          <a:prstGeom prst="ellipse">
            <a:avLst/>
          </a:prstGeom>
          <a:solidFill>
            <a:srgbClr val="D8641A"/>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571500" y="2601468"/>
            <a:ext cx="228600" cy="228600"/>
          </a:xfrm>
          <a:prstGeom prst="rect">
            <a:avLst/>
          </a:prstGeom>
        </p:spPr>
      </p:pic>
      <p:sp>
        <p:nvSpPr>
          <p:cNvPr id="16" name="Text 10"/>
          <p:cNvSpPr txBox="1"/>
          <p:nvPr/>
        </p:nvSpPr>
        <p:spPr>
          <a:xfrm>
            <a:off x="1051560" y="2468880"/>
            <a:ext cx="2926080" cy="246888"/>
          </a:xfrm>
          <a:prstGeom prst="rect">
            <a:avLst/>
          </a:prstGeom>
          <a:noFill/>
          <a:ln/>
        </p:spPr>
        <p:txBody>
          <a:bodyPr wrap="square" lIns="0" tIns="0" rIns="0" bIns="0" rtlCol="0" anchor="t"/>
          <a:lstStyle/>
          <a:p>
            <a:pPr marL="0" indent="0">
              <a:buNone/>
            </a:pPr>
            <a:r>
              <a:rPr lang="en-US" sz="1300" b="1" dirty="0">
                <a:solidFill>
                  <a:srgbClr val="44546A"/>
                </a:solidFill>
                <a:latin typeface="Calibri" pitchFamily="34" charset="0"/>
                <a:ea typeface="Calibri" pitchFamily="34" charset="-122"/>
                <a:cs typeface="Calibri" pitchFamily="34" charset="-120"/>
              </a:rPr>
              <a:t>Connectors</a:t>
            </a:r>
            <a:endParaRPr lang="en-US" sz="1300" dirty="0"/>
          </a:p>
        </p:txBody>
      </p:sp>
      <p:sp>
        <p:nvSpPr>
          <p:cNvPr id="17" name="Text 11"/>
          <p:cNvSpPr txBox="1"/>
          <p:nvPr/>
        </p:nvSpPr>
        <p:spPr>
          <a:xfrm>
            <a:off x="1051560" y="2715768"/>
            <a:ext cx="2926080" cy="246888"/>
          </a:xfrm>
          <a:prstGeom prst="rect">
            <a:avLst/>
          </a:prstGeom>
          <a:noFill/>
          <a:ln/>
        </p:spPr>
        <p:txBody>
          <a:bodyPr wrap="square" lIns="0" tIns="0" rIns="0" bIns="0" rtlCol="0" anchor="t"/>
          <a:lstStyle/>
          <a:p>
            <a:pPr marL="0" indent="0">
              <a:buNone/>
            </a:pPr>
            <a:r>
              <a:rPr lang="en-US" sz="1100" dirty="0">
                <a:solidFill>
                  <a:srgbClr val="66758A"/>
                </a:solidFill>
                <a:latin typeface="Calibri" pitchFamily="34" charset="0"/>
                <a:ea typeface="Calibri" pitchFamily="34" charset="-122"/>
                <a:cs typeface="Calibri" pitchFamily="34" charset="-120"/>
              </a:rPr>
              <a:t>arrows show cause and effect</a:t>
            </a:r>
            <a:endParaRPr lang="en-US" sz="1100" dirty="0"/>
          </a:p>
        </p:txBody>
      </p:sp>
      <p:sp>
        <p:nvSpPr>
          <p:cNvPr id="18" name="Shape 12"/>
          <p:cNvSpPr/>
          <p:nvPr/>
        </p:nvSpPr>
        <p:spPr>
          <a:xfrm>
            <a:off x="457200" y="3090672"/>
            <a:ext cx="457200" cy="457200"/>
          </a:xfrm>
          <a:prstGeom prst="ellipse">
            <a:avLst/>
          </a:prstGeom>
          <a:solidFill>
            <a:srgbClr val="4472C4"/>
          </a:solidFill>
          <a:ln/>
        </p:spPr>
        <p:txBody>
          <a:bodyPr/>
          <a:lstStyle/>
          <a:p>
            <a:endParaRPr lang="en-US"/>
          </a:p>
        </p:txBody>
      </p:sp>
      <p:pic>
        <p:nvPicPr>
          <p:cNvPr id="19" name="Image 3" descr="preencoded.png"/>
          <p:cNvPicPr>
            <a:picLocks noChangeAspect="1"/>
          </p:cNvPicPr>
          <p:nvPr/>
        </p:nvPicPr>
        <p:blipFill>
          <a:blip r:embed="rId6"/>
          <a:stretch>
            <a:fillRect/>
          </a:stretch>
        </p:blipFill>
        <p:spPr>
          <a:xfrm>
            <a:off x="571500" y="3204972"/>
            <a:ext cx="228600" cy="228600"/>
          </a:xfrm>
          <a:prstGeom prst="rect">
            <a:avLst/>
          </a:prstGeom>
        </p:spPr>
      </p:pic>
      <p:sp>
        <p:nvSpPr>
          <p:cNvPr id="20" name="Text 13"/>
          <p:cNvSpPr txBox="1"/>
          <p:nvPr/>
        </p:nvSpPr>
        <p:spPr>
          <a:xfrm>
            <a:off x="1051560" y="3072384"/>
            <a:ext cx="2926080" cy="246888"/>
          </a:xfrm>
          <a:prstGeom prst="rect">
            <a:avLst/>
          </a:prstGeom>
          <a:noFill/>
          <a:ln/>
        </p:spPr>
        <p:txBody>
          <a:bodyPr wrap="square" lIns="0" tIns="0" rIns="0" bIns="0" rtlCol="0" anchor="t"/>
          <a:lstStyle/>
          <a:p>
            <a:pPr marL="0" indent="0">
              <a:buNone/>
            </a:pPr>
            <a:r>
              <a:rPr lang="en-US" sz="1300" b="1" dirty="0">
                <a:solidFill>
                  <a:srgbClr val="44546A"/>
                </a:solidFill>
                <a:latin typeface="Calibri" pitchFamily="34" charset="0"/>
                <a:ea typeface="Calibri" pitchFamily="34" charset="-122"/>
                <a:cs typeface="Calibri" pitchFamily="34" charset="-120"/>
              </a:rPr>
              <a:t>Lettering</a:t>
            </a:r>
            <a:endParaRPr lang="en-US" sz="1300" dirty="0"/>
          </a:p>
        </p:txBody>
      </p:sp>
      <p:sp>
        <p:nvSpPr>
          <p:cNvPr id="21" name="Text 14"/>
          <p:cNvSpPr txBox="1"/>
          <p:nvPr/>
        </p:nvSpPr>
        <p:spPr>
          <a:xfrm>
            <a:off x="1051560" y="3319272"/>
            <a:ext cx="2926080" cy="246888"/>
          </a:xfrm>
          <a:prstGeom prst="rect">
            <a:avLst/>
          </a:prstGeom>
          <a:noFill/>
          <a:ln/>
        </p:spPr>
        <p:txBody>
          <a:bodyPr wrap="square" lIns="0" tIns="0" rIns="0" bIns="0" rtlCol="0" anchor="t"/>
          <a:lstStyle/>
          <a:p>
            <a:pPr marL="0" indent="0">
              <a:buNone/>
            </a:pPr>
            <a:r>
              <a:rPr lang="en-US" sz="1100" dirty="0">
                <a:solidFill>
                  <a:srgbClr val="66758A"/>
                </a:solidFill>
                <a:latin typeface="Calibri" pitchFamily="34" charset="0"/>
                <a:ea typeface="Calibri" pitchFamily="34" charset="-122"/>
                <a:cs typeface="Calibri" pitchFamily="34" charset="-120"/>
              </a:rPr>
              <a:t>big headers, small body text</a:t>
            </a:r>
            <a:endParaRPr lang="en-US" sz="1100" dirty="0"/>
          </a:p>
        </p:txBody>
      </p:sp>
      <p:sp>
        <p:nvSpPr>
          <p:cNvPr id="22" name="Shape 15"/>
          <p:cNvSpPr/>
          <p:nvPr/>
        </p:nvSpPr>
        <p:spPr>
          <a:xfrm>
            <a:off x="457200" y="3694176"/>
            <a:ext cx="457200" cy="457200"/>
          </a:xfrm>
          <a:prstGeom prst="ellipse">
            <a:avLst/>
          </a:prstGeom>
          <a:solidFill>
            <a:srgbClr val="D8641A"/>
          </a:solidFill>
          <a:ln/>
        </p:spPr>
        <p:txBody>
          <a:bodyPr/>
          <a:lstStyle/>
          <a:p>
            <a:endParaRPr lang="en-US"/>
          </a:p>
        </p:txBody>
      </p:sp>
      <p:pic>
        <p:nvPicPr>
          <p:cNvPr id="23" name="Image 4" descr="preencoded.png"/>
          <p:cNvPicPr>
            <a:picLocks noChangeAspect="1"/>
          </p:cNvPicPr>
          <p:nvPr/>
        </p:nvPicPr>
        <p:blipFill>
          <a:blip r:embed="rId7"/>
          <a:stretch>
            <a:fillRect/>
          </a:stretch>
        </p:blipFill>
        <p:spPr>
          <a:xfrm>
            <a:off x="571500" y="3808476"/>
            <a:ext cx="228600" cy="228600"/>
          </a:xfrm>
          <a:prstGeom prst="rect">
            <a:avLst/>
          </a:prstGeom>
        </p:spPr>
      </p:pic>
      <p:sp>
        <p:nvSpPr>
          <p:cNvPr id="24" name="Text 16"/>
          <p:cNvSpPr txBox="1"/>
          <p:nvPr/>
        </p:nvSpPr>
        <p:spPr>
          <a:xfrm>
            <a:off x="1051560" y="3675888"/>
            <a:ext cx="2926080" cy="246888"/>
          </a:xfrm>
          <a:prstGeom prst="rect">
            <a:avLst/>
          </a:prstGeom>
          <a:noFill/>
          <a:ln/>
        </p:spPr>
        <p:txBody>
          <a:bodyPr wrap="square" lIns="0" tIns="0" rIns="0" bIns="0" rtlCol="0" anchor="t"/>
          <a:lstStyle/>
          <a:p>
            <a:pPr marL="0" indent="0">
              <a:buNone/>
            </a:pPr>
            <a:r>
              <a:rPr lang="en-US" sz="1300" b="1" dirty="0">
                <a:solidFill>
                  <a:srgbClr val="44546A"/>
                </a:solidFill>
                <a:latin typeface="Calibri" pitchFamily="34" charset="0"/>
                <a:ea typeface="Calibri" pitchFamily="34" charset="-122"/>
                <a:cs typeface="Calibri" pitchFamily="34" charset="-120"/>
              </a:rPr>
              <a:t>Dividers</a:t>
            </a:r>
            <a:endParaRPr lang="en-US" sz="1300" dirty="0"/>
          </a:p>
        </p:txBody>
      </p:sp>
      <p:sp>
        <p:nvSpPr>
          <p:cNvPr id="25" name="Text 17"/>
          <p:cNvSpPr txBox="1"/>
          <p:nvPr/>
        </p:nvSpPr>
        <p:spPr>
          <a:xfrm>
            <a:off x="1051560" y="3922776"/>
            <a:ext cx="2926080" cy="246888"/>
          </a:xfrm>
          <a:prstGeom prst="rect">
            <a:avLst/>
          </a:prstGeom>
          <a:noFill/>
          <a:ln/>
        </p:spPr>
        <p:txBody>
          <a:bodyPr wrap="square" lIns="0" tIns="0" rIns="0" bIns="0" rtlCol="0" anchor="t"/>
          <a:lstStyle/>
          <a:p>
            <a:pPr marL="0" indent="0">
              <a:buNone/>
            </a:pPr>
            <a:r>
              <a:rPr lang="en-US" sz="1100" dirty="0">
                <a:solidFill>
                  <a:srgbClr val="66758A"/>
                </a:solidFill>
                <a:latin typeface="Calibri" pitchFamily="34" charset="0"/>
                <a:ea typeface="Calibri" pitchFamily="34" charset="-122"/>
                <a:cs typeface="Calibri" pitchFamily="34" charset="-120"/>
              </a:rPr>
              <a:t>lines and bullets keep order</a:t>
            </a:r>
            <a:endParaRPr lang="en-US" sz="1100" dirty="0"/>
          </a:p>
        </p:txBody>
      </p:sp>
      <p:sp>
        <p:nvSpPr>
          <p:cNvPr id="26" name="Shape 18"/>
          <p:cNvSpPr/>
          <p:nvPr/>
        </p:nvSpPr>
        <p:spPr>
          <a:xfrm>
            <a:off x="457200" y="4343400"/>
            <a:ext cx="3657600" cy="384048"/>
          </a:xfrm>
          <a:prstGeom prst="roundRect">
            <a:avLst>
              <a:gd name="adj" fmla="val 19048"/>
            </a:avLst>
          </a:prstGeom>
          <a:solidFill>
            <a:srgbClr val="FFF2CC"/>
          </a:solidFill>
          <a:ln/>
        </p:spPr>
        <p:txBody>
          <a:bodyPr/>
          <a:lstStyle/>
          <a:p>
            <a:endParaRPr lang="en-US"/>
          </a:p>
        </p:txBody>
      </p:sp>
      <p:sp>
        <p:nvSpPr>
          <p:cNvPr id="27" name="Text 19"/>
          <p:cNvSpPr txBox="1"/>
          <p:nvPr/>
        </p:nvSpPr>
        <p:spPr>
          <a:xfrm>
            <a:off x="457200" y="4343400"/>
            <a:ext cx="3657600" cy="384048"/>
          </a:xfrm>
          <a:prstGeom prst="rect">
            <a:avLst/>
          </a:prstGeom>
          <a:noFill/>
          <a:ln/>
        </p:spPr>
        <p:txBody>
          <a:bodyPr wrap="square" lIns="0" tIns="0" rIns="0" bIns="0" rtlCol="0" anchor="ctr"/>
          <a:lstStyle/>
          <a:p>
            <a:pPr marL="0" indent="0" algn="ctr">
              <a:buNone/>
            </a:pPr>
            <a:r>
              <a:rPr lang="en-US" sz="1150" b="1" dirty="0">
                <a:solidFill>
                  <a:srgbClr val="222B36"/>
                </a:solidFill>
                <a:latin typeface="Calibri" pitchFamily="34" charset="0"/>
                <a:ea typeface="Calibri" pitchFamily="34" charset="-122"/>
                <a:cs typeface="Calibri" pitchFamily="34" charset="-120"/>
              </a:rPr>
              <a:t>Listen first, draw second. Keep it simple.</a:t>
            </a:r>
            <a:endParaRPr lang="en-US" sz="1150" dirty="0"/>
          </a:p>
        </p:txBody>
      </p:sp>
      <p:sp>
        <p:nvSpPr>
          <p:cNvPr id="28" name="Shape 20"/>
          <p:cNvSpPr/>
          <p:nvPr/>
        </p:nvSpPr>
        <p:spPr>
          <a:xfrm>
            <a:off x="4480560" y="1280160"/>
            <a:ext cx="4206240" cy="3447288"/>
          </a:xfrm>
          <a:prstGeom prst="rect">
            <a:avLst/>
          </a:prstGeom>
          <a:solidFill>
            <a:srgbClr val="FFFFFF"/>
          </a:solidFill>
          <a:ln w="19050">
            <a:solidFill>
              <a:srgbClr val="66758A"/>
            </a:solidFill>
            <a:prstDash val="dash"/>
          </a:ln>
          <a:effectLst>
            <a:outerShdw blurRad="76200" dist="25400" dir="5400000" algn="bl" rotWithShape="0">
              <a:srgbClr val="000000">
                <a:alpha val="12000"/>
              </a:srgbClr>
            </a:outerShdw>
          </a:effectLst>
        </p:spPr>
        <p:txBody>
          <a:bodyPr/>
          <a:lstStyle/>
          <a:p>
            <a:endParaRPr lang="en-US"/>
          </a:p>
        </p:txBody>
      </p:sp>
      <p:sp>
        <p:nvSpPr>
          <p:cNvPr id="29" name="Shape 21"/>
          <p:cNvSpPr/>
          <p:nvPr/>
        </p:nvSpPr>
        <p:spPr>
          <a:xfrm>
            <a:off x="4937760" y="1417320"/>
            <a:ext cx="3291840" cy="502920"/>
          </a:xfrm>
          <a:prstGeom prst="roundRect">
            <a:avLst>
              <a:gd name="adj" fmla="val 18182"/>
            </a:avLst>
          </a:prstGeom>
          <a:solidFill>
            <a:srgbClr val="FFC000"/>
          </a:solidFill>
          <a:ln/>
        </p:spPr>
        <p:txBody>
          <a:bodyPr/>
          <a:lstStyle/>
          <a:p>
            <a:endParaRPr lang="en-US"/>
          </a:p>
        </p:txBody>
      </p:sp>
      <p:sp>
        <p:nvSpPr>
          <p:cNvPr id="30" name="Text 22"/>
          <p:cNvSpPr txBox="1"/>
          <p:nvPr/>
        </p:nvSpPr>
        <p:spPr>
          <a:xfrm>
            <a:off x="4937760" y="1417320"/>
            <a:ext cx="3291840" cy="502920"/>
          </a:xfrm>
          <a:prstGeom prst="rect">
            <a:avLst/>
          </a:prstGeom>
          <a:noFill/>
          <a:ln/>
        </p:spPr>
        <p:txBody>
          <a:bodyPr wrap="square" lIns="0" tIns="0" rIns="0" bIns="0" rtlCol="0" anchor="ctr"/>
          <a:lstStyle/>
          <a:p>
            <a:pPr marL="0" indent="0" algn="ctr">
              <a:buNone/>
            </a:pPr>
            <a:r>
              <a:rPr lang="en-US" sz="1600" b="1" dirty="0">
                <a:solidFill>
                  <a:srgbClr val="44546A"/>
                </a:solidFill>
                <a:latin typeface="Calibri" pitchFamily="34" charset="0"/>
                <a:ea typeface="Calibri" pitchFamily="34" charset="-122"/>
                <a:cs typeface="Calibri" pitchFamily="34" charset="-120"/>
              </a:rPr>
              <a:t>SLEEP &amp; LEARNING</a:t>
            </a:r>
            <a:endParaRPr lang="en-US" sz="1600" dirty="0"/>
          </a:p>
        </p:txBody>
      </p:sp>
      <p:sp>
        <p:nvSpPr>
          <p:cNvPr id="31" name="Shape 23"/>
          <p:cNvSpPr/>
          <p:nvPr/>
        </p:nvSpPr>
        <p:spPr>
          <a:xfrm>
            <a:off x="4846320" y="2286000"/>
            <a:ext cx="731520" cy="731520"/>
          </a:xfrm>
          <a:prstGeom prst="ellipse">
            <a:avLst/>
          </a:prstGeom>
          <a:solidFill>
            <a:srgbClr val="D8641A"/>
          </a:solidFill>
          <a:ln/>
        </p:spPr>
        <p:txBody>
          <a:bodyPr/>
          <a:lstStyle/>
          <a:p>
            <a:endParaRPr lang="en-US"/>
          </a:p>
        </p:txBody>
      </p:sp>
      <p:pic>
        <p:nvPicPr>
          <p:cNvPr id="32" name="Image 5" descr="preencoded.png"/>
          <p:cNvPicPr>
            <a:picLocks noChangeAspect="1"/>
          </p:cNvPicPr>
          <p:nvPr/>
        </p:nvPicPr>
        <p:blipFill>
          <a:blip r:embed="rId8"/>
          <a:stretch>
            <a:fillRect/>
          </a:stretch>
        </p:blipFill>
        <p:spPr>
          <a:xfrm>
            <a:off x="5029200" y="2468880"/>
            <a:ext cx="365760" cy="365760"/>
          </a:xfrm>
          <a:prstGeom prst="rect">
            <a:avLst/>
          </a:prstGeom>
        </p:spPr>
      </p:pic>
      <p:sp>
        <p:nvSpPr>
          <p:cNvPr id="33" name="Text 24"/>
          <p:cNvSpPr txBox="1"/>
          <p:nvPr/>
        </p:nvSpPr>
        <p:spPr>
          <a:xfrm>
            <a:off x="4617720" y="3108960"/>
            <a:ext cx="1188720" cy="274320"/>
          </a:xfrm>
          <a:prstGeom prst="rect">
            <a:avLst/>
          </a:prstGeom>
          <a:noFill/>
          <a:ln/>
        </p:spPr>
        <p:txBody>
          <a:bodyPr wrap="square" lIns="0" tIns="0" rIns="0" bIns="0" rtlCol="0" anchor="t"/>
          <a:lstStyle/>
          <a:p>
            <a:pPr marL="0" indent="0" algn="ctr">
              <a:buNone/>
            </a:pPr>
            <a:r>
              <a:rPr lang="en-US" sz="1100" b="1" dirty="0">
                <a:solidFill>
                  <a:srgbClr val="222B36"/>
                </a:solidFill>
                <a:latin typeface="Calibri" pitchFamily="34" charset="0"/>
                <a:ea typeface="Calibri" pitchFamily="34" charset="-122"/>
                <a:cs typeface="Calibri" pitchFamily="34" charset="-120"/>
              </a:rPr>
              <a:t>7–8 hours</a:t>
            </a:r>
            <a:endParaRPr lang="en-US" sz="1100" dirty="0"/>
          </a:p>
        </p:txBody>
      </p:sp>
      <p:pic>
        <p:nvPicPr>
          <p:cNvPr id="34" name="Image 6" descr="preencoded.png"/>
          <p:cNvPicPr>
            <a:picLocks noChangeAspect="1"/>
          </p:cNvPicPr>
          <p:nvPr/>
        </p:nvPicPr>
        <p:blipFill>
          <a:blip r:embed="rId9"/>
          <a:stretch>
            <a:fillRect/>
          </a:stretch>
        </p:blipFill>
        <p:spPr>
          <a:xfrm>
            <a:off x="5623560" y="2514600"/>
            <a:ext cx="365760" cy="274320"/>
          </a:xfrm>
          <a:prstGeom prst="rect">
            <a:avLst/>
          </a:prstGeom>
        </p:spPr>
      </p:pic>
      <p:sp>
        <p:nvSpPr>
          <p:cNvPr id="35" name="Shape 25"/>
          <p:cNvSpPr/>
          <p:nvPr/>
        </p:nvSpPr>
        <p:spPr>
          <a:xfrm>
            <a:off x="6172200" y="2286000"/>
            <a:ext cx="731520" cy="731520"/>
          </a:xfrm>
          <a:prstGeom prst="ellipse">
            <a:avLst/>
          </a:prstGeom>
          <a:solidFill>
            <a:srgbClr val="4472C4"/>
          </a:solidFill>
          <a:ln/>
        </p:spPr>
        <p:txBody>
          <a:bodyPr/>
          <a:lstStyle/>
          <a:p>
            <a:endParaRPr lang="en-US"/>
          </a:p>
        </p:txBody>
      </p:sp>
      <p:pic>
        <p:nvPicPr>
          <p:cNvPr id="36" name="Image 7" descr="preencoded.png"/>
          <p:cNvPicPr>
            <a:picLocks noChangeAspect="1"/>
          </p:cNvPicPr>
          <p:nvPr/>
        </p:nvPicPr>
        <p:blipFill>
          <a:blip r:embed="rId10"/>
          <a:stretch>
            <a:fillRect/>
          </a:stretch>
        </p:blipFill>
        <p:spPr>
          <a:xfrm>
            <a:off x="6355080" y="2468880"/>
            <a:ext cx="365760" cy="365760"/>
          </a:xfrm>
          <a:prstGeom prst="rect">
            <a:avLst/>
          </a:prstGeom>
        </p:spPr>
      </p:pic>
      <p:sp>
        <p:nvSpPr>
          <p:cNvPr id="37" name="Text 26"/>
          <p:cNvSpPr txBox="1"/>
          <p:nvPr/>
        </p:nvSpPr>
        <p:spPr>
          <a:xfrm>
            <a:off x="5943600" y="3108960"/>
            <a:ext cx="1188720" cy="274320"/>
          </a:xfrm>
          <a:prstGeom prst="rect">
            <a:avLst/>
          </a:prstGeom>
          <a:noFill/>
          <a:ln/>
        </p:spPr>
        <p:txBody>
          <a:bodyPr wrap="square" lIns="0" tIns="0" rIns="0" bIns="0" rtlCol="0" anchor="t"/>
          <a:lstStyle/>
          <a:p>
            <a:pPr marL="0" indent="0" algn="ctr">
              <a:buNone/>
            </a:pPr>
            <a:r>
              <a:rPr lang="en-US" sz="1100" b="1" dirty="0">
                <a:solidFill>
                  <a:srgbClr val="222B36"/>
                </a:solidFill>
                <a:latin typeface="Calibri" pitchFamily="34" charset="0"/>
                <a:ea typeface="Calibri" pitchFamily="34" charset="-122"/>
                <a:cs typeface="Calibri" pitchFamily="34" charset="-120"/>
              </a:rPr>
              <a:t>memory + focus</a:t>
            </a:r>
            <a:endParaRPr lang="en-US" sz="1100" dirty="0"/>
          </a:p>
        </p:txBody>
      </p:sp>
      <p:pic>
        <p:nvPicPr>
          <p:cNvPr id="38" name="Image 8" descr="preencoded.png"/>
          <p:cNvPicPr>
            <a:picLocks noChangeAspect="1"/>
          </p:cNvPicPr>
          <p:nvPr/>
        </p:nvPicPr>
        <p:blipFill>
          <a:blip r:embed="rId9"/>
          <a:stretch>
            <a:fillRect/>
          </a:stretch>
        </p:blipFill>
        <p:spPr>
          <a:xfrm>
            <a:off x="6949440" y="2514600"/>
            <a:ext cx="365760" cy="274320"/>
          </a:xfrm>
          <a:prstGeom prst="rect">
            <a:avLst/>
          </a:prstGeom>
        </p:spPr>
      </p:pic>
      <p:sp>
        <p:nvSpPr>
          <p:cNvPr id="39" name="Shape 27"/>
          <p:cNvSpPr/>
          <p:nvPr/>
        </p:nvSpPr>
        <p:spPr>
          <a:xfrm>
            <a:off x="7498080" y="2286000"/>
            <a:ext cx="731520" cy="731520"/>
          </a:xfrm>
          <a:prstGeom prst="ellipse">
            <a:avLst/>
          </a:prstGeom>
          <a:solidFill>
            <a:srgbClr val="4E8A2E"/>
          </a:solidFill>
          <a:ln/>
        </p:spPr>
        <p:txBody>
          <a:bodyPr/>
          <a:lstStyle/>
          <a:p>
            <a:endParaRPr lang="en-US"/>
          </a:p>
        </p:txBody>
      </p:sp>
      <p:pic>
        <p:nvPicPr>
          <p:cNvPr id="40" name="Image 9" descr="preencoded.png"/>
          <p:cNvPicPr>
            <a:picLocks noChangeAspect="1"/>
          </p:cNvPicPr>
          <p:nvPr/>
        </p:nvPicPr>
        <p:blipFill>
          <a:blip r:embed="rId11"/>
          <a:stretch>
            <a:fillRect/>
          </a:stretch>
        </p:blipFill>
        <p:spPr>
          <a:xfrm>
            <a:off x="7680960" y="2468880"/>
            <a:ext cx="365760" cy="365760"/>
          </a:xfrm>
          <a:prstGeom prst="rect">
            <a:avLst/>
          </a:prstGeom>
        </p:spPr>
      </p:pic>
      <p:sp>
        <p:nvSpPr>
          <p:cNvPr id="41" name="Text 28"/>
          <p:cNvSpPr txBox="1"/>
          <p:nvPr/>
        </p:nvSpPr>
        <p:spPr>
          <a:xfrm>
            <a:off x="7269480" y="3108960"/>
            <a:ext cx="1188720" cy="274320"/>
          </a:xfrm>
          <a:prstGeom prst="rect">
            <a:avLst/>
          </a:prstGeom>
          <a:noFill/>
          <a:ln/>
        </p:spPr>
        <p:txBody>
          <a:bodyPr wrap="square" lIns="0" tIns="0" rIns="0" bIns="0" rtlCol="0" anchor="t"/>
          <a:lstStyle/>
          <a:p>
            <a:pPr marL="0" indent="0" algn="ctr">
              <a:buNone/>
            </a:pPr>
            <a:r>
              <a:rPr lang="en-US" sz="1100" b="1" dirty="0">
                <a:solidFill>
                  <a:srgbClr val="222B36"/>
                </a:solidFill>
                <a:latin typeface="Calibri" pitchFamily="34" charset="0"/>
                <a:ea typeface="Calibri" pitchFamily="34" charset="-122"/>
                <a:cs typeface="Calibri" pitchFamily="34" charset="-120"/>
              </a:rPr>
              <a:t>better results</a:t>
            </a:r>
            <a:endParaRPr lang="en-US" sz="1100" dirty="0"/>
          </a:p>
        </p:txBody>
      </p:sp>
      <p:sp>
        <p:nvSpPr>
          <p:cNvPr id="42" name="Shape 29"/>
          <p:cNvSpPr/>
          <p:nvPr/>
        </p:nvSpPr>
        <p:spPr>
          <a:xfrm>
            <a:off x="5029200" y="3520440"/>
            <a:ext cx="3108960" cy="914400"/>
          </a:xfrm>
          <a:prstGeom prst="cloud">
            <a:avLst/>
          </a:prstGeom>
          <a:solidFill>
            <a:srgbClr val="DAE3F3"/>
          </a:solidFill>
          <a:ln w="19050">
            <a:solidFill>
              <a:srgbClr val="4472C4"/>
            </a:solidFill>
            <a:prstDash val="solid"/>
          </a:ln>
        </p:spPr>
        <p:txBody>
          <a:bodyPr/>
          <a:lstStyle/>
          <a:p>
            <a:endParaRPr lang="en-US"/>
          </a:p>
        </p:txBody>
      </p:sp>
      <p:sp>
        <p:nvSpPr>
          <p:cNvPr id="43" name="Text 30"/>
          <p:cNvSpPr txBox="1"/>
          <p:nvPr/>
        </p:nvSpPr>
        <p:spPr>
          <a:xfrm>
            <a:off x="5257800" y="3611880"/>
            <a:ext cx="2651760" cy="731520"/>
          </a:xfrm>
          <a:prstGeom prst="rect">
            <a:avLst/>
          </a:prstGeom>
          <a:noFill/>
          <a:ln/>
        </p:spPr>
        <p:txBody>
          <a:bodyPr wrap="square" lIns="0" tIns="0" rIns="0" bIns="0" rtlCol="0" anchor="ctr"/>
          <a:lstStyle/>
          <a:p>
            <a:pPr marL="0" indent="0" algn="ctr">
              <a:buNone/>
            </a:pPr>
            <a:r>
              <a:rPr lang="en-US" sz="1150" b="1" i="1" dirty="0">
                <a:solidFill>
                  <a:srgbClr val="44546A"/>
                </a:solidFill>
                <a:latin typeface="Calibri" pitchFamily="34" charset="0"/>
                <a:ea typeface="Calibri" pitchFamily="34" charset="-122"/>
                <a:cs typeface="Calibri" pitchFamily="34" charset="-120"/>
              </a:rPr>
              <a:t>Key idea: sleep locks in what you learned</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63E8EB-C8AF-9869-D27C-7789682FFD9D}"/>
              </a:ext>
            </a:extLst>
          </p:cNvPr>
          <p:cNvPicPr>
            <a:picLocks noChangeAspect="1"/>
          </p:cNvPicPr>
          <p:nvPr/>
        </p:nvPicPr>
        <p:blipFill>
          <a:blip r:embed="rId2"/>
          <a:stretch>
            <a:fillRect/>
          </a:stretch>
        </p:blipFill>
        <p:spPr>
          <a:xfrm>
            <a:off x="1138714" y="0"/>
            <a:ext cx="6866572" cy="5143500"/>
          </a:xfrm>
          <a:prstGeom prst="rect">
            <a:avLst/>
          </a:prstGeom>
        </p:spPr>
      </p:pic>
      <p:pic>
        <p:nvPicPr>
          <p:cNvPr id="5" name="Picture 4">
            <a:extLst>
              <a:ext uri="{FF2B5EF4-FFF2-40B4-BE49-F238E27FC236}">
                <a16:creationId xmlns:a16="http://schemas.microsoft.com/office/drawing/2014/main" id="{C4CD7558-B071-4E68-6151-8455D0D09626}"/>
              </a:ext>
            </a:extLst>
          </p:cNvPr>
          <p:cNvPicPr>
            <a:picLocks noChangeAspect="1"/>
          </p:cNvPicPr>
          <p:nvPr/>
        </p:nvPicPr>
        <p:blipFill>
          <a:blip r:embed="rId3"/>
          <a:stretch>
            <a:fillRect/>
          </a:stretch>
        </p:blipFill>
        <p:spPr>
          <a:xfrm>
            <a:off x="485977" y="0"/>
            <a:ext cx="255956" cy="5143500"/>
          </a:xfrm>
          <a:prstGeom prst="rect">
            <a:avLst/>
          </a:prstGeom>
        </p:spPr>
      </p:pic>
      <p:pic>
        <p:nvPicPr>
          <p:cNvPr id="7" name="Picture 6">
            <a:extLst>
              <a:ext uri="{FF2B5EF4-FFF2-40B4-BE49-F238E27FC236}">
                <a16:creationId xmlns:a16="http://schemas.microsoft.com/office/drawing/2014/main" id="{6E5E4A7A-4304-8070-8AF7-57C31D9A575A}"/>
              </a:ext>
            </a:extLst>
          </p:cNvPr>
          <p:cNvPicPr>
            <a:picLocks noChangeAspect="1"/>
          </p:cNvPicPr>
          <p:nvPr/>
        </p:nvPicPr>
        <p:blipFill>
          <a:blip r:embed="rId3"/>
          <a:stretch>
            <a:fillRect/>
          </a:stretch>
        </p:blipFill>
        <p:spPr>
          <a:xfrm>
            <a:off x="8578417" y="0"/>
            <a:ext cx="255956" cy="5143500"/>
          </a:xfrm>
          <a:prstGeom prst="rect">
            <a:avLst/>
          </a:prstGeom>
        </p:spPr>
      </p:pic>
    </p:spTree>
    <p:extLst>
      <p:ext uri="{BB962C8B-B14F-4D97-AF65-F5344CB8AC3E}">
        <p14:creationId xmlns:p14="http://schemas.microsoft.com/office/powerpoint/2010/main" val="34830780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COMPARING SYSTEMS</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Which note-taking method should you use?</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2971800"/>
        </p:xfrm>
        <a:graphic>
          <a:graphicData uri="http://schemas.openxmlformats.org/drawingml/2006/table">
            <a:tbl>
              <a:tblPr/>
              <a:tblGrid>
                <a:gridCol w="12801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41148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44546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Best for</a:t>
                      </a:r>
                      <a:endParaRPr lang="en-US" sz="13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44546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Strength</a:t>
                      </a:r>
                      <a:endParaRPr lang="en-US" sz="13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44546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Watch out for</a:t>
                      </a:r>
                      <a:endParaRPr lang="en-US" sz="13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44546A"/>
                    </a:solidFill>
                  </a:tcPr>
                </a:tc>
                <a:extLst>
                  <a:ext uri="{0D108BD9-81ED-4DB2-BD59-A6C34878D82A}">
                    <a16:rowId xmlns:a16="http://schemas.microsoft.com/office/drawing/2014/main" val="10000"/>
                  </a:ext>
                </a:extLst>
              </a:tr>
              <a:tr h="640080">
                <a:tc>
                  <a:txBody>
                    <a:bodyPr/>
                    <a:lstStyle/>
                    <a:p>
                      <a:pPr marL="0" indent="0">
                        <a:buNone/>
                      </a:pPr>
                      <a:r>
                        <a:rPr lang="en-US" sz="1200" b="1" dirty="0">
                          <a:solidFill>
                            <a:srgbClr val="222B36"/>
                          </a:solidFill>
                          <a:latin typeface="Calibri" pitchFamily="34" charset="0"/>
                          <a:ea typeface="Calibri" pitchFamily="34" charset="-122"/>
                          <a:cs typeface="Calibri" pitchFamily="34" charset="-120"/>
                        </a:rPr>
                        <a:t>Cornell</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BE5D6"/>
                    </a:solidFill>
                  </a:tcPr>
                </a:tc>
                <a:tc>
                  <a:txBody>
                    <a:bodyPr/>
                    <a:lstStyle/>
                    <a:p>
                      <a:pPr marL="0" indent="0">
                        <a:buNone/>
                      </a:pPr>
                      <a:r>
                        <a:rPr lang="en-US" sz="1200" dirty="0">
                          <a:solidFill>
                            <a:srgbClr val="222B36"/>
                          </a:solidFill>
                          <a:latin typeface="Calibri" pitchFamily="34" charset="0"/>
                          <a:ea typeface="Calibri" pitchFamily="34" charset="-122"/>
                          <a:cs typeface="Calibri" pitchFamily="34" charset="-120"/>
                        </a:rPr>
                        <a:t>Lectures</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200" dirty="0">
                          <a:solidFill>
                            <a:srgbClr val="222B36"/>
                          </a:solidFill>
                          <a:latin typeface="Calibri" pitchFamily="34" charset="0"/>
                          <a:ea typeface="Calibri" pitchFamily="34" charset="-122"/>
                          <a:cs typeface="Calibri" pitchFamily="34" charset="-120"/>
                        </a:rPr>
                        <a:t>Organized; built-in review and self-test</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200" dirty="0">
                          <a:solidFill>
                            <a:srgbClr val="222B36"/>
                          </a:solidFill>
                          <a:latin typeface="Calibri" pitchFamily="34" charset="0"/>
                          <a:ea typeface="Calibri" pitchFamily="34" charset="-122"/>
                          <a:cs typeface="Calibri" pitchFamily="34" charset="-120"/>
                        </a:rPr>
                        <a:t>Needs time to add cues and summary</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200" b="1" dirty="0">
                          <a:solidFill>
                            <a:srgbClr val="222B36"/>
                          </a:solidFill>
                          <a:latin typeface="Calibri" pitchFamily="34" charset="0"/>
                          <a:ea typeface="Calibri" pitchFamily="34" charset="-122"/>
                          <a:cs typeface="Calibri" pitchFamily="34" charset="-120"/>
                        </a:rPr>
                        <a:t>Soprano</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DAE3F3"/>
                    </a:solidFill>
                  </a:tcPr>
                </a:tc>
                <a:tc>
                  <a:txBody>
                    <a:bodyPr/>
                    <a:lstStyle/>
                    <a:p>
                      <a:pPr marL="0" indent="0">
                        <a:buNone/>
                      </a:pPr>
                      <a:r>
                        <a:rPr lang="en-US" sz="1200" dirty="0">
                          <a:solidFill>
                            <a:srgbClr val="222B36"/>
                          </a:solidFill>
                          <a:latin typeface="Calibri" pitchFamily="34" charset="0"/>
                          <a:ea typeface="Calibri" pitchFamily="34" charset="-122"/>
                          <a:cs typeface="Calibri" pitchFamily="34" charset="-120"/>
                        </a:rPr>
                        <a:t>Textbook reading</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200" dirty="0">
                          <a:solidFill>
                            <a:srgbClr val="222B36"/>
                          </a:solidFill>
                          <a:latin typeface="Calibri" pitchFamily="34" charset="0"/>
                          <a:ea typeface="Calibri" pitchFamily="34" charset="-122"/>
                          <a:cs typeface="Calibri" pitchFamily="34" charset="-120"/>
                        </a:rPr>
                        <a:t>Ranks importance; questions ready for exams</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200" dirty="0">
                          <a:solidFill>
                            <a:srgbClr val="222B36"/>
                          </a:solidFill>
                          <a:latin typeface="Calibri" pitchFamily="34" charset="0"/>
                          <a:ea typeface="Calibri" pitchFamily="34" charset="-122"/>
                          <a:cs typeface="Calibri" pitchFamily="34" charset="-120"/>
                        </a:rPr>
                        <a:t>Slower than plain highlighting</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a:buNone/>
                      </a:pPr>
                      <a:r>
                        <a:rPr lang="en-US" sz="1200" b="1" dirty="0">
                          <a:solidFill>
                            <a:srgbClr val="222B36"/>
                          </a:solidFill>
                          <a:latin typeface="Calibri" pitchFamily="34" charset="0"/>
                          <a:ea typeface="Calibri" pitchFamily="34" charset="-122"/>
                          <a:cs typeface="Calibri" pitchFamily="34" charset="-120"/>
                        </a:rPr>
                        <a:t>Mind map</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2CC"/>
                    </a:solidFill>
                  </a:tcPr>
                </a:tc>
                <a:tc>
                  <a:txBody>
                    <a:bodyPr/>
                    <a:lstStyle/>
                    <a:p>
                      <a:pPr marL="0" indent="0">
                        <a:buNone/>
                      </a:pPr>
                      <a:r>
                        <a:rPr lang="en-US" sz="1200" dirty="0">
                          <a:solidFill>
                            <a:srgbClr val="222B36"/>
                          </a:solidFill>
                          <a:latin typeface="Calibri" pitchFamily="34" charset="0"/>
                          <a:ea typeface="Calibri" pitchFamily="34" charset="-122"/>
                          <a:cs typeface="Calibri" pitchFamily="34" charset="-120"/>
                        </a:rPr>
                        <a:t>Brainstorming, revision</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200" dirty="0">
                          <a:solidFill>
                            <a:srgbClr val="222B36"/>
                          </a:solidFill>
                          <a:latin typeface="Calibri" pitchFamily="34" charset="0"/>
                          <a:ea typeface="Calibri" pitchFamily="34" charset="-122"/>
                          <a:cs typeface="Calibri" pitchFamily="34" charset="-120"/>
                        </a:rPr>
                        <a:t>Shows links between ideas</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200" dirty="0">
                          <a:solidFill>
                            <a:srgbClr val="222B36"/>
                          </a:solidFill>
                          <a:latin typeface="Calibri" pitchFamily="34" charset="0"/>
                          <a:ea typeface="Calibri" pitchFamily="34" charset="-122"/>
                          <a:cs typeface="Calibri" pitchFamily="34" charset="-120"/>
                        </a:rPr>
                        <a:t>Hard to follow a fast lecture</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buNone/>
                      </a:pPr>
                      <a:r>
                        <a:rPr lang="en-US" sz="1200" b="1" dirty="0">
                          <a:solidFill>
                            <a:srgbClr val="222B36"/>
                          </a:solidFill>
                          <a:latin typeface="Calibri" pitchFamily="34" charset="0"/>
                          <a:ea typeface="Calibri" pitchFamily="34" charset="-122"/>
                          <a:cs typeface="Calibri" pitchFamily="34" charset="-120"/>
                        </a:rPr>
                        <a:t>Sketchnote</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E2F0D9"/>
                    </a:solidFill>
                  </a:tcPr>
                </a:tc>
                <a:tc>
                  <a:txBody>
                    <a:bodyPr/>
                    <a:lstStyle/>
                    <a:p>
                      <a:pPr marL="0" indent="0">
                        <a:buNone/>
                      </a:pPr>
                      <a:r>
                        <a:rPr lang="en-US" sz="1200" dirty="0">
                          <a:solidFill>
                            <a:srgbClr val="222B36"/>
                          </a:solidFill>
                          <a:latin typeface="Calibri" pitchFamily="34" charset="0"/>
                          <a:ea typeface="Calibri" pitchFamily="34" charset="-122"/>
                          <a:cs typeface="Calibri" pitchFamily="34" charset="-120"/>
                        </a:rPr>
                        <a:t>Visual learners, talks</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200" dirty="0">
                          <a:solidFill>
                            <a:srgbClr val="222B36"/>
                          </a:solidFill>
                          <a:latin typeface="Calibri" pitchFamily="34" charset="0"/>
                          <a:ea typeface="Calibri" pitchFamily="34" charset="-122"/>
                          <a:cs typeface="Calibri" pitchFamily="34" charset="-120"/>
                        </a:rPr>
                        <a:t>Memorable images and structure</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tc>
                  <a:txBody>
                    <a:bodyPr/>
                    <a:lstStyle/>
                    <a:p>
                      <a:pPr marL="0" indent="0">
                        <a:buNone/>
                      </a:pPr>
                      <a:r>
                        <a:rPr lang="en-US" sz="1200" dirty="0">
                          <a:solidFill>
                            <a:srgbClr val="222B36"/>
                          </a:solidFill>
                          <a:latin typeface="Calibri" pitchFamily="34" charset="0"/>
                          <a:ea typeface="Calibri" pitchFamily="34" charset="-122"/>
                          <a:cs typeface="Calibri" pitchFamily="34" charset="-120"/>
                        </a:rPr>
                        <a:t>Drawing can distract from listening</a:t>
                      </a:r>
                      <a:endParaRPr lang="en-US" sz="1200" dirty="0">
                        <a:latin typeface="Calibri" charset="0"/>
                        <a:ea typeface="Calibri" charset="0"/>
                        <a:cs typeface="Calibri" charset="0"/>
                      </a:endParaRPr>
                    </a:p>
                  </a:txBody>
                  <a:tcPr anchor="ctr">
                    <a:lnL w="12700" cap="flat" cmpd="sng" algn="ctr">
                      <a:solidFill>
                        <a:srgbClr val="CBD3E1"/>
                      </a:solidFill>
                      <a:prstDash val="solid"/>
                      <a:round/>
                      <a:headEnd type="none" w="med" len="med"/>
                      <a:tailEnd type="none" w="med" len="med"/>
                    </a:lnL>
                    <a:lnR w="12700" cap="flat" cmpd="sng" algn="ctr">
                      <a:solidFill>
                        <a:srgbClr val="CBD3E1"/>
                      </a:solidFill>
                      <a:prstDash val="solid"/>
                      <a:round/>
                      <a:headEnd type="none" w="med" len="med"/>
                      <a:tailEnd type="none" w="med" len="med"/>
                    </a:lnR>
                    <a:lnT w="12700" cap="flat" cmpd="sng" algn="ctr">
                      <a:solidFill>
                        <a:srgbClr val="CBD3E1"/>
                      </a:solidFill>
                      <a:prstDash val="solid"/>
                      <a:round/>
                      <a:headEnd type="none" w="med" len="med"/>
                      <a:tailEnd type="none" w="med" len="med"/>
                    </a:lnT>
                    <a:lnB w="12700" cap="flat" cmpd="sng" algn="ctr">
                      <a:solidFill>
                        <a:srgbClr val="CBD3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Text 3"/>
          <p:cNvSpPr txBox="1"/>
          <p:nvPr/>
        </p:nvSpPr>
        <p:spPr>
          <a:xfrm>
            <a:off x="457200" y="4343400"/>
            <a:ext cx="8229600" cy="274320"/>
          </a:xfrm>
          <a:prstGeom prst="rect">
            <a:avLst/>
          </a:prstGeom>
          <a:noFill/>
          <a:ln/>
        </p:spPr>
        <p:txBody>
          <a:bodyPr wrap="square" lIns="0" tIns="0" rIns="0" bIns="0" rtlCol="0" anchor="t"/>
          <a:lstStyle/>
          <a:p>
            <a:pPr marL="0" indent="0">
              <a:buNone/>
            </a:pPr>
            <a:r>
              <a:rPr lang="en-US" sz="1250" i="1" dirty="0">
                <a:solidFill>
                  <a:srgbClr val="66758A"/>
                </a:solidFill>
                <a:latin typeface="Calibri" pitchFamily="34" charset="0"/>
                <a:ea typeface="Calibri" pitchFamily="34" charset="-122"/>
                <a:cs typeface="Calibri" pitchFamily="34" charset="-120"/>
              </a:rPr>
              <a:t>Tip: combine them. Cornell in class, a mind map to revise, a sketchnote for a key concept.</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NOTE-TAKING · AFTER</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After the lecture: review, don't file away</a:t>
            </a:r>
            <a:endParaRPr lang="en-US" sz="3000" dirty="0"/>
          </a:p>
        </p:txBody>
      </p:sp>
      <p:sp>
        <p:nvSpPr>
          <p:cNvPr id="6" name="Shape 3"/>
          <p:cNvSpPr/>
          <p:nvPr/>
        </p:nvSpPr>
        <p:spPr>
          <a:xfrm>
            <a:off x="457200" y="1371600"/>
            <a:ext cx="365760" cy="365760"/>
          </a:xfrm>
          <a:prstGeom prst="ellipse">
            <a:avLst/>
          </a:prstGeom>
          <a:solidFill>
            <a:srgbClr val="D8641A"/>
          </a:solidFill>
          <a:ln/>
        </p:spPr>
        <p:txBody>
          <a:bodyPr/>
          <a:lstStyle/>
          <a:p>
            <a:endParaRPr lang="en-US"/>
          </a:p>
        </p:txBody>
      </p:sp>
      <p:sp>
        <p:nvSpPr>
          <p:cNvPr id="7" name="Text 4"/>
          <p:cNvSpPr txBox="1"/>
          <p:nvPr/>
        </p:nvSpPr>
        <p:spPr>
          <a:xfrm>
            <a:off x="457200" y="1371600"/>
            <a:ext cx="365760" cy="365760"/>
          </a:xfrm>
          <a:prstGeom prst="rect">
            <a:avLst/>
          </a:prstGeom>
          <a:noFill/>
          <a:ln/>
        </p:spPr>
        <p:txBody>
          <a:bodyPr wrap="square" lIns="0" tIns="0" rIns="0" bIns="0" rtlCol="0" anchor="ctr"/>
          <a:lstStyle/>
          <a:p>
            <a:pPr marL="0" indent="0" algn="ctr">
              <a:buNone/>
            </a:pPr>
            <a:r>
              <a:rPr lang="en-US" sz="1440" b="1" dirty="0">
                <a:solidFill>
                  <a:srgbClr val="FFFFFF"/>
                </a:solidFill>
                <a:latin typeface="Calibri" pitchFamily="34" charset="0"/>
                <a:ea typeface="Calibri" pitchFamily="34" charset="-122"/>
                <a:cs typeface="Calibri" pitchFamily="34" charset="-120"/>
              </a:rPr>
              <a:t>1</a:t>
            </a:r>
            <a:endParaRPr lang="en-US" sz="1440" dirty="0"/>
          </a:p>
        </p:txBody>
      </p:sp>
      <p:sp>
        <p:nvSpPr>
          <p:cNvPr id="8" name="Text 5"/>
          <p:cNvSpPr txBox="1"/>
          <p:nvPr/>
        </p:nvSpPr>
        <p:spPr>
          <a:xfrm>
            <a:off x="1005840" y="1280160"/>
            <a:ext cx="4023360" cy="256032"/>
          </a:xfrm>
          <a:prstGeom prst="rect">
            <a:avLst/>
          </a:prstGeom>
          <a:noFill/>
          <a:ln/>
        </p:spPr>
        <p:txBody>
          <a:bodyPr wrap="square" lIns="0" tIns="0" rIns="0" bIns="0" rtlCol="0" anchor="t"/>
          <a:lstStyle/>
          <a:p>
            <a:pPr marL="0" indent="0">
              <a:buNone/>
            </a:pPr>
            <a:r>
              <a:rPr lang="en-US" sz="1350" b="1" dirty="0">
                <a:solidFill>
                  <a:srgbClr val="44546A"/>
                </a:solidFill>
                <a:latin typeface="Calibri" pitchFamily="34" charset="0"/>
                <a:ea typeface="Calibri" pitchFamily="34" charset="-122"/>
                <a:cs typeface="Calibri" pitchFamily="34" charset="-120"/>
              </a:rPr>
              <a:t>Read soon after</a:t>
            </a:r>
            <a:endParaRPr lang="en-US" sz="1350" dirty="0"/>
          </a:p>
        </p:txBody>
      </p:sp>
      <p:sp>
        <p:nvSpPr>
          <p:cNvPr id="9" name="Text 6"/>
          <p:cNvSpPr txBox="1"/>
          <p:nvPr/>
        </p:nvSpPr>
        <p:spPr>
          <a:xfrm>
            <a:off x="1005840" y="1536192"/>
            <a:ext cx="4114800" cy="384048"/>
          </a:xfrm>
          <a:prstGeom prst="rect">
            <a:avLst/>
          </a:prstGeom>
          <a:noFill/>
          <a:ln/>
        </p:spPr>
        <p:txBody>
          <a:bodyPr wrap="square" lIns="0" tIns="0" rIns="0" bIns="0" rtlCol="0" anchor="t"/>
          <a:lstStyle/>
          <a:p>
            <a:pPr marL="0" indent="0">
              <a:buNone/>
            </a:pPr>
            <a:r>
              <a:rPr lang="en-US" sz="1100" dirty="0">
                <a:solidFill>
                  <a:srgbClr val="66758A"/>
                </a:solidFill>
                <a:latin typeface="Calibri" pitchFamily="34" charset="0"/>
                <a:ea typeface="Calibri" pitchFamily="34" charset="-122"/>
                <a:cs typeface="Calibri" pitchFamily="34" charset="-120"/>
              </a:rPr>
              <a:t>Highlight main points, star key items, fill in gaps.</a:t>
            </a:r>
            <a:endParaRPr lang="en-US" sz="1100" dirty="0"/>
          </a:p>
        </p:txBody>
      </p:sp>
      <p:sp>
        <p:nvSpPr>
          <p:cNvPr id="10" name="Shape 7"/>
          <p:cNvSpPr/>
          <p:nvPr/>
        </p:nvSpPr>
        <p:spPr>
          <a:xfrm>
            <a:off x="457200" y="2039112"/>
            <a:ext cx="365760" cy="365760"/>
          </a:xfrm>
          <a:prstGeom prst="ellipse">
            <a:avLst/>
          </a:prstGeom>
          <a:solidFill>
            <a:srgbClr val="4472C4"/>
          </a:solidFill>
          <a:ln/>
        </p:spPr>
        <p:txBody>
          <a:bodyPr/>
          <a:lstStyle/>
          <a:p>
            <a:endParaRPr lang="en-US"/>
          </a:p>
        </p:txBody>
      </p:sp>
      <p:sp>
        <p:nvSpPr>
          <p:cNvPr id="11" name="Text 8"/>
          <p:cNvSpPr txBox="1"/>
          <p:nvPr/>
        </p:nvSpPr>
        <p:spPr>
          <a:xfrm>
            <a:off x="457200" y="2039112"/>
            <a:ext cx="365760" cy="365760"/>
          </a:xfrm>
          <a:prstGeom prst="rect">
            <a:avLst/>
          </a:prstGeom>
          <a:noFill/>
          <a:ln/>
        </p:spPr>
        <p:txBody>
          <a:bodyPr wrap="square" lIns="0" tIns="0" rIns="0" bIns="0" rtlCol="0" anchor="ctr"/>
          <a:lstStyle/>
          <a:p>
            <a:pPr marL="0" indent="0" algn="ctr">
              <a:buNone/>
            </a:pPr>
            <a:r>
              <a:rPr lang="en-US" sz="1440" b="1" dirty="0">
                <a:solidFill>
                  <a:srgbClr val="FFFFFF"/>
                </a:solidFill>
                <a:latin typeface="Calibri" pitchFamily="34" charset="0"/>
                <a:ea typeface="Calibri" pitchFamily="34" charset="-122"/>
                <a:cs typeface="Calibri" pitchFamily="34" charset="-120"/>
              </a:rPr>
              <a:t>2</a:t>
            </a:r>
            <a:endParaRPr lang="en-US" sz="1440" dirty="0"/>
          </a:p>
        </p:txBody>
      </p:sp>
      <p:sp>
        <p:nvSpPr>
          <p:cNvPr id="12" name="Text 9"/>
          <p:cNvSpPr txBox="1"/>
          <p:nvPr/>
        </p:nvSpPr>
        <p:spPr>
          <a:xfrm>
            <a:off x="1005840" y="1947672"/>
            <a:ext cx="4023360" cy="256032"/>
          </a:xfrm>
          <a:prstGeom prst="rect">
            <a:avLst/>
          </a:prstGeom>
          <a:noFill/>
          <a:ln/>
        </p:spPr>
        <p:txBody>
          <a:bodyPr wrap="square" lIns="0" tIns="0" rIns="0" bIns="0" rtlCol="0" anchor="t"/>
          <a:lstStyle/>
          <a:p>
            <a:pPr marL="0" indent="0">
              <a:buNone/>
            </a:pPr>
            <a:r>
              <a:rPr lang="en-US" sz="1350" b="1" dirty="0">
                <a:solidFill>
                  <a:srgbClr val="44546A"/>
                </a:solidFill>
                <a:latin typeface="Calibri" pitchFamily="34" charset="0"/>
                <a:ea typeface="Calibri" pitchFamily="34" charset="-122"/>
                <a:cs typeface="Calibri" pitchFamily="34" charset="-120"/>
              </a:rPr>
              <a:t>Use the margins</a:t>
            </a:r>
            <a:endParaRPr lang="en-US" sz="1350" dirty="0"/>
          </a:p>
        </p:txBody>
      </p:sp>
      <p:sp>
        <p:nvSpPr>
          <p:cNvPr id="13" name="Text 10"/>
          <p:cNvSpPr txBox="1"/>
          <p:nvPr/>
        </p:nvSpPr>
        <p:spPr>
          <a:xfrm>
            <a:off x="1005840" y="2203704"/>
            <a:ext cx="4114800" cy="384048"/>
          </a:xfrm>
          <a:prstGeom prst="rect">
            <a:avLst/>
          </a:prstGeom>
          <a:noFill/>
          <a:ln/>
        </p:spPr>
        <p:txBody>
          <a:bodyPr wrap="square" lIns="0" tIns="0" rIns="0" bIns="0" rtlCol="0" anchor="t"/>
          <a:lstStyle/>
          <a:p>
            <a:pPr marL="0" indent="0">
              <a:buNone/>
            </a:pPr>
            <a:r>
              <a:rPr lang="en-US" sz="1100" dirty="0">
                <a:solidFill>
                  <a:srgbClr val="66758A"/>
                </a:solidFill>
                <a:latin typeface="Calibri" pitchFamily="34" charset="0"/>
                <a:ea typeface="Calibri" pitchFamily="34" charset="-122"/>
                <a:cs typeface="Calibri" pitchFamily="34" charset="-120"/>
              </a:rPr>
              <a:t>List terms on one side, add a short summary or a link to the readings on the other.</a:t>
            </a:r>
            <a:endParaRPr lang="en-US" sz="1100" dirty="0"/>
          </a:p>
        </p:txBody>
      </p:sp>
      <p:sp>
        <p:nvSpPr>
          <p:cNvPr id="14" name="Shape 11"/>
          <p:cNvSpPr/>
          <p:nvPr/>
        </p:nvSpPr>
        <p:spPr>
          <a:xfrm>
            <a:off x="457200" y="2706624"/>
            <a:ext cx="365760" cy="365760"/>
          </a:xfrm>
          <a:prstGeom prst="ellipse">
            <a:avLst/>
          </a:prstGeom>
          <a:solidFill>
            <a:srgbClr val="D8641A"/>
          </a:solidFill>
          <a:ln/>
        </p:spPr>
        <p:txBody>
          <a:bodyPr/>
          <a:lstStyle/>
          <a:p>
            <a:endParaRPr lang="en-US"/>
          </a:p>
        </p:txBody>
      </p:sp>
      <p:sp>
        <p:nvSpPr>
          <p:cNvPr id="15" name="Text 12"/>
          <p:cNvSpPr txBox="1"/>
          <p:nvPr/>
        </p:nvSpPr>
        <p:spPr>
          <a:xfrm>
            <a:off x="457200" y="2706624"/>
            <a:ext cx="365760" cy="365760"/>
          </a:xfrm>
          <a:prstGeom prst="rect">
            <a:avLst/>
          </a:prstGeom>
          <a:noFill/>
          <a:ln/>
        </p:spPr>
        <p:txBody>
          <a:bodyPr wrap="square" lIns="0" tIns="0" rIns="0" bIns="0" rtlCol="0" anchor="ctr"/>
          <a:lstStyle/>
          <a:p>
            <a:pPr marL="0" indent="0" algn="ctr">
              <a:buNone/>
            </a:pPr>
            <a:r>
              <a:rPr lang="en-US" sz="1440" b="1" dirty="0">
                <a:solidFill>
                  <a:srgbClr val="FFFFFF"/>
                </a:solidFill>
                <a:latin typeface="Calibri" pitchFamily="34" charset="0"/>
                <a:ea typeface="Calibri" pitchFamily="34" charset="-122"/>
                <a:cs typeface="Calibri" pitchFamily="34" charset="-120"/>
              </a:rPr>
              <a:t>3</a:t>
            </a:r>
            <a:endParaRPr lang="en-US" sz="1440" dirty="0"/>
          </a:p>
        </p:txBody>
      </p:sp>
      <p:sp>
        <p:nvSpPr>
          <p:cNvPr id="16" name="Text 13"/>
          <p:cNvSpPr txBox="1"/>
          <p:nvPr/>
        </p:nvSpPr>
        <p:spPr>
          <a:xfrm>
            <a:off x="1005840" y="2615184"/>
            <a:ext cx="4023360" cy="256032"/>
          </a:xfrm>
          <a:prstGeom prst="rect">
            <a:avLst/>
          </a:prstGeom>
          <a:noFill/>
          <a:ln/>
        </p:spPr>
        <p:txBody>
          <a:bodyPr wrap="square" lIns="0" tIns="0" rIns="0" bIns="0" rtlCol="0" anchor="t"/>
          <a:lstStyle/>
          <a:p>
            <a:pPr marL="0" indent="0">
              <a:buNone/>
            </a:pPr>
            <a:r>
              <a:rPr lang="en-US" sz="1350" b="1" dirty="0">
                <a:solidFill>
                  <a:srgbClr val="44546A"/>
                </a:solidFill>
                <a:latin typeface="Calibri" pitchFamily="34" charset="0"/>
                <a:ea typeface="Calibri" pitchFamily="34" charset="-122"/>
                <a:cs typeface="Calibri" pitchFamily="34" charset="-120"/>
              </a:rPr>
              <a:t>Talk it through</a:t>
            </a:r>
            <a:endParaRPr lang="en-US" sz="1350" dirty="0"/>
          </a:p>
        </p:txBody>
      </p:sp>
      <p:sp>
        <p:nvSpPr>
          <p:cNvPr id="17" name="Text 14"/>
          <p:cNvSpPr txBox="1"/>
          <p:nvPr/>
        </p:nvSpPr>
        <p:spPr>
          <a:xfrm>
            <a:off x="1005840" y="2871216"/>
            <a:ext cx="4114800" cy="384048"/>
          </a:xfrm>
          <a:prstGeom prst="rect">
            <a:avLst/>
          </a:prstGeom>
          <a:noFill/>
          <a:ln/>
        </p:spPr>
        <p:txBody>
          <a:bodyPr wrap="square" lIns="0" tIns="0" rIns="0" bIns="0" rtlCol="0" anchor="t"/>
          <a:lstStyle/>
          <a:p>
            <a:pPr marL="0" indent="0">
              <a:buNone/>
            </a:pPr>
            <a:r>
              <a:rPr lang="en-US" sz="1100" dirty="0">
                <a:solidFill>
                  <a:srgbClr val="66758A"/>
                </a:solidFill>
                <a:latin typeface="Calibri" pitchFamily="34" charset="0"/>
                <a:ea typeface="Calibri" pitchFamily="34" charset="-122"/>
                <a:cs typeface="Calibri" pitchFamily="34" charset="-120"/>
              </a:rPr>
              <a:t>Discuss notes with a friend or study group.</a:t>
            </a:r>
            <a:endParaRPr lang="en-US" sz="1100" dirty="0"/>
          </a:p>
        </p:txBody>
      </p:sp>
      <p:sp>
        <p:nvSpPr>
          <p:cNvPr id="18" name="Shape 15"/>
          <p:cNvSpPr/>
          <p:nvPr/>
        </p:nvSpPr>
        <p:spPr>
          <a:xfrm>
            <a:off x="457200" y="3374136"/>
            <a:ext cx="365760" cy="365760"/>
          </a:xfrm>
          <a:prstGeom prst="ellipse">
            <a:avLst/>
          </a:prstGeom>
          <a:solidFill>
            <a:srgbClr val="4472C4"/>
          </a:solidFill>
          <a:ln/>
        </p:spPr>
        <p:txBody>
          <a:bodyPr/>
          <a:lstStyle/>
          <a:p>
            <a:endParaRPr lang="en-US"/>
          </a:p>
        </p:txBody>
      </p:sp>
      <p:sp>
        <p:nvSpPr>
          <p:cNvPr id="19" name="Text 16"/>
          <p:cNvSpPr txBox="1"/>
          <p:nvPr/>
        </p:nvSpPr>
        <p:spPr>
          <a:xfrm>
            <a:off x="457200" y="3374136"/>
            <a:ext cx="365760" cy="365760"/>
          </a:xfrm>
          <a:prstGeom prst="rect">
            <a:avLst/>
          </a:prstGeom>
          <a:noFill/>
          <a:ln/>
        </p:spPr>
        <p:txBody>
          <a:bodyPr wrap="square" lIns="0" tIns="0" rIns="0" bIns="0" rtlCol="0" anchor="ctr"/>
          <a:lstStyle/>
          <a:p>
            <a:pPr marL="0" indent="0" algn="ctr">
              <a:buNone/>
            </a:pPr>
            <a:r>
              <a:rPr lang="en-US" sz="1440" b="1" dirty="0">
                <a:solidFill>
                  <a:srgbClr val="FFFFFF"/>
                </a:solidFill>
                <a:latin typeface="Calibri" pitchFamily="34" charset="0"/>
                <a:ea typeface="Calibri" pitchFamily="34" charset="-122"/>
                <a:cs typeface="Calibri" pitchFamily="34" charset="-120"/>
              </a:rPr>
              <a:t>4</a:t>
            </a:r>
            <a:endParaRPr lang="en-US" sz="1440" dirty="0"/>
          </a:p>
        </p:txBody>
      </p:sp>
      <p:sp>
        <p:nvSpPr>
          <p:cNvPr id="20" name="Text 17"/>
          <p:cNvSpPr txBox="1"/>
          <p:nvPr/>
        </p:nvSpPr>
        <p:spPr>
          <a:xfrm>
            <a:off x="1005840" y="3282696"/>
            <a:ext cx="4023360" cy="256032"/>
          </a:xfrm>
          <a:prstGeom prst="rect">
            <a:avLst/>
          </a:prstGeom>
          <a:noFill/>
          <a:ln/>
        </p:spPr>
        <p:txBody>
          <a:bodyPr wrap="square" lIns="0" tIns="0" rIns="0" bIns="0" rtlCol="0" anchor="t"/>
          <a:lstStyle/>
          <a:p>
            <a:pPr marL="0" indent="0">
              <a:buNone/>
            </a:pPr>
            <a:r>
              <a:rPr lang="en-US" sz="1350" b="1" dirty="0">
                <a:solidFill>
                  <a:srgbClr val="44546A"/>
                </a:solidFill>
                <a:latin typeface="Calibri" pitchFamily="34" charset="0"/>
                <a:ea typeface="Calibri" pitchFamily="34" charset="-122"/>
                <a:cs typeface="Calibri" pitchFamily="34" charset="-120"/>
              </a:rPr>
              <a:t>Make flashcards</a:t>
            </a:r>
            <a:endParaRPr lang="en-US" sz="1350" dirty="0"/>
          </a:p>
        </p:txBody>
      </p:sp>
      <p:sp>
        <p:nvSpPr>
          <p:cNvPr id="21" name="Text 18"/>
          <p:cNvSpPr txBox="1"/>
          <p:nvPr/>
        </p:nvSpPr>
        <p:spPr>
          <a:xfrm>
            <a:off x="1005840" y="3538728"/>
            <a:ext cx="4114800" cy="384048"/>
          </a:xfrm>
          <a:prstGeom prst="rect">
            <a:avLst/>
          </a:prstGeom>
          <a:noFill/>
          <a:ln/>
        </p:spPr>
        <p:txBody>
          <a:bodyPr wrap="square" lIns="0" tIns="0" rIns="0" bIns="0" rtlCol="0" anchor="t"/>
          <a:lstStyle/>
          <a:p>
            <a:pPr marL="0" indent="0">
              <a:buNone/>
            </a:pPr>
            <a:r>
              <a:rPr lang="en-US" sz="1100" dirty="0">
                <a:solidFill>
                  <a:srgbClr val="66758A"/>
                </a:solidFill>
                <a:latin typeface="Calibri" pitchFamily="34" charset="0"/>
                <a:ea typeface="Calibri" pitchFamily="34" charset="-122"/>
                <a:cs typeface="Calibri" pitchFamily="34" charset="-120"/>
              </a:rPr>
              <a:t>Key terms with brief definitions: start early.</a:t>
            </a:r>
            <a:endParaRPr lang="en-US" sz="1100" dirty="0"/>
          </a:p>
        </p:txBody>
      </p:sp>
      <p:sp>
        <p:nvSpPr>
          <p:cNvPr id="22" name="Shape 19"/>
          <p:cNvSpPr/>
          <p:nvPr/>
        </p:nvSpPr>
        <p:spPr>
          <a:xfrm>
            <a:off x="457200" y="4041648"/>
            <a:ext cx="365760" cy="365760"/>
          </a:xfrm>
          <a:prstGeom prst="ellipse">
            <a:avLst/>
          </a:prstGeom>
          <a:solidFill>
            <a:srgbClr val="D8641A"/>
          </a:solidFill>
          <a:ln/>
        </p:spPr>
        <p:txBody>
          <a:bodyPr/>
          <a:lstStyle/>
          <a:p>
            <a:endParaRPr lang="en-US"/>
          </a:p>
        </p:txBody>
      </p:sp>
      <p:sp>
        <p:nvSpPr>
          <p:cNvPr id="23" name="Text 20"/>
          <p:cNvSpPr txBox="1"/>
          <p:nvPr/>
        </p:nvSpPr>
        <p:spPr>
          <a:xfrm>
            <a:off x="457200" y="4041648"/>
            <a:ext cx="365760" cy="365760"/>
          </a:xfrm>
          <a:prstGeom prst="rect">
            <a:avLst/>
          </a:prstGeom>
          <a:noFill/>
          <a:ln/>
        </p:spPr>
        <p:txBody>
          <a:bodyPr wrap="square" lIns="0" tIns="0" rIns="0" bIns="0" rtlCol="0" anchor="ctr"/>
          <a:lstStyle/>
          <a:p>
            <a:pPr marL="0" indent="0" algn="ctr">
              <a:buNone/>
            </a:pPr>
            <a:r>
              <a:rPr lang="en-US" sz="1440" b="1" dirty="0">
                <a:solidFill>
                  <a:srgbClr val="FFFFFF"/>
                </a:solidFill>
                <a:latin typeface="Calibri" pitchFamily="34" charset="0"/>
                <a:ea typeface="Calibri" pitchFamily="34" charset="-122"/>
                <a:cs typeface="Calibri" pitchFamily="34" charset="-120"/>
              </a:rPr>
              <a:t>5</a:t>
            </a:r>
            <a:endParaRPr lang="en-US" sz="1440" dirty="0"/>
          </a:p>
        </p:txBody>
      </p:sp>
      <p:sp>
        <p:nvSpPr>
          <p:cNvPr id="24" name="Text 21"/>
          <p:cNvSpPr txBox="1"/>
          <p:nvPr/>
        </p:nvSpPr>
        <p:spPr>
          <a:xfrm>
            <a:off x="1005840" y="3950208"/>
            <a:ext cx="4023360" cy="256032"/>
          </a:xfrm>
          <a:prstGeom prst="rect">
            <a:avLst/>
          </a:prstGeom>
          <a:noFill/>
          <a:ln/>
        </p:spPr>
        <p:txBody>
          <a:bodyPr wrap="square" lIns="0" tIns="0" rIns="0" bIns="0" rtlCol="0" anchor="t"/>
          <a:lstStyle/>
          <a:p>
            <a:pPr marL="0" indent="0">
              <a:buNone/>
            </a:pPr>
            <a:r>
              <a:rPr lang="en-US" sz="1350" b="1" dirty="0">
                <a:solidFill>
                  <a:srgbClr val="44546A"/>
                </a:solidFill>
                <a:latin typeface="Calibri" pitchFamily="34" charset="0"/>
                <a:ea typeface="Calibri" pitchFamily="34" charset="-122"/>
                <a:cs typeface="Calibri" pitchFamily="34" charset="-120"/>
              </a:rPr>
              <a:t>File it properly</a:t>
            </a:r>
            <a:endParaRPr lang="en-US" sz="1350" dirty="0"/>
          </a:p>
        </p:txBody>
      </p:sp>
      <p:sp>
        <p:nvSpPr>
          <p:cNvPr id="25" name="Text 22"/>
          <p:cNvSpPr txBox="1"/>
          <p:nvPr/>
        </p:nvSpPr>
        <p:spPr>
          <a:xfrm>
            <a:off x="1005840" y="4206240"/>
            <a:ext cx="4114800" cy="384048"/>
          </a:xfrm>
          <a:prstGeom prst="rect">
            <a:avLst/>
          </a:prstGeom>
          <a:noFill/>
          <a:ln/>
        </p:spPr>
        <p:txBody>
          <a:bodyPr wrap="square" lIns="0" tIns="0" rIns="0" bIns="0" rtlCol="0" anchor="t"/>
          <a:lstStyle/>
          <a:p>
            <a:pPr marL="0" indent="0">
              <a:buNone/>
            </a:pPr>
            <a:r>
              <a:rPr lang="en-US" sz="1100" dirty="0">
                <a:solidFill>
                  <a:srgbClr val="66758A"/>
                </a:solidFill>
                <a:latin typeface="Calibri" pitchFamily="34" charset="0"/>
                <a:ea typeface="Calibri" pitchFamily="34" charset="-122"/>
                <a:cs typeface="Calibri" pitchFamily="34" charset="-120"/>
              </a:rPr>
              <a:t>Course code, lecture title, date; keep in order.</a:t>
            </a:r>
            <a:endParaRPr lang="en-US" sz="1100" dirty="0"/>
          </a:p>
        </p:txBody>
      </p:sp>
      <p:sp>
        <p:nvSpPr>
          <p:cNvPr id="26" name="Text 23"/>
          <p:cNvSpPr txBox="1"/>
          <p:nvPr/>
        </p:nvSpPr>
        <p:spPr>
          <a:xfrm>
            <a:off x="5486400" y="1280160"/>
            <a:ext cx="3200400" cy="274320"/>
          </a:xfrm>
          <a:prstGeom prst="rect">
            <a:avLst/>
          </a:prstGeom>
          <a:noFill/>
          <a:ln/>
        </p:spPr>
        <p:txBody>
          <a:bodyPr wrap="square" lIns="0" tIns="0" rIns="0" bIns="0" rtlCol="0" anchor="t"/>
          <a:lstStyle/>
          <a:p>
            <a:pPr marL="0" indent="0">
              <a:buNone/>
            </a:pPr>
            <a:r>
              <a:rPr lang="en-US" sz="1500" b="1" dirty="0">
                <a:solidFill>
                  <a:srgbClr val="44546A"/>
                </a:solidFill>
                <a:latin typeface="Calibri" pitchFamily="34" charset="0"/>
                <a:ea typeface="Calibri" pitchFamily="34" charset="-122"/>
                <a:cs typeface="Calibri" pitchFamily="34" charset="-120"/>
              </a:rPr>
              <a:t>Review rhythm</a:t>
            </a:r>
            <a:endParaRPr lang="en-US" sz="1500" dirty="0"/>
          </a:p>
        </p:txBody>
      </p:sp>
      <p:sp>
        <p:nvSpPr>
          <p:cNvPr id="27" name="Shape 24"/>
          <p:cNvSpPr/>
          <p:nvPr/>
        </p:nvSpPr>
        <p:spPr>
          <a:xfrm>
            <a:off x="5486400" y="1645920"/>
            <a:ext cx="3200400" cy="777240"/>
          </a:xfrm>
          <a:prstGeom prst="roundRect">
            <a:avLst>
              <a:gd name="adj" fmla="val 9412"/>
            </a:avLst>
          </a:prstGeom>
          <a:solidFill>
            <a:srgbClr val="D8641A"/>
          </a:solidFill>
          <a:ln/>
        </p:spPr>
        <p:txBody>
          <a:bodyPr/>
          <a:lstStyle/>
          <a:p>
            <a:endParaRPr lang="en-US"/>
          </a:p>
        </p:txBody>
      </p:sp>
      <p:sp>
        <p:nvSpPr>
          <p:cNvPr id="28" name="Text 25"/>
          <p:cNvSpPr txBox="1"/>
          <p:nvPr/>
        </p:nvSpPr>
        <p:spPr>
          <a:xfrm>
            <a:off x="5623560" y="1737360"/>
            <a:ext cx="2926080" cy="274320"/>
          </a:xfrm>
          <a:prstGeom prst="rect">
            <a:avLst/>
          </a:prstGeom>
          <a:noFill/>
          <a:ln/>
        </p:spPr>
        <p:txBody>
          <a:bodyPr wrap="square" lIns="0" tIns="0" rIns="0" bIns="0" rtlCol="0" anchor="t"/>
          <a:lstStyle/>
          <a:p>
            <a:pPr marL="0" indent="0">
              <a:buNone/>
            </a:pPr>
            <a:r>
              <a:rPr lang="en-US" sz="1400" b="1" kern="0" spc="200" dirty="0">
                <a:solidFill>
                  <a:srgbClr val="FFFFFF"/>
                </a:solidFill>
                <a:latin typeface="Calibri" pitchFamily="34" charset="0"/>
                <a:ea typeface="Calibri" pitchFamily="34" charset="-122"/>
                <a:cs typeface="Calibri" pitchFamily="34" charset="-120"/>
              </a:rPr>
              <a:t>DAILY</a:t>
            </a:r>
            <a:endParaRPr lang="en-US" sz="1400" dirty="0"/>
          </a:p>
        </p:txBody>
      </p:sp>
      <p:sp>
        <p:nvSpPr>
          <p:cNvPr id="29" name="Text 26"/>
          <p:cNvSpPr txBox="1"/>
          <p:nvPr/>
        </p:nvSpPr>
        <p:spPr>
          <a:xfrm>
            <a:off x="5623560" y="2029968"/>
            <a:ext cx="2926080" cy="32004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quick re-read of today's notes</a:t>
            </a:r>
            <a:endParaRPr lang="en-US" sz="1150" dirty="0"/>
          </a:p>
        </p:txBody>
      </p:sp>
      <p:sp>
        <p:nvSpPr>
          <p:cNvPr id="30" name="Shape 27"/>
          <p:cNvSpPr/>
          <p:nvPr/>
        </p:nvSpPr>
        <p:spPr>
          <a:xfrm>
            <a:off x="5486400" y="2542032"/>
            <a:ext cx="3200400" cy="777240"/>
          </a:xfrm>
          <a:prstGeom prst="roundRect">
            <a:avLst>
              <a:gd name="adj" fmla="val 9412"/>
            </a:avLst>
          </a:prstGeom>
          <a:solidFill>
            <a:srgbClr val="4472C4"/>
          </a:solidFill>
          <a:ln/>
        </p:spPr>
        <p:txBody>
          <a:bodyPr/>
          <a:lstStyle/>
          <a:p>
            <a:endParaRPr lang="en-US"/>
          </a:p>
        </p:txBody>
      </p:sp>
      <p:sp>
        <p:nvSpPr>
          <p:cNvPr id="31" name="Text 28"/>
          <p:cNvSpPr txBox="1"/>
          <p:nvPr/>
        </p:nvSpPr>
        <p:spPr>
          <a:xfrm>
            <a:off x="5623560" y="2633472"/>
            <a:ext cx="2926080" cy="274320"/>
          </a:xfrm>
          <a:prstGeom prst="rect">
            <a:avLst/>
          </a:prstGeom>
          <a:noFill/>
          <a:ln/>
        </p:spPr>
        <p:txBody>
          <a:bodyPr wrap="square" lIns="0" tIns="0" rIns="0" bIns="0" rtlCol="0" anchor="t"/>
          <a:lstStyle/>
          <a:p>
            <a:pPr marL="0" indent="0">
              <a:buNone/>
            </a:pPr>
            <a:r>
              <a:rPr lang="en-US" sz="1400" b="1" kern="0" spc="200" dirty="0">
                <a:solidFill>
                  <a:srgbClr val="FFFFFF"/>
                </a:solidFill>
                <a:latin typeface="Calibri" pitchFamily="34" charset="0"/>
                <a:ea typeface="Calibri" pitchFamily="34" charset="-122"/>
                <a:cs typeface="Calibri" pitchFamily="34" charset="-120"/>
              </a:rPr>
              <a:t>WEEKLY</a:t>
            </a:r>
            <a:endParaRPr lang="en-US" sz="1400" dirty="0"/>
          </a:p>
        </p:txBody>
      </p:sp>
      <p:sp>
        <p:nvSpPr>
          <p:cNvPr id="32" name="Text 29"/>
          <p:cNvSpPr txBox="1"/>
          <p:nvPr/>
        </p:nvSpPr>
        <p:spPr>
          <a:xfrm>
            <a:off x="5623560" y="2926080"/>
            <a:ext cx="2926080" cy="32004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review all the week's notes</a:t>
            </a:r>
            <a:endParaRPr lang="en-US" sz="1150" dirty="0"/>
          </a:p>
        </p:txBody>
      </p:sp>
      <p:sp>
        <p:nvSpPr>
          <p:cNvPr id="33" name="Shape 30"/>
          <p:cNvSpPr/>
          <p:nvPr/>
        </p:nvSpPr>
        <p:spPr>
          <a:xfrm>
            <a:off x="5486400" y="3438144"/>
            <a:ext cx="3200400" cy="777240"/>
          </a:xfrm>
          <a:prstGeom prst="roundRect">
            <a:avLst>
              <a:gd name="adj" fmla="val 9412"/>
            </a:avLst>
          </a:prstGeom>
          <a:solidFill>
            <a:srgbClr val="FFC000"/>
          </a:solidFill>
          <a:ln/>
        </p:spPr>
        <p:txBody>
          <a:bodyPr/>
          <a:lstStyle/>
          <a:p>
            <a:endParaRPr lang="en-US"/>
          </a:p>
        </p:txBody>
      </p:sp>
      <p:sp>
        <p:nvSpPr>
          <p:cNvPr id="34" name="Text 31"/>
          <p:cNvSpPr txBox="1"/>
          <p:nvPr/>
        </p:nvSpPr>
        <p:spPr>
          <a:xfrm>
            <a:off x="5623560" y="3529584"/>
            <a:ext cx="2926080" cy="274320"/>
          </a:xfrm>
          <a:prstGeom prst="rect">
            <a:avLst/>
          </a:prstGeom>
          <a:noFill/>
          <a:ln/>
        </p:spPr>
        <p:txBody>
          <a:bodyPr wrap="square" lIns="0" tIns="0" rIns="0" bIns="0" rtlCol="0" anchor="t"/>
          <a:lstStyle/>
          <a:p>
            <a:pPr marL="0" indent="0">
              <a:buNone/>
            </a:pPr>
            <a:r>
              <a:rPr lang="en-US" sz="1400" b="1" kern="0" spc="200" dirty="0">
                <a:solidFill>
                  <a:srgbClr val="44546A"/>
                </a:solidFill>
                <a:latin typeface="Calibri" pitchFamily="34" charset="0"/>
                <a:ea typeface="Calibri" pitchFamily="34" charset="-122"/>
                <a:cs typeface="Calibri" pitchFamily="34" charset="-120"/>
              </a:rPr>
              <a:t>BEFORE A TEST</a:t>
            </a:r>
            <a:endParaRPr lang="en-US" sz="1400" dirty="0"/>
          </a:p>
        </p:txBody>
      </p:sp>
      <p:sp>
        <p:nvSpPr>
          <p:cNvPr id="35" name="Text 32"/>
          <p:cNvSpPr txBox="1"/>
          <p:nvPr/>
        </p:nvSpPr>
        <p:spPr>
          <a:xfrm>
            <a:off x="5623560" y="3822192"/>
            <a:ext cx="2926080" cy="320040"/>
          </a:xfrm>
          <a:prstGeom prst="rect">
            <a:avLst/>
          </a:prstGeom>
          <a:noFill/>
          <a:ln/>
        </p:spPr>
        <p:txBody>
          <a:bodyPr wrap="square" lIns="0" tIns="0" rIns="0" bIns="0" rtlCol="0" anchor="t"/>
          <a:lstStyle/>
          <a:p>
            <a:pPr marL="0" indent="0">
              <a:buNone/>
            </a:pPr>
            <a:r>
              <a:rPr lang="en-US" sz="1150" dirty="0">
                <a:solidFill>
                  <a:srgbClr val="44546A"/>
                </a:solidFill>
                <a:latin typeface="Calibri" pitchFamily="34" charset="0"/>
                <a:ea typeface="Calibri" pitchFamily="34" charset="-122"/>
                <a:cs typeface="Calibri" pitchFamily="34" charset="-120"/>
              </a:rPr>
              <a:t>major review using cues and flashcards</a:t>
            </a:r>
            <a:endParaRPr lang="en-US" sz="1150" dirty="0"/>
          </a:p>
        </p:txBody>
      </p:sp>
      <p:sp>
        <p:nvSpPr>
          <p:cNvPr id="36" name="Text 33"/>
          <p:cNvSpPr txBox="1"/>
          <p:nvPr/>
        </p:nvSpPr>
        <p:spPr>
          <a:xfrm>
            <a:off x="5486400" y="4389120"/>
            <a:ext cx="3200400" cy="274320"/>
          </a:xfrm>
          <a:prstGeom prst="rect">
            <a:avLst/>
          </a:prstGeom>
          <a:noFill/>
          <a:ln/>
        </p:spPr>
        <p:txBody>
          <a:bodyPr wrap="square" lIns="0" tIns="0" rIns="0" bIns="0" rtlCol="0" anchor="t"/>
          <a:lstStyle/>
          <a:p>
            <a:pPr marL="0" indent="0">
              <a:buNone/>
            </a:pPr>
            <a:r>
              <a:rPr lang="en-US" sz="1200" b="1" i="1" dirty="0">
                <a:solidFill>
                  <a:srgbClr val="D8641A"/>
                </a:solidFill>
                <a:latin typeface="Calibri" pitchFamily="34" charset="0"/>
                <a:ea typeface="Calibri" pitchFamily="34" charset="-122"/>
                <a:cs typeface="Calibri" pitchFamily="34" charset="-120"/>
              </a:rPr>
              <a:t>Edit your notes; don't just copy them.</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PUT IT INTO PRACTICE</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Active listening in discussions and lectures</a:t>
            </a:r>
            <a:endParaRPr lang="en-US" sz="3000" dirty="0"/>
          </a:p>
        </p:txBody>
      </p:sp>
      <p:sp>
        <p:nvSpPr>
          <p:cNvPr id="6" name="Shape 3"/>
          <p:cNvSpPr/>
          <p:nvPr/>
        </p:nvSpPr>
        <p:spPr>
          <a:xfrm>
            <a:off x="457200" y="1280160"/>
            <a:ext cx="4023360" cy="2743200"/>
          </a:xfrm>
          <a:prstGeom prst="roundRect">
            <a:avLst>
              <a:gd name="adj" fmla="val 2667"/>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640080" y="1417320"/>
            <a:ext cx="457200" cy="457200"/>
          </a:xfrm>
          <a:prstGeom prst="ellipse">
            <a:avLst/>
          </a:prstGeom>
          <a:solidFill>
            <a:srgbClr val="D8641A"/>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754380" y="1531620"/>
            <a:ext cx="228600" cy="228600"/>
          </a:xfrm>
          <a:prstGeom prst="rect">
            <a:avLst/>
          </a:prstGeom>
        </p:spPr>
      </p:pic>
      <p:sp>
        <p:nvSpPr>
          <p:cNvPr id="9" name="Text 5"/>
          <p:cNvSpPr txBox="1"/>
          <p:nvPr/>
        </p:nvSpPr>
        <p:spPr>
          <a:xfrm>
            <a:off x="1234440" y="1463040"/>
            <a:ext cx="3108960" cy="365760"/>
          </a:xfrm>
          <a:prstGeom prst="rect">
            <a:avLst/>
          </a:prstGeom>
          <a:noFill/>
          <a:ln/>
        </p:spPr>
        <p:txBody>
          <a:bodyPr wrap="square" lIns="0" tIns="0" rIns="0" bIns="0" rtlCol="0" anchor="ctr"/>
          <a:lstStyle/>
          <a:p>
            <a:pPr marL="0" indent="0">
              <a:buNone/>
            </a:pPr>
            <a:r>
              <a:rPr lang="en-US" sz="1600" b="1" dirty="0">
                <a:solidFill>
                  <a:srgbClr val="44546A"/>
                </a:solidFill>
                <a:latin typeface="Calibri" pitchFamily="34" charset="0"/>
                <a:ea typeface="Calibri" pitchFamily="34" charset="-122"/>
                <a:cs typeface="Calibri" pitchFamily="34" charset="-120"/>
              </a:rPr>
              <a:t>In class discussions</a:t>
            </a:r>
            <a:endParaRPr lang="en-US" sz="1600" dirty="0"/>
          </a:p>
        </p:txBody>
      </p:sp>
      <p:sp>
        <p:nvSpPr>
          <p:cNvPr id="10" name="Text 6"/>
          <p:cNvSpPr txBox="1"/>
          <p:nvPr/>
        </p:nvSpPr>
        <p:spPr>
          <a:xfrm>
            <a:off x="685800" y="2011680"/>
            <a:ext cx="365760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22B36"/>
                </a:solidFill>
                <a:latin typeface="Calibri" pitchFamily="34" charset="0"/>
                <a:ea typeface="Calibri" pitchFamily="34" charset="-122"/>
                <a:cs typeface="Calibri" pitchFamily="34" charset="-120"/>
              </a:rPr>
              <a:t>Look at whoever is speaking</a:t>
            </a:r>
            <a:endParaRPr lang="en-US" sz="1300" dirty="0"/>
          </a:p>
          <a:p>
            <a:pPr marL="342900" indent="-342900">
              <a:spcAft>
                <a:spcPts val="600"/>
              </a:spcAft>
              <a:buSzPct val="100000"/>
              <a:buChar char="•"/>
            </a:pPr>
            <a:r>
              <a:rPr lang="en-US" sz="1300" dirty="0">
                <a:solidFill>
                  <a:srgbClr val="222B36"/>
                </a:solidFill>
                <a:latin typeface="Calibri" pitchFamily="34" charset="0"/>
                <a:ea typeface="Calibri" pitchFamily="34" charset="-122"/>
                <a:cs typeface="Calibri" pitchFamily="34" charset="-120"/>
              </a:rPr>
              <a:t>Nod and use "I see" or "Right"</a:t>
            </a:r>
            <a:endParaRPr lang="en-US" sz="1300" dirty="0"/>
          </a:p>
          <a:p>
            <a:pPr marL="342900" indent="-342900">
              <a:spcAft>
                <a:spcPts val="600"/>
              </a:spcAft>
              <a:buSzPct val="100000"/>
              <a:buChar char="•"/>
            </a:pPr>
            <a:r>
              <a:rPr lang="en-US" sz="1300" dirty="0">
                <a:solidFill>
                  <a:srgbClr val="222B36"/>
                </a:solidFill>
                <a:latin typeface="Calibri" pitchFamily="34" charset="0"/>
                <a:ea typeface="Calibri" pitchFamily="34" charset="-122"/>
                <a:cs typeface="Calibri" pitchFamily="34" charset="-120"/>
              </a:rPr>
              <a:t>Paraphrase before you reply: "So you're saying…"</a:t>
            </a:r>
            <a:endParaRPr lang="en-US" sz="1300" dirty="0"/>
          </a:p>
          <a:p>
            <a:pPr marL="342900" indent="-342900">
              <a:spcAft>
                <a:spcPts val="600"/>
              </a:spcAft>
              <a:buSzPct val="100000"/>
              <a:buChar char="•"/>
            </a:pPr>
            <a:r>
              <a:rPr lang="en-US" sz="1300" dirty="0">
                <a:solidFill>
                  <a:srgbClr val="222B36"/>
                </a:solidFill>
                <a:latin typeface="Calibri" pitchFamily="34" charset="0"/>
                <a:ea typeface="Calibri" pitchFamily="34" charset="-122"/>
                <a:cs typeface="Calibri" pitchFamily="34" charset="-120"/>
              </a:rPr>
              <a:t>Ask open questions: how, what, tell me more</a:t>
            </a:r>
            <a:endParaRPr lang="en-US" sz="1300" dirty="0"/>
          </a:p>
          <a:p>
            <a:pPr marL="342900" indent="-342900">
              <a:spcAft>
                <a:spcPts val="600"/>
              </a:spcAft>
              <a:buSzPct val="100000"/>
              <a:buChar char="•"/>
            </a:pPr>
            <a:r>
              <a:rPr lang="en-US" sz="1300" dirty="0">
                <a:solidFill>
                  <a:srgbClr val="222B36"/>
                </a:solidFill>
                <a:latin typeface="Calibri" pitchFamily="34" charset="0"/>
                <a:ea typeface="Calibri" pitchFamily="34" charset="-122"/>
                <a:cs typeface="Calibri" pitchFamily="34" charset="-120"/>
              </a:rPr>
              <a:t>Hold your judgment; disagree politely after they finish</a:t>
            </a:r>
            <a:endParaRPr lang="en-US" sz="1300" dirty="0"/>
          </a:p>
        </p:txBody>
      </p:sp>
      <p:sp>
        <p:nvSpPr>
          <p:cNvPr id="11" name="Shape 7"/>
          <p:cNvSpPr/>
          <p:nvPr/>
        </p:nvSpPr>
        <p:spPr>
          <a:xfrm>
            <a:off x="4663440" y="1280160"/>
            <a:ext cx="4023360" cy="2743200"/>
          </a:xfrm>
          <a:prstGeom prst="roundRect">
            <a:avLst>
              <a:gd name="adj" fmla="val 2667"/>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12" name="Shape 8"/>
          <p:cNvSpPr/>
          <p:nvPr/>
        </p:nvSpPr>
        <p:spPr>
          <a:xfrm>
            <a:off x="4846320" y="1417320"/>
            <a:ext cx="457200" cy="457200"/>
          </a:xfrm>
          <a:prstGeom prst="ellipse">
            <a:avLst/>
          </a:prstGeom>
          <a:solidFill>
            <a:srgbClr val="4472C4"/>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960620" y="1531620"/>
            <a:ext cx="228600" cy="228600"/>
          </a:xfrm>
          <a:prstGeom prst="rect">
            <a:avLst/>
          </a:prstGeom>
        </p:spPr>
      </p:pic>
      <p:sp>
        <p:nvSpPr>
          <p:cNvPr id="14" name="Text 9"/>
          <p:cNvSpPr txBox="1"/>
          <p:nvPr/>
        </p:nvSpPr>
        <p:spPr>
          <a:xfrm>
            <a:off x="5440680" y="1463040"/>
            <a:ext cx="3108960" cy="365760"/>
          </a:xfrm>
          <a:prstGeom prst="rect">
            <a:avLst/>
          </a:prstGeom>
          <a:noFill/>
          <a:ln/>
        </p:spPr>
        <p:txBody>
          <a:bodyPr wrap="square" lIns="0" tIns="0" rIns="0" bIns="0" rtlCol="0" anchor="ctr"/>
          <a:lstStyle/>
          <a:p>
            <a:pPr marL="0" indent="0">
              <a:buNone/>
            </a:pPr>
            <a:r>
              <a:rPr lang="en-US" sz="1600" b="1" dirty="0">
                <a:solidFill>
                  <a:srgbClr val="44546A"/>
                </a:solidFill>
                <a:latin typeface="Calibri" pitchFamily="34" charset="0"/>
                <a:ea typeface="Calibri" pitchFamily="34" charset="-122"/>
                <a:cs typeface="Calibri" pitchFamily="34" charset="-120"/>
              </a:rPr>
              <a:t>In lectures</a:t>
            </a:r>
            <a:endParaRPr lang="en-US" sz="1600" dirty="0"/>
          </a:p>
        </p:txBody>
      </p:sp>
      <p:sp>
        <p:nvSpPr>
          <p:cNvPr id="15" name="Text 10"/>
          <p:cNvSpPr txBox="1"/>
          <p:nvPr/>
        </p:nvSpPr>
        <p:spPr>
          <a:xfrm>
            <a:off x="4892040" y="2011680"/>
            <a:ext cx="365760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22B36"/>
                </a:solidFill>
                <a:latin typeface="Calibri" pitchFamily="34" charset="0"/>
                <a:ea typeface="Calibri" pitchFamily="34" charset="-122"/>
                <a:cs typeface="Calibri" pitchFamily="34" charset="-120"/>
              </a:rPr>
              <a:t>Sit near the front; phone away</a:t>
            </a:r>
            <a:endParaRPr lang="en-US" sz="1300" dirty="0"/>
          </a:p>
          <a:p>
            <a:pPr marL="342900" indent="-342900">
              <a:spcAft>
                <a:spcPts val="600"/>
              </a:spcAft>
              <a:buSzPct val="100000"/>
              <a:buChar char="•"/>
            </a:pPr>
            <a:r>
              <a:rPr lang="en-US" sz="1300" dirty="0">
                <a:solidFill>
                  <a:srgbClr val="222B36"/>
                </a:solidFill>
                <a:latin typeface="Calibri" pitchFamily="34" charset="0"/>
                <a:ea typeface="Calibri" pitchFamily="34" charset="-122"/>
                <a:cs typeface="Calibri" pitchFamily="34" charset="-120"/>
              </a:rPr>
              <a:t>Preview the topic and readings</a:t>
            </a:r>
            <a:endParaRPr lang="en-US" sz="1300" dirty="0"/>
          </a:p>
          <a:p>
            <a:pPr marL="342900" indent="-342900">
              <a:spcAft>
                <a:spcPts val="600"/>
              </a:spcAft>
              <a:buSzPct val="100000"/>
              <a:buChar char="•"/>
            </a:pPr>
            <a:r>
              <a:rPr lang="en-US" sz="1300" dirty="0">
                <a:solidFill>
                  <a:srgbClr val="222B36"/>
                </a:solidFill>
                <a:latin typeface="Calibri" pitchFamily="34" charset="0"/>
                <a:ea typeface="Calibri" pitchFamily="34" charset="-122"/>
                <a:cs typeface="Calibri" pitchFamily="34" charset="-120"/>
              </a:rPr>
              <a:t>Listen for cue words and repeated points</a:t>
            </a:r>
            <a:endParaRPr lang="en-US" sz="1300" dirty="0"/>
          </a:p>
          <a:p>
            <a:pPr marL="342900" indent="-342900">
              <a:spcAft>
                <a:spcPts val="600"/>
              </a:spcAft>
              <a:buSzPct val="100000"/>
              <a:buChar char="•"/>
            </a:pPr>
            <a:r>
              <a:rPr lang="en-US" sz="1300" dirty="0">
                <a:solidFill>
                  <a:srgbClr val="222B36"/>
                </a:solidFill>
                <a:latin typeface="Calibri" pitchFamily="34" charset="0"/>
                <a:ea typeface="Calibri" pitchFamily="34" charset="-122"/>
                <a:cs typeface="Calibri" pitchFamily="34" charset="-120"/>
              </a:rPr>
              <a:t>Mark examples with EX; note your questions</a:t>
            </a:r>
            <a:endParaRPr lang="en-US" sz="1300" dirty="0"/>
          </a:p>
          <a:p>
            <a:pPr marL="342900" indent="-342900">
              <a:spcAft>
                <a:spcPts val="600"/>
              </a:spcAft>
              <a:buSzPct val="100000"/>
              <a:buChar char="•"/>
            </a:pPr>
            <a:r>
              <a:rPr lang="en-US" sz="1300" dirty="0">
                <a:solidFill>
                  <a:srgbClr val="222B36"/>
                </a:solidFill>
                <a:latin typeface="Calibri" pitchFamily="34" charset="0"/>
                <a:ea typeface="Calibri" pitchFamily="34" charset="-122"/>
                <a:cs typeface="Calibri" pitchFamily="34" charset="-120"/>
              </a:rPr>
              <a:t>Ask the lecturer when you're lost</a:t>
            </a:r>
            <a:endParaRPr lang="en-US" sz="1300" dirty="0"/>
          </a:p>
        </p:txBody>
      </p:sp>
      <p:sp>
        <p:nvSpPr>
          <p:cNvPr id="16" name="Shape 11"/>
          <p:cNvSpPr/>
          <p:nvPr/>
        </p:nvSpPr>
        <p:spPr>
          <a:xfrm>
            <a:off x="457200" y="4206240"/>
            <a:ext cx="8229600" cy="457200"/>
          </a:xfrm>
          <a:prstGeom prst="roundRect">
            <a:avLst>
              <a:gd name="adj" fmla="val 16000"/>
            </a:avLst>
          </a:prstGeom>
          <a:solidFill>
            <a:srgbClr val="44546A"/>
          </a:solidFill>
          <a:ln/>
        </p:spPr>
        <p:txBody>
          <a:bodyPr/>
          <a:lstStyle/>
          <a:p>
            <a:endParaRPr lang="en-US"/>
          </a:p>
        </p:txBody>
      </p:sp>
      <p:sp>
        <p:nvSpPr>
          <p:cNvPr id="17" name="Text 12"/>
          <p:cNvSpPr txBox="1"/>
          <p:nvPr/>
        </p:nvSpPr>
        <p:spPr>
          <a:xfrm>
            <a:off x="457200" y="4206240"/>
            <a:ext cx="82296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Challenge: pick two skills to practice this week and track how often you use them.</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100" b="1" kern="0" spc="300" dirty="0">
                <a:solidFill>
                  <a:srgbClr val="D8641A"/>
                </a:solidFill>
                <a:latin typeface="Calibri" pitchFamily="34" charset="0"/>
                <a:ea typeface="Calibri" pitchFamily="34" charset="-122"/>
                <a:cs typeface="Calibri" pitchFamily="34" charset="-120"/>
              </a:rPr>
              <a:t>REVISION GAME · TEAMS</a:t>
            </a:r>
            <a:endParaRPr lang="en-US" sz="1100" dirty="0"/>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Find the mistake (1–10)</a:t>
            </a:r>
            <a:endParaRPr lang="en-US" sz="3000" dirty="0"/>
          </a:p>
        </p:txBody>
      </p:sp>
      <p:sp>
        <p:nvSpPr>
          <p:cNvPr id="6" name="Text 3"/>
          <p:cNvSpPr txBox="1"/>
          <p:nvPr/>
        </p:nvSpPr>
        <p:spPr>
          <a:xfrm>
            <a:off x="457200" y="1188720"/>
            <a:ext cx="3840480" cy="274320"/>
          </a:xfrm>
          <a:prstGeom prst="rect">
            <a:avLst/>
          </a:prstGeom>
          <a:noFill/>
          <a:ln/>
        </p:spPr>
        <p:txBody>
          <a:bodyPr wrap="square" lIns="0" tIns="0" rIns="0" bIns="0" rtlCol="0" anchor="t"/>
          <a:lstStyle/>
          <a:p>
            <a:pPr marL="0" indent="0">
              <a:buNone/>
            </a:pPr>
            <a:r>
              <a:rPr lang="en-US" sz="1200" b="1" kern="0" spc="300" dirty="0">
                <a:solidFill>
                  <a:srgbClr val="D8641A"/>
                </a:solidFill>
                <a:latin typeface="Calibri" pitchFamily="34" charset="0"/>
                <a:ea typeface="Calibri" pitchFamily="34" charset="-122"/>
                <a:cs typeface="Calibri" pitchFamily="34" charset="-120"/>
              </a:rPr>
              <a:t>MYTH</a:t>
            </a:r>
            <a:endParaRPr lang="en-US" sz="1200" dirty="0"/>
          </a:p>
        </p:txBody>
      </p:sp>
      <p:sp>
        <p:nvSpPr>
          <p:cNvPr id="8" name="Shape 5"/>
          <p:cNvSpPr/>
          <p:nvPr/>
        </p:nvSpPr>
        <p:spPr>
          <a:xfrm>
            <a:off x="457200" y="1508760"/>
            <a:ext cx="3931920" cy="548640"/>
          </a:xfrm>
          <a:prstGeom prst="roundRect">
            <a:avLst>
              <a:gd name="adj" fmla="val 13333"/>
            </a:avLst>
          </a:prstGeom>
          <a:solidFill>
            <a:srgbClr val="FBE5D6"/>
          </a:solidFill>
          <a:ln/>
        </p:spPr>
        <p:txBody>
          <a:bodyPr/>
          <a:lstStyle/>
          <a:p>
            <a:endParaRPr lang="en-US"/>
          </a:p>
        </p:txBody>
      </p:sp>
      <p:sp>
        <p:nvSpPr>
          <p:cNvPr id="9" name="Text 6"/>
          <p:cNvSpPr txBox="1"/>
          <p:nvPr/>
        </p:nvSpPr>
        <p:spPr>
          <a:xfrm>
            <a:off x="594360" y="1508760"/>
            <a:ext cx="3657600" cy="548640"/>
          </a:xfrm>
          <a:prstGeom prst="rect">
            <a:avLst/>
          </a:prstGeom>
          <a:noFill/>
          <a:ln/>
        </p:spPr>
        <p:txBody>
          <a:bodyPr wrap="square" lIns="0" tIns="0" rIns="0" bIns="0" rtlCol="0" anchor="ctr"/>
          <a:lstStyle/>
          <a:p>
            <a:pPr marL="0" indent="0">
              <a:buNone/>
            </a:pPr>
            <a:r>
              <a:rPr lang="en-US" sz="1200" dirty="0">
                <a:solidFill>
                  <a:srgbClr val="222B36"/>
                </a:solidFill>
                <a:latin typeface="Calibri" pitchFamily="34" charset="0"/>
                <a:ea typeface="Calibri" pitchFamily="34" charset="-122"/>
                <a:cs typeface="Calibri" pitchFamily="34" charset="-120"/>
              </a:rPr>
              <a:t>Good listeners never ask questions.</a:t>
            </a:r>
            <a:endParaRPr lang="en-US" sz="1200" dirty="0"/>
          </a:p>
        </p:txBody>
      </p:sp>
      <p:sp>
        <p:nvSpPr>
          <p:cNvPr id="13" name="Shape 9"/>
          <p:cNvSpPr/>
          <p:nvPr/>
        </p:nvSpPr>
        <p:spPr>
          <a:xfrm>
            <a:off x="457200" y="2148840"/>
            <a:ext cx="3931920" cy="548640"/>
          </a:xfrm>
          <a:prstGeom prst="roundRect">
            <a:avLst>
              <a:gd name="adj" fmla="val 13333"/>
            </a:avLst>
          </a:prstGeom>
          <a:solidFill>
            <a:srgbClr val="FBE5D6"/>
          </a:solidFill>
          <a:ln/>
        </p:spPr>
        <p:txBody>
          <a:bodyPr/>
          <a:lstStyle/>
          <a:p>
            <a:endParaRPr lang="en-US"/>
          </a:p>
        </p:txBody>
      </p:sp>
      <p:sp>
        <p:nvSpPr>
          <p:cNvPr id="14" name="Text 10"/>
          <p:cNvSpPr txBox="1"/>
          <p:nvPr/>
        </p:nvSpPr>
        <p:spPr>
          <a:xfrm>
            <a:off x="594360" y="2148840"/>
            <a:ext cx="3657600" cy="548640"/>
          </a:xfrm>
          <a:prstGeom prst="rect">
            <a:avLst/>
          </a:prstGeom>
          <a:noFill/>
          <a:ln/>
        </p:spPr>
        <p:txBody>
          <a:bodyPr wrap="square" lIns="0" tIns="0" rIns="0" bIns="0" rtlCol="0" anchor="ctr"/>
          <a:lstStyle/>
          <a:p>
            <a:pPr marL="0" indent="0">
              <a:buNone/>
            </a:pPr>
            <a:r>
              <a:rPr lang="en-US" sz="1200" dirty="0">
                <a:solidFill>
                  <a:srgbClr val="222B36"/>
                </a:solidFill>
                <a:latin typeface="Calibri" pitchFamily="34" charset="0"/>
                <a:ea typeface="Calibri" pitchFamily="34" charset="-122"/>
                <a:cs typeface="Calibri" pitchFamily="34" charset="-120"/>
              </a:rPr>
              <a:t>You must write down everything in a lecture.</a:t>
            </a:r>
            <a:endParaRPr lang="en-US" sz="1200" dirty="0"/>
          </a:p>
        </p:txBody>
      </p:sp>
      <p:sp>
        <p:nvSpPr>
          <p:cNvPr id="18" name="Shape 13"/>
          <p:cNvSpPr/>
          <p:nvPr/>
        </p:nvSpPr>
        <p:spPr>
          <a:xfrm>
            <a:off x="457200" y="2788920"/>
            <a:ext cx="3931920" cy="548640"/>
          </a:xfrm>
          <a:prstGeom prst="roundRect">
            <a:avLst>
              <a:gd name="adj" fmla="val 13333"/>
            </a:avLst>
          </a:prstGeom>
          <a:solidFill>
            <a:srgbClr val="FBE5D6"/>
          </a:solidFill>
          <a:ln/>
        </p:spPr>
        <p:txBody>
          <a:bodyPr/>
          <a:lstStyle/>
          <a:p>
            <a:endParaRPr lang="en-US"/>
          </a:p>
        </p:txBody>
      </p:sp>
      <p:sp>
        <p:nvSpPr>
          <p:cNvPr id="19" name="Text 14"/>
          <p:cNvSpPr txBox="1"/>
          <p:nvPr/>
        </p:nvSpPr>
        <p:spPr>
          <a:xfrm>
            <a:off x="594360" y="2788920"/>
            <a:ext cx="3657600" cy="548640"/>
          </a:xfrm>
          <a:prstGeom prst="rect">
            <a:avLst/>
          </a:prstGeom>
          <a:noFill/>
          <a:ln/>
        </p:spPr>
        <p:txBody>
          <a:bodyPr wrap="square" lIns="0" tIns="0" rIns="0" bIns="0" rtlCol="0" anchor="ctr"/>
          <a:lstStyle/>
          <a:p>
            <a:pPr marL="0" indent="0">
              <a:buNone/>
            </a:pPr>
            <a:r>
              <a:rPr lang="en-US" sz="1200" dirty="0">
                <a:solidFill>
                  <a:srgbClr val="222B36"/>
                </a:solidFill>
                <a:latin typeface="Calibri" pitchFamily="34" charset="0"/>
                <a:ea typeface="Calibri" pitchFamily="34" charset="-122"/>
                <a:cs typeface="Calibri" pitchFamily="34" charset="-120"/>
              </a:rPr>
              <a:t>Note-taking and listening are the same skill.</a:t>
            </a:r>
            <a:endParaRPr lang="en-US" sz="1200" dirty="0"/>
          </a:p>
        </p:txBody>
      </p:sp>
      <p:sp>
        <p:nvSpPr>
          <p:cNvPr id="23" name="Shape 17"/>
          <p:cNvSpPr/>
          <p:nvPr/>
        </p:nvSpPr>
        <p:spPr>
          <a:xfrm>
            <a:off x="457200" y="3429000"/>
            <a:ext cx="3931920" cy="548640"/>
          </a:xfrm>
          <a:prstGeom prst="roundRect">
            <a:avLst>
              <a:gd name="adj" fmla="val 13333"/>
            </a:avLst>
          </a:prstGeom>
          <a:solidFill>
            <a:srgbClr val="FBE5D6"/>
          </a:solidFill>
          <a:ln/>
        </p:spPr>
        <p:txBody>
          <a:bodyPr/>
          <a:lstStyle/>
          <a:p>
            <a:endParaRPr lang="en-US"/>
          </a:p>
        </p:txBody>
      </p:sp>
      <p:sp>
        <p:nvSpPr>
          <p:cNvPr id="24" name="Text 18"/>
          <p:cNvSpPr txBox="1"/>
          <p:nvPr/>
        </p:nvSpPr>
        <p:spPr>
          <a:xfrm>
            <a:off x="594360" y="3429000"/>
            <a:ext cx="3657600" cy="548640"/>
          </a:xfrm>
          <a:prstGeom prst="rect">
            <a:avLst/>
          </a:prstGeom>
          <a:noFill/>
          <a:ln/>
        </p:spPr>
        <p:txBody>
          <a:bodyPr wrap="square" lIns="0" tIns="0" rIns="0" bIns="0" rtlCol="0" anchor="ctr"/>
          <a:lstStyle/>
          <a:p>
            <a:pPr marL="0" indent="0">
              <a:buNone/>
            </a:pPr>
            <a:r>
              <a:rPr lang="en-US" sz="1200" dirty="0">
                <a:solidFill>
                  <a:srgbClr val="222B36"/>
                </a:solidFill>
                <a:latin typeface="Calibri" pitchFamily="34" charset="0"/>
                <a:ea typeface="Calibri" pitchFamily="34" charset="-122"/>
                <a:cs typeface="Calibri" pitchFamily="34" charset="-120"/>
              </a:rPr>
              <a:t>The main idea is always in the first sentence.</a:t>
            </a:r>
            <a:endParaRPr lang="en-US" sz="1200" dirty="0"/>
          </a:p>
        </p:txBody>
      </p:sp>
      <p:sp>
        <p:nvSpPr>
          <p:cNvPr id="28" name="Shape 21"/>
          <p:cNvSpPr/>
          <p:nvPr/>
        </p:nvSpPr>
        <p:spPr>
          <a:xfrm>
            <a:off x="457200" y="4069080"/>
            <a:ext cx="3931920" cy="548640"/>
          </a:xfrm>
          <a:prstGeom prst="roundRect">
            <a:avLst>
              <a:gd name="adj" fmla="val 13333"/>
            </a:avLst>
          </a:prstGeom>
          <a:solidFill>
            <a:srgbClr val="FBE5D6"/>
          </a:solidFill>
          <a:ln/>
        </p:spPr>
        <p:txBody>
          <a:bodyPr/>
          <a:lstStyle/>
          <a:p>
            <a:endParaRPr lang="en-US"/>
          </a:p>
        </p:txBody>
      </p:sp>
      <p:sp>
        <p:nvSpPr>
          <p:cNvPr id="29" name="Text 22"/>
          <p:cNvSpPr txBox="1"/>
          <p:nvPr/>
        </p:nvSpPr>
        <p:spPr>
          <a:xfrm>
            <a:off x="594360" y="4069080"/>
            <a:ext cx="3657600" cy="548640"/>
          </a:xfrm>
          <a:prstGeom prst="rect">
            <a:avLst/>
          </a:prstGeom>
          <a:noFill/>
          <a:ln/>
        </p:spPr>
        <p:txBody>
          <a:bodyPr wrap="square" lIns="0" tIns="0" rIns="0" bIns="0" rtlCol="0" anchor="ctr"/>
          <a:lstStyle/>
          <a:p>
            <a:pPr marL="0" indent="0">
              <a:buNone/>
            </a:pPr>
            <a:r>
              <a:rPr lang="en-US" sz="1200" dirty="0">
                <a:solidFill>
                  <a:srgbClr val="222B36"/>
                </a:solidFill>
                <a:latin typeface="Calibri" pitchFamily="34" charset="0"/>
                <a:ea typeface="Calibri" pitchFamily="34" charset="-122"/>
                <a:cs typeface="Calibri" pitchFamily="34" charset="-120"/>
              </a:rPr>
              <a:t>Highlighting everything helps you study better.</a:t>
            </a:r>
            <a:endParaRPr lang="en-US" sz="1200" dirty="0"/>
          </a:p>
        </p:txBody>
      </p:sp>
      <p:pic>
        <p:nvPicPr>
          <p:cNvPr id="33" name="Picture 32">
            <a:extLst>
              <a:ext uri="{FF2B5EF4-FFF2-40B4-BE49-F238E27FC236}">
                <a16:creationId xmlns:a16="http://schemas.microsoft.com/office/drawing/2014/main" id="{5D036CBD-7CB8-CD86-5DD5-EAA771A8A02B}"/>
              </a:ext>
            </a:extLst>
          </p:cNvPr>
          <p:cNvPicPr>
            <a:picLocks noChangeAspect="1"/>
          </p:cNvPicPr>
          <p:nvPr/>
        </p:nvPicPr>
        <p:blipFill>
          <a:blip r:embed="rId3"/>
          <a:stretch>
            <a:fillRect/>
          </a:stretch>
        </p:blipFill>
        <p:spPr>
          <a:xfrm>
            <a:off x="4571999" y="1508760"/>
            <a:ext cx="3932261" cy="548688"/>
          </a:xfrm>
          <a:prstGeom prst="rect">
            <a:avLst/>
          </a:prstGeom>
        </p:spPr>
      </p:pic>
      <p:pic>
        <p:nvPicPr>
          <p:cNvPr id="35" name="Picture 34">
            <a:extLst>
              <a:ext uri="{FF2B5EF4-FFF2-40B4-BE49-F238E27FC236}">
                <a16:creationId xmlns:a16="http://schemas.microsoft.com/office/drawing/2014/main" id="{61AB2F94-58F4-3DDB-933B-351A4E9878FC}"/>
              </a:ext>
            </a:extLst>
          </p:cNvPr>
          <p:cNvPicPr>
            <a:picLocks noChangeAspect="1"/>
          </p:cNvPicPr>
          <p:nvPr/>
        </p:nvPicPr>
        <p:blipFill>
          <a:blip r:embed="rId3"/>
          <a:stretch>
            <a:fillRect/>
          </a:stretch>
        </p:blipFill>
        <p:spPr>
          <a:xfrm>
            <a:off x="4571998" y="2167056"/>
            <a:ext cx="3932261" cy="548688"/>
          </a:xfrm>
          <a:prstGeom prst="rect">
            <a:avLst/>
          </a:prstGeom>
        </p:spPr>
      </p:pic>
      <p:pic>
        <p:nvPicPr>
          <p:cNvPr id="37" name="Picture 36">
            <a:extLst>
              <a:ext uri="{FF2B5EF4-FFF2-40B4-BE49-F238E27FC236}">
                <a16:creationId xmlns:a16="http://schemas.microsoft.com/office/drawing/2014/main" id="{6316E1A3-0948-1A42-10C1-7707072A2C80}"/>
              </a:ext>
            </a:extLst>
          </p:cNvPr>
          <p:cNvPicPr>
            <a:picLocks noChangeAspect="1"/>
          </p:cNvPicPr>
          <p:nvPr/>
        </p:nvPicPr>
        <p:blipFill>
          <a:blip r:embed="rId3"/>
          <a:stretch>
            <a:fillRect/>
          </a:stretch>
        </p:blipFill>
        <p:spPr>
          <a:xfrm>
            <a:off x="4571999" y="2825352"/>
            <a:ext cx="3932261" cy="548688"/>
          </a:xfrm>
          <a:prstGeom prst="rect">
            <a:avLst/>
          </a:prstGeom>
        </p:spPr>
      </p:pic>
      <p:pic>
        <p:nvPicPr>
          <p:cNvPr id="39" name="Picture 38">
            <a:extLst>
              <a:ext uri="{FF2B5EF4-FFF2-40B4-BE49-F238E27FC236}">
                <a16:creationId xmlns:a16="http://schemas.microsoft.com/office/drawing/2014/main" id="{D5F1B24B-EECF-35DE-B03C-5D334A7DE335}"/>
              </a:ext>
            </a:extLst>
          </p:cNvPr>
          <p:cNvPicPr>
            <a:picLocks noChangeAspect="1"/>
          </p:cNvPicPr>
          <p:nvPr/>
        </p:nvPicPr>
        <p:blipFill>
          <a:blip r:embed="rId3"/>
          <a:stretch>
            <a:fillRect/>
          </a:stretch>
        </p:blipFill>
        <p:spPr>
          <a:xfrm>
            <a:off x="4571997" y="3449358"/>
            <a:ext cx="3932261" cy="548688"/>
          </a:xfrm>
          <a:prstGeom prst="rect">
            <a:avLst/>
          </a:prstGeom>
        </p:spPr>
      </p:pic>
      <p:pic>
        <p:nvPicPr>
          <p:cNvPr id="41" name="Picture 40">
            <a:extLst>
              <a:ext uri="{FF2B5EF4-FFF2-40B4-BE49-F238E27FC236}">
                <a16:creationId xmlns:a16="http://schemas.microsoft.com/office/drawing/2014/main" id="{27F8C16D-B0D5-6ECB-A7A8-B1444770464E}"/>
              </a:ext>
            </a:extLst>
          </p:cNvPr>
          <p:cNvPicPr>
            <a:picLocks noChangeAspect="1"/>
          </p:cNvPicPr>
          <p:nvPr/>
        </p:nvPicPr>
        <p:blipFill>
          <a:blip r:embed="rId3"/>
          <a:stretch>
            <a:fillRect/>
          </a:stretch>
        </p:blipFill>
        <p:spPr>
          <a:xfrm>
            <a:off x="4571996" y="4107654"/>
            <a:ext cx="3932261" cy="548688"/>
          </a:xfrm>
          <a:prstGeom prst="rect">
            <a:avLst/>
          </a:prstGeom>
        </p:spPr>
      </p:pic>
      <p:pic>
        <p:nvPicPr>
          <p:cNvPr id="43" name="Picture 42">
            <a:extLst>
              <a:ext uri="{FF2B5EF4-FFF2-40B4-BE49-F238E27FC236}">
                <a16:creationId xmlns:a16="http://schemas.microsoft.com/office/drawing/2014/main" id="{F4DBAF07-34B9-6C2A-0036-AB9D4823853B}"/>
              </a:ext>
            </a:extLst>
          </p:cNvPr>
          <p:cNvPicPr>
            <a:picLocks noChangeAspect="1"/>
          </p:cNvPicPr>
          <p:nvPr/>
        </p:nvPicPr>
        <p:blipFill>
          <a:blip r:embed="rId4"/>
          <a:stretch>
            <a:fillRect/>
          </a:stretch>
        </p:blipFill>
        <p:spPr>
          <a:xfrm>
            <a:off x="4663443" y="1540548"/>
            <a:ext cx="3749365" cy="548688"/>
          </a:xfrm>
          <a:prstGeom prst="rect">
            <a:avLst/>
          </a:prstGeom>
        </p:spPr>
      </p:pic>
      <p:pic>
        <p:nvPicPr>
          <p:cNvPr id="45" name="Picture 44">
            <a:extLst>
              <a:ext uri="{FF2B5EF4-FFF2-40B4-BE49-F238E27FC236}">
                <a16:creationId xmlns:a16="http://schemas.microsoft.com/office/drawing/2014/main" id="{CBDCF811-8A8B-CCA7-42EF-75B2020367D8}"/>
              </a:ext>
            </a:extLst>
          </p:cNvPr>
          <p:cNvPicPr>
            <a:picLocks noChangeAspect="1"/>
          </p:cNvPicPr>
          <p:nvPr/>
        </p:nvPicPr>
        <p:blipFill>
          <a:blip r:embed="rId5"/>
          <a:stretch>
            <a:fillRect/>
          </a:stretch>
        </p:blipFill>
        <p:spPr>
          <a:xfrm>
            <a:off x="4650819" y="2167056"/>
            <a:ext cx="3755461" cy="548688"/>
          </a:xfrm>
          <a:prstGeom prst="rect">
            <a:avLst/>
          </a:prstGeom>
        </p:spPr>
      </p:pic>
      <p:pic>
        <p:nvPicPr>
          <p:cNvPr id="47" name="Picture 46">
            <a:extLst>
              <a:ext uri="{FF2B5EF4-FFF2-40B4-BE49-F238E27FC236}">
                <a16:creationId xmlns:a16="http://schemas.microsoft.com/office/drawing/2014/main" id="{C1E01665-5FB7-2F11-1068-D71CA097CE93}"/>
              </a:ext>
            </a:extLst>
          </p:cNvPr>
          <p:cNvPicPr>
            <a:picLocks noChangeAspect="1"/>
          </p:cNvPicPr>
          <p:nvPr/>
        </p:nvPicPr>
        <p:blipFill>
          <a:blip r:embed="rId6"/>
          <a:stretch>
            <a:fillRect/>
          </a:stretch>
        </p:blipFill>
        <p:spPr>
          <a:xfrm>
            <a:off x="4591590" y="2792232"/>
            <a:ext cx="3755461" cy="548688"/>
          </a:xfrm>
          <a:prstGeom prst="rect">
            <a:avLst/>
          </a:prstGeom>
        </p:spPr>
      </p:pic>
      <p:pic>
        <p:nvPicPr>
          <p:cNvPr id="49" name="Picture 48">
            <a:extLst>
              <a:ext uri="{FF2B5EF4-FFF2-40B4-BE49-F238E27FC236}">
                <a16:creationId xmlns:a16="http://schemas.microsoft.com/office/drawing/2014/main" id="{631FAA5D-B618-4951-226F-E58E68C7D4F3}"/>
              </a:ext>
            </a:extLst>
          </p:cNvPr>
          <p:cNvPicPr>
            <a:picLocks noChangeAspect="1"/>
          </p:cNvPicPr>
          <p:nvPr/>
        </p:nvPicPr>
        <p:blipFill>
          <a:blip r:embed="rId7"/>
          <a:stretch>
            <a:fillRect/>
          </a:stretch>
        </p:blipFill>
        <p:spPr>
          <a:xfrm>
            <a:off x="4605095" y="3486097"/>
            <a:ext cx="3755461" cy="548688"/>
          </a:xfrm>
          <a:prstGeom prst="rect">
            <a:avLst/>
          </a:prstGeom>
        </p:spPr>
      </p:pic>
      <p:pic>
        <p:nvPicPr>
          <p:cNvPr id="51" name="Picture 50">
            <a:extLst>
              <a:ext uri="{FF2B5EF4-FFF2-40B4-BE49-F238E27FC236}">
                <a16:creationId xmlns:a16="http://schemas.microsoft.com/office/drawing/2014/main" id="{AF9A6FF4-68AD-7B3A-4B38-231EAC62C2EA}"/>
              </a:ext>
            </a:extLst>
          </p:cNvPr>
          <p:cNvPicPr>
            <a:picLocks noChangeAspect="1"/>
          </p:cNvPicPr>
          <p:nvPr/>
        </p:nvPicPr>
        <p:blipFill>
          <a:blip r:embed="rId8"/>
          <a:stretch>
            <a:fillRect/>
          </a:stretch>
        </p:blipFill>
        <p:spPr>
          <a:xfrm>
            <a:off x="4591590" y="4185258"/>
            <a:ext cx="3755461" cy="54868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4" name="Text 2"/>
          <p:cNvSpPr txBox="1"/>
          <p:nvPr/>
        </p:nvSpPr>
        <p:spPr>
          <a:xfrm>
            <a:off x="457200" y="530352"/>
            <a:ext cx="8229600" cy="5486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Reflect, then try it yourself</a:t>
            </a:r>
            <a:endParaRPr lang="en-US" sz="3000" dirty="0"/>
          </a:p>
        </p:txBody>
      </p:sp>
      <p:sp>
        <p:nvSpPr>
          <p:cNvPr id="6" name="Shape 3"/>
          <p:cNvSpPr/>
          <p:nvPr/>
        </p:nvSpPr>
        <p:spPr>
          <a:xfrm>
            <a:off x="457200" y="1280160"/>
            <a:ext cx="4023360" cy="3383280"/>
          </a:xfrm>
          <a:prstGeom prst="roundRect">
            <a:avLst>
              <a:gd name="adj" fmla="val 2162"/>
            </a:avLst>
          </a:prstGeom>
          <a:solidFill>
            <a:srgbClr val="FFFFFF"/>
          </a:solidFill>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640080" y="1463040"/>
            <a:ext cx="502920" cy="502920"/>
          </a:xfrm>
          <a:prstGeom prst="ellipse">
            <a:avLst/>
          </a:prstGeom>
          <a:solidFill>
            <a:srgbClr val="D8641A"/>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765810" y="1588770"/>
            <a:ext cx="251460" cy="251460"/>
          </a:xfrm>
          <a:prstGeom prst="rect">
            <a:avLst/>
          </a:prstGeom>
        </p:spPr>
      </p:pic>
      <p:sp>
        <p:nvSpPr>
          <p:cNvPr id="9" name="Text 5"/>
          <p:cNvSpPr txBox="1"/>
          <p:nvPr/>
        </p:nvSpPr>
        <p:spPr>
          <a:xfrm>
            <a:off x="1280160" y="1508760"/>
            <a:ext cx="3108960" cy="411480"/>
          </a:xfrm>
          <a:prstGeom prst="rect">
            <a:avLst/>
          </a:prstGeom>
          <a:noFill/>
          <a:ln/>
        </p:spPr>
        <p:txBody>
          <a:bodyPr wrap="square" lIns="0" tIns="0" rIns="0" bIns="0" rtlCol="0" anchor="ctr"/>
          <a:lstStyle/>
          <a:p>
            <a:pPr marL="0" indent="0">
              <a:buNone/>
            </a:pPr>
            <a:r>
              <a:rPr lang="en-US" sz="1550" b="1" dirty="0">
                <a:solidFill>
                  <a:srgbClr val="44546A"/>
                </a:solidFill>
                <a:latin typeface="Calibri" pitchFamily="34" charset="0"/>
                <a:ea typeface="Calibri" pitchFamily="34" charset="-122"/>
                <a:cs typeface="Calibri" pitchFamily="34" charset="-120"/>
              </a:rPr>
              <a:t>Reflection (3–4 sentences)</a:t>
            </a:r>
            <a:endParaRPr lang="en-US" sz="1550" dirty="0"/>
          </a:p>
        </p:txBody>
      </p:sp>
      <p:sp>
        <p:nvSpPr>
          <p:cNvPr id="10" name="Text 6"/>
          <p:cNvSpPr txBox="1"/>
          <p:nvPr/>
        </p:nvSpPr>
        <p:spPr>
          <a:xfrm>
            <a:off x="685800" y="2194560"/>
            <a:ext cx="3566160" cy="228600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222B36"/>
                </a:solidFill>
                <a:latin typeface="Calibri" pitchFamily="34" charset="0"/>
                <a:ea typeface="Calibri" pitchFamily="34" charset="-122"/>
                <a:cs typeface="Calibri" pitchFamily="34" charset="-120"/>
              </a:rPr>
              <a:t>What note-taking strategy works best for me?</a:t>
            </a:r>
            <a:endParaRPr lang="en-US" sz="1300" dirty="0"/>
          </a:p>
          <a:p>
            <a:pPr marL="342900" indent="-342900">
              <a:spcAft>
                <a:spcPts val="900"/>
              </a:spcAft>
              <a:buSzPct val="100000"/>
              <a:buChar char="•"/>
            </a:pPr>
            <a:r>
              <a:rPr lang="en-US" sz="1300" dirty="0">
                <a:solidFill>
                  <a:srgbClr val="222B36"/>
                </a:solidFill>
                <a:latin typeface="Calibri" pitchFamily="34" charset="0"/>
                <a:ea typeface="Calibri" pitchFamily="34" charset="-122"/>
                <a:cs typeface="Calibri" pitchFamily="34" charset="-120"/>
              </a:rPr>
              <a:t>What can I improve about my listening?</a:t>
            </a:r>
            <a:endParaRPr lang="en-US" sz="1300" dirty="0"/>
          </a:p>
          <a:p>
            <a:pPr marL="342900" indent="-342900">
              <a:spcAft>
                <a:spcPts val="900"/>
              </a:spcAft>
              <a:buSzPct val="100000"/>
              <a:buChar char="•"/>
            </a:pPr>
            <a:r>
              <a:rPr lang="en-US" sz="1300" dirty="0">
                <a:solidFill>
                  <a:srgbClr val="222B36"/>
                </a:solidFill>
                <a:latin typeface="Calibri" pitchFamily="34" charset="0"/>
                <a:ea typeface="Calibri" pitchFamily="34" charset="-122"/>
                <a:cs typeface="Calibri" pitchFamily="34" charset="-120"/>
              </a:rPr>
              <a:t>Was it easy or hard to decide what to highlight? Why?</a:t>
            </a:r>
            <a:endParaRPr lang="en-US" sz="1300" dirty="0"/>
          </a:p>
        </p:txBody>
      </p:sp>
      <p:sp>
        <p:nvSpPr>
          <p:cNvPr id="11" name="Shape 7"/>
          <p:cNvSpPr/>
          <p:nvPr/>
        </p:nvSpPr>
        <p:spPr>
          <a:xfrm>
            <a:off x="4663440" y="1280160"/>
            <a:ext cx="4023360" cy="3383280"/>
          </a:xfrm>
          <a:prstGeom prst="roundRect">
            <a:avLst>
              <a:gd name="adj" fmla="val 2162"/>
            </a:avLst>
          </a:prstGeom>
          <a:solidFill>
            <a:srgbClr val="44546A"/>
          </a:solidFill>
          <a:ln/>
        </p:spPr>
        <p:txBody>
          <a:bodyPr/>
          <a:lstStyle/>
          <a:p>
            <a:endParaRPr lang="en-US"/>
          </a:p>
        </p:txBody>
      </p:sp>
      <p:sp>
        <p:nvSpPr>
          <p:cNvPr id="12" name="Shape 8"/>
          <p:cNvSpPr/>
          <p:nvPr/>
        </p:nvSpPr>
        <p:spPr>
          <a:xfrm>
            <a:off x="4846320" y="1463040"/>
            <a:ext cx="502920" cy="502920"/>
          </a:xfrm>
          <a:prstGeom prst="ellipse">
            <a:avLst/>
          </a:prstGeom>
          <a:solidFill>
            <a:srgbClr val="FFC000"/>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972050" y="1588770"/>
            <a:ext cx="251460" cy="251460"/>
          </a:xfrm>
          <a:prstGeom prst="rect">
            <a:avLst/>
          </a:prstGeom>
        </p:spPr>
      </p:pic>
      <p:sp>
        <p:nvSpPr>
          <p:cNvPr id="14" name="Text 9"/>
          <p:cNvSpPr txBox="1"/>
          <p:nvPr/>
        </p:nvSpPr>
        <p:spPr>
          <a:xfrm>
            <a:off x="5486400" y="1508760"/>
            <a:ext cx="3108960" cy="41148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Homework</a:t>
            </a:r>
            <a:endParaRPr lang="en-US" sz="1550" dirty="0"/>
          </a:p>
        </p:txBody>
      </p:sp>
      <p:sp>
        <p:nvSpPr>
          <p:cNvPr id="15" name="Text 10"/>
          <p:cNvSpPr txBox="1"/>
          <p:nvPr/>
        </p:nvSpPr>
        <p:spPr>
          <a:xfrm>
            <a:off x="4892040" y="2194560"/>
            <a:ext cx="3566160" cy="137160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Watch the Cornell notes video</a:t>
            </a:r>
            <a:endParaRPr lang="en-US" sz="1300" dirty="0"/>
          </a:p>
          <a:p>
            <a:pPr marL="342900" indent="-3429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Take Cornell notes on a 5-minute TED Talk</a:t>
            </a:r>
            <a:endParaRPr lang="en-US" sz="1300" dirty="0"/>
          </a:p>
          <a:p>
            <a:pPr marL="342900" indent="-3429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Bring your notes to share next class</a:t>
            </a:r>
            <a:endParaRPr lang="en-US" sz="1300" dirty="0"/>
          </a:p>
        </p:txBody>
      </p:sp>
      <p:sp>
        <p:nvSpPr>
          <p:cNvPr id="16" name="Text 11"/>
          <p:cNvSpPr txBox="1"/>
          <p:nvPr/>
        </p:nvSpPr>
        <p:spPr>
          <a:xfrm>
            <a:off x="4892040" y="4023360"/>
            <a:ext cx="3566160" cy="365760"/>
          </a:xfrm>
          <a:prstGeom prst="rect">
            <a:avLst/>
          </a:prstGeom>
          <a:noFill/>
          <a:ln/>
        </p:spPr>
        <p:txBody>
          <a:bodyPr wrap="square" lIns="0" tIns="0" rIns="0" bIns="0" rtlCol="0" anchor="t"/>
          <a:lstStyle/>
          <a:p>
            <a:pPr marL="0" indent="0">
              <a:buNone/>
            </a:pPr>
            <a:r>
              <a:rPr lang="en-US" sz="1300" b="1" u="sng" dirty="0">
                <a:solidFill>
                  <a:srgbClr val="FFC000"/>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youtu.be/OPnQGLdeOnA</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457200" y="411480"/>
            <a:ext cx="8229600" cy="274320"/>
          </a:xfrm>
          <a:prstGeom prst="rect">
            <a:avLst/>
          </a:prstGeom>
          <a:noFill/>
          <a:ln/>
        </p:spPr>
        <p:txBody>
          <a:bodyPr wrap="square" lIns="0" tIns="0" rIns="0" bIns="0" rtlCol="0" anchor="t"/>
          <a:lstStyle/>
          <a:p>
            <a:pPr marL="0" indent="0">
              <a:buNone/>
            </a:pPr>
            <a:r>
              <a:rPr lang="en-US" sz="1200" b="1" kern="0" spc="300" dirty="0">
                <a:solidFill>
                  <a:srgbClr val="D8641A"/>
                </a:solidFill>
                <a:latin typeface="Calibri" pitchFamily="34" charset="0"/>
                <a:ea typeface="Calibri" pitchFamily="34" charset="-122"/>
                <a:cs typeface="Calibri" pitchFamily="34" charset="-120"/>
              </a:rPr>
              <a:t>KEY TAKEAWAYS</a:t>
            </a:r>
            <a:endParaRPr lang="en-US" sz="1200" dirty="0"/>
          </a:p>
        </p:txBody>
      </p:sp>
      <p:sp>
        <p:nvSpPr>
          <p:cNvPr id="4" name="Text 2"/>
          <p:cNvSpPr txBox="1"/>
          <p:nvPr/>
        </p:nvSpPr>
        <p:spPr>
          <a:xfrm>
            <a:off x="457200" y="731520"/>
            <a:ext cx="8229600" cy="548640"/>
          </a:xfrm>
          <a:prstGeom prst="rect">
            <a:avLst/>
          </a:prstGeom>
          <a:noFill/>
          <a:ln/>
        </p:spPr>
        <p:txBody>
          <a:bodyPr wrap="square" lIns="0" tIns="0" rIns="0" bIns="0" rtlCol="0" anchor="t"/>
          <a:lstStyle/>
          <a:p>
            <a:pPr marL="0" indent="0">
              <a:buNone/>
            </a:pPr>
            <a:r>
              <a:rPr lang="en-US" sz="3200" dirty="0">
                <a:solidFill>
                  <a:srgbClr val="44546A"/>
                </a:solidFill>
                <a:latin typeface="Calibri" pitchFamily="34" charset="0"/>
                <a:ea typeface="Calibri" pitchFamily="34" charset="-122"/>
                <a:cs typeface="Calibri" pitchFamily="34" charset="-120"/>
              </a:rPr>
              <a:t>Two equations to remember</a:t>
            </a:r>
            <a:endParaRPr lang="en-US" sz="3200" dirty="0"/>
          </a:p>
        </p:txBody>
      </p:sp>
      <p:sp>
        <p:nvSpPr>
          <p:cNvPr id="5" name="Shape 3"/>
          <p:cNvSpPr/>
          <p:nvPr/>
        </p:nvSpPr>
        <p:spPr>
          <a:xfrm>
            <a:off x="457200" y="1645920"/>
            <a:ext cx="4023360" cy="1920240"/>
          </a:xfrm>
          <a:prstGeom prst="roundRect">
            <a:avLst>
              <a:gd name="adj" fmla="val 4762"/>
            </a:avLst>
          </a:prstGeom>
          <a:solidFill>
            <a:srgbClr val="44546A"/>
          </a:solidFill>
          <a:ln/>
        </p:spPr>
        <p:txBody>
          <a:bodyPr/>
          <a:lstStyle/>
          <a:p>
            <a:endParaRPr lang="en-US"/>
          </a:p>
        </p:txBody>
      </p:sp>
      <p:sp>
        <p:nvSpPr>
          <p:cNvPr id="6" name="Shape 4"/>
          <p:cNvSpPr/>
          <p:nvPr/>
        </p:nvSpPr>
        <p:spPr>
          <a:xfrm>
            <a:off x="731520" y="1828800"/>
            <a:ext cx="640080" cy="640080"/>
          </a:xfrm>
          <a:prstGeom prst="ellipse">
            <a:avLst/>
          </a:prstGeom>
          <a:solidFill>
            <a:srgbClr val="D8641A"/>
          </a:solidFill>
          <a:ln/>
        </p:spPr>
        <p:txBody>
          <a:bodyPr/>
          <a:lstStyle/>
          <a:p>
            <a:endParaRPr lang="en-US"/>
          </a:p>
        </p:txBody>
      </p:sp>
      <p:pic>
        <p:nvPicPr>
          <p:cNvPr id="7" name="Image 0" descr="preencoded.png"/>
          <p:cNvPicPr>
            <a:picLocks noChangeAspect="1"/>
          </p:cNvPicPr>
          <p:nvPr/>
        </p:nvPicPr>
        <p:blipFill>
          <a:blip r:embed="rId4"/>
          <a:stretch>
            <a:fillRect/>
          </a:stretch>
        </p:blipFill>
        <p:spPr>
          <a:xfrm>
            <a:off x="891540" y="1988820"/>
            <a:ext cx="320040" cy="320040"/>
          </a:xfrm>
          <a:prstGeom prst="rect">
            <a:avLst/>
          </a:prstGeom>
        </p:spPr>
      </p:pic>
      <p:sp>
        <p:nvSpPr>
          <p:cNvPr id="8" name="Text 5"/>
          <p:cNvSpPr txBox="1"/>
          <p:nvPr/>
        </p:nvSpPr>
        <p:spPr>
          <a:xfrm>
            <a:off x="1554480" y="1874520"/>
            <a:ext cx="2743200" cy="457200"/>
          </a:xfrm>
          <a:prstGeom prst="rect">
            <a:avLst/>
          </a:prstGeom>
          <a:noFill/>
          <a:ln/>
        </p:spPr>
        <p:txBody>
          <a:bodyPr wrap="square" lIns="0" tIns="0" rIns="0" bIns="0" rtlCol="0" anchor="ctr"/>
          <a:lstStyle/>
          <a:p>
            <a:pPr marL="0" indent="0">
              <a:buNone/>
            </a:pPr>
            <a:r>
              <a:rPr lang="en-US" sz="2000" b="1" dirty="0">
                <a:solidFill>
                  <a:srgbClr val="D8641A"/>
                </a:solidFill>
                <a:latin typeface="Calibri" pitchFamily="34" charset="0"/>
                <a:ea typeface="Calibri" pitchFamily="34" charset="-122"/>
                <a:cs typeface="Calibri" pitchFamily="34" charset="-120"/>
              </a:rPr>
              <a:t>Active listening</a:t>
            </a:r>
            <a:endParaRPr lang="en-US" sz="2000" dirty="0"/>
          </a:p>
        </p:txBody>
      </p:sp>
      <p:sp>
        <p:nvSpPr>
          <p:cNvPr id="9" name="Text 6"/>
          <p:cNvSpPr txBox="1"/>
          <p:nvPr/>
        </p:nvSpPr>
        <p:spPr>
          <a:xfrm>
            <a:off x="731520" y="2697480"/>
            <a:ext cx="3566160" cy="73152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 focus + understanding + feedback</a:t>
            </a:r>
            <a:endParaRPr lang="en-US" sz="1500" dirty="0"/>
          </a:p>
        </p:txBody>
      </p:sp>
      <p:sp>
        <p:nvSpPr>
          <p:cNvPr id="10" name="Shape 7"/>
          <p:cNvSpPr/>
          <p:nvPr/>
        </p:nvSpPr>
        <p:spPr>
          <a:xfrm>
            <a:off x="4663440" y="1645920"/>
            <a:ext cx="4023360" cy="1920240"/>
          </a:xfrm>
          <a:prstGeom prst="roundRect">
            <a:avLst>
              <a:gd name="adj" fmla="val 4762"/>
            </a:avLst>
          </a:prstGeom>
          <a:solidFill>
            <a:srgbClr val="44546A"/>
          </a:solidFill>
          <a:ln/>
        </p:spPr>
        <p:txBody>
          <a:bodyPr/>
          <a:lstStyle/>
          <a:p>
            <a:endParaRPr lang="en-US"/>
          </a:p>
        </p:txBody>
      </p:sp>
      <p:sp>
        <p:nvSpPr>
          <p:cNvPr id="11" name="Shape 8"/>
          <p:cNvSpPr/>
          <p:nvPr/>
        </p:nvSpPr>
        <p:spPr>
          <a:xfrm>
            <a:off x="4937760" y="1828800"/>
            <a:ext cx="640080" cy="640080"/>
          </a:xfrm>
          <a:prstGeom prst="ellipse">
            <a:avLst/>
          </a:prstGeom>
          <a:solidFill>
            <a:srgbClr val="FFC000"/>
          </a:solidFill>
          <a:ln/>
        </p:spPr>
        <p:txBody>
          <a:bodyPr/>
          <a:lstStyle/>
          <a:p>
            <a:endParaRPr lang="en-US"/>
          </a:p>
        </p:txBody>
      </p:sp>
      <p:pic>
        <p:nvPicPr>
          <p:cNvPr id="12" name="Image 1" descr="preencoded.png"/>
          <p:cNvPicPr>
            <a:picLocks noChangeAspect="1"/>
          </p:cNvPicPr>
          <p:nvPr/>
        </p:nvPicPr>
        <p:blipFill>
          <a:blip r:embed="rId5"/>
          <a:stretch>
            <a:fillRect/>
          </a:stretch>
        </p:blipFill>
        <p:spPr>
          <a:xfrm>
            <a:off x="5097780" y="1988820"/>
            <a:ext cx="320040" cy="320040"/>
          </a:xfrm>
          <a:prstGeom prst="rect">
            <a:avLst/>
          </a:prstGeom>
        </p:spPr>
      </p:pic>
      <p:sp>
        <p:nvSpPr>
          <p:cNvPr id="13" name="Text 9"/>
          <p:cNvSpPr txBox="1"/>
          <p:nvPr/>
        </p:nvSpPr>
        <p:spPr>
          <a:xfrm>
            <a:off x="5760720" y="1874520"/>
            <a:ext cx="2743200" cy="457200"/>
          </a:xfrm>
          <a:prstGeom prst="rect">
            <a:avLst/>
          </a:prstGeom>
          <a:noFill/>
          <a:ln/>
        </p:spPr>
        <p:txBody>
          <a:bodyPr wrap="square" lIns="0" tIns="0" rIns="0" bIns="0" rtlCol="0" anchor="ctr"/>
          <a:lstStyle/>
          <a:p>
            <a:pPr marL="0" indent="0">
              <a:buNone/>
            </a:pPr>
            <a:r>
              <a:rPr lang="en-US" sz="2000" b="1" dirty="0">
                <a:solidFill>
                  <a:srgbClr val="FFC000"/>
                </a:solidFill>
                <a:latin typeface="Calibri" pitchFamily="34" charset="0"/>
                <a:ea typeface="Calibri" pitchFamily="34" charset="-122"/>
                <a:cs typeface="Calibri" pitchFamily="34" charset="-120"/>
              </a:rPr>
              <a:t>Good notes</a:t>
            </a:r>
            <a:endParaRPr lang="en-US" sz="2000" dirty="0"/>
          </a:p>
        </p:txBody>
      </p:sp>
      <p:sp>
        <p:nvSpPr>
          <p:cNvPr id="14" name="Text 10"/>
          <p:cNvSpPr txBox="1"/>
          <p:nvPr/>
        </p:nvSpPr>
        <p:spPr>
          <a:xfrm>
            <a:off x="4937760" y="2697480"/>
            <a:ext cx="3566160" cy="73152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 short + organized + reviewed regularly</a:t>
            </a:r>
            <a:endParaRPr lang="en-US" sz="1500" dirty="0"/>
          </a:p>
        </p:txBody>
      </p:sp>
      <p:sp>
        <p:nvSpPr>
          <p:cNvPr id="15" name="Text 11"/>
          <p:cNvSpPr txBox="1"/>
          <p:nvPr/>
        </p:nvSpPr>
        <p:spPr>
          <a:xfrm>
            <a:off x="457200" y="4023360"/>
            <a:ext cx="8229600" cy="457200"/>
          </a:xfrm>
          <a:prstGeom prst="rect">
            <a:avLst/>
          </a:prstGeom>
          <a:noFill/>
          <a:ln/>
        </p:spPr>
        <p:txBody>
          <a:bodyPr wrap="square" lIns="0" tIns="0" rIns="0" bIns="0" rtlCol="0" anchor="t"/>
          <a:lstStyle/>
          <a:p>
            <a:pPr marL="0" indent="0" algn="ctr">
              <a:buNone/>
            </a:pPr>
            <a:r>
              <a:rPr lang="en-US" sz="2200" i="1" dirty="0">
                <a:solidFill>
                  <a:srgbClr val="44546A"/>
                </a:solidFill>
                <a:latin typeface="Calibri" pitchFamily="34" charset="0"/>
                <a:ea typeface="Calibri" pitchFamily="34" charset="-122"/>
                <a:cs typeface="Calibri" pitchFamily="34" charset="-120"/>
              </a:rPr>
              <a:t>Good notes are your second brain!</a:t>
            </a:r>
            <a:endParaRPr lang="en-US" sz="2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01184"/>
            <a:ext cx="9144000" cy="242316"/>
          </a:xfrm>
          <a:prstGeom prst="hexagon">
            <a:avLst/>
          </a:prstGeom>
          <a:solidFill>
            <a:srgbClr val="A9C1E8"/>
          </a:solidFill>
          <a:ln w="12700">
            <a:solidFill>
              <a:srgbClr val="5B8AD0"/>
            </a:solidFill>
            <a:prstDash val="solid"/>
          </a:ln>
        </p:spPr>
        <p:txBody>
          <a:bodyPr/>
          <a:lstStyle/>
          <a:p>
            <a:endParaRPr lang="en-US"/>
          </a:p>
        </p:txBody>
      </p:sp>
      <p:sp>
        <p:nvSpPr>
          <p:cNvPr id="3" name="Text 1"/>
          <p:cNvSpPr txBox="1"/>
          <p:nvPr/>
        </p:nvSpPr>
        <p:spPr>
          <a:xfrm>
            <a:off x="914400" y="1554480"/>
            <a:ext cx="7315200" cy="1463040"/>
          </a:xfrm>
          <a:prstGeom prst="rect">
            <a:avLst/>
          </a:prstGeom>
          <a:noFill/>
          <a:ln/>
        </p:spPr>
        <p:txBody>
          <a:bodyPr wrap="square" lIns="0" tIns="0" rIns="0" bIns="0" rtlCol="0" anchor="ctr"/>
          <a:lstStyle/>
          <a:p>
            <a:pPr marL="0" indent="0">
              <a:buNone/>
            </a:pPr>
            <a:r>
              <a:rPr lang="en-US" sz="3000" dirty="0">
                <a:solidFill>
                  <a:srgbClr val="44546A"/>
                </a:solidFill>
                <a:latin typeface="Calibri" pitchFamily="34" charset="0"/>
                <a:ea typeface="Calibri" pitchFamily="34" charset="-122"/>
                <a:cs typeface="Calibri" pitchFamily="34" charset="-120"/>
              </a:rPr>
              <a:t>"Sometimes it's the journey that teaches you a lot about your destination."</a:t>
            </a:r>
            <a:endParaRPr lang="en-US" sz="3000" dirty="0"/>
          </a:p>
        </p:txBody>
      </p:sp>
      <p:sp>
        <p:nvSpPr>
          <p:cNvPr id="4" name="Text 2"/>
          <p:cNvSpPr txBox="1"/>
          <p:nvPr/>
        </p:nvSpPr>
        <p:spPr>
          <a:xfrm>
            <a:off x="914400" y="3200400"/>
            <a:ext cx="7315200" cy="365760"/>
          </a:xfrm>
          <a:prstGeom prst="rect">
            <a:avLst/>
          </a:prstGeom>
          <a:noFill/>
          <a:ln/>
        </p:spPr>
        <p:txBody>
          <a:bodyPr wrap="square" lIns="0" tIns="0" rIns="0" bIns="0" rtlCol="0" anchor="t"/>
          <a:lstStyle/>
          <a:p>
            <a:pPr marL="0" indent="0">
              <a:buNone/>
            </a:pPr>
            <a:r>
              <a:rPr lang="en-US" sz="1600" dirty="0">
                <a:solidFill>
                  <a:srgbClr val="66758A"/>
                </a:solidFill>
                <a:latin typeface="Calibri" pitchFamily="34" charset="0"/>
                <a:ea typeface="Calibri" pitchFamily="34" charset="-122"/>
                <a:cs typeface="Calibri" pitchFamily="34" charset="-120"/>
              </a:rPr>
              <a:t>– Drake</a:t>
            </a:r>
            <a:endParaRPr lang="en-US" sz="1600" dirty="0"/>
          </a:p>
        </p:txBody>
      </p:sp>
      <p:sp>
        <p:nvSpPr>
          <p:cNvPr id="5" name="Text 3"/>
          <p:cNvSpPr txBox="1"/>
          <p:nvPr/>
        </p:nvSpPr>
        <p:spPr>
          <a:xfrm>
            <a:off x="914400" y="3931920"/>
            <a:ext cx="7315200" cy="457200"/>
          </a:xfrm>
          <a:prstGeom prst="rect">
            <a:avLst/>
          </a:prstGeom>
          <a:noFill/>
          <a:ln/>
        </p:spPr>
        <p:txBody>
          <a:bodyPr wrap="square" lIns="0" tIns="0" rIns="0" bIns="0" rtlCol="0" anchor="t"/>
          <a:lstStyle/>
          <a:p>
            <a:pPr marL="0" indent="0">
              <a:buNone/>
            </a:pPr>
            <a:r>
              <a:rPr lang="en-US" sz="1400" i="1" dirty="0">
                <a:solidFill>
                  <a:srgbClr val="4472C4"/>
                </a:solidFill>
                <a:latin typeface="Calibri" pitchFamily="34" charset="0"/>
                <a:ea typeface="Calibri" pitchFamily="34" charset="-122"/>
                <a:cs typeface="Calibri" pitchFamily="34" charset="-120"/>
              </a:rPr>
              <a:t>Keep practising: every lecture is a chance to improve your listening and your notes.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3929</Words>
  <Application>Microsoft Office PowerPoint</Application>
  <PresentationFormat>On-screen Show (16:9)</PresentationFormat>
  <Paragraphs>570</Paragraphs>
  <Slides>34</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Listening and Note-Taking</dc:title>
  <dc:subject>PptxGenJS Presentation</dc:subject>
  <dc:creator>PptxGenJS</dc:creator>
  <cp:lastModifiedBy>Admin</cp:lastModifiedBy>
  <cp:revision>4</cp:revision>
  <dcterms:created xsi:type="dcterms:W3CDTF">2026-09-28T06:08:53Z</dcterms:created>
  <dcterms:modified xsi:type="dcterms:W3CDTF">2026-09-28T10:28:19Z</dcterms:modified>
</cp:coreProperties>
</file>