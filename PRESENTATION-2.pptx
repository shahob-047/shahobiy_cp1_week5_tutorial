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media/image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7" r:id="rId11"/>
    <p:sldMasterId id="2147483658" r:id="rId12"/>
    <p:sldMasterId id="2147483659" r:id="rId13"/>
  </p:sldMasterIdLst>
  <p:sldIdLst>
    <p:sldId id="256" r:id="rId14"/>
    <p:sldId id="257" r:id="rId15"/>
    <p:sldId id="258" r:id="rId16"/>
    <p:sldId id="259" r:id="rId17"/>
    <p:sldId id="260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5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873520" y="261000"/>
            <a:ext cx="6444360" cy="87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375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75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54200"/>
            <a:ext cx="10972800" cy="4592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Aft>
                <a:spcPts val="1281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1023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765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507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28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102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76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50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1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  <a:endParaRPr lang="en-US" sz="181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25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181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4"/>
          </p:nvPr>
        </p:nvSpPr>
        <p:spPr>
          <a:xfrm>
            <a:off x="609480" y="6444000"/>
            <a:ext cx="284040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35"/>
          </p:nvPr>
        </p:nvSpPr>
        <p:spPr>
          <a:xfrm>
            <a:off x="4169160" y="6444000"/>
            <a:ext cx="386460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6"/>
          </p:nvPr>
        </p:nvSpPr>
        <p:spPr>
          <a:xfrm>
            <a:off x="8741160" y="6444000"/>
            <a:ext cx="284040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E3BE20-40FE-4E1B-A33B-5AF5C0CD853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69" name=""/>
          <p:cNvSpPr/>
          <p:nvPr/>
        </p:nvSpPr>
        <p:spPr>
          <a:xfrm>
            <a:off x="435240" y="5225040"/>
            <a:ext cx="3048120" cy="4356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0" name=""/>
          <p:cNvGrpSpPr/>
          <p:nvPr/>
        </p:nvGrpSpPr>
        <p:grpSpPr>
          <a:xfrm>
            <a:off x="1414800" y="5769000"/>
            <a:ext cx="1088640" cy="109080"/>
            <a:chOff x="1414800" y="5769000"/>
            <a:chExt cx="1088640" cy="109080"/>
          </a:xfrm>
        </p:grpSpPr>
        <p:sp>
          <p:nvSpPr>
            <p:cNvPr id="71" name=""/>
            <p:cNvSpPr/>
            <p:nvPr/>
          </p:nvSpPr>
          <p:spPr>
            <a:xfrm>
              <a:off x="1414800" y="5769000"/>
              <a:ext cx="109080" cy="109080"/>
            </a:xfrm>
            <a:prstGeom prst="ellipse">
              <a:avLst/>
            </a:prstGeom>
            <a:solidFill>
              <a:srgbClr val="60C4E4"/>
            </a:solidFill>
            <a:ln w="14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741680" y="5769000"/>
              <a:ext cx="108720" cy="109080"/>
            </a:xfrm>
            <a:prstGeom prst="ellipse">
              <a:avLst/>
            </a:prstGeom>
            <a:solidFill>
              <a:srgbClr val="60C4E4"/>
            </a:solidFill>
            <a:ln w="14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2068200" y="5769000"/>
              <a:ext cx="108720" cy="109080"/>
            </a:xfrm>
            <a:prstGeom prst="ellipse">
              <a:avLst/>
            </a:prstGeom>
            <a:solidFill>
              <a:srgbClr val="60C4E4"/>
            </a:solidFill>
            <a:ln w="14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2394720" y="5769000"/>
              <a:ext cx="108720" cy="109080"/>
            </a:xfrm>
            <a:prstGeom prst="ellipse">
              <a:avLst/>
            </a:prstGeom>
            <a:solidFill>
              <a:srgbClr val="60C4E4"/>
            </a:solidFill>
            <a:ln w="14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ftr" idx="37"/>
          </p:nvPr>
        </p:nvSpPr>
        <p:spPr>
          <a:xfrm>
            <a:off x="435240" y="5225040"/>
            <a:ext cx="304812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979560" y="1393200"/>
            <a:ext cx="10232280" cy="108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l">
              <a:buNone/>
              <a:defRPr lang="en-US" sz="751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751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751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136400" y="2176920"/>
            <a:ext cx="7402320" cy="4354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39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2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53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49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27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2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53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49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27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4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print Plans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979560"/>
            <a:ext cx="10972440" cy="156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569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569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569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2873520"/>
            <a:ext cx="10972800" cy="3331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2066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468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653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3509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123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63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825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19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411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496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598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2066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468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468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65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509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509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123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3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63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82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9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19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41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496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59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38"/>
          </p:nvPr>
        </p:nvSpPr>
        <p:spPr>
          <a:xfrm>
            <a:off x="609480" y="6343920"/>
            <a:ext cx="283032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39"/>
          </p:nvPr>
        </p:nvSpPr>
        <p:spPr>
          <a:xfrm>
            <a:off x="4136400" y="6313680"/>
            <a:ext cx="386424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40"/>
          </p:nvPr>
        </p:nvSpPr>
        <p:spPr>
          <a:xfrm>
            <a:off x="8751600" y="6313680"/>
            <a:ext cx="283032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241A0C-E005-4926-ABCA-B9793E121FE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"/>
          <p:cNvGrpSpPr/>
          <p:nvPr/>
        </p:nvGrpSpPr>
        <p:grpSpPr>
          <a:xfrm>
            <a:off x="360" y="3809880"/>
            <a:ext cx="12191760" cy="3048120"/>
            <a:chOff x="360" y="3809880"/>
            <a:chExt cx="12191760" cy="3048120"/>
          </a:xfrm>
        </p:grpSpPr>
        <p:sp>
          <p:nvSpPr>
            <p:cNvPr id="85" name=""/>
            <p:cNvSpPr/>
            <p:nvPr/>
          </p:nvSpPr>
          <p:spPr>
            <a:xfrm>
              <a:off x="1137924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10566720" y="3809880"/>
              <a:ext cx="81252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975384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894096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128440" y="3809880"/>
              <a:ext cx="81252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731556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6502320" y="3809880"/>
              <a:ext cx="81324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5690160" y="3809880"/>
              <a:ext cx="81216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876920" y="3809880"/>
              <a:ext cx="81324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406404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3251520" y="3809880"/>
              <a:ext cx="81252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243864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162576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813240" y="3809880"/>
              <a:ext cx="81252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360" y="3809880"/>
              <a:ext cx="812880" cy="3048120"/>
            </a:xfrm>
            <a:prstGeom prst="rect">
              <a:avLst/>
            </a:prstGeom>
            <a:gradFill rotWithShape="0">
              <a:gsLst>
                <a:gs pos="50000">
                  <a:srgbClr val="FFFFFF"/>
                </a:gs>
                <a:gs pos="100000">
                  <a:srgbClr val="C9C9C9"/>
                </a:gs>
              </a:gsLst>
              <a:lin ang="10800000"/>
            </a:gradFill>
            <a:ln w="12600">
              <a:solidFill>
                <a:srgbClr val="7B7B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"/>
            <p:cNvGrpSpPr/>
            <p:nvPr/>
          </p:nvGrpSpPr>
          <p:grpSpPr>
            <a:xfrm>
              <a:off x="573480" y="3809880"/>
              <a:ext cx="478080" cy="1889280"/>
              <a:chOff x="573480" y="3809880"/>
              <a:chExt cx="478080" cy="1889280"/>
            </a:xfrm>
          </p:grpSpPr>
          <p:sp>
            <p:nvSpPr>
              <p:cNvPr id="101" name=""/>
              <p:cNvSpPr/>
              <p:nvPr/>
            </p:nvSpPr>
            <p:spPr>
              <a:xfrm>
                <a:off x="57348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57348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" name=""/>
            <p:cNvGrpSpPr/>
            <p:nvPr/>
          </p:nvGrpSpPr>
          <p:grpSpPr>
            <a:xfrm>
              <a:off x="1386000" y="3809880"/>
              <a:ext cx="478080" cy="1889280"/>
              <a:chOff x="1386000" y="3809880"/>
              <a:chExt cx="478080" cy="1889280"/>
            </a:xfrm>
          </p:grpSpPr>
          <p:sp>
            <p:nvSpPr>
              <p:cNvPr id="104" name=""/>
              <p:cNvSpPr/>
              <p:nvPr/>
            </p:nvSpPr>
            <p:spPr>
              <a:xfrm>
                <a:off x="138600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138600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6" name=""/>
            <p:cNvGrpSpPr/>
            <p:nvPr/>
          </p:nvGrpSpPr>
          <p:grpSpPr>
            <a:xfrm>
              <a:off x="3011760" y="3809880"/>
              <a:ext cx="478080" cy="1889280"/>
              <a:chOff x="3011760" y="3809880"/>
              <a:chExt cx="478080" cy="1889280"/>
            </a:xfrm>
          </p:grpSpPr>
          <p:sp>
            <p:nvSpPr>
              <p:cNvPr id="107" name=""/>
              <p:cNvSpPr/>
              <p:nvPr/>
            </p:nvSpPr>
            <p:spPr>
              <a:xfrm>
                <a:off x="301176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301176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9" name=""/>
            <p:cNvGrpSpPr/>
            <p:nvPr/>
          </p:nvGrpSpPr>
          <p:grpSpPr>
            <a:xfrm>
              <a:off x="3824280" y="3809880"/>
              <a:ext cx="478080" cy="1889280"/>
              <a:chOff x="3824280" y="3809880"/>
              <a:chExt cx="478080" cy="1889280"/>
            </a:xfrm>
          </p:grpSpPr>
          <p:sp>
            <p:nvSpPr>
              <p:cNvPr id="110" name=""/>
              <p:cNvSpPr/>
              <p:nvPr/>
            </p:nvSpPr>
            <p:spPr>
              <a:xfrm>
                <a:off x="382428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382428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2" name=""/>
            <p:cNvGrpSpPr/>
            <p:nvPr/>
          </p:nvGrpSpPr>
          <p:grpSpPr>
            <a:xfrm>
              <a:off x="4637160" y="3809880"/>
              <a:ext cx="478080" cy="1889280"/>
              <a:chOff x="4637160" y="3809880"/>
              <a:chExt cx="478080" cy="1889280"/>
            </a:xfrm>
          </p:grpSpPr>
          <p:sp>
            <p:nvSpPr>
              <p:cNvPr id="113" name=""/>
              <p:cNvSpPr/>
              <p:nvPr/>
            </p:nvSpPr>
            <p:spPr>
              <a:xfrm>
                <a:off x="463716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463716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" name=""/>
            <p:cNvGrpSpPr/>
            <p:nvPr/>
          </p:nvGrpSpPr>
          <p:grpSpPr>
            <a:xfrm>
              <a:off x="6262560" y="3809880"/>
              <a:ext cx="478080" cy="1889280"/>
              <a:chOff x="6262560" y="3809880"/>
              <a:chExt cx="478080" cy="1889280"/>
            </a:xfrm>
          </p:grpSpPr>
          <p:sp>
            <p:nvSpPr>
              <p:cNvPr id="116" name=""/>
              <p:cNvSpPr/>
              <p:nvPr/>
            </p:nvSpPr>
            <p:spPr>
              <a:xfrm>
                <a:off x="626256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626256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8" name=""/>
            <p:cNvGrpSpPr/>
            <p:nvPr/>
          </p:nvGrpSpPr>
          <p:grpSpPr>
            <a:xfrm>
              <a:off x="7075440" y="3809880"/>
              <a:ext cx="478080" cy="1889280"/>
              <a:chOff x="7075440" y="3809880"/>
              <a:chExt cx="478080" cy="1889280"/>
            </a:xfrm>
          </p:grpSpPr>
          <p:sp>
            <p:nvSpPr>
              <p:cNvPr id="119" name=""/>
              <p:cNvSpPr/>
              <p:nvPr/>
            </p:nvSpPr>
            <p:spPr>
              <a:xfrm>
                <a:off x="707544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707544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" name=""/>
            <p:cNvGrpSpPr/>
            <p:nvPr/>
          </p:nvGrpSpPr>
          <p:grpSpPr>
            <a:xfrm>
              <a:off x="8700840" y="3809880"/>
              <a:ext cx="478080" cy="1889280"/>
              <a:chOff x="8700840" y="3809880"/>
              <a:chExt cx="478080" cy="1889280"/>
            </a:xfrm>
          </p:grpSpPr>
          <p:sp>
            <p:nvSpPr>
              <p:cNvPr id="122" name=""/>
              <p:cNvSpPr/>
              <p:nvPr/>
            </p:nvSpPr>
            <p:spPr>
              <a:xfrm>
                <a:off x="870084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870084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" name=""/>
            <p:cNvGrpSpPr/>
            <p:nvPr/>
          </p:nvGrpSpPr>
          <p:grpSpPr>
            <a:xfrm>
              <a:off x="9513720" y="3809880"/>
              <a:ext cx="478080" cy="1889280"/>
              <a:chOff x="9513720" y="3809880"/>
              <a:chExt cx="478080" cy="1889280"/>
            </a:xfrm>
          </p:grpSpPr>
          <p:sp>
            <p:nvSpPr>
              <p:cNvPr id="125" name=""/>
              <p:cNvSpPr/>
              <p:nvPr/>
            </p:nvSpPr>
            <p:spPr>
              <a:xfrm>
                <a:off x="9513720" y="3944520"/>
                <a:ext cx="47808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9513720" y="3809880"/>
                <a:ext cx="47808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7" name=""/>
            <p:cNvGrpSpPr/>
            <p:nvPr/>
          </p:nvGrpSpPr>
          <p:grpSpPr>
            <a:xfrm>
              <a:off x="10326600" y="3809880"/>
              <a:ext cx="478440" cy="1889280"/>
              <a:chOff x="10326600" y="3809880"/>
              <a:chExt cx="478440" cy="1889280"/>
            </a:xfrm>
          </p:grpSpPr>
          <p:sp>
            <p:nvSpPr>
              <p:cNvPr id="128" name=""/>
              <p:cNvSpPr/>
              <p:nvPr/>
            </p:nvSpPr>
            <p:spPr>
              <a:xfrm>
                <a:off x="10326600" y="3944520"/>
                <a:ext cx="478440" cy="1754640"/>
              </a:xfrm>
              <a:prstGeom prst="rect">
                <a:avLst/>
              </a:prstGeom>
              <a:gradFill rotWithShape="0">
                <a:gsLst>
                  <a:gs pos="20000">
                    <a:srgbClr val="000000"/>
                  </a:gs>
                  <a:gs pos="100000">
                    <a:srgbClr val="CCCCCC"/>
                  </a:gs>
                </a:gsLst>
                <a:lin ang="0"/>
              </a:gra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10326600" y="3809880"/>
                <a:ext cx="478440" cy="134640"/>
              </a:xfrm>
              <a:prstGeom prst="rect">
                <a:avLst/>
              </a:prstGeom>
              <a:solidFill>
                <a:srgbClr val="000000"/>
              </a:solidFill>
              <a:ln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tIns="54360" rIns="99360" bIns="54360" anchor="ctr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" name=""/>
          <p:cNvSpPr/>
          <p:nvPr/>
        </p:nvSpPr>
        <p:spPr>
          <a:xfrm>
            <a:off x="0" y="0"/>
            <a:ext cx="12191760" cy="380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/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61760" y="370080"/>
            <a:ext cx="10667880" cy="914400"/>
          </a:xfrm>
          <a:prstGeom prst="rect">
            <a:avLst/>
          </a:prstGeom>
          <a:solidFill>
            <a:srgbClr val="FFFFFF">
              <a:alpha val="30000"/>
            </a:srgbClr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10972800" cy="113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75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75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160"/>
            <a:ext cx="10972800" cy="20505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1pPr>
            <a:lvl2pPr lvl="1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2pPr>
            <a:lvl3pPr lvl="2" algn="l">
              <a:spcBef>
                <a:spcPts val="76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3pPr>
            <a:lvl4pPr lvl="3" algn="l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4pPr>
            <a:lvl5pPr lvl="4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9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5pPr>
            <a:lvl6pPr lvl="5" algn="l">
              <a:spcBef>
                <a:spcPts val="30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6pPr>
            <a:lvl7pPr lvl="6" algn="l">
              <a:spcBef>
                <a:spcPts val="36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Click to edit the outline text format</a:t>
            </a:r>
            <a:endParaRPr lang="en-US" sz="29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864000" lvl="1" indent="-324000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1296000" lvl="2" indent="-288000" algn="l">
              <a:spcBef>
                <a:spcPts val="76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1728000" lvl="3" indent="-216000" algn="l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160000" lvl="4" indent="-216000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9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Fifth Outline Level</a:t>
            </a:r>
            <a:endParaRPr lang="en-US" sz="219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592000" lvl="5" indent="-216000" algn="l">
              <a:spcBef>
                <a:spcPts val="30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Sixth Outline Level</a:t>
            </a:r>
            <a:endParaRPr lang="en-US" sz="264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3024000" lvl="6" indent="-216000" algn="l">
              <a:spcBef>
                <a:spcPts val="3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41"/>
          </p:nvPr>
        </p:nvSpPr>
        <p:spPr>
          <a:xfrm>
            <a:off x="435240" y="6248160"/>
            <a:ext cx="28404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42"/>
          </p:nvPr>
        </p:nvSpPr>
        <p:spPr>
          <a:xfrm>
            <a:off x="4163760" y="6247440"/>
            <a:ext cx="38646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43"/>
          </p:nvPr>
        </p:nvSpPr>
        <p:spPr>
          <a:xfrm>
            <a:off x="8915760" y="6248160"/>
            <a:ext cx="28404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A0D42B-9AAF-4F67-A425-950AC585AE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2192120" cy="5142960"/>
          </a:xfrm>
          <a:custGeom>
            <a:avLst/>
            <a:gdLst/>
            <a:ahLst/>
            <a:rect l="0" t="0" r="r" b="b"/>
            <a:pathLst>
              <a:path w="33867" h="14286">
                <a:moveTo>
                  <a:pt x="0" y="14286"/>
                </a:moveTo>
                <a:lnTo>
                  <a:pt x="0" y="0"/>
                </a:lnTo>
                <a:lnTo>
                  <a:pt x="33867" y="0"/>
                </a:lnTo>
                <a:lnTo>
                  <a:pt x="33867" y="9448"/>
                </a:lnTo>
                <a:lnTo>
                  <a:pt x="0" y="14286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 rot="21111000">
            <a:off x="590400" y="3150360"/>
            <a:ext cx="10885680" cy="115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6370" b="1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637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637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 rot="21111000">
            <a:off x="837000" y="4236480"/>
            <a:ext cx="10866960" cy="2217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ctr">
              <a:spcAft>
                <a:spcPts val="1429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327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ctr">
              <a:spcAft>
                <a:spcPts val="1026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ctr">
              <a:spcAft>
                <a:spcPts val="77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ctr">
              <a:spcAft>
                <a:spcPts val="513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ctr">
              <a:spcAft>
                <a:spcPts val="255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19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ctr">
              <a:spcAft>
                <a:spcPts val="306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ctr">
              <a:spcAft>
                <a:spcPts val="369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ctr">
              <a:spcAft>
                <a:spcPts val="142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7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ctr">
              <a:spcAft>
                <a:spcPts val="1026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2" indent="-288000" algn="ctr">
              <a:spcAft>
                <a:spcPts val="77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28000" lvl="3" indent="-216000" algn="ctr">
              <a:spcAft>
                <a:spcPts val="51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0" lvl="4" indent="-216000" algn="ctr">
              <a:spcAft>
                <a:spcPts val="25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9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1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0" lvl="5" indent="-216000" algn="ctr">
              <a:spcAft>
                <a:spcPts val="30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024000" lvl="6" indent="-216000" algn="ctr">
              <a:spcAft>
                <a:spcPts val="36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44"/>
          </p:nvPr>
        </p:nvSpPr>
        <p:spPr>
          <a:xfrm>
            <a:off x="8489880" y="5942880"/>
            <a:ext cx="3483360" cy="4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ftr" idx="45"/>
          </p:nvPr>
        </p:nvSpPr>
        <p:spPr>
          <a:xfrm>
            <a:off x="6748200" y="6204240"/>
            <a:ext cx="5225040" cy="4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sldNum" idx="46"/>
          </p:nvPr>
        </p:nvSpPr>
        <p:spPr>
          <a:xfrm>
            <a:off x="8925480" y="5551200"/>
            <a:ext cx="3048120" cy="4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9D239B-A620-414F-9289-6BC904FA2285}" type="slidenum"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D82F5-E816-493E-BA49-CB8B7807EE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827E9-6B7C-4500-8160-C903889592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8C83F0-0D47-4093-A7E3-28B4FB1E77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43203-D5F1-4544-B86C-EAEA36953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5201AA-F795-4698-9E57-E84E0521C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A21DFA-1898-4919-8F9C-95388C4FDD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4CB858-2FB6-496E-B4E3-8193FCFDB1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CF740E-70A0-4C6A-8264-1408A77885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AFE25D-DC5D-4859-81F6-8D05603B7C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57E76-7CA3-48A7-8301-E1BC0D843F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B3016C-7889-430F-9713-11D8D4B1DD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640080" y="502920"/>
            <a:ext cx="10881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1. </a:t>
            </a:r>
            <a:r>
              <a:rPr lang="en-US" sz="2800" b="1" u="none" strike="noStrike">
                <a:solidFill>
                  <a:srgbClr val="142A4A"/>
                </a:solidFill>
                <a:effectLst/>
                <a:uFillTx/>
                <a:latin typeface="Inter Display Thin"/>
              </a:rPr>
              <a:t>TURNING STUDYING INTO A GAME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658440" y="1097280"/>
            <a:ext cx="10698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Make academic challenges more engaging, measurable, and motivating.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"/>
          <p:cNvGrpSpPr/>
          <p:nvPr/>
        </p:nvGrpSpPr>
        <p:grpSpPr>
          <a:xfrm>
            <a:off x="670320" y="1828800"/>
            <a:ext cx="2301480" cy="4304880"/>
            <a:chOff x="670320" y="1828800"/>
            <a:chExt cx="2301480" cy="4304880"/>
          </a:xfrm>
        </p:grpSpPr>
        <p:sp>
          <p:nvSpPr>
            <p:cNvPr id="147" name=""/>
            <p:cNvSpPr/>
            <p:nvPr/>
          </p:nvSpPr>
          <p:spPr>
            <a:xfrm>
              <a:off x="670320" y="1828800"/>
              <a:ext cx="2301480" cy="4304880"/>
            </a:xfrm>
            <a:custGeom>
              <a:avLst/>
              <a:gdLst/>
              <a:ahLst/>
              <a:rect l="0" t="0" r="r" b="b"/>
              <a:pathLst>
                <a:path w="6393" h="11958">
                  <a:moveTo>
                    <a:pt x="0" y="10877"/>
                  </a:moveTo>
                  <a:lnTo>
                    <a:pt x="0" y="10877"/>
                  </a:lnTo>
                  <a:lnTo>
                    <a:pt x="1" y="10947"/>
                  </a:lnTo>
                  <a:lnTo>
                    <a:pt x="8" y="11016"/>
                  </a:lnTo>
                  <a:lnTo>
                    <a:pt x="19" y="11084"/>
                  </a:lnTo>
                  <a:lnTo>
                    <a:pt x="34" y="11151"/>
                  </a:lnTo>
                  <a:lnTo>
                    <a:pt x="54" y="11218"/>
                  </a:lnTo>
                  <a:lnTo>
                    <a:pt x="78" y="11282"/>
                  </a:lnTo>
                  <a:lnTo>
                    <a:pt x="107" y="11345"/>
                  </a:lnTo>
                  <a:lnTo>
                    <a:pt x="139" y="11407"/>
                  </a:lnTo>
                  <a:lnTo>
                    <a:pt x="176" y="11466"/>
                  </a:lnTo>
                  <a:lnTo>
                    <a:pt x="216" y="11523"/>
                  </a:lnTo>
                  <a:lnTo>
                    <a:pt x="260" y="11577"/>
                  </a:lnTo>
                  <a:lnTo>
                    <a:pt x="306" y="11627"/>
                  </a:lnTo>
                  <a:lnTo>
                    <a:pt x="356" y="11674"/>
                  </a:lnTo>
                  <a:lnTo>
                    <a:pt x="410" y="11718"/>
                  </a:lnTo>
                  <a:lnTo>
                    <a:pt x="466" y="11759"/>
                  </a:lnTo>
                  <a:lnTo>
                    <a:pt x="525" y="11796"/>
                  </a:lnTo>
                  <a:lnTo>
                    <a:pt x="586" y="11829"/>
                  </a:lnTo>
                  <a:lnTo>
                    <a:pt x="649" y="11858"/>
                  </a:lnTo>
                  <a:lnTo>
                    <a:pt x="713" y="11883"/>
                  </a:lnTo>
                  <a:lnTo>
                    <a:pt x="780" y="11903"/>
                  </a:lnTo>
                  <a:lnTo>
                    <a:pt x="847" y="11919"/>
                  </a:lnTo>
                  <a:lnTo>
                    <a:pt x="915" y="11931"/>
                  </a:lnTo>
                  <a:lnTo>
                    <a:pt x="984" y="11938"/>
                  </a:lnTo>
                  <a:lnTo>
                    <a:pt x="1054" y="11940"/>
                  </a:lnTo>
                  <a:lnTo>
                    <a:pt x="5287" y="11958"/>
                  </a:lnTo>
                  <a:lnTo>
                    <a:pt x="5287" y="11958"/>
                  </a:lnTo>
                  <a:lnTo>
                    <a:pt x="5356" y="11956"/>
                  </a:lnTo>
                  <a:lnTo>
                    <a:pt x="5425" y="11949"/>
                  </a:lnTo>
                  <a:lnTo>
                    <a:pt x="5494" y="11939"/>
                  </a:lnTo>
                  <a:lnTo>
                    <a:pt x="5561" y="11923"/>
                  </a:lnTo>
                  <a:lnTo>
                    <a:pt x="5627" y="11903"/>
                  </a:lnTo>
                  <a:lnTo>
                    <a:pt x="5692" y="11879"/>
                  </a:lnTo>
                  <a:lnTo>
                    <a:pt x="5755" y="11851"/>
                  </a:lnTo>
                  <a:lnTo>
                    <a:pt x="5817" y="11819"/>
                  </a:lnTo>
                  <a:lnTo>
                    <a:pt x="5876" y="11782"/>
                  </a:lnTo>
                  <a:lnTo>
                    <a:pt x="5933" y="11743"/>
                  </a:lnTo>
                  <a:lnTo>
                    <a:pt x="5986" y="11699"/>
                  </a:lnTo>
                  <a:lnTo>
                    <a:pt x="6036" y="11651"/>
                  </a:lnTo>
                  <a:lnTo>
                    <a:pt x="6085" y="11601"/>
                  </a:lnTo>
                  <a:lnTo>
                    <a:pt x="6129" y="11548"/>
                  </a:lnTo>
                  <a:lnTo>
                    <a:pt x="6169" y="11492"/>
                  </a:lnTo>
                  <a:lnTo>
                    <a:pt x="6206" y="11433"/>
                  </a:lnTo>
                  <a:lnTo>
                    <a:pt x="6239" y="11372"/>
                  </a:lnTo>
                  <a:lnTo>
                    <a:pt x="6268" y="11309"/>
                  </a:lnTo>
                  <a:lnTo>
                    <a:pt x="6292" y="11244"/>
                  </a:lnTo>
                  <a:lnTo>
                    <a:pt x="6312" y="11178"/>
                  </a:lnTo>
                  <a:lnTo>
                    <a:pt x="6329" y="11111"/>
                  </a:lnTo>
                  <a:lnTo>
                    <a:pt x="6340" y="11042"/>
                  </a:lnTo>
                  <a:lnTo>
                    <a:pt x="6347" y="10973"/>
                  </a:lnTo>
                  <a:lnTo>
                    <a:pt x="6351" y="10904"/>
                  </a:lnTo>
                  <a:lnTo>
                    <a:pt x="6351" y="10904"/>
                  </a:lnTo>
                  <a:lnTo>
                    <a:pt x="6393" y="1082"/>
                  </a:lnTo>
                  <a:lnTo>
                    <a:pt x="6393" y="1082"/>
                  </a:lnTo>
                  <a:lnTo>
                    <a:pt x="6392" y="1013"/>
                  </a:lnTo>
                  <a:lnTo>
                    <a:pt x="6385" y="944"/>
                  </a:lnTo>
                  <a:lnTo>
                    <a:pt x="6374" y="876"/>
                  </a:lnTo>
                  <a:lnTo>
                    <a:pt x="6359" y="809"/>
                  </a:lnTo>
                  <a:lnTo>
                    <a:pt x="6339" y="742"/>
                  </a:lnTo>
                  <a:lnTo>
                    <a:pt x="6315" y="678"/>
                  </a:lnTo>
                  <a:lnTo>
                    <a:pt x="6286" y="615"/>
                  </a:lnTo>
                  <a:lnTo>
                    <a:pt x="6254" y="553"/>
                  </a:lnTo>
                  <a:lnTo>
                    <a:pt x="6217" y="494"/>
                  </a:lnTo>
                  <a:lnTo>
                    <a:pt x="6177" y="437"/>
                  </a:lnTo>
                  <a:lnTo>
                    <a:pt x="6133" y="383"/>
                  </a:lnTo>
                  <a:lnTo>
                    <a:pt x="6087" y="333"/>
                  </a:lnTo>
                  <a:lnTo>
                    <a:pt x="6037" y="286"/>
                  </a:lnTo>
                  <a:lnTo>
                    <a:pt x="5983" y="242"/>
                  </a:lnTo>
                  <a:lnTo>
                    <a:pt x="5927" y="200"/>
                  </a:lnTo>
                  <a:lnTo>
                    <a:pt x="5868" y="164"/>
                  </a:lnTo>
                  <a:lnTo>
                    <a:pt x="5807" y="131"/>
                  </a:lnTo>
                  <a:lnTo>
                    <a:pt x="5744" y="102"/>
                  </a:lnTo>
                  <a:lnTo>
                    <a:pt x="5680" y="77"/>
                  </a:lnTo>
                  <a:lnTo>
                    <a:pt x="5613" y="57"/>
                  </a:lnTo>
                  <a:lnTo>
                    <a:pt x="5546" y="41"/>
                  </a:lnTo>
                  <a:lnTo>
                    <a:pt x="5478" y="29"/>
                  </a:lnTo>
                  <a:lnTo>
                    <a:pt x="5409" y="22"/>
                  </a:lnTo>
                  <a:lnTo>
                    <a:pt x="5339" y="20"/>
                  </a:lnTo>
                  <a:lnTo>
                    <a:pt x="1105" y="0"/>
                  </a:lnTo>
                  <a:lnTo>
                    <a:pt x="1105" y="0"/>
                  </a:lnTo>
                  <a:lnTo>
                    <a:pt x="1036" y="3"/>
                  </a:lnTo>
                  <a:lnTo>
                    <a:pt x="967" y="10"/>
                  </a:lnTo>
                  <a:lnTo>
                    <a:pt x="898" y="20"/>
                  </a:lnTo>
                  <a:lnTo>
                    <a:pt x="831" y="36"/>
                  </a:lnTo>
                  <a:lnTo>
                    <a:pt x="765" y="56"/>
                  </a:lnTo>
                  <a:lnTo>
                    <a:pt x="700" y="80"/>
                  </a:lnTo>
                  <a:lnTo>
                    <a:pt x="637" y="108"/>
                  </a:lnTo>
                  <a:lnTo>
                    <a:pt x="575" y="140"/>
                  </a:lnTo>
                  <a:lnTo>
                    <a:pt x="516" y="177"/>
                  </a:lnTo>
                  <a:lnTo>
                    <a:pt x="459" y="217"/>
                  </a:lnTo>
                  <a:lnTo>
                    <a:pt x="406" y="260"/>
                  </a:lnTo>
                  <a:lnTo>
                    <a:pt x="356" y="308"/>
                  </a:lnTo>
                  <a:lnTo>
                    <a:pt x="308" y="358"/>
                  </a:lnTo>
                  <a:lnTo>
                    <a:pt x="263" y="411"/>
                  </a:lnTo>
                  <a:lnTo>
                    <a:pt x="223" y="467"/>
                  </a:lnTo>
                  <a:lnTo>
                    <a:pt x="186" y="526"/>
                  </a:lnTo>
                  <a:lnTo>
                    <a:pt x="154" y="587"/>
                  </a:lnTo>
                  <a:lnTo>
                    <a:pt x="124" y="650"/>
                  </a:lnTo>
                  <a:lnTo>
                    <a:pt x="100" y="715"/>
                  </a:lnTo>
                  <a:lnTo>
                    <a:pt x="80" y="781"/>
                  </a:lnTo>
                  <a:lnTo>
                    <a:pt x="63" y="848"/>
                  </a:lnTo>
                  <a:lnTo>
                    <a:pt x="52" y="917"/>
                  </a:lnTo>
                  <a:lnTo>
                    <a:pt x="45" y="986"/>
                  </a:lnTo>
                  <a:lnTo>
                    <a:pt x="41" y="1055"/>
                  </a:lnTo>
                  <a:lnTo>
                    <a:pt x="0" y="10877"/>
                  </a:lnTo>
                  <a:close/>
                </a:path>
              </a:pathLst>
            </a:custGeom>
            <a:solidFill>
              <a:srgbClr val="00A933"/>
            </a:solidFill>
            <a:ln w="29160">
              <a:noFill/>
            </a:ln>
          </p:spPr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70320" y="1828800"/>
              <a:ext cx="2301480" cy="4304880"/>
            </a:xfrm>
            <a:custGeom>
              <a:avLst/>
              <a:gdLst/>
              <a:ahLst/>
              <a:rect l="0" t="0" r="r" b="b"/>
              <a:pathLst>
                <a:path w="6393" h="11958">
                  <a:moveTo>
                    <a:pt x="0" y="10877"/>
                  </a:moveTo>
                  <a:lnTo>
                    <a:pt x="0" y="10877"/>
                  </a:lnTo>
                  <a:lnTo>
                    <a:pt x="1" y="10947"/>
                  </a:lnTo>
                  <a:lnTo>
                    <a:pt x="8" y="11016"/>
                  </a:lnTo>
                  <a:lnTo>
                    <a:pt x="19" y="11084"/>
                  </a:lnTo>
                  <a:lnTo>
                    <a:pt x="34" y="11151"/>
                  </a:lnTo>
                  <a:lnTo>
                    <a:pt x="54" y="11218"/>
                  </a:lnTo>
                  <a:lnTo>
                    <a:pt x="78" y="11282"/>
                  </a:lnTo>
                  <a:lnTo>
                    <a:pt x="107" y="11345"/>
                  </a:lnTo>
                  <a:lnTo>
                    <a:pt x="139" y="11407"/>
                  </a:lnTo>
                  <a:lnTo>
                    <a:pt x="176" y="11466"/>
                  </a:lnTo>
                  <a:lnTo>
                    <a:pt x="216" y="11523"/>
                  </a:lnTo>
                  <a:lnTo>
                    <a:pt x="260" y="11577"/>
                  </a:lnTo>
                  <a:lnTo>
                    <a:pt x="306" y="11627"/>
                  </a:lnTo>
                  <a:lnTo>
                    <a:pt x="356" y="11674"/>
                  </a:lnTo>
                  <a:lnTo>
                    <a:pt x="410" y="11718"/>
                  </a:lnTo>
                  <a:lnTo>
                    <a:pt x="466" y="11759"/>
                  </a:lnTo>
                  <a:lnTo>
                    <a:pt x="525" y="11796"/>
                  </a:lnTo>
                  <a:lnTo>
                    <a:pt x="586" y="11829"/>
                  </a:lnTo>
                  <a:lnTo>
                    <a:pt x="649" y="11858"/>
                  </a:lnTo>
                  <a:lnTo>
                    <a:pt x="713" y="11883"/>
                  </a:lnTo>
                  <a:lnTo>
                    <a:pt x="780" y="11903"/>
                  </a:lnTo>
                  <a:lnTo>
                    <a:pt x="847" y="11919"/>
                  </a:lnTo>
                  <a:lnTo>
                    <a:pt x="915" y="11931"/>
                  </a:lnTo>
                  <a:lnTo>
                    <a:pt x="984" y="11938"/>
                  </a:lnTo>
                  <a:lnTo>
                    <a:pt x="1054" y="11940"/>
                  </a:lnTo>
                  <a:lnTo>
                    <a:pt x="5287" y="11958"/>
                  </a:lnTo>
                  <a:lnTo>
                    <a:pt x="5287" y="11958"/>
                  </a:lnTo>
                  <a:lnTo>
                    <a:pt x="5356" y="11956"/>
                  </a:lnTo>
                  <a:lnTo>
                    <a:pt x="5425" y="11949"/>
                  </a:lnTo>
                  <a:lnTo>
                    <a:pt x="5494" y="11939"/>
                  </a:lnTo>
                  <a:lnTo>
                    <a:pt x="5561" y="11923"/>
                  </a:lnTo>
                  <a:lnTo>
                    <a:pt x="5627" y="11903"/>
                  </a:lnTo>
                  <a:lnTo>
                    <a:pt x="5692" y="11879"/>
                  </a:lnTo>
                  <a:lnTo>
                    <a:pt x="5755" y="11851"/>
                  </a:lnTo>
                  <a:lnTo>
                    <a:pt x="5817" y="11819"/>
                  </a:lnTo>
                  <a:lnTo>
                    <a:pt x="5876" y="11782"/>
                  </a:lnTo>
                  <a:lnTo>
                    <a:pt x="5933" y="11743"/>
                  </a:lnTo>
                  <a:lnTo>
                    <a:pt x="5986" y="11699"/>
                  </a:lnTo>
                  <a:lnTo>
                    <a:pt x="6036" y="11651"/>
                  </a:lnTo>
                  <a:lnTo>
                    <a:pt x="6085" y="11601"/>
                  </a:lnTo>
                  <a:lnTo>
                    <a:pt x="6129" y="11548"/>
                  </a:lnTo>
                  <a:lnTo>
                    <a:pt x="6169" y="11492"/>
                  </a:lnTo>
                  <a:lnTo>
                    <a:pt x="6206" y="11433"/>
                  </a:lnTo>
                  <a:lnTo>
                    <a:pt x="6239" y="11372"/>
                  </a:lnTo>
                  <a:lnTo>
                    <a:pt x="6268" y="11309"/>
                  </a:lnTo>
                  <a:lnTo>
                    <a:pt x="6292" y="11244"/>
                  </a:lnTo>
                  <a:lnTo>
                    <a:pt x="6312" y="11178"/>
                  </a:lnTo>
                  <a:lnTo>
                    <a:pt x="6329" y="11111"/>
                  </a:lnTo>
                  <a:lnTo>
                    <a:pt x="6340" y="11042"/>
                  </a:lnTo>
                  <a:lnTo>
                    <a:pt x="6347" y="10973"/>
                  </a:lnTo>
                  <a:lnTo>
                    <a:pt x="6351" y="10904"/>
                  </a:lnTo>
                  <a:lnTo>
                    <a:pt x="6351" y="10904"/>
                  </a:lnTo>
                  <a:lnTo>
                    <a:pt x="6393" y="1082"/>
                  </a:lnTo>
                  <a:lnTo>
                    <a:pt x="6393" y="1082"/>
                  </a:lnTo>
                  <a:lnTo>
                    <a:pt x="6392" y="1013"/>
                  </a:lnTo>
                  <a:lnTo>
                    <a:pt x="6385" y="944"/>
                  </a:lnTo>
                  <a:lnTo>
                    <a:pt x="6374" y="876"/>
                  </a:lnTo>
                  <a:lnTo>
                    <a:pt x="6359" y="809"/>
                  </a:lnTo>
                  <a:lnTo>
                    <a:pt x="6339" y="742"/>
                  </a:lnTo>
                  <a:lnTo>
                    <a:pt x="6315" y="678"/>
                  </a:lnTo>
                  <a:lnTo>
                    <a:pt x="6286" y="615"/>
                  </a:lnTo>
                  <a:lnTo>
                    <a:pt x="6254" y="553"/>
                  </a:lnTo>
                  <a:lnTo>
                    <a:pt x="6217" y="494"/>
                  </a:lnTo>
                  <a:lnTo>
                    <a:pt x="6177" y="437"/>
                  </a:lnTo>
                  <a:lnTo>
                    <a:pt x="6133" y="383"/>
                  </a:lnTo>
                  <a:lnTo>
                    <a:pt x="6087" y="333"/>
                  </a:lnTo>
                  <a:lnTo>
                    <a:pt x="6037" y="286"/>
                  </a:lnTo>
                  <a:lnTo>
                    <a:pt x="5983" y="242"/>
                  </a:lnTo>
                  <a:lnTo>
                    <a:pt x="5927" y="200"/>
                  </a:lnTo>
                  <a:lnTo>
                    <a:pt x="5868" y="164"/>
                  </a:lnTo>
                  <a:lnTo>
                    <a:pt x="5807" y="131"/>
                  </a:lnTo>
                  <a:lnTo>
                    <a:pt x="5744" y="102"/>
                  </a:lnTo>
                  <a:lnTo>
                    <a:pt x="5680" y="77"/>
                  </a:lnTo>
                  <a:lnTo>
                    <a:pt x="5613" y="57"/>
                  </a:lnTo>
                  <a:lnTo>
                    <a:pt x="5546" y="41"/>
                  </a:lnTo>
                  <a:lnTo>
                    <a:pt x="5478" y="29"/>
                  </a:lnTo>
                  <a:lnTo>
                    <a:pt x="5409" y="22"/>
                  </a:lnTo>
                  <a:lnTo>
                    <a:pt x="5339" y="20"/>
                  </a:lnTo>
                  <a:lnTo>
                    <a:pt x="1105" y="0"/>
                  </a:lnTo>
                  <a:lnTo>
                    <a:pt x="1105" y="0"/>
                  </a:lnTo>
                  <a:lnTo>
                    <a:pt x="1036" y="3"/>
                  </a:lnTo>
                  <a:lnTo>
                    <a:pt x="967" y="10"/>
                  </a:lnTo>
                  <a:lnTo>
                    <a:pt x="898" y="20"/>
                  </a:lnTo>
                  <a:lnTo>
                    <a:pt x="831" y="36"/>
                  </a:lnTo>
                  <a:lnTo>
                    <a:pt x="765" y="56"/>
                  </a:lnTo>
                  <a:lnTo>
                    <a:pt x="700" y="80"/>
                  </a:lnTo>
                  <a:lnTo>
                    <a:pt x="637" y="108"/>
                  </a:lnTo>
                  <a:lnTo>
                    <a:pt x="575" y="140"/>
                  </a:lnTo>
                  <a:lnTo>
                    <a:pt x="516" y="177"/>
                  </a:lnTo>
                  <a:lnTo>
                    <a:pt x="459" y="217"/>
                  </a:lnTo>
                  <a:lnTo>
                    <a:pt x="406" y="260"/>
                  </a:lnTo>
                  <a:lnTo>
                    <a:pt x="356" y="308"/>
                  </a:lnTo>
                  <a:lnTo>
                    <a:pt x="308" y="358"/>
                  </a:lnTo>
                  <a:lnTo>
                    <a:pt x="263" y="411"/>
                  </a:lnTo>
                  <a:lnTo>
                    <a:pt x="223" y="467"/>
                  </a:lnTo>
                  <a:lnTo>
                    <a:pt x="186" y="526"/>
                  </a:lnTo>
                  <a:lnTo>
                    <a:pt x="154" y="587"/>
                  </a:lnTo>
                  <a:lnTo>
                    <a:pt x="124" y="650"/>
                  </a:lnTo>
                  <a:lnTo>
                    <a:pt x="100" y="715"/>
                  </a:lnTo>
                  <a:lnTo>
                    <a:pt x="80" y="781"/>
                  </a:lnTo>
                  <a:lnTo>
                    <a:pt x="63" y="848"/>
                  </a:lnTo>
                  <a:lnTo>
                    <a:pt x="52" y="917"/>
                  </a:lnTo>
                  <a:lnTo>
                    <a:pt x="45" y="986"/>
                  </a:lnTo>
                  <a:lnTo>
                    <a:pt x="41" y="1055"/>
                  </a:lnTo>
                  <a:lnTo>
                    <a:pt x="0" y="10877"/>
                  </a:lnTo>
                  <a:close/>
                </a:path>
              </a:pathLst>
            </a:custGeom>
            <a:solidFill>
              <a:srgbClr val="00A933"/>
            </a:solidFill>
            <a:ln w="29160">
              <a:solidFill>
                <a:srgbClr val="F10D0C"/>
              </a:solidFill>
              <a:round/>
            </a:ln>
          </p:spPr>
          <p:txBody>
            <a:bodyPr lIns="100080" tIns="55080" rIns="100080" bIns="5508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9" name="Oval 5"/>
          <p:cNvSpPr/>
          <p:nvPr/>
        </p:nvSpPr>
        <p:spPr>
          <a:xfrm>
            <a:off x="914400" y="210312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914400" y="215784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1554480" y="2130480"/>
            <a:ext cx="2285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Challenge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1143000" y="3200400"/>
            <a:ext cx="160020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Break difficult academic tasks into small, clear missions instead of treating them as one large problem.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"/>
          <p:cNvGrpSpPr/>
          <p:nvPr/>
        </p:nvGrpSpPr>
        <p:grpSpPr>
          <a:xfrm>
            <a:off x="4389120" y="1909080"/>
            <a:ext cx="3414240" cy="3645720"/>
            <a:chOff x="4389120" y="1909080"/>
            <a:chExt cx="3414240" cy="3645720"/>
          </a:xfrm>
        </p:grpSpPr>
        <p:sp>
          <p:nvSpPr>
            <p:cNvPr id="154" name=""/>
            <p:cNvSpPr/>
            <p:nvPr/>
          </p:nvSpPr>
          <p:spPr>
            <a:xfrm>
              <a:off x="4389120" y="1909080"/>
              <a:ext cx="3414240" cy="3645720"/>
            </a:xfrm>
            <a:custGeom>
              <a:avLst/>
              <a:gdLst/>
              <a:ahLst/>
              <a:rect l="0" t="0" r="r" b="b"/>
              <a:pathLst>
                <a:path w="9484" h="10127">
                  <a:moveTo>
                    <a:pt x="0" y="1449"/>
                  </a:moveTo>
                  <a:cubicBezTo>
                    <a:pt x="0" y="1178"/>
                    <a:pt x="75" y="911"/>
                    <a:pt x="234" y="678"/>
                  </a:cubicBezTo>
                  <a:cubicBezTo>
                    <a:pt x="393" y="446"/>
                    <a:pt x="628" y="257"/>
                    <a:pt x="915" y="138"/>
                  </a:cubicBezTo>
                  <a:cubicBezTo>
                    <a:pt x="1202" y="19"/>
                    <a:pt x="1536" y="-25"/>
                    <a:pt x="1863" y="13"/>
                  </a:cubicBezTo>
                  <a:cubicBezTo>
                    <a:pt x="4420" y="315"/>
                    <a:pt x="6840" y="1242"/>
                    <a:pt x="8884" y="2660"/>
                  </a:cubicBezTo>
                  <a:cubicBezTo>
                    <a:pt x="9136" y="2836"/>
                    <a:pt x="9321" y="3067"/>
                    <a:pt x="9415" y="3318"/>
                  </a:cubicBezTo>
                  <a:cubicBezTo>
                    <a:pt x="9509" y="3570"/>
                    <a:pt x="9504" y="3831"/>
                    <a:pt x="9418" y="4074"/>
                  </a:cubicBezTo>
                  <a:cubicBezTo>
                    <a:pt x="9332" y="4317"/>
                    <a:pt x="9164" y="4534"/>
                    <a:pt x="8942" y="4710"/>
                  </a:cubicBezTo>
                  <a:cubicBezTo>
                    <a:pt x="7340" y="6088"/>
                    <a:pt x="5873" y="7590"/>
                    <a:pt x="4557" y="9199"/>
                  </a:cubicBezTo>
                  <a:cubicBezTo>
                    <a:pt x="4396" y="9415"/>
                    <a:pt x="4211" y="9607"/>
                    <a:pt x="4031" y="9761"/>
                  </a:cubicBezTo>
                  <a:cubicBezTo>
                    <a:pt x="3851" y="9915"/>
                    <a:pt x="3681" y="10026"/>
                    <a:pt x="3530" y="10083"/>
                  </a:cubicBezTo>
                  <a:cubicBezTo>
                    <a:pt x="3381" y="10141"/>
                    <a:pt x="3256" y="10141"/>
                    <a:pt x="3162" y="10081"/>
                  </a:cubicBezTo>
                  <a:cubicBezTo>
                    <a:pt x="2401" y="9606"/>
                    <a:pt x="1544" y="9307"/>
                    <a:pt x="650" y="9210"/>
                  </a:cubicBezTo>
                  <a:cubicBezTo>
                    <a:pt x="536" y="9198"/>
                    <a:pt x="430" y="9118"/>
                    <a:pt x="335" y="8977"/>
                  </a:cubicBezTo>
                  <a:cubicBezTo>
                    <a:pt x="240" y="8836"/>
                    <a:pt x="159" y="8638"/>
                    <a:pt x="98" y="8402"/>
                  </a:cubicBezTo>
                  <a:cubicBezTo>
                    <a:pt x="37" y="8167"/>
                    <a:pt x="0" y="7901"/>
                    <a:pt x="0" y="7630"/>
                  </a:cubicBezTo>
                  <a:cubicBezTo>
                    <a:pt x="0" y="5570"/>
                    <a:pt x="0" y="3509"/>
                    <a:pt x="0" y="1449"/>
                  </a:cubicBezTo>
                  <a:close/>
                </a:path>
              </a:pathLst>
            </a:custGeom>
            <a:solidFill>
              <a:schemeClr val="accent1"/>
            </a:solidFill>
            <a:ln w="9360">
              <a:noFill/>
            </a:ln>
          </p:spPr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4389120" y="1909080"/>
              <a:ext cx="3414240" cy="3645720"/>
            </a:xfrm>
            <a:custGeom>
              <a:avLst/>
              <a:gdLst/>
              <a:ahLst/>
              <a:rect l="0" t="0" r="r" b="b"/>
              <a:pathLst>
                <a:path w="9484" h="10127">
                  <a:moveTo>
                    <a:pt x="0" y="1449"/>
                  </a:moveTo>
                  <a:cubicBezTo>
                    <a:pt x="0" y="1178"/>
                    <a:pt x="75" y="911"/>
                    <a:pt x="234" y="678"/>
                  </a:cubicBezTo>
                  <a:cubicBezTo>
                    <a:pt x="393" y="446"/>
                    <a:pt x="628" y="257"/>
                    <a:pt x="915" y="138"/>
                  </a:cubicBezTo>
                  <a:cubicBezTo>
                    <a:pt x="1202" y="19"/>
                    <a:pt x="1536" y="-25"/>
                    <a:pt x="1863" y="13"/>
                  </a:cubicBezTo>
                  <a:cubicBezTo>
                    <a:pt x="4420" y="315"/>
                    <a:pt x="6840" y="1242"/>
                    <a:pt x="8884" y="2660"/>
                  </a:cubicBezTo>
                  <a:cubicBezTo>
                    <a:pt x="9136" y="2836"/>
                    <a:pt x="9321" y="3067"/>
                    <a:pt x="9415" y="3318"/>
                  </a:cubicBezTo>
                  <a:cubicBezTo>
                    <a:pt x="9509" y="3570"/>
                    <a:pt x="9504" y="3831"/>
                    <a:pt x="9418" y="4074"/>
                  </a:cubicBezTo>
                  <a:cubicBezTo>
                    <a:pt x="9332" y="4317"/>
                    <a:pt x="9164" y="4534"/>
                    <a:pt x="8942" y="4710"/>
                  </a:cubicBezTo>
                  <a:cubicBezTo>
                    <a:pt x="7340" y="6088"/>
                    <a:pt x="5873" y="7590"/>
                    <a:pt x="4557" y="9199"/>
                  </a:cubicBezTo>
                  <a:cubicBezTo>
                    <a:pt x="4396" y="9415"/>
                    <a:pt x="4211" y="9607"/>
                    <a:pt x="4031" y="9761"/>
                  </a:cubicBezTo>
                  <a:cubicBezTo>
                    <a:pt x="3851" y="9915"/>
                    <a:pt x="3681" y="10026"/>
                    <a:pt x="3530" y="10083"/>
                  </a:cubicBezTo>
                  <a:cubicBezTo>
                    <a:pt x="3381" y="10141"/>
                    <a:pt x="3256" y="10141"/>
                    <a:pt x="3162" y="10081"/>
                  </a:cubicBezTo>
                  <a:cubicBezTo>
                    <a:pt x="2401" y="9606"/>
                    <a:pt x="1544" y="9307"/>
                    <a:pt x="650" y="9210"/>
                  </a:cubicBezTo>
                  <a:cubicBezTo>
                    <a:pt x="536" y="9198"/>
                    <a:pt x="430" y="9118"/>
                    <a:pt x="335" y="8977"/>
                  </a:cubicBezTo>
                  <a:cubicBezTo>
                    <a:pt x="240" y="8836"/>
                    <a:pt x="159" y="8638"/>
                    <a:pt x="98" y="8402"/>
                  </a:cubicBezTo>
                  <a:cubicBezTo>
                    <a:pt x="37" y="8167"/>
                    <a:pt x="0" y="7901"/>
                    <a:pt x="0" y="7630"/>
                  </a:cubicBezTo>
                  <a:cubicBezTo>
                    <a:pt x="0" y="5570"/>
                    <a:pt x="0" y="3509"/>
                    <a:pt x="0" y="1449"/>
                  </a:cubicBezTo>
                  <a:close/>
                </a:path>
              </a:pathLst>
            </a:custGeom>
            <a:noFill/>
            <a:ln w="93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6" name="Oval 10"/>
          <p:cNvSpPr/>
          <p:nvPr/>
        </p:nvSpPr>
        <p:spPr>
          <a:xfrm>
            <a:off x="4617720" y="210312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1"/>
          <p:cNvSpPr/>
          <p:nvPr/>
        </p:nvSpPr>
        <p:spPr>
          <a:xfrm rot="1046400">
            <a:off x="4617720" y="215748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 rot="1113000">
            <a:off x="5521320" y="2724840"/>
            <a:ext cx="2285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Progress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3"/>
          <p:cNvSpPr/>
          <p:nvPr/>
        </p:nvSpPr>
        <p:spPr>
          <a:xfrm rot="1154400">
            <a:off x="4716360" y="3092760"/>
            <a:ext cx="214848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Use simple points, levels, streaks, team challenges, and milestones to make progress visible.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0" name=""/>
          <p:cNvGrpSpPr/>
          <p:nvPr/>
        </p:nvGrpSpPr>
        <p:grpSpPr>
          <a:xfrm>
            <a:off x="7769520" y="227160"/>
            <a:ext cx="3657600" cy="3657600"/>
            <a:chOff x="7769520" y="227160"/>
            <a:chExt cx="3657600" cy="3657600"/>
          </a:xfrm>
        </p:grpSpPr>
        <p:sp>
          <p:nvSpPr>
            <p:cNvPr id="161" name=""/>
            <p:cNvSpPr/>
            <p:nvPr/>
          </p:nvSpPr>
          <p:spPr>
            <a:xfrm>
              <a:off x="7769520" y="227160"/>
              <a:ext cx="3657600" cy="3657600"/>
            </a:xfrm>
            <a:custGeom>
              <a:avLst/>
              <a:gdLst/>
              <a:ahLst/>
              <a:rect l="0" t="0" r="r" b="b"/>
              <a:pathLst>
                <a:path w="10160" h="10160">
                  <a:moveTo>
                    <a:pt x="0" y="1000"/>
                  </a:moveTo>
                  <a:cubicBezTo>
                    <a:pt x="0" y="813"/>
                    <a:pt x="70" y="628"/>
                    <a:pt x="203" y="469"/>
                  </a:cubicBezTo>
                  <a:cubicBezTo>
                    <a:pt x="337" y="309"/>
                    <a:pt x="529" y="178"/>
                    <a:pt x="759" y="96"/>
                  </a:cubicBezTo>
                  <a:cubicBezTo>
                    <a:pt x="989" y="15"/>
                    <a:pt x="1249" y="-17"/>
                    <a:pt x="1513" y="9"/>
                  </a:cubicBezTo>
                  <a:cubicBezTo>
                    <a:pt x="4590" y="309"/>
                    <a:pt x="7477" y="1570"/>
                    <a:pt x="9333" y="3423"/>
                  </a:cubicBezTo>
                  <a:cubicBezTo>
                    <a:pt x="9493" y="3582"/>
                    <a:pt x="9641" y="3792"/>
                    <a:pt x="9767" y="4029"/>
                  </a:cubicBezTo>
                  <a:cubicBezTo>
                    <a:pt x="9893" y="4267"/>
                    <a:pt x="9991" y="4525"/>
                    <a:pt x="10058" y="4772"/>
                  </a:cubicBezTo>
                  <a:cubicBezTo>
                    <a:pt x="10126" y="5019"/>
                    <a:pt x="10159" y="5248"/>
                    <a:pt x="10159" y="5435"/>
                  </a:cubicBezTo>
                  <a:cubicBezTo>
                    <a:pt x="10159" y="6854"/>
                    <a:pt x="10160" y="8273"/>
                    <a:pt x="10160" y="9692"/>
                  </a:cubicBezTo>
                  <a:cubicBezTo>
                    <a:pt x="10160" y="9878"/>
                    <a:pt x="10125" y="10017"/>
                    <a:pt x="10058" y="10093"/>
                  </a:cubicBezTo>
                  <a:cubicBezTo>
                    <a:pt x="9991" y="10169"/>
                    <a:pt x="9893" y="10180"/>
                    <a:pt x="9767" y="10129"/>
                  </a:cubicBezTo>
                  <a:cubicBezTo>
                    <a:pt x="9641" y="10079"/>
                    <a:pt x="9493" y="9967"/>
                    <a:pt x="9334" y="9807"/>
                  </a:cubicBezTo>
                  <a:cubicBezTo>
                    <a:pt x="7477" y="7954"/>
                    <a:pt x="4590" y="6694"/>
                    <a:pt x="1513" y="6393"/>
                  </a:cubicBezTo>
                  <a:cubicBezTo>
                    <a:pt x="1249" y="6368"/>
                    <a:pt x="989" y="6301"/>
                    <a:pt x="759" y="6197"/>
                  </a:cubicBezTo>
                  <a:cubicBezTo>
                    <a:pt x="529" y="6092"/>
                    <a:pt x="337" y="5953"/>
                    <a:pt x="203" y="5789"/>
                  </a:cubicBezTo>
                  <a:cubicBezTo>
                    <a:pt x="70" y="5626"/>
                    <a:pt x="0" y="5443"/>
                    <a:pt x="0" y="5256"/>
                  </a:cubicBezTo>
                  <a:cubicBezTo>
                    <a:pt x="0" y="3838"/>
                    <a:pt x="0" y="2418"/>
                    <a:pt x="0" y="1000"/>
                  </a:cubicBezTo>
                  <a:close/>
                </a:path>
              </a:pathLst>
            </a:custGeom>
            <a:solidFill>
              <a:srgbClr val="7F8830"/>
            </a:solidFill>
            <a:ln w="9360">
              <a:noFill/>
            </a:ln>
          </p:spPr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7769520" y="227160"/>
              <a:ext cx="3657600" cy="3657600"/>
            </a:xfrm>
            <a:custGeom>
              <a:avLst/>
              <a:gdLst/>
              <a:ahLst/>
              <a:rect l="0" t="0" r="r" b="b"/>
              <a:pathLst>
                <a:path w="10160" h="10160">
                  <a:moveTo>
                    <a:pt x="0" y="1000"/>
                  </a:moveTo>
                  <a:cubicBezTo>
                    <a:pt x="0" y="813"/>
                    <a:pt x="70" y="628"/>
                    <a:pt x="203" y="469"/>
                  </a:cubicBezTo>
                  <a:cubicBezTo>
                    <a:pt x="337" y="309"/>
                    <a:pt x="529" y="178"/>
                    <a:pt x="759" y="96"/>
                  </a:cubicBezTo>
                  <a:cubicBezTo>
                    <a:pt x="989" y="15"/>
                    <a:pt x="1249" y="-17"/>
                    <a:pt x="1513" y="9"/>
                  </a:cubicBezTo>
                  <a:cubicBezTo>
                    <a:pt x="4590" y="309"/>
                    <a:pt x="7477" y="1570"/>
                    <a:pt x="9333" y="3423"/>
                  </a:cubicBezTo>
                  <a:cubicBezTo>
                    <a:pt x="9493" y="3582"/>
                    <a:pt x="9641" y="3792"/>
                    <a:pt x="9767" y="4029"/>
                  </a:cubicBezTo>
                  <a:cubicBezTo>
                    <a:pt x="9893" y="4267"/>
                    <a:pt x="9991" y="4525"/>
                    <a:pt x="10058" y="4772"/>
                  </a:cubicBezTo>
                  <a:cubicBezTo>
                    <a:pt x="10126" y="5019"/>
                    <a:pt x="10159" y="5248"/>
                    <a:pt x="10159" y="5435"/>
                  </a:cubicBezTo>
                  <a:cubicBezTo>
                    <a:pt x="10159" y="6854"/>
                    <a:pt x="10160" y="8273"/>
                    <a:pt x="10160" y="9692"/>
                  </a:cubicBezTo>
                  <a:cubicBezTo>
                    <a:pt x="10160" y="9878"/>
                    <a:pt x="10125" y="10017"/>
                    <a:pt x="10058" y="10093"/>
                  </a:cubicBezTo>
                  <a:cubicBezTo>
                    <a:pt x="9991" y="10169"/>
                    <a:pt x="9893" y="10180"/>
                    <a:pt x="9767" y="10129"/>
                  </a:cubicBezTo>
                  <a:cubicBezTo>
                    <a:pt x="9641" y="10079"/>
                    <a:pt x="9493" y="9967"/>
                    <a:pt x="9334" y="9807"/>
                  </a:cubicBezTo>
                  <a:cubicBezTo>
                    <a:pt x="7477" y="7954"/>
                    <a:pt x="4590" y="6694"/>
                    <a:pt x="1513" y="6393"/>
                  </a:cubicBezTo>
                  <a:cubicBezTo>
                    <a:pt x="1249" y="6368"/>
                    <a:pt x="989" y="6301"/>
                    <a:pt x="759" y="6197"/>
                  </a:cubicBezTo>
                  <a:cubicBezTo>
                    <a:pt x="529" y="6092"/>
                    <a:pt x="337" y="5953"/>
                    <a:pt x="203" y="5789"/>
                  </a:cubicBezTo>
                  <a:cubicBezTo>
                    <a:pt x="70" y="5626"/>
                    <a:pt x="0" y="5443"/>
                    <a:pt x="0" y="5256"/>
                  </a:cubicBezTo>
                  <a:cubicBezTo>
                    <a:pt x="0" y="3838"/>
                    <a:pt x="0" y="2418"/>
                    <a:pt x="0" y="1000"/>
                  </a:cubicBezTo>
                  <a:close/>
                </a:path>
              </a:pathLst>
            </a:custGeom>
            <a:solidFill>
              <a:srgbClr val="7F8830"/>
            </a:solidFill>
            <a:ln w="9360">
              <a:solidFill>
                <a:srgbClr val="FFFF00"/>
              </a:solidFill>
              <a:round/>
            </a:ln>
          </p:spPr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3" name="Oval 15"/>
          <p:cNvSpPr/>
          <p:nvPr/>
        </p:nvSpPr>
        <p:spPr>
          <a:xfrm>
            <a:off x="7818480" y="51768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7818480" y="59544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8458560" y="609120"/>
            <a:ext cx="2285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Achievement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8367120" y="1280520"/>
            <a:ext cx="2148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Celebrate consistency and improvement—not only high grades—so students stay engaged.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4114800" y="6264720"/>
            <a:ext cx="91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F67B4"/>
                </a:solidFill>
                <a:effectLst/>
                <a:uFillTx/>
                <a:latin typeface="Aptos"/>
              </a:rPr>
              <a:t>GOAL: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0"/>
          <p:cNvSpPr/>
          <p:nvPr/>
        </p:nvSpPr>
        <p:spPr>
          <a:xfrm>
            <a:off x="4800600" y="6172200"/>
            <a:ext cx="6034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02834"/>
                </a:solidFill>
                <a:effectLst/>
                <a:uFillTx/>
                <a:latin typeface="Aptos"/>
              </a:rPr>
              <a:t>A study environment where progress feels achievable and students are encouraged to keep moving forward.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640080" y="6537960"/>
            <a:ext cx="86864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MINISTRY OF EDUCATION • CANDIDATE 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10972800" y="6510600"/>
            <a:ext cx="548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1/5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2971800" y="457200"/>
            <a:ext cx="10881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2. REMOVE BARRIERS TO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896400" y="1371600"/>
            <a:ext cx="1053360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</a:t>
            </a:r>
            <a:r>
              <a:rPr lang="en-US" sz="1550" b="0" u="none" strike="noStrike">
                <a:solidFill>
                  <a:srgbClr val="EEEEEE"/>
                </a:solidFill>
                <a:effectLst/>
                <a:uFillTx/>
                <a:latin typeface="Aptos"/>
              </a:rPr>
              <a:t>dentify what prevents students from learning effectively—and act before small problems become major ones.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5"/>
          <p:cNvSpPr/>
          <p:nvPr/>
        </p:nvSpPr>
        <p:spPr>
          <a:xfrm>
            <a:off x="960120" y="224064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960120" y="228600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1828800" y="2286000"/>
            <a:ext cx="17827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00"/>
                </a:solidFill>
                <a:effectLst/>
                <a:uFillTx/>
                <a:latin typeface="Aptos"/>
              </a:rPr>
              <a:t>Identify</a:t>
            </a:r>
            <a:endParaRPr lang="en-US" sz="17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1326240" y="2773800"/>
            <a:ext cx="210276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EEEEE"/>
                </a:solidFill>
                <a:effectLst/>
                <a:uFillTx/>
                <a:latin typeface="Aptos"/>
              </a:rPr>
              <a:t>Collect student feedback and observe recurring academic obstacles: workload, unclear expectations, lack of resources, poor organization, or low engagement.</a:t>
            </a:r>
            <a:endParaRPr lang="en-US" sz="14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10"/>
          <p:cNvSpPr/>
          <p:nvPr/>
        </p:nvSpPr>
        <p:spPr>
          <a:xfrm>
            <a:off x="4636080" y="224064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1"/>
          <p:cNvSpPr/>
          <p:nvPr/>
        </p:nvSpPr>
        <p:spPr>
          <a:xfrm>
            <a:off x="4636080" y="228600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2"/>
          <p:cNvSpPr/>
          <p:nvPr/>
        </p:nvSpPr>
        <p:spPr>
          <a:xfrm>
            <a:off x="5486400" y="2286000"/>
            <a:ext cx="22399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Prevent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3"/>
          <p:cNvSpPr/>
          <p:nvPr/>
        </p:nvSpPr>
        <p:spPr>
          <a:xfrm>
            <a:off x="5029200" y="2972160"/>
            <a:ext cx="2102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00"/>
                </a:solidFill>
                <a:effectLst/>
                <a:uFillTx/>
                <a:latin typeface="Aptos"/>
              </a:rPr>
              <a:t>Create practical solutions such as shared resources, peer support, study guidance, reminders, and early intervention.</a:t>
            </a:r>
            <a:endParaRPr lang="en-US" sz="1400" b="0" u="none" strike="noStrike">
              <a:solidFill>
                <a:srgbClr val="FFFF00"/>
              </a:solidFill>
              <a:effectLst/>
              <a:highlight>
                <a:srgbClr val="81D41A"/>
              </a:highlight>
              <a:uFillTx/>
              <a:latin typeface="Arial"/>
            </a:endParaRPr>
          </a:p>
        </p:txBody>
      </p:sp>
      <p:sp>
        <p:nvSpPr>
          <p:cNvPr id="182" name="Oval 15"/>
          <p:cNvSpPr/>
          <p:nvPr/>
        </p:nvSpPr>
        <p:spPr>
          <a:xfrm>
            <a:off x="8641440" y="406944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6"/>
          <p:cNvSpPr/>
          <p:nvPr/>
        </p:nvSpPr>
        <p:spPr>
          <a:xfrm>
            <a:off x="8641440" y="411480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9418680" y="4114800"/>
            <a:ext cx="22399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Improve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9006840" y="4786560"/>
            <a:ext cx="210276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Regularly check whether the solution works and adjust it according to students' real needs.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777240" y="5760720"/>
            <a:ext cx="1188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3838"/>
                </a:solidFill>
                <a:effectLst/>
                <a:uFillTx/>
                <a:latin typeface="Aptos"/>
              </a:rPr>
              <a:t>PRINCIPLE</a:t>
            </a:r>
            <a:endParaRPr lang="en-US" sz="1200" b="0" u="none" strike="noStrike">
              <a:solidFill>
                <a:srgbClr val="FF3838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0"/>
          <p:cNvSpPr/>
          <p:nvPr/>
        </p:nvSpPr>
        <p:spPr>
          <a:xfrm>
            <a:off x="1874520" y="5715000"/>
            <a:ext cx="5897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02834"/>
                </a:solidFill>
                <a:effectLst/>
                <a:uFillTx/>
                <a:latin typeface="Aptos"/>
              </a:rPr>
              <a:t>Do not wait for students to fall behind. Detect barriers early and reduce them together.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1"/>
          <p:cNvSpPr/>
          <p:nvPr/>
        </p:nvSpPr>
        <p:spPr>
          <a:xfrm>
            <a:off x="640080" y="6537960"/>
            <a:ext cx="86864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MINISTRY OF EDUCATION • CANDIDATE 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2"/>
          <p:cNvSpPr/>
          <p:nvPr/>
        </p:nvSpPr>
        <p:spPr>
          <a:xfrm>
            <a:off x="10972800" y="6510600"/>
            <a:ext cx="548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2/5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strips dir="ld"/>
      </p:transition>
    </mc:Choice>
    <mc:Fallback>
      <p:transition spd="slow">
        <p:strips dir="ld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640080" y="475560"/>
            <a:ext cx="108810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3. INDIVIDUAL SUPPORT FOR STUDENTS WHO ARE FALLING BEHIND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1326240" y="1502280"/>
            <a:ext cx="10789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0" u="none" strike="noStrike">
                <a:solidFill>
                  <a:srgbClr val="FF0000"/>
                </a:solidFill>
                <a:effectLst/>
                <a:uFillTx/>
                <a:latin typeface="Fira Sans ExtraBold"/>
              </a:rPr>
              <a:t>Every student can have a different reason for struggling. The response should be individual, not one-size-fits-all.</a:t>
            </a:r>
            <a:endParaRPr lang="en-US" sz="1550" b="0" u="none" strike="noStrike">
              <a:solidFill>
                <a:srgbClr val="FF0000"/>
              </a:solidFill>
              <a:effectLst/>
              <a:uFillTx/>
              <a:latin typeface="Fira Sans ExtraBold"/>
            </a:endParaRPr>
          </a:p>
        </p:txBody>
      </p:sp>
      <p:sp>
        <p:nvSpPr>
          <p:cNvPr id="193" name="Rounded Rectangle 4"/>
          <p:cNvSpPr/>
          <p:nvPr/>
        </p:nvSpPr>
        <p:spPr>
          <a:xfrm>
            <a:off x="685800" y="2057400"/>
            <a:ext cx="2514240" cy="30628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Oval 5"/>
          <p:cNvSpPr/>
          <p:nvPr/>
        </p:nvSpPr>
        <p:spPr>
          <a:xfrm>
            <a:off x="914400" y="22860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914400" y="23407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1554480" y="2313360"/>
            <a:ext cx="13712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Notice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1554480" y="2834640"/>
            <a:ext cx="1234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Recognize a student who is struggling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Chevron 9"/>
          <p:cNvSpPr/>
          <p:nvPr/>
        </p:nvSpPr>
        <p:spPr>
          <a:xfrm>
            <a:off x="3273480" y="3154680"/>
            <a:ext cx="383760" cy="5025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ounded Rectangle 10"/>
          <p:cNvSpPr/>
          <p:nvPr/>
        </p:nvSpPr>
        <p:spPr>
          <a:xfrm>
            <a:off x="3474720" y="2057400"/>
            <a:ext cx="2514240" cy="30628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Oval 11"/>
          <p:cNvSpPr/>
          <p:nvPr/>
        </p:nvSpPr>
        <p:spPr>
          <a:xfrm>
            <a:off x="3703320" y="22860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3703320" y="23407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4343400" y="2313360"/>
            <a:ext cx="13712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Talk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4343400" y="2834640"/>
            <a:ext cx="123408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Have a private, respectful conversation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hevron 15"/>
          <p:cNvSpPr/>
          <p:nvPr/>
        </p:nvSpPr>
        <p:spPr>
          <a:xfrm>
            <a:off x="6062400" y="3154680"/>
            <a:ext cx="383760" cy="5025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ounded Rectangle 16"/>
          <p:cNvSpPr/>
          <p:nvPr/>
        </p:nvSpPr>
        <p:spPr>
          <a:xfrm>
            <a:off x="6400800" y="2057400"/>
            <a:ext cx="2514600" cy="3062880"/>
          </a:xfrm>
          <a:prstGeom prst="roundRect">
            <a:avLst>
              <a:gd name="adj" fmla="val 16667"/>
            </a:avLst>
          </a:prstGeom>
          <a:solidFill>
            <a:srgbClr val="168253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7360" dir="5400000" blurRad="39960" rotWithShape="0">
              <a:srgbClr val="168253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Oval 17"/>
          <p:cNvSpPr/>
          <p:nvPr/>
        </p:nvSpPr>
        <p:spPr>
          <a:xfrm>
            <a:off x="6492240" y="22860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6492240" y="23407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7086600" y="2313360"/>
            <a:ext cx="150876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Understand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7132320" y="2834640"/>
            <a:ext cx="12340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Find the real reason behind the difficulty</a:t>
            </a:r>
            <a:endParaRPr lang="en-US" sz="1400" b="0" u="none" strike="noStrike">
              <a:solidFill>
                <a:srgbClr val="FFFFFF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  <p:sp>
        <p:nvSpPr>
          <p:cNvPr id="210" name="Chevron 21"/>
          <p:cNvSpPr/>
          <p:nvPr/>
        </p:nvSpPr>
        <p:spPr>
          <a:xfrm>
            <a:off x="8851320" y="3154680"/>
            <a:ext cx="383760" cy="5025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22"/>
          <p:cNvSpPr/>
          <p:nvPr/>
        </p:nvSpPr>
        <p:spPr>
          <a:xfrm>
            <a:off x="9052560" y="2057400"/>
            <a:ext cx="2514240" cy="30628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Oval 23"/>
          <p:cNvSpPr/>
          <p:nvPr/>
        </p:nvSpPr>
        <p:spPr>
          <a:xfrm>
            <a:off x="9281160" y="22860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4"/>
          <p:cNvSpPr/>
          <p:nvPr/>
        </p:nvSpPr>
        <p:spPr>
          <a:xfrm>
            <a:off x="9281160" y="23407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5"/>
          <p:cNvSpPr/>
          <p:nvPr/>
        </p:nvSpPr>
        <p:spPr>
          <a:xfrm>
            <a:off x="9921240" y="2313360"/>
            <a:ext cx="13712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Act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6"/>
          <p:cNvSpPr/>
          <p:nvPr/>
        </p:nvSpPr>
        <p:spPr>
          <a:xfrm>
            <a:off x="9921240" y="2834640"/>
            <a:ext cx="1234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Agree on practical next steps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7"/>
          <p:cNvSpPr/>
          <p:nvPr/>
        </p:nvSpPr>
        <p:spPr>
          <a:xfrm>
            <a:off x="822960" y="5623560"/>
            <a:ext cx="10515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02834"/>
                </a:solidFill>
                <a:effectLst/>
                <a:uFillTx/>
                <a:latin typeface="Aptos"/>
              </a:rPr>
              <a:t>The purpose is not to judge performance, but to understand the situation and help the student return to a sustainable study path.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8"/>
          <p:cNvSpPr/>
          <p:nvPr/>
        </p:nvSpPr>
        <p:spPr>
          <a:xfrm>
            <a:off x="640080" y="6537960"/>
            <a:ext cx="86864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MINISTRY OF EDUCATION • CANDIDATE 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9"/>
          <p:cNvSpPr/>
          <p:nvPr/>
        </p:nvSpPr>
        <p:spPr>
          <a:xfrm>
            <a:off x="10972800" y="6510600"/>
            <a:ext cx="548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3/5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2"/>
          <p:cNvSpPr/>
          <p:nvPr/>
        </p:nvSpPr>
        <p:spPr>
          <a:xfrm>
            <a:off x="640080" y="502920"/>
            <a:ext cx="10881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4. SUPPORT BEYOND ACADEMICS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"/>
          <p:cNvSpPr/>
          <p:nvPr/>
        </p:nvSpPr>
        <p:spPr>
          <a:xfrm>
            <a:off x="658440" y="1097280"/>
            <a:ext cx="1078956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Personal difficulties can affect studying. Individual conversations create a safe space to understand the situation and look for realistic support.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4"/>
          <p:cNvSpPr/>
          <p:nvPr/>
        </p:nvSpPr>
        <p:spPr>
          <a:xfrm>
            <a:off x="731520" y="1874520"/>
            <a:ext cx="3337200" cy="342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5"/>
          <p:cNvSpPr/>
          <p:nvPr/>
        </p:nvSpPr>
        <p:spPr>
          <a:xfrm>
            <a:off x="960120" y="210312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6"/>
          <p:cNvSpPr/>
          <p:nvPr/>
        </p:nvSpPr>
        <p:spPr>
          <a:xfrm>
            <a:off x="960120" y="215784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7"/>
          <p:cNvSpPr/>
          <p:nvPr/>
        </p:nvSpPr>
        <p:spPr>
          <a:xfrm>
            <a:off x="1600200" y="2130480"/>
            <a:ext cx="21942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Listen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1600200" y="2651760"/>
            <a:ext cx="2057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Give students a respectful opportunity to explain what is affecting their studies—without pressure or judgment.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9"/>
          <p:cNvSpPr/>
          <p:nvPr/>
        </p:nvSpPr>
        <p:spPr>
          <a:xfrm>
            <a:off x="4425840" y="1874520"/>
            <a:ext cx="3337200" cy="342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10"/>
          <p:cNvSpPr/>
          <p:nvPr/>
        </p:nvSpPr>
        <p:spPr>
          <a:xfrm>
            <a:off x="4654440" y="210312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1"/>
          <p:cNvSpPr/>
          <p:nvPr/>
        </p:nvSpPr>
        <p:spPr>
          <a:xfrm>
            <a:off x="4654440" y="215784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2"/>
          <p:cNvSpPr/>
          <p:nvPr/>
        </p:nvSpPr>
        <p:spPr>
          <a:xfrm>
            <a:off x="5294520" y="2130480"/>
            <a:ext cx="21942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Support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3"/>
          <p:cNvSpPr/>
          <p:nvPr/>
        </p:nvSpPr>
        <p:spPr>
          <a:xfrm>
            <a:off x="5294520" y="2651760"/>
            <a:ext cx="205704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When possible, help connect them with appropriate university resources, people, or practical solutions.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14"/>
          <p:cNvSpPr/>
          <p:nvPr/>
        </p:nvSpPr>
        <p:spPr>
          <a:xfrm>
            <a:off x="8119800" y="1874520"/>
            <a:ext cx="3337200" cy="342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Oval 15"/>
          <p:cNvSpPr/>
          <p:nvPr/>
        </p:nvSpPr>
        <p:spPr>
          <a:xfrm>
            <a:off x="8348400" y="210312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6"/>
          <p:cNvSpPr/>
          <p:nvPr/>
        </p:nvSpPr>
        <p:spPr>
          <a:xfrm>
            <a:off x="8348400" y="215784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7"/>
          <p:cNvSpPr/>
          <p:nvPr/>
        </p:nvSpPr>
        <p:spPr>
          <a:xfrm>
            <a:off x="8988480" y="2130480"/>
            <a:ext cx="21942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Follow Up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8"/>
          <p:cNvSpPr/>
          <p:nvPr/>
        </p:nvSpPr>
        <p:spPr>
          <a:xfrm>
            <a:off x="8988480" y="2651760"/>
            <a:ext cx="205704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Check in later so the student knows the conversation was not just a one-time interaction.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9"/>
          <p:cNvSpPr/>
          <p:nvPr/>
        </p:nvSpPr>
        <p:spPr>
          <a:xfrm>
            <a:off x="822960" y="5687640"/>
            <a:ext cx="1051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F67B4"/>
                </a:solidFill>
                <a:effectLst/>
                <a:uFillTx/>
                <a:latin typeface="Aptos"/>
              </a:rPr>
              <a:t>BOUNDARY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0"/>
          <p:cNvSpPr/>
          <p:nvPr/>
        </p:nvSpPr>
        <p:spPr>
          <a:xfrm>
            <a:off x="1938600" y="5605200"/>
            <a:ext cx="914364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202834"/>
                </a:solidFill>
                <a:effectLst/>
                <a:uFillTx/>
                <a:latin typeface="Aptos"/>
              </a:rPr>
              <a:t>We support students within our role and connect serious or specialized issues to the appropriate university services.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1"/>
          <p:cNvSpPr/>
          <p:nvPr/>
        </p:nvSpPr>
        <p:spPr>
          <a:xfrm>
            <a:off x="640080" y="6537960"/>
            <a:ext cx="86864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MINISTRY OF EDUCATION • CANDIDATE 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2"/>
          <p:cNvSpPr/>
          <p:nvPr/>
        </p:nvSpPr>
        <p:spPr>
          <a:xfrm>
            <a:off x="10972800" y="6510600"/>
            <a:ext cx="548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4/5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1692000" y="475560"/>
            <a:ext cx="108810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A933"/>
                </a:solidFill>
                <a:effectLst/>
                <a:uFillTx/>
                <a:latin typeface="Aptos"/>
              </a:rPr>
              <a:t>5.</a:t>
            </a:r>
            <a:r>
              <a:rPr lang="en-US" sz="26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 </a:t>
            </a:r>
            <a:r>
              <a:rPr lang="en-US" sz="2600" b="1" u="none" strike="noStrike">
                <a:solidFill>
                  <a:srgbClr val="EEEEEE"/>
                </a:solidFill>
                <a:effectLst/>
                <a:uFillTx/>
                <a:latin typeface="Aptos"/>
              </a:rPr>
              <a:t>STUDY PLANNING &amp; RIGHT-DIRECTION GUIDANCE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40440" y="1273680"/>
            <a:ext cx="10789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Turn uncertainty into a clear next step—and help students choose directions that fit their interests and goals.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4"/>
          <p:cNvSpPr/>
          <p:nvPr/>
        </p:nvSpPr>
        <p:spPr>
          <a:xfrm>
            <a:off x="713160" y="1828800"/>
            <a:ext cx="3382920" cy="3520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Oval 5"/>
          <p:cNvSpPr/>
          <p:nvPr/>
        </p:nvSpPr>
        <p:spPr>
          <a:xfrm>
            <a:off x="941760" y="20574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941760" y="21121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581840" y="2084760"/>
            <a:ext cx="22399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Build a Study Plan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1581840" y="2606040"/>
            <a:ext cx="210276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If a student hesitates about planning, provide practical guidance: priorities, realistic workload, time blocks, deadlines, and review points.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9"/>
          <p:cNvSpPr/>
          <p:nvPr/>
        </p:nvSpPr>
        <p:spPr>
          <a:xfrm>
            <a:off x="4407480" y="1828800"/>
            <a:ext cx="3382920" cy="3520080"/>
          </a:xfrm>
          <a:prstGeom prst="roundRect">
            <a:avLst>
              <a:gd name="adj" fmla="val 16667"/>
            </a:avLst>
          </a:prstGeom>
          <a:solidFill>
            <a:srgbClr val="E6E905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Oval 10"/>
          <p:cNvSpPr/>
          <p:nvPr/>
        </p:nvSpPr>
        <p:spPr>
          <a:xfrm>
            <a:off x="4636080" y="20574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4636080" y="21121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5276160" y="2084760"/>
            <a:ext cx="22399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Discover Strengths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5276160" y="2606040"/>
            <a:ext cx="210276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Talk about interests, strengths, goals, and areas they want to explore before suggesting a direction.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4"/>
          <p:cNvSpPr/>
          <p:nvPr/>
        </p:nvSpPr>
        <p:spPr>
          <a:xfrm>
            <a:off x="8101440" y="1828800"/>
            <a:ext cx="3382920" cy="3520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Oval 15"/>
          <p:cNvSpPr/>
          <p:nvPr/>
        </p:nvSpPr>
        <p:spPr>
          <a:xfrm>
            <a:off x="8330040" y="2057400"/>
            <a:ext cx="502560" cy="502560"/>
          </a:xfrm>
          <a:prstGeom prst="ellipse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16"/>
          <p:cNvSpPr/>
          <p:nvPr/>
        </p:nvSpPr>
        <p:spPr>
          <a:xfrm>
            <a:off x="8330040" y="2112120"/>
            <a:ext cx="502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7"/>
          <p:cNvSpPr/>
          <p:nvPr/>
        </p:nvSpPr>
        <p:spPr>
          <a:xfrm>
            <a:off x="8970120" y="2084760"/>
            <a:ext cx="22399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2A4A"/>
                </a:solidFill>
                <a:effectLst/>
                <a:uFillTx/>
                <a:latin typeface="Aptos"/>
              </a:rPr>
              <a:t>Create a Path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8"/>
          <p:cNvSpPr/>
          <p:nvPr/>
        </p:nvSpPr>
        <p:spPr>
          <a:xfrm>
            <a:off x="8970120" y="2606040"/>
            <a:ext cx="210276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Connect today's study habits with longer-term academic and career goals, while keeping the student's own choice at the center.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777240" y="5898960"/>
            <a:ext cx="91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F67B4"/>
                </a:solidFill>
                <a:effectLst/>
                <a:uFillTx/>
                <a:latin typeface="Aptos"/>
              </a:rPr>
              <a:t>VISION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0"/>
          <p:cNvSpPr/>
          <p:nvPr/>
        </p:nvSpPr>
        <p:spPr>
          <a:xfrm>
            <a:off x="1783080" y="5853240"/>
            <a:ext cx="9326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02834"/>
                </a:solidFill>
                <a:effectLst/>
                <a:uFillTx/>
                <a:latin typeface="Aptos"/>
              </a:rPr>
              <a:t>A student should leave the conversation with more clarity, a practical plan, and a direction they understand.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1"/>
          <p:cNvSpPr/>
          <p:nvPr/>
        </p:nvSpPr>
        <p:spPr>
          <a:xfrm>
            <a:off x="640080" y="6537960"/>
            <a:ext cx="86864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MINISTRY OF EDUCATION • CANDIDATE 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2"/>
          <p:cNvSpPr/>
          <p:nvPr/>
        </p:nvSpPr>
        <p:spPr>
          <a:xfrm>
            <a:off x="10972800" y="6510600"/>
            <a:ext cx="548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707E"/>
                </a:solidFill>
                <a:effectLst/>
                <a:uFillTx/>
                <a:latin typeface="Aptos"/>
              </a:rPr>
              <a:t>5/5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2026-09-27T18:09:40Z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