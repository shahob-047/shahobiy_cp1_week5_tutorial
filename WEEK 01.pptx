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6" r:id="rId1"/>
  </p:sldMasterIdLst>
  <p:notesMasterIdLst>
    <p:notesMasterId r:id="rId33"/>
  </p:notesMasterIdLst>
  <p:sldIdLst>
    <p:sldId id="256" r:id="rId2"/>
    <p:sldId id="257" r:id="rId3"/>
    <p:sldId id="270" r:id="rId4"/>
    <p:sldId id="281" r:id="rId5"/>
    <p:sldId id="284" r:id="rId6"/>
    <p:sldId id="287" r:id="rId7"/>
    <p:sldId id="285" r:id="rId8"/>
    <p:sldId id="286" r:id="rId9"/>
    <p:sldId id="296" r:id="rId10"/>
    <p:sldId id="288" r:id="rId11"/>
    <p:sldId id="289" r:id="rId12"/>
    <p:sldId id="273" r:id="rId13"/>
    <p:sldId id="274" r:id="rId14"/>
    <p:sldId id="297" r:id="rId15"/>
    <p:sldId id="276" r:id="rId16"/>
    <p:sldId id="277" r:id="rId17"/>
    <p:sldId id="278" r:id="rId18"/>
    <p:sldId id="279" r:id="rId19"/>
    <p:sldId id="280" r:id="rId20"/>
    <p:sldId id="282" r:id="rId21"/>
    <p:sldId id="291" r:id="rId22"/>
    <p:sldId id="283" r:id="rId23"/>
    <p:sldId id="263" r:id="rId24"/>
    <p:sldId id="293" r:id="rId25"/>
    <p:sldId id="292" r:id="rId26"/>
    <p:sldId id="271" r:id="rId27"/>
    <p:sldId id="294" r:id="rId28"/>
    <p:sldId id="264" r:id="rId29"/>
    <p:sldId id="265" r:id="rId30"/>
    <p:sldId id="258" r:id="rId31"/>
    <p:sldId id="29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4660"/>
  </p:normalViewPr>
  <p:slideViewPr>
    <p:cSldViewPr snapToGrid="0" snapToObjects="1">
      <p:cViewPr varScale="1">
        <p:scale>
          <a:sx n="60" d="100"/>
          <a:sy n="60" d="100"/>
        </p:scale>
        <p:origin x="96"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node0NoLn">
    <dgm:fillClrLst meth="repeat">
      <a:schemeClr val="dk2"/>
    </dgm:fillClrLst>
    <dgm:linClrLst meth="repeat">
      <a:schemeClr val="lt1">
        <a:alpha val="0"/>
      </a:schemeClr>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1NoLn">
    <dgm:fillClrLst meth="repeat">
      <a:schemeClr val="dk2"/>
    </dgm:fillClrLst>
    <dgm:linClrLst meth="repeat">
      <a:schemeClr val="lt1">
        <a:alpha val="0"/>
      </a:schemeClr>
    </dgm:linClrLst>
    <dgm:effectClrLst/>
    <dgm:txLinClrLst/>
    <dgm:txFillClrLst/>
    <dgm:txEffectClrLst/>
  </dgm:styleLbl>
  <dgm:styleLbl name="ltNode1NoLn">
    <dgm:fillClrLst meth="repeat">
      <a:schemeClr val="dk2">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2NoLn">
    <dgm:fillClrLst meth="repeat">
      <a:schemeClr val="dk2"/>
    </dgm:fillClrLst>
    <dgm:linClrLst meth="repeat">
      <a:schemeClr val="lt1">
        <a:alpha val="0"/>
      </a:schemeClr>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3NoLn">
    <dgm:fillClrLst meth="repeat">
      <a:schemeClr val="dk2"/>
    </dgm:fillClrLst>
    <dgm:linClrLst meth="repeat">
      <a:schemeClr val="lt1">
        <a:alpha val="0"/>
      </a:schemeClr>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node4NoLn">
    <dgm:fillClrLst meth="repeat">
      <a:schemeClr val="dk2"/>
    </dgm:fillClrLst>
    <dgm:linClrLst meth="repeat">
      <a:schemeClr val="lt1">
        <a:alpha val="0"/>
      </a:schemeClr>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2">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40470F1-A7CB-4F5B-A4BB-2F8163640593}" type="doc">
      <dgm:prSet loTypeId="urn:microsoft.com/office/officeart/2005/8/layout/vList3" loCatId="list" qsTypeId="urn:microsoft.com/office/officeart/2005/8/quickstyle/simple1" qsCatId="simple" csTypeId="urn:microsoft.com/office/officeart/2005/8/colors/accent0_3" csCatId="mainScheme" phldr="1"/>
      <dgm:spPr/>
      <dgm:t>
        <a:bodyPr/>
        <a:lstStyle/>
        <a:p>
          <a:endParaRPr lang="ru-RU"/>
        </a:p>
      </dgm:t>
    </dgm:pt>
    <dgm:pt modelId="{042C481C-D92E-495B-9E66-AF6D8BBDF43C}">
      <dgm:prSet/>
      <dgm:spPr/>
      <dgm:t>
        <a:bodyPr/>
        <a:lstStyle/>
        <a:p>
          <a:r>
            <a:rPr lang="en-US"/>
            <a:t>Historical periodization is the practice of dividing history into distinct, named blocks of time to make the study, analysis, and teaching of history easier.  Instead of looking at history as one long, continuous flow, historians group events into periods based on common features, such as:</a:t>
          </a:r>
          <a:endParaRPr lang="ru-RU"/>
        </a:p>
      </dgm:t>
    </dgm:pt>
    <dgm:pt modelId="{7F28CEA1-4D62-4E6F-A252-10F341BCC952}" type="parTrans" cxnId="{810385FA-0AFA-4967-AD15-7D4F27EC58D5}">
      <dgm:prSet/>
      <dgm:spPr/>
      <dgm:t>
        <a:bodyPr/>
        <a:lstStyle/>
        <a:p>
          <a:endParaRPr lang="ru-RU"/>
        </a:p>
      </dgm:t>
    </dgm:pt>
    <dgm:pt modelId="{9D2B15F3-04DB-445A-98E5-839E7702E882}" type="sibTrans" cxnId="{810385FA-0AFA-4967-AD15-7D4F27EC58D5}">
      <dgm:prSet/>
      <dgm:spPr/>
      <dgm:t>
        <a:bodyPr/>
        <a:lstStyle/>
        <a:p>
          <a:endParaRPr lang="ru-RU"/>
        </a:p>
      </dgm:t>
    </dgm:pt>
    <dgm:pt modelId="{103F6DA4-52B7-4691-A948-699AEE5DAE65}">
      <dgm:prSet/>
      <dgm:spPr/>
      <dgm:t>
        <a:bodyPr/>
        <a:lstStyle/>
        <a:p>
          <a:r>
            <a:rPr lang="en-US"/>
            <a:t>Political systems (e.g., Ancient, Medieval, Modern periods)</a:t>
          </a:r>
          <a:endParaRPr lang="ru-RU"/>
        </a:p>
      </dgm:t>
    </dgm:pt>
    <dgm:pt modelId="{F4BB7CAD-C440-4F1E-97DD-F9DA2444292C}" type="parTrans" cxnId="{E64088E3-D12D-410C-8EA7-F1AA0C22FBFC}">
      <dgm:prSet/>
      <dgm:spPr/>
      <dgm:t>
        <a:bodyPr/>
        <a:lstStyle/>
        <a:p>
          <a:endParaRPr lang="ru-RU"/>
        </a:p>
      </dgm:t>
    </dgm:pt>
    <dgm:pt modelId="{E5962016-1622-489E-8374-F65A76F8AC1B}" type="sibTrans" cxnId="{E64088E3-D12D-410C-8EA7-F1AA0C22FBFC}">
      <dgm:prSet/>
      <dgm:spPr/>
      <dgm:t>
        <a:bodyPr/>
        <a:lstStyle/>
        <a:p>
          <a:endParaRPr lang="ru-RU"/>
        </a:p>
      </dgm:t>
    </dgm:pt>
    <dgm:pt modelId="{0B7A627C-115E-4D00-8878-1E5704A275A7}">
      <dgm:prSet/>
      <dgm:spPr/>
      <dgm:t>
        <a:bodyPr/>
        <a:lstStyle/>
        <a:p>
          <a:r>
            <a:rPr lang="en-US"/>
            <a:t>Economic structures (e.g., Agricultural, Industrial, Digital ages)</a:t>
          </a:r>
          <a:endParaRPr lang="ru-RU"/>
        </a:p>
      </dgm:t>
    </dgm:pt>
    <dgm:pt modelId="{E8C679F7-64B5-46FC-9A3D-FCA2FC644D73}" type="parTrans" cxnId="{BA8924E9-6616-43E7-ABEA-3357ED9370FB}">
      <dgm:prSet/>
      <dgm:spPr/>
      <dgm:t>
        <a:bodyPr/>
        <a:lstStyle/>
        <a:p>
          <a:endParaRPr lang="ru-RU"/>
        </a:p>
      </dgm:t>
    </dgm:pt>
    <dgm:pt modelId="{6061300C-003E-4EAE-A86B-8DB8307BBBDE}" type="sibTrans" cxnId="{BA8924E9-6616-43E7-ABEA-3357ED9370FB}">
      <dgm:prSet/>
      <dgm:spPr/>
      <dgm:t>
        <a:bodyPr/>
        <a:lstStyle/>
        <a:p>
          <a:endParaRPr lang="ru-RU"/>
        </a:p>
      </dgm:t>
    </dgm:pt>
    <dgm:pt modelId="{AF711EDC-24AA-4162-90F5-A7D148D9DE99}">
      <dgm:prSet/>
      <dgm:spPr/>
      <dgm:t>
        <a:bodyPr/>
        <a:lstStyle/>
        <a:p>
          <a:r>
            <a:rPr lang="en-US"/>
            <a:t>Cultural or intellectual movements (e.g., Renaissance, Enlightenment)</a:t>
          </a:r>
          <a:endParaRPr lang="ru-RU"/>
        </a:p>
      </dgm:t>
    </dgm:pt>
    <dgm:pt modelId="{D8EAC793-0C67-4FCC-93F6-12A73FBF0685}" type="parTrans" cxnId="{6EF5B467-E34C-4348-9552-435723E876FD}">
      <dgm:prSet/>
      <dgm:spPr/>
      <dgm:t>
        <a:bodyPr/>
        <a:lstStyle/>
        <a:p>
          <a:endParaRPr lang="ru-RU"/>
        </a:p>
      </dgm:t>
    </dgm:pt>
    <dgm:pt modelId="{D2ABF839-737B-437F-B78B-E2AFE53FDDA9}" type="sibTrans" cxnId="{6EF5B467-E34C-4348-9552-435723E876FD}">
      <dgm:prSet/>
      <dgm:spPr/>
      <dgm:t>
        <a:bodyPr/>
        <a:lstStyle/>
        <a:p>
          <a:endParaRPr lang="ru-RU"/>
        </a:p>
      </dgm:t>
    </dgm:pt>
    <dgm:pt modelId="{0904BA84-12DE-4743-8C37-AA8E845150E4}">
      <dgm:prSet/>
      <dgm:spPr/>
      <dgm:t>
        <a:bodyPr/>
        <a:lstStyle/>
        <a:p>
          <a:r>
            <a:rPr lang="en-US"/>
            <a:t>Major turning points (e.g., pre-Islamic vs. Islamic period in Central Asia)</a:t>
          </a:r>
          <a:endParaRPr lang="ru-RU"/>
        </a:p>
      </dgm:t>
    </dgm:pt>
    <dgm:pt modelId="{CA0F67D7-BA65-4277-92AE-B3F3ED35B9C6}" type="parTrans" cxnId="{932FBDD0-11DB-46BA-A49F-4FC4E9A2F547}">
      <dgm:prSet/>
      <dgm:spPr/>
      <dgm:t>
        <a:bodyPr/>
        <a:lstStyle/>
        <a:p>
          <a:endParaRPr lang="ru-RU"/>
        </a:p>
      </dgm:t>
    </dgm:pt>
    <dgm:pt modelId="{9BD24EF1-4EBC-458B-8DE0-F6B4CE318C91}" type="sibTrans" cxnId="{932FBDD0-11DB-46BA-A49F-4FC4E9A2F547}">
      <dgm:prSet/>
      <dgm:spPr/>
      <dgm:t>
        <a:bodyPr/>
        <a:lstStyle/>
        <a:p>
          <a:endParaRPr lang="ru-RU"/>
        </a:p>
      </dgm:t>
    </dgm:pt>
    <dgm:pt modelId="{3EC0E510-CF1B-487E-8E3A-C61F36933303}" type="pres">
      <dgm:prSet presAssocID="{A40470F1-A7CB-4F5B-A4BB-2F8163640593}" presName="linearFlow" presStyleCnt="0">
        <dgm:presLayoutVars>
          <dgm:dir/>
          <dgm:resizeHandles val="exact"/>
        </dgm:presLayoutVars>
      </dgm:prSet>
      <dgm:spPr/>
    </dgm:pt>
    <dgm:pt modelId="{710BBEE4-7AE3-4460-ACC3-4DCBF1F16298}" type="pres">
      <dgm:prSet presAssocID="{042C481C-D92E-495B-9E66-AF6D8BBDF43C}" presName="composite" presStyleCnt="0"/>
      <dgm:spPr/>
    </dgm:pt>
    <dgm:pt modelId="{D49BB169-780C-48D5-9CB3-94524B663A38}" type="pres">
      <dgm:prSet presAssocID="{042C481C-D92E-495B-9E66-AF6D8BBDF43C}" presName="imgShp" presStyleLbl="fgImgPlac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Hourglass 90% with solid fill"/>
        </a:ext>
      </dgm:extLst>
    </dgm:pt>
    <dgm:pt modelId="{C8B8DB9F-129D-4FD4-93F7-D22CDFC970F0}" type="pres">
      <dgm:prSet presAssocID="{042C481C-D92E-495B-9E66-AF6D8BBDF43C}" presName="txShp" presStyleLbl="node1" presStyleIdx="0" presStyleCnt="5">
        <dgm:presLayoutVars>
          <dgm:bulletEnabled val="1"/>
        </dgm:presLayoutVars>
      </dgm:prSet>
      <dgm:spPr/>
    </dgm:pt>
    <dgm:pt modelId="{4E56E93F-8B9E-4089-8D3E-3F93CE301C26}" type="pres">
      <dgm:prSet presAssocID="{9D2B15F3-04DB-445A-98E5-839E7702E882}" presName="spacing" presStyleCnt="0"/>
      <dgm:spPr/>
    </dgm:pt>
    <dgm:pt modelId="{85AC717B-D5EA-457B-BDBC-09516EE17A46}" type="pres">
      <dgm:prSet presAssocID="{103F6DA4-52B7-4691-A948-699AEE5DAE65}" presName="composite" presStyleCnt="0"/>
      <dgm:spPr/>
    </dgm:pt>
    <dgm:pt modelId="{B25BB977-8300-4DAB-A390-A6B1E053B824}" type="pres">
      <dgm:prSet presAssocID="{103F6DA4-52B7-4691-A948-699AEE5DAE65}" presName="imgShp" presStyleLbl="fgImgPlac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ank with solid fill"/>
        </a:ext>
      </dgm:extLst>
    </dgm:pt>
    <dgm:pt modelId="{32FD753F-6942-4955-A40B-72CA8952F22E}" type="pres">
      <dgm:prSet presAssocID="{103F6DA4-52B7-4691-A948-699AEE5DAE65}" presName="txShp" presStyleLbl="node1" presStyleIdx="1" presStyleCnt="5">
        <dgm:presLayoutVars>
          <dgm:bulletEnabled val="1"/>
        </dgm:presLayoutVars>
      </dgm:prSet>
      <dgm:spPr/>
    </dgm:pt>
    <dgm:pt modelId="{6EBCB068-210F-4B76-981B-E8ACBE820EEB}" type="pres">
      <dgm:prSet presAssocID="{E5962016-1622-489E-8374-F65A76F8AC1B}" presName="spacing" presStyleCnt="0"/>
      <dgm:spPr/>
    </dgm:pt>
    <dgm:pt modelId="{0AF157DD-1932-4F25-9C0A-C08CA9CA1644}" type="pres">
      <dgm:prSet presAssocID="{0B7A627C-115E-4D00-8878-1E5704A275A7}" presName="composite" presStyleCnt="0"/>
      <dgm:spPr/>
    </dgm:pt>
    <dgm:pt modelId="{0C29DEE5-5945-430A-A953-1F98262C7361}" type="pres">
      <dgm:prSet presAssocID="{0B7A627C-115E-4D00-8878-1E5704A275A7}" presName="imgShp" presStyleLbl="fgImgPlac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upply And Demand with solid fill"/>
        </a:ext>
      </dgm:extLst>
    </dgm:pt>
    <dgm:pt modelId="{28546FB9-B939-462A-958F-0364FF22648E}" type="pres">
      <dgm:prSet presAssocID="{0B7A627C-115E-4D00-8878-1E5704A275A7}" presName="txShp" presStyleLbl="node1" presStyleIdx="2" presStyleCnt="5">
        <dgm:presLayoutVars>
          <dgm:bulletEnabled val="1"/>
        </dgm:presLayoutVars>
      </dgm:prSet>
      <dgm:spPr/>
    </dgm:pt>
    <dgm:pt modelId="{B49BA67A-0833-4B46-9ED2-E83E7203D5AC}" type="pres">
      <dgm:prSet presAssocID="{6061300C-003E-4EAE-A86B-8DB8307BBBDE}" presName="spacing" presStyleCnt="0"/>
      <dgm:spPr/>
    </dgm:pt>
    <dgm:pt modelId="{BF2B229B-D5BC-4097-84A9-AADCA572C204}" type="pres">
      <dgm:prSet presAssocID="{AF711EDC-24AA-4162-90F5-A7D148D9DE99}" presName="composite" presStyleCnt="0"/>
      <dgm:spPr/>
    </dgm:pt>
    <dgm:pt modelId="{F1E875C3-96E9-4E9C-96CA-A22210B06234}" type="pres">
      <dgm:prSet presAssocID="{AF711EDC-24AA-4162-90F5-A7D148D9DE99}" presName="imgShp" presStyleLbl="fgImgPlac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rainstorm with solid fill"/>
        </a:ext>
      </dgm:extLst>
    </dgm:pt>
    <dgm:pt modelId="{30463661-607B-4F0C-A273-CA74BFE546AE}" type="pres">
      <dgm:prSet presAssocID="{AF711EDC-24AA-4162-90F5-A7D148D9DE99}" presName="txShp" presStyleLbl="node1" presStyleIdx="3" presStyleCnt="5">
        <dgm:presLayoutVars>
          <dgm:bulletEnabled val="1"/>
        </dgm:presLayoutVars>
      </dgm:prSet>
      <dgm:spPr/>
    </dgm:pt>
    <dgm:pt modelId="{2479C8F2-B58F-4D9D-BB92-406D868FA366}" type="pres">
      <dgm:prSet presAssocID="{D2ABF839-737B-437F-B78B-E2AFE53FDDA9}" presName="spacing" presStyleCnt="0"/>
      <dgm:spPr/>
    </dgm:pt>
    <dgm:pt modelId="{CD20F7DB-8BB4-42DB-9155-0531FD7E5C8A}" type="pres">
      <dgm:prSet presAssocID="{0904BA84-12DE-4743-8C37-AA8E845150E4}" presName="composite" presStyleCnt="0"/>
      <dgm:spPr/>
    </dgm:pt>
    <dgm:pt modelId="{26632C81-D282-4CDF-9C5C-8203FEDD3F31}" type="pres">
      <dgm:prSet presAssocID="{0904BA84-12DE-4743-8C37-AA8E845150E4}" presName="imgShp" presStyleLbl="fgImgPlac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dgm:spPr>
      <dgm:extLst>
        <a:ext uri="{E40237B7-FDA0-4F09-8148-C483321AD2D9}">
          <dgm14:cNvPr xmlns:dgm14="http://schemas.microsoft.com/office/drawing/2010/diagram" id="0" name="" descr="Arrow: Horizontal U-turn with solid fill"/>
        </a:ext>
      </dgm:extLst>
    </dgm:pt>
    <dgm:pt modelId="{8A82139D-DFD4-42F3-BBFF-6A80589300F0}" type="pres">
      <dgm:prSet presAssocID="{0904BA84-12DE-4743-8C37-AA8E845150E4}" presName="txShp" presStyleLbl="node1" presStyleIdx="4" presStyleCnt="5">
        <dgm:presLayoutVars>
          <dgm:bulletEnabled val="1"/>
        </dgm:presLayoutVars>
      </dgm:prSet>
      <dgm:spPr/>
    </dgm:pt>
  </dgm:ptLst>
  <dgm:cxnLst>
    <dgm:cxn modelId="{B22C1314-B722-43B6-84DF-4370930B3F18}" type="presOf" srcId="{042C481C-D92E-495B-9E66-AF6D8BBDF43C}" destId="{C8B8DB9F-129D-4FD4-93F7-D22CDFC970F0}" srcOrd="0" destOrd="0" presId="urn:microsoft.com/office/officeart/2005/8/layout/vList3"/>
    <dgm:cxn modelId="{6EF5B467-E34C-4348-9552-435723E876FD}" srcId="{A40470F1-A7CB-4F5B-A4BB-2F8163640593}" destId="{AF711EDC-24AA-4162-90F5-A7D148D9DE99}" srcOrd="3" destOrd="0" parTransId="{D8EAC793-0C67-4FCC-93F6-12A73FBF0685}" sibTransId="{D2ABF839-737B-437F-B78B-E2AFE53FDDA9}"/>
    <dgm:cxn modelId="{01621349-C1D3-4128-B631-AA7737C2BE93}" type="presOf" srcId="{0904BA84-12DE-4743-8C37-AA8E845150E4}" destId="{8A82139D-DFD4-42F3-BBFF-6A80589300F0}" srcOrd="0" destOrd="0" presId="urn:microsoft.com/office/officeart/2005/8/layout/vList3"/>
    <dgm:cxn modelId="{7C771985-F292-4744-A8C4-1776D03BB000}" type="presOf" srcId="{0B7A627C-115E-4D00-8878-1E5704A275A7}" destId="{28546FB9-B939-462A-958F-0364FF22648E}" srcOrd="0" destOrd="0" presId="urn:microsoft.com/office/officeart/2005/8/layout/vList3"/>
    <dgm:cxn modelId="{61A503B0-42F5-41DA-A4A5-43848507AC11}" type="presOf" srcId="{AF711EDC-24AA-4162-90F5-A7D148D9DE99}" destId="{30463661-607B-4F0C-A273-CA74BFE546AE}" srcOrd="0" destOrd="0" presId="urn:microsoft.com/office/officeart/2005/8/layout/vList3"/>
    <dgm:cxn modelId="{CBCE54C6-F4B3-404F-8E54-54E672D0BD2D}" type="presOf" srcId="{A40470F1-A7CB-4F5B-A4BB-2F8163640593}" destId="{3EC0E510-CF1B-487E-8E3A-C61F36933303}" srcOrd="0" destOrd="0" presId="urn:microsoft.com/office/officeart/2005/8/layout/vList3"/>
    <dgm:cxn modelId="{932FBDD0-11DB-46BA-A49F-4FC4E9A2F547}" srcId="{A40470F1-A7CB-4F5B-A4BB-2F8163640593}" destId="{0904BA84-12DE-4743-8C37-AA8E845150E4}" srcOrd="4" destOrd="0" parTransId="{CA0F67D7-BA65-4277-92AE-B3F3ED35B9C6}" sibTransId="{9BD24EF1-4EBC-458B-8DE0-F6B4CE318C91}"/>
    <dgm:cxn modelId="{C3B609DD-A422-4968-A632-446B60EA7AA8}" type="presOf" srcId="{103F6DA4-52B7-4691-A948-699AEE5DAE65}" destId="{32FD753F-6942-4955-A40B-72CA8952F22E}" srcOrd="0" destOrd="0" presId="urn:microsoft.com/office/officeart/2005/8/layout/vList3"/>
    <dgm:cxn modelId="{E64088E3-D12D-410C-8EA7-F1AA0C22FBFC}" srcId="{A40470F1-A7CB-4F5B-A4BB-2F8163640593}" destId="{103F6DA4-52B7-4691-A948-699AEE5DAE65}" srcOrd="1" destOrd="0" parTransId="{F4BB7CAD-C440-4F1E-97DD-F9DA2444292C}" sibTransId="{E5962016-1622-489E-8374-F65A76F8AC1B}"/>
    <dgm:cxn modelId="{BA8924E9-6616-43E7-ABEA-3357ED9370FB}" srcId="{A40470F1-A7CB-4F5B-A4BB-2F8163640593}" destId="{0B7A627C-115E-4D00-8878-1E5704A275A7}" srcOrd="2" destOrd="0" parTransId="{E8C679F7-64B5-46FC-9A3D-FCA2FC644D73}" sibTransId="{6061300C-003E-4EAE-A86B-8DB8307BBBDE}"/>
    <dgm:cxn modelId="{810385FA-0AFA-4967-AD15-7D4F27EC58D5}" srcId="{A40470F1-A7CB-4F5B-A4BB-2F8163640593}" destId="{042C481C-D92E-495B-9E66-AF6D8BBDF43C}" srcOrd="0" destOrd="0" parTransId="{7F28CEA1-4D62-4E6F-A252-10F341BCC952}" sibTransId="{9D2B15F3-04DB-445A-98E5-839E7702E882}"/>
    <dgm:cxn modelId="{C292C14D-E467-4201-B4B8-5F0D6CF06707}" type="presParOf" srcId="{3EC0E510-CF1B-487E-8E3A-C61F36933303}" destId="{710BBEE4-7AE3-4460-ACC3-4DCBF1F16298}" srcOrd="0" destOrd="0" presId="urn:microsoft.com/office/officeart/2005/8/layout/vList3"/>
    <dgm:cxn modelId="{BA9DDBD3-3ED8-4627-83C2-0AF7723D6004}" type="presParOf" srcId="{710BBEE4-7AE3-4460-ACC3-4DCBF1F16298}" destId="{D49BB169-780C-48D5-9CB3-94524B663A38}" srcOrd="0" destOrd="0" presId="urn:microsoft.com/office/officeart/2005/8/layout/vList3"/>
    <dgm:cxn modelId="{D0066EA3-FFC4-48DC-B6AE-4C1364E1E0D0}" type="presParOf" srcId="{710BBEE4-7AE3-4460-ACC3-4DCBF1F16298}" destId="{C8B8DB9F-129D-4FD4-93F7-D22CDFC970F0}" srcOrd="1" destOrd="0" presId="urn:microsoft.com/office/officeart/2005/8/layout/vList3"/>
    <dgm:cxn modelId="{88B61700-AA80-441B-9412-041D7EA6C408}" type="presParOf" srcId="{3EC0E510-CF1B-487E-8E3A-C61F36933303}" destId="{4E56E93F-8B9E-4089-8D3E-3F93CE301C26}" srcOrd="1" destOrd="0" presId="urn:microsoft.com/office/officeart/2005/8/layout/vList3"/>
    <dgm:cxn modelId="{2519CE1A-A2F2-4783-9700-9AB3C301AA2F}" type="presParOf" srcId="{3EC0E510-CF1B-487E-8E3A-C61F36933303}" destId="{85AC717B-D5EA-457B-BDBC-09516EE17A46}" srcOrd="2" destOrd="0" presId="urn:microsoft.com/office/officeart/2005/8/layout/vList3"/>
    <dgm:cxn modelId="{9547D4DD-A7B5-4E3A-B6FE-C69B5540F001}" type="presParOf" srcId="{85AC717B-D5EA-457B-BDBC-09516EE17A46}" destId="{B25BB977-8300-4DAB-A390-A6B1E053B824}" srcOrd="0" destOrd="0" presId="urn:microsoft.com/office/officeart/2005/8/layout/vList3"/>
    <dgm:cxn modelId="{414F1C32-ED13-47FC-B956-5C2A0A5AC8D4}" type="presParOf" srcId="{85AC717B-D5EA-457B-BDBC-09516EE17A46}" destId="{32FD753F-6942-4955-A40B-72CA8952F22E}" srcOrd="1" destOrd="0" presId="urn:microsoft.com/office/officeart/2005/8/layout/vList3"/>
    <dgm:cxn modelId="{13C480EC-5847-4622-BBA0-5A26A356593B}" type="presParOf" srcId="{3EC0E510-CF1B-487E-8E3A-C61F36933303}" destId="{6EBCB068-210F-4B76-981B-E8ACBE820EEB}" srcOrd="3" destOrd="0" presId="urn:microsoft.com/office/officeart/2005/8/layout/vList3"/>
    <dgm:cxn modelId="{2F838D5E-B37E-4C91-83B3-D55BACC83F0D}" type="presParOf" srcId="{3EC0E510-CF1B-487E-8E3A-C61F36933303}" destId="{0AF157DD-1932-4F25-9C0A-C08CA9CA1644}" srcOrd="4" destOrd="0" presId="urn:microsoft.com/office/officeart/2005/8/layout/vList3"/>
    <dgm:cxn modelId="{1B293365-9E97-4DD7-9B3F-EBFC08E72683}" type="presParOf" srcId="{0AF157DD-1932-4F25-9C0A-C08CA9CA1644}" destId="{0C29DEE5-5945-430A-A953-1F98262C7361}" srcOrd="0" destOrd="0" presId="urn:microsoft.com/office/officeart/2005/8/layout/vList3"/>
    <dgm:cxn modelId="{44009969-AC24-4CE4-9E47-A4DF249A8165}" type="presParOf" srcId="{0AF157DD-1932-4F25-9C0A-C08CA9CA1644}" destId="{28546FB9-B939-462A-958F-0364FF22648E}" srcOrd="1" destOrd="0" presId="urn:microsoft.com/office/officeart/2005/8/layout/vList3"/>
    <dgm:cxn modelId="{D1C84BDB-14B8-4AC7-89CA-F6244A6E452C}" type="presParOf" srcId="{3EC0E510-CF1B-487E-8E3A-C61F36933303}" destId="{B49BA67A-0833-4B46-9ED2-E83E7203D5AC}" srcOrd="5" destOrd="0" presId="urn:microsoft.com/office/officeart/2005/8/layout/vList3"/>
    <dgm:cxn modelId="{DE4BDEB9-E4B0-4286-8270-C8A81B169A19}" type="presParOf" srcId="{3EC0E510-CF1B-487E-8E3A-C61F36933303}" destId="{BF2B229B-D5BC-4097-84A9-AADCA572C204}" srcOrd="6" destOrd="0" presId="urn:microsoft.com/office/officeart/2005/8/layout/vList3"/>
    <dgm:cxn modelId="{4B3D9D2C-B31A-4C34-8A31-84FE53264011}" type="presParOf" srcId="{BF2B229B-D5BC-4097-84A9-AADCA572C204}" destId="{F1E875C3-96E9-4E9C-96CA-A22210B06234}" srcOrd="0" destOrd="0" presId="urn:microsoft.com/office/officeart/2005/8/layout/vList3"/>
    <dgm:cxn modelId="{296174F3-CCC5-48E9-BCB8-A4DA8865E42E}" type="presParOf" srcId="{BF2B229B-D5BC-4097-84A9-AADCA572C204}" destId="{30463661-607B-4F0C-A273-CA74BFE546AE}" srcOrd="1" destOrd="0" presId="urn:microsoft.com/office/officeart/2005/8/layout/vList3"/>
    <dgm:cxn modelId="{E295EC1A-ADB1-4155-AD95-23D022EEF059}" type="presParOf" srcId="{3EC0E510-CF1B-487E-8E3A-C61F36933303}" destId="{2479C8F2-B58F-4D9D-BB92-406D868FA366}" srcOrd="7" destOrd="0" presId="urn:microsoft.com/office/officeart/2005/8/layout/vList3"/>
    <dgm:cxn modelId="{3FC1224F-3675-4DA8-8F12-A6ABA03E7E21}" type="presParOf" srcId="{3EC0E510-CF1B-487E-8E3A-C61F36933303}" destId="{CD20F7DB-8BB4-42DB-9155-0531FD7E5C8A}" srcOrd="8" destOrd="0" presId="urn:microsoft.com/office/officeart/2005/8/layout/vList3"/>
    <dgm:cxn modelId="{279C78C2-5C5D-4CB7-B24F-802A825B05DF}" type="presParOf" srcId="{CD20F7DB-8BB4-42DB-9155-0531FD7E5C8A}" destId="{26632C81-D282-4CDF-9C5C-8203FEDD3F31}" srcOrd="0" destOrd="0" presId="urn:microsoft.com/office/officeart/2005/8/layout/vList3"/>
    <dgm:cxn modelId="{86795964-6BDF-452E-AA1C-2F1127933228}" type="presParOf" srcId="{CD20F7DB-8BB4-42DB-9155-0531FD7E5C8A}" destId="{8A82139D-DFD4-42F3-BBFF-6A80589300F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8DB9F-129D-4FD4-93F7-D22CDFC970F0}">
      <dsp:nvSpPr>
        <dsp:cNvPr id="0" name=""/>
        <dsp:cNvSpPr/>
      </dsp:nvSpPr>
      <dsp:spPr>
        <a:xfrm rot="10800000">
          <a:off x="2209167" y="3894"/>
          <a:ext cx="7759153" cy="1019175"/>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42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Historical periodization is the practice of dividing history into distinct, named blocks of time to make the study, analysis, and teaching of history easier.  Instead of looking at history as one long, continuous flow, historians group events into periods based on common features, such as:</a:t>
          </a:r>
          <a:endParaRPr lang="ru-RU" sz="1600" kern="1200"/>
        </a:p>
      </dsp:txBody>
      <dsp:txXfrm rot="10800000">
        <a:off x="2463961" y="3894"/>
        <a:ext cx="7504359" cy="1019175"/>
      </dsp:txXfrm>
    </dsp:sp>
    <dsp:sp modelId="{D49BB169-780C-48D5-9CB3-94524B663A38}">
      <dsp:nvSpPr>
        <dsp:cNvPr id="0" name=""/>
        <dsp:cNvSpPr/>
      </dsp:nvSpPr>
      <dsp:spPr>
        <a:xfrm>
          <a:off x="1699579" y="3894"/>
          <a:ext cx="1019175" cy="1019175"/>
        </a:xfrm>
        <a:prstGeom prst="ellipse">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FD753F-6942-4955-A40B-72CA8952F22E}">
      <dsp:nvSpPr>
        <dsp:cNvPr id="0" name=""/>
        <dsp:cNvSpPr/>
      </dsp:nvSpPr>
      <dsp:spPr>
        <a:xfrm rot="10800000">
          <a:off x="2209167" y="1327300"/>
          <a:ext cx="7759153" cy="1019175"/>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42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Political systems (e.g., Ancient, Medieval, Modern periods)</a:t>
          </a:r>
          <a:endParaRPr lang="ru-RU" sz="1600" kern="1200"/>
        </a:p>
      </dsp:txBody>
      <dsp:txXfrm rot="10800000">
        <a:off x="2463961" y="1327300"/>
        <a:ext cx="7504359" cy="1019175"/>
      </dsp:txXfrm>
    </dsp:sp>
    <dsp:sp modelId="{B25BB977-8300-4DAB-A390-A6B1E053B824}">
      <dsp:nvSpPr>
        <dsp:cNvPr id="0" name=""/>
        <dsp:cNvSpPr/>
      </dsp:nvSpPr>
      <dsp:spPr>
        <a:xfrm>
          <a:off x="1699579" y="1327300"/>
          <a:ext cx="1019175" cy="1019175"/>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8546FB9-B939-462A-958F-0364FF22648E}">
      <dsp:nvSpPr>
        <dsp:cNvPr id="0" name=""/>
        <dsp:cNvSpPr/>
      </dsp:nvSpPr>
      <dsp:spPr>
        <a:xfrm rot="10800000">
          <a:off x="2209167" y="2650707"/>
          <a:ext cx="7759153" cy="1019175"/>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42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Economic structures (e.g., Agricultural, Industrial, Digital ages)</a:t>
          </a:r>
          <a:endParaRPr lang="ru-RU" sz="1600" kern="1200"/>
        </a:p>
      </dsp:txBody>
      <dsp:txXfrm rot="10800000">
        <a:off x="2463961" y="2650707"/>
        <a:ext cx="7504359" cy="1019175"/>
      </dsp:txXfrm>
    </dsp:sp>
    <dsp:sp modelId="{0C29DEE5-5945-430A-A953-1F98262C7361}">
      <dsp:nvSpPr>
        <dsp:cNvPr id="0" name=""/>
        <dsp:cNvSpPr/>
      </dsp:nvSpPr>
      <dsp:spPr>
        <a:xfrm>
          <a:off x="1699579" y="2650707"/>
          <a:ext cx="1019175" cy="1019175"/>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463661-607B-4F0C-A273-CA74BFE546AE}">
      <dsp:nvSpPr>
        <dsp:cNvPr id="0" name=""/>
        <dsp:cNvSpPr/>
      </dsp:nvSpPr>
      <dsp:spPr>
        <a:xfrm rot="10800000">
          <a:off x="2209167" y="3974113"/>
          <a:ext cx="7759153" cy="1019175"/>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42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Cultural or intellectual movements (e.g., Renaissance, Enlightenment)</a:t>
          </a:r>
          <a:endParaRPr lang="ru-RU" sz="1600" kern="1200"/>
        </a:p>
      </dsp:txBody>
      <dsp:txXfrm rot="10800000">
        <a:off x="2463961" y="3974113"/>
        <a:ext cx="7504359" cy="1019175"/>
      </dsp:txXfrm>
    </dsp:sp>
    <dsp:sp modelId="{F1E875C3-96E9-4E9C-96CA-A22210B06234}">
      <dsp:nvSpPr>
        <dsp:cNvPr id="0" name=""/>
        <dsp:cNvSpPr/>
      </dsp:nvSpPr>
      <dsp:spPr>
        <a:xfrm>
          <a:off x="1699579" y="3974113"/>
          <a:ext cx="1019175" cy="1019175"/>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82139D-DFD4-42F3-BBFF-6A80589300F0}">
      <dsp:nvSpPr>
        <dsp:cNvPr id="0" name=""/>
        <dsp:cNvSpPr/>
      </dsp:nvSpPr>
      <dsp:spPr>
        <a:xfrm rot="10800000">
          <a:off x="2209167" y="5297520"/>
          <a:ext cx="7759153" cy="1019175"/>
        </a:xfrm>
        <a:prstGeom prst="homePlate">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9428" tIns="60960" rIns="113792" bIns="60960" numCol="1" spcCol="1270" anchor="ctr" anchorCtr="0">
          <a:noAutofit/>
        </a:bodyPr>
        <a:lstStyle/>
        <a:p>
          <a:pPr marL="0" lvl="0" indent="0" algn="ctr" defTabSz="711200">
            <a:lnSpc>
              <a:spcPct val="90000"/>
            </a:lnSpc>
            <a:spcBef>
              <a:spcPct val="0"/>
            </a:spcBef>
            <a:spcAft>
              <a:spcPct val="35000"/>
            </a:spcAft>
            <a:buNone/>
          </a:pPr>
          <a:r>
            <a:rPr lang="en-US" sz="1600" kern="1200"/>
            <a:t>Major turning points (e.g., pre-Islamic vs. Islamic period in Central Asia)</a:t>
          </a:r>
          <a:endParaRPr lang="ru-RU" sz="1600" kern="1200"/>
        </a:p>
      </dsp:txBody>
      <dsp:txXfrm rot="10800000">
        <a:off x="2463961" y="5297520"/>
        <a:ext cx="7504359" cy="1019175"/>
      </dsp:txXfrm>
    </dsp:sp>
    <dsp:sp modelId="{26632C81-D282-4CDF-9C5C-8203FEDD3F31}">
      <dsp:nvSpPr>
        <dsp:cNvPr id="0" name=""/>
        <dsp:cNvSpPr/>
      </dsp:nvSpPr>
      <dsp:spPr>
        <a:xfrm>
          <a:off x="1699579" y="5297520"/>
          <a:ext cx="1019175" cy="1019175"/>
        </a:xfrm>
        <a:prstGeom prst="ellipse">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BE1904-3108-4E26-A843-7971CC2B24A7}" type="datetimeFigureOut">
              <a:rPr lang="ru-RU" smtClean="0"/>
              <a:t>17.09.2026</a:t>
            </a:fld>
            <a:endParaRPr lang="ru-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0DC6D4-2A99-4F18-9E28-15EF8827C84F}" type="slidenum">
              <a:rPr lang="ru-RU" smtClean="0"/>
              <a:t>‹#›</a:t>
            </a:fld>
            <a:endParaRPr lang="ru-RU"/>
          </a:p>
        </p:txBody>
      </p:sp>
    </p:spTree>
    <p:extLst>
      <p:ext uri="{BB962C8B-B14F-4D97-AF65-F5344CB8AC3E}">
        <p14:creationId xmlns:p14="http://schemas.microsoft.com/office/powerpoint/2010/main" val="1294444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ru-RU"/>
          </a:p>
        </p:txBody>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D3CA5CD2-6A56-42C9-AD54-061A0496EBDA}" type="slidenum">
              <a:rPr lang="ru-RU" smtClean="0"/>
              <a:t>26</a:t>
            </a:fld>
            <a:endParaRPr lang="ru-RU"/>
          </a:p>
        </p:txBody>
      </p:sp>
    </p:spTree>
    <p:extLst>
      <p:ext uri="{BB962C8B-B14F-4D97-AF65-F5344CB8AC3E}">
        <p14:creationId xmlns:p14="http://schemas.microsoft.com/office/powerpoint/2010/main" val="3589733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C1FF6DA9-008F-8B48-92A6-B652298478BF}" type="slidenum">
              <a:rPr lang="en-US" smtClean="0"/>
              <a:t>‹#›</a:t>
            </a:fld>
            <a:endParaRPr lang="en-US"/>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53800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5BCAD085-E8A6-8845-BD4E-CB4CCA059FC4}" type="datetimeFigureOut">
              <a:rPr lang="en-US" smtClean="0"/>
              <a:t>9/17/2026</a:t>
            </a:fld>
            <a:endParaRPr lang="en-US"/>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8111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41338787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95982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C1FF6DA9-008F-8B48-92A6-B652298478BF}" type="slidenum">
              <a:rPr lang="en-US" smtClean="0"/>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056558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3319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C1FF6DA9-008F-8B48-92A6-B652298478BF}"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4650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C1FF6DA9-008F-8B48-92A6-B652298478BF}"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601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C1FF6DA9-008F-8B48-92A6-B652298478BF}"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526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5128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2870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2345815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C1FF6DA9-008F-8B48-92A6-B652298478B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974568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43245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03583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02895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1952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2224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C1FF6DA9-008F-8B48-92A6-B652298478BF}" type="slidenum">
              <a:rPr lang="en-US" smtClean="0"/>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1690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C1FF6DA9-008F-8B48-92A6-B652298478BF}" type="slidenum">
              <a:rPr lang="en-US" smtClean="0"/>
              <a:t>‹#›</a:t>
            </a:fld>
            <a:endParaRPr lang="en-US"/>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7243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C1FF6DA9-008F-8B48-92A6-B652298478BF}"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21437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5BCAD085-E8A6-8845-BD4E-CB4CCA059FC4}" type="datetimeFigureOut">
              <a:rPr lang="en-US" smtClean="0"/>
              <a:t>9/17/2026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C1FF6DA9-008F-8B48-92A6-B652298478B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77751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5BCAD085-E8A6-8845-BD4E-CB4CCA059FC4}" type="datetimeFigureOut">
              <a:rPr lang="en-US" smtClean="0"/>
              <a:t>9/17/2026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C1FF6DA9-008F-8B48-92A6-B652298478B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1640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203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5BCAD085-E8A6-8845-BD4E-CB4CCA059FC4}" type="datetimeFigureOut">
              <a:rPr lang="en-US" smtClean="0"/>
              <a:t>9/17/2026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93394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94354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C1FF6DA9-008F-8B48-92A6-B652298478BF}" type="slidenum">
              <a:rPr lang="en-US" smtClean="0"/>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2021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5BCAD085-E8A6-8845-BD4E-CB4CCA059FC4}" type="datetimeFigureOut">
              <a:rPr lang="en-US" smtClean="0"/>
              <a:t>9/17/2026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545224052"/>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 id="2147483736" r:id="rId20"/>
    <p:sldLayoutId id="2147483737" r:id="rId21"/>
    <p:sldLayoutId id="2147483738" r:id="rId22"/>
    <p:sldLayoutId id="2147483739" r:id="rId23"/>
    <p:sldLayoutId id="2147483740" r:id="rId24"/>
    <p:sldLayoutId id="2147483741" r:id="rId25"/>
    <p:sldLayoutId id="2147483742" r:id="rId26"/>
    <p:sldLayoutId id="2147483743"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png"/><Relationship Id="rId1" Type="http://schemas.openxmlformats.org/officeDocument/2006/relationships/slideLayout" Target="../slideLayouts/slideLayout25.xml"/><Relationship Id="rId4" Type="http://schemas.openxmlformats.org/officeDocument/2006/relationships/hyperlink" Target="https://www.google.com/maps?authuser=0"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0" y="0"/>
            <a:ext cx="11049000" cy="5905500"/>
          </a:xfrm>
          <a:prstGeom prst="rect">
            <a:avLst/>
          </a:prstGeom>
        </p:spPr>
      </p:pic>
      <p:sp>
        <p:nvSpPr>
          <p:cNvPr id="5" name="TextBox 4"/>
          <p:cNvSpPr txBox="1"/>
          <p:nvPr/>
        </p:nvSpPr>
        <p:spPr>
          <a:xfrm>
            <a:off x="493231" y="1849825"/>
            <a:ext cx="10351293" cy="1731243"/>
          </a:xfrm>
          <a:prstGeom prst="rect">
            <a:avLst/>
          </a:prstGeom>
          <a:noFill/>
        </p:spPr>
        <p:txBody>
          <a:bodyPr wrap="square" lIns="0" tIns="0" rIns="0" bIns="0" anchor="t">
            <a:spAutoFit/>
          </a:bodyPr>
          <a:lstStyle/>
          <a:p>
            <a:pPr algn="ctr">
              <a:lnSpc>
                <a:spcPts val="4484"/>
              </a:lnSpc>
            </a:pPr>
            <a:r>
              <a:rPr lang="ru-RU" altLang="ru-RU" sz="4000" b="1" dirty="0">
                <a:solidFill>
                  <a:srgbClr val="FF0000"/>
                </a:solidFill>
                <a:latin typeface="Arial" panose="020B0604020202020204" pitchFamily="34" charset="0"/>
              </a:rPr>
              <a:t>Introduction to History of Uzbekistan </a:t>
            </a:r>
            <a:r>
              <a:rPr lang="en-US" sz="3900" b="1" i="0" u="none" dirty="0">
                <a:solidFill>
                  <a:srgbClr val="F8FAFC"/>
                </a:solidFill>
                <a:latin typeface="Cinzel"/>
              </a:rPr>
              <a:t>  Foundations: Geography, Statehood, &amp; Civilizational Migration</a:t>
            </a:r>
          </a:p>
        </p:txBody>
      </p:sp>
      <p:pic>
        <p:nvPicPr>
          <p:cNvPr id="7" name="Picture 6" descr="image.png"/>
          <p:cNvPicPr>
            <a:picLocks noChangeAspect="1"/>
          </p:cNvPicPr>
          <p:nvPr/>
        </p:nvPicPr>
        <p:blipFill>
          <a:blip r:embed="rId3"/>
          <a:stretch>
            <a:fillRect/>
          </a:stretch>
        </p:blipFill>
        <p:spPr>
          <a:xfrm>
            <a:off x="752475" y="6496050"/>
            <a:ext cx="133350" cy="133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0" y="0"/>
            <a:ext cx="11049000" cy="5905500"/>
          </a:xfrm>
          <a:prstGeom prst="rect">
            <a:avLst/>
          </a:prstGeom>
          <a:solidFill>
            <a:schemeClr val="accent1">
              <a:lumMod val="50000"/>
            </a:schemeClr>
          </a:solidFill>
        </p:spPr>
      </p:pic>
      <p:sp>
        <p:nvSpPr>
          <p:cNvPr id="4" name="Rectangle 3"/>
          <p:cNvSpPr/>
          <p:nvPr/>
        </p:nvSpPr>
        <p:spPr>
          <a:xfrm>
            <a:off x="5143500" y="1919287"/>
            <a:ext cx="7620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3850" y="2664209"/>
            <a:ext cx="10401300" cy="577081"/>
          </a:xfrm>
          <a:prstGeom prst="rect">
            <a:avLst/>
          </a:prstGeom>
          <a:noFill/>
        </p:spPr>
        <p:txBody>
          <a:bodyPr wrap="square" lIns="0" tIns="0" rIns="0" bIns="0" anchor="t">
            <a:spAutoFit/>
          </a:bodyPr>
          <a:lstStyle/>
          <a:p>
            <a:pPr algn="ctr"/>
            <a:r>
              <a:rPr lang="en-GB" sz="3750" b="1" dirty="0">
                <a:solidFill>
                  <a:srgbClr val="FEF3C7"/>
                </a:solidFill>
                <a:latin typeface="Cinzel"/>
              </a:rPr>
              <a:t>Why we learn history as a mandatory subject?</a:t>
            </a:r>
            <a:endParaRPr sz="3750" b="1" i="0" u="none" dirty="0">
              <a:solidFill>
                <a:srgbClr val="FEF3C7"/>
              </a:solidFill>
              <a:latin typeface="Cinzel"/>
            </a:endParaRPr>
          </a:p>
        </p:txBody>
      </p:sp>
      <p:pic>
        <p:nvPicPr>
          <p:cNvPr id="7" name="Picture 6" descr="image.png"/>
          <p:cNvPicPr>
            <a:picLocks noChangeAspect="1"/>
          </p:cNvPicPr>
          <p:nvPr/>
        </p:nvPicPr>
        <p:blipFill>
          <a:blip r:embed="rId3"/>
          <a:stretch>
            <a:fillRect/>
          </a:stretch>
        </p:blipFill>
        <p:spPr>
          <a:xfrm>
            <a:off x="752475" y="6496050"/>
            <a:ext cx="133350" cy="133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8A9C44-64EC-CFA7-A398-BFFD15A03987}"/>
              </a:ext>
            </a:extLst>
          </p:cNvPr>
          <p:cNvSpPr txBox="1"/>
          <p:nvPr/>
        </p:nvSpPr>
        <p:spPr>
          <a:xfrm>
            <a:off x="5534526" y="557077"/>
            <a:ext cx="6063916" cy="5324535"/>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en-US" sz="2400" dirty="0"/>
              <a:t>Higher education institutions aim to develop critical thinking, institutional literacy, and civic awareness—skills essential for any career.</a:t>
            </a:r>
          </a:p>
          <a:p>
            <a:pPr algn="ctr"/>
            <a:endParaRPr lang="en-US" sz="2400" dirty="0"/>
          </a:p>
          <a:p>
            <a:pPr algn="ctr"/>
            <a:r>
              <a:rPr lang="en-US" sz="2400" b="1" dirty="0"/>
              <a:t>Critical Thinking and Source Analysis</a:t>
            </a:r>
            <a:r>
              <a:rPr lang="en-US" sz="2400" dirty="0"/>
              <a:t>: History forces students to evaluate conflicting accounts, identify bias, distinguish primary from secondary sources, and build evidence-based arguments rather than accepting claims at face value.</a:t>
            </a:r>
          </a:p>
          <a:p>
            <a:pPr algn="ctr"/>
            <a:endParaRPr lang="en-US" sz="2400" dirty="0"/>
          </a:p>
          <a:p>
            <a:pPr algn="ctr"/>
            <a:endParaRPr lang="ru-RU" sz="2800" dirty="0"/>
          </a:p>
        </p:txBody>
      </p:sp>
      <p:pic>
        <p:nvPicPr>
          <p:cNvPr id="5" name="Picture 4">
            <a:extLst>
              <a:ext uri="{FF2B5EF4-FFF2-40B4-BE49-F238E27FC236}">
                <a16:creationId xmlns:a16="http://schemas.microsoft.com/office/drawing/2014/main" id="{6CED5C8D-9450-7340-AB9B-F72BA285C792}"/>
              </a:ext>
            </a:extLst>
          </p:cNvPr>
          <p:cNvPicPr>
            <a:picLocks noChangeAspect="1"/>
          </p:cNvPicPr>
          <p:nvPr/>
        </p:nvPicPr>
        <p:blipFill>
          <a:blip r:embed="rId2"/>
          <a:stretch>
            <a:fillRect/>
          </a:stretch>
        </p:blipFill>
        <p:spPr>
          <a:xfrm>
            <a:off x="593558" y="898356"/>
            <a:ext cx="4581627" cy="4555960"/>
          </a:xfrm>
          <a:prstGeom prst="rect">
            <a:avLst/>
          </a:prstGeom>
        </p:spPr>
      </p:pic>
    </p:spTree>
    <p:extLst>
      <p:ext uri="{BB962C8B-B14F-4D97-AF65-F5344CB8AC3E}">
        <p14:creationId xmlns:p14="http://schemas.microsoft.com/office/powerpoint/2010/main" val="1441960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DC1831-B4D6-99FB-F287-BDBBF329851A}"/>
              </a:ext>
            </a:extLst>
          </p:cNvPr>
          <p:cNvSpPr txBox="1"/>
          <p:nvPr/>
        </p:nvSpPr>
        <p:spPr>
          <a:xfrm>
            <a:off x="7892716" y="582067"/>
            <a:ext cx="3962400" cy="5693866"/>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endParaRPr lang="en-US" sz="2400" dirty="0"/>
          </a:p>
          <a:p>
            <a:r>
              <a:rPr lang="en-GB" sz="2400" b="1" dirty="0"/>
              <a:t>Contextualizing Modern Systems</a:t>
            </a:r>
            <a:r>
              <a:rPr lang="en-GB" sz="2400" dirty="0"/>
              <a:t>: Fields like law, medicine, technology, engineering, and economics do not exist in a vacuum. Understanding how current political structures, ethical codes, global trade networks, and social systems evolved prevents professional blind spots.</a:t>
            </a:r>
          </a:p>
          <a:p>
            <a:endParaRPr lang="en-GB" sz="2400" dirty="0"/>
          </a:p>
          <a:p>
            <a:endParaRPr lang="ru-RU" sz="2800" dirty="0"/>
          </a:p>
        </p:txBody>
      </p:sp>
      <p:pic>
        <p:nvPicPr>
          <p:cNvPr id="5" name="Picture 4">
            <a:extLst>
              <a:ext uri="{FF2B5EF4-FFF2-40B4-BE49-F238E27FC236}">
                <a16:creationId xmlns:a16="http://schemas.microsoft.com/office/drawing/2014/main" id="{10330E5D-A0F5-1529-71F3-59DD2B851B48}"/>
              </a:ext>
            </a:extLst>
          </p:cNvPr>
          <p:cNvPicPr>
            <a:picLocks noChangeAspect="1"/>
          </p:cNvPicPr>
          <p:nvPr/>
        </p:nvPicPr>
        <p:blipFill>
          <a:blip r:embed="rId2"/>
          <a:stretch>
            <a:fillRect/>
          </a:stretch>
        </p:blipFill>
        <p:spPr>
          <a:xfrm>
            <a:off x="336884" y="1507957"/>
            <a:ext cx="7351998" cy="4106780"/>
          </a:xfrm>
          <a:prstGeom prst="rect">
            <a:avLst/>
          </a:prstGeom>
        </p:spPr>
      </p:pic>
    </p:spTree>
    <p:extLst>
      <p:ext uri="{BB962C8B-B14F-4D97-AF65-F5344CB8AC3E}">
        <p14:creationId xmlns:p14="http://schemas.microsoft.com/office/powerpoint/2010/main" val="758755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813529-D062-06A3-FA10-6385D443CCE8}"/>
              </a:ext>
            </a:extLst>
          </p:cNvPr>
          <p:cNvSpPr txBox="1"/>
          <p:nvPr/>
        </p:nvSpPr>
        <p:spPr>
          <a:xfrm>
            <a:off x="8791073" y="619279"/>
            <a:ext cx="3144253" cy="5324535"/>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endParaRPr lang="en-GB" sz="2400" dirty="0"/>
          </a:p>
          <a:p>
            <a:r>
              <a:rPr lang="en-US" sz="2400" b="1" dirty="0"/>
              <a:t>Complex Problem Solving</a:t>
            </a:r>
            <a:r>
              <a:rPr lang="en-US" sz="2400" dirty="0"/>
              <a:t>: Historical study teaches pattern recognition across time, demonstrating how actions produce unintended secondary and tertiary consequences over decades.</a:t>
            </a:r>
          </a:p>
          <a:p>
            <a:endParaRPr lang="en-US" sz="2400" dirty="0"/>
          </a:p>
          <a:p>
            <a:endParaRPr lang="ru-RU" sz="2800" dirty="0"/>
          </a:p>
        </p:txBody>
      </p:sp>
      <p:pic>
        <p:nvPicPr>
          <p:cNvPr id="5" name="Picture 4">
            <a:extLst>
              <a:ext uri="{FF2B5EF4-FFF2-40B4-BE49-F238E27FC236}">
                <a16:creationId xmlns:a16="http://schemas.microsoft.com/office/drawing/2014/main" id="{274DBB46-8C37-C7DB-2A48-73AFC436E37F}"/>
              </a:ext>
            </a:extLst>
          </p:cNvPr>
          <p:cNvPicPr>
            <a:picLocks noChangeAspect="1"/>
          </p:cNvPicPr>
          <p:nvPr/>
        </p:nvPicPr>
        <p:blipFill>
          <a:blip r:embed="rId2"/>
          <a:stretch>
            <a:fillRect/>
          </a:stretch>
        </p:blipFill>
        <p:spPr>
          <a:xfrm>
            <a:off x="160421" y="997929"/>
            <a:ext cx="8366459" cy="4567237"/>
          </a:xfrm>
          <a:prstGeom prst="rect">
            <a:avLst/>
          </a:prstGeom>
        </p:spPr>
      </p:pic>
    </p:spTree>
    <p:extLst>
      <p:ext uri="{BB962C8B-B14F-4D97-AF65-F5344CB8AC3E}">
        <p14:creationId xmlns:p14="http://schemas.microsoft.com/office/powerpoint/2010/main" val="4079035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34F5E8-56A3-9ADC-ED78-DDD58628EE5D}"/>
              </a:ext>
            </a:extLst>
          </p:cNvPr>
          <p:cNvSpPr txBox="1"/>
          <p:nvPr/>
        </p:nvSpPr>
        <p:spPr>
          <a:xfrm>
            <a:off x="208547" y="396360"/>
            <a:ext cx="7299158" cy="6124754"/>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800" dirty="0"/>
              <a:t>The Prohibition of Alcohol in the US (1920):</a:t>
            </a:r>
          </a:p>
          <a:p>
            <a:r>
              <a:rPr lang="en-US" sz="2800" dirty="0"/>
              <a:t>Initial Action: The 18th Amendment banned the sale of alcohol to promote public morality and health.</a:t>
            </a:r>
          </a:p>
          <a:p>
            <a:r>
              <a:rPr lang="en-US" sz="2800" dirty="0"/>
              <a:t>Secondary Effect: Legal saloons closed, but illegal underground bars (speakeasies) surged, creating a massive, untaxed black market.</a:t>
            </a:r>
          </a:p>
          <a:p>
            <a:r>
              <a:rPr lang="en-US" sz="2800" dirty="0"/>
              <a:t>Tertiary Effect: Violent organized crime syndicates (like Al Capone's mafia) grew into powerful multi-million-dollar enterprises, leading to widespread law enforcement corruption and the eventual repeal of the law in 1933.</a:t>
            </a:r>
          </a:p>
        </p:txBody>
      </p:sp>
      <p:pic>
        <p:nvPicPr>
          <p:cNvPr id="5" name="Picture 4">
            <a:extLst>
              <a:ext uri="{FF2B5EF4-FFF2-40B4-BE49-F238E27FC236}">
                <a16:creationId xmlns:a16="http://schemas.microsoft.com/office/drawing/2014/main" id="{8C6C7436-6331-992B-C25C-C105FA807428}"/>
              </a:ext>
            </a:extLst>
          </p:cNvPr>
          <p:cNvPicPr>
            <a:picLocks noChangeAspect="1"/>
          </p:cNvPicPr>
          <p:nvPr/>
        </p:nvPicPr>
        <p:blipFill>
          <a:blip r:embed="rId2"/>
          <a:stretch>
            <a:fillRect/>
          </a:stretch>
        </p:blipFill>
        <p:spPr>
          <a:xfrm>
            <a:off x="7692254" y="1767068"/>
            <a:ext cx="4291199" cy="4694572"/>
          </a:xfrm>
          <a:prstGeom prst="rect">
            <a:avLst/>
          </a:prstGeom>
        </p:spPr>
      </p:pic>
      <p:sp>
        <p:nvSpPr>
          <p:cNvPr id="10" name="Arrow: Left-Up 9">
            <a:extLst>
              <a:ext uri="{FF2B5EF4-FFF2-40B4-BE49-F238E27FC236}">
                <a16:creationId xmlns:a16="http://schemas.microsoft.com/office/drawing/2014/main" id="{1917B5C5-4F09-E0BC-FBCC-7A2B5CD45C38}"/>
              </a:ext>
            </a:extLst>
          </p:cNvPr>
          <p:cNvSpPr/>
          <p:nvPr/>
        </p:nvSpPr>
        <p:spPr>
          <a:xfrm rot="10800000" flipH="1">
            <a:off x="7515866" y="396360"/>
            <a:ext cx="1339376" cy="1370708"/>
          </a:xfrm>
          <a:prstGeom prst="leftUpArrow">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566730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7DDEE8-0979-7049-98D0-BBB4BABD5A0E}"/>
              </a:ext>
            </a:extLst>
          </p:cNvPr>
          <p:cNvSpPr txBox="1"/>
          <p:nvPr/>
        </p:nvSpPr>
        <p:spPr>
          <a:xfrm>
            <a:off x="425117" y="1320730"/>
            <a:ext cx="4628147" cy="4216539"/>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endParaRPr lang="en-US" sz="2400" dirty="0"/>
          </a:p>
          <a:p>
            <a:r>
              <a:rPr lang="en-US" sz="2400" b="1" dirty="0"/>
              <a:t>Civic Responsibility and Literacy</a:t>
            </a:r>
            <a:r>
              <a:rPr lang="en-US" sz="2400" dirty="0"/>
              <a:t>: Universities are tasked with producing informed citizens capable of participating in governance, understanding policy decisions, and recognizing historical precedents for current political debates.</a:t>
            </a:r>
          </a:p>
          <a:p>
            <a:endParaRPr lang="en-US" sz="2400" dirty="0"/>
          </a:p>
          <a:p>
            <a:endParaRPr lang="ru-RU" sz="2800" dirty="0"/>
          </a:p>
        </p:txBody>
      </p:sp>
      <p:pic>
        <p:nvPicPr>
          <p:cNvPr id="5" name="Picture 4">
            <a:extLst>
              <a:ext uri="{FF2B5EF4-FFF2-40B4-BE49-F238E27FC236}">
                <a16:creationId xmlns:a16="http://schemas.microsoft.com/office/drawing/2014/main" id="{FF9A0772-B660-FA14-8899-8BCB817FD3D9}"/>
              </a:ext>
            </a:extLst>
          </p:cNvPr>
          <p:cNvPicPr>
            <a:picLocks noChangeAspect="1"/>
          </p:cNvPicPr>
          <p:nvPr/>
        </p:nvPicPr>
        <p:blipFill>
          <a:blip r:embed="rId2"/>
          <a:stretch>
            <a:fillRect/>
          </a:stretch>
        </p:blipFill>
        <p:spPr>
          <a:xfrm>
            <a:off x="5253790" y="883318"/>
            <a:ext cx="6788484" cy="5091363"/>
          </a:xfrm>
          <a:prstGeom prst="rect">
            <a:avLst/>
          </a:prstGeom>
        </p:spPr>
      </p:pic>
    </p:spTree>
    <p:extLst>
      <p:ext uri="{BB962C8B-B14F-4D97-AF65-F5344CB8AC3E}">
        <p14:creationId xmlns:p14="http://schemas.microsoft.com/office/powerpoint/2010/main" val="624259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B151F5-9001-5B0F-D59F-D9C5AAB4EFB3}"/>
              </a:ext>
            </a:extLst>
          </p:cNvPr>
          <p:cNvSpPr txBox="1"/>
          <p:nvPr/>
        </p:nvSpPr>
        <p:spPr>
          <a:xfrm>
            <a:off x="7491662" y="785676"/>
            <a:ext cx="4443663" cy="4216539"/>
          </a:xfrm>
          <a:prstGeom prst="rect">
            <a:avLst/>
          </a:prstGeom>
          <a:solidFill>
            <a:schemeClr val="accent1">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endParaRPr lang="en-US" sz="2400" dirty="0"/>
          </a:p>
          <a:p>
            <a:pPr algn="ctr"/>
            <a:r>
              <a:rPr lang="en-US" sz="2400" b="1" dirty="0"/>
              <a:t>Communication and Synthesis: </a:t>
            </a:r>
            <a:r>
              <a:rPr lang="en-US" sz="2400" dirty="0"/>
              <a:t>Writing-intensive history courses train students to synthesize massive amounts of complex, ambiguous data into concise, coherent written arguments—a primary skill valued by employers across all industries.</a:t>
            </a:r>
          </a:p>
          <a:p>
            <a:pPr algn="ctr"/>
            <a:endParaRPr lang="ru-RU" sz="2800" dirty="0"/>
          </a:p>
        </p:txBody>
      </p:sp>
      <p:pic>
        <p:nvPicPr>
          <p:cNvPr id="5" name="Picture 4">
            <a:extLst>
              <a:ext uri="{FF2B5EF4-FFF2-40B4-BE49-F238E27FC236}">
                <a16:creationId xmlns:a16="http://schemas.microsoft.com/office/drawing/2014/main" id="{168CE3CF-43C2-24A5-BA6E-A9F04D2E6832}"/>
              </a:ext>
            </a:extLst>
          </p:cNvPr>
          <p:cNvPicPr>
            <a:picLocks noChangeAspect="1"/>
          </p:cNvPicPr>
          <p:nvPr/>
        </p:nvPicPr>
        <p:blipFill>
          <a:blip r:embed="rId2"/>
          <a:stretch>
            <a:fillRect/>
          </a:stretch>
        </p:blipFill>
        <p:spPr>
          <a:xfrm>
            <a:off x="159038" y="785676"/>
            <a:ext cx="7332624" cy="4002868"/>
          </a:xfrm>
          <a:prstGeom prst="rect">
            <a:avLst/>
          </a:prstGeom>
        </p:spPr>
      </p:pic>
    </p:spTree>
    <p:extLst>
      <p:ext uri="{BB962C8B-B14F-4D97-AF65-F5344CB8AC3E}">
        <p14:creationId xmlns:p14="http://schemas.microsoft.com/office/powerpoint/2010/main" val="3969261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A4F48-F24C-4C28-0C39-6E99C5844C2F}"/>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082C8F63-97BF-6638-359C-6EA4706E7C85}"/>
              </a:ext>
            </a:extLst>
          </p:cNvPr>
          <p:cNvPicPr>
            <a:picLocks noChangeAspect="1"/>
          </p:cNvPicPr>
          <p:nvPr/>
        </p:nvPicPr>
        <p:blipFill>
          <a:blip r:embed="rId2"/>
          <a:stretch>
            <a:fillRect/>
          </a:stretch>
        </p:blipFill>
        <p:spPr>
          <a:xfrm>
            <a:off x="0" y="0"/>
            <a:ext cx="11049000" cy="5905500"/>
          </a:xfrm>
          <a:prstGeom prst="rect">
            <a:avLst/>
          </a:prstGeom>
        </p:spPr>
      </p:pic>
      <p:sp>
        <p:nvSpPr>
          <p:cNvPr id="4" name="Rectangle 3">
            <a:extLst>
              <a:ext uri="{FF2B5EF4-FFF2-40B4-BE49-F238E27FC236}">
                <a16:creationId xmlns:a16="http://schemas.microsoft.com/office/drawing/2014/main" id="{3261FB72-4384-3877-E55C-8DB33B04A33A}"/>
              </a:ext>
            </a:extLst>
          </p:cNvPr>
          <p:cNvSpPr/>
          <p:nvPr/>
        </p:nvSpPr>
        <p:spPr>
          <a:xfrm>
            <a:off x="5143500" y="1919287"/>
            <a:ext cx="7620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706E653-BFDB-9FF6-FB66-D73FD562A1E8}"/>
              </a:ext>
            </a:extLst>
          </p:cNvPr>
          <p:cNvSpPr txBox="1"/>
          <p:nvPr/>
        </p:nvSpPr>
        <p:spPr>
          <a:xfrm>
            <a:off x="323850" y="2676890"/>
            <a:ext cx="10401300" cy="1131079"/>
          </a:xfrm>
          <a:prstGeom prst="rect">
            <a:avLst/>
          </a:prstGeom>
          <a:noFill/>
        </p:spPr>
        <p:txBody>
          <a:bodyPr wrap="square" lIns="0" tIns="0" rIns="0" bIns="0" anchor="t">
            <a:spAutoFit/>
          </a:bodyPr>
          <a:lstStyle/>
          <a:p>
            <a:pPr algn="ctr"/>
            <a:r>
              <a:rPr sz="3600" b="1" i="0" u="none" dirty="0">
                <a:latin typeface="Cinzel"/>
              </a:rPr>
              <a:t> </a:t>
            </a:r>
            <a:r>
              <a:rPr lang="ru-RU" altLang="ru-RU" sz="3600" b="1" dirty="0">
                <a:latin typeface="Arial" panose="020B0604020202020204" pitchFamily="34" charset="0"/>
              </a:rPr>
              <a:t>HISTORICAL PERIODIZATION</a:t>
            </a:r>
            <a:endParaRPr lang="ru-RU" altLang="ru-RU" sz="3600" dirty="0">
              <a:latin typeface="Arial" panose="020B0604020202020204" pitchFamily="34" charset="0"/>
            </a:endParaRPr>
          </a:p>
          <a:p>
            <a:pPr algn="ctr"/>
            <a:endParaRPr sz="3600" b="1" i="0" u="none" dirty="0">
              <a:latin typeface="Cinzel"/>
            </a:endParaRPr>
          </a:p>
        </p:txBody>
      </p:sp>
    </p:spTree>
    <p:extLst>
      <p:ext uri="{BB962C8B-B14F-4D97-AF65-F5344CB8AC3E}">
        <p14:creationId xmlns:p14="http://schemas.microsoft.com/office/powerpoint/2010/main" val="2560782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FEC6CDD1-921F-5BE0-2406-FFD911E5EB7D}"/>
              </a:ext>
            </a:extLst>
          </p:cNvPr>
          <p:cNvGraphicFramePr/>
          <p:nvPr>
            <p:extLst>
              <p:ext uri="{D42A27DB-BD31-4B8C-83A1-F6EECF244321}">
                <p14:modId xmlns:p14="http://schemas.microsoft.com/office/powerpoint/2010/main" val="1168392399"/>
              </p:ext>
            </p:extLst>
          </p:nvPr>
        </p:nvGraphicFramePr>
        <p:xfrm>
          <a:off x="331595" y="224589"/>
          <a:ext cx="11667900" cy="63205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6055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781DA9A-6142-4EDB-002D-53C8A494EF7D}"/>
              </a:ext>
            </a:extLst>
          </p:cNvPr>
          <p:cNvSpPr txBox="1">
            <a:spLocks/>
          </p:cNvSpPr>
          <p:nvPr/>
        </p:nvSpPr>
        <p:spPr>
          <a:xfrm>
            <a:off x="1459831" y="449182"/>
            <a:ext cx="9849853" cy="994610"/>
          </a:xfrm>
          <a:prstGeom prst="rect">
            <a:avLst/>
          </a:prstGeom>
          <a:solidFill>
            <a:schemeClr val="accent1">
              <a:lumMod val="5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200" b="1" dirty="0"/>
              <a:t>HISTORICAL PERIODIZATION ALSO DEPENDS GEOGRAPHICAL LOCATION</a:t>
            </a:r>
            <a:endParaRPr lang="ru-RU" sz="3200" b="1" dirty="0"/>
          </a:p>
        </p:txBody>
      </p:sp>
      <p:pic>
        <p:nvPicPr>
          <p:cNvPr id="4" name="Picture 3">
            <a:extLst>
              <a:ext uri="{FF2B5EF4-FFF2-40B4-BE49-F238E27FC236}">
                <a16:creationId xmlns:a16="http://schemas.microsoft.com/office/drawing/2014/main" id="{90E74C64-2A74-ACFF-5486-633F79EC71A3}"/>
              </a:ext>
            </a:extLst>
          </p:cNvPr>
          <p:cNvPicPr>
            <a:picLocks noChangeAspect="1"/>
          </p:cNvPicPr>
          <p:nvPr/>
        </p:nvPicPr>
        <p:blipFill>
          <a:blip r:embed="rId2"/>
          <a:stretch>
            <a:fillRect/>
          </a:stretch>
        </p:blipFill>
        <p:spPr>
          <a:xfrm>
            <a:off x="1031832" y="1880937"/>
            <a:ext cx="5352925" cy="4150895"/>
          </a:xfrm>
          <a:prstGeom prst="rect">
            <a:avLst/>
          </a:prstGeom>
        </p:spPr>
      </p:pic>
      <p:pic>
        <p:nvPicPr>
          <p:cNvPr id="6" name="Picture 5">
            <a:extLst>
              <a:ext uri="{FF2B5EF4-FFF2-40B4-BE49-F238E27FC236}">
                <a16:creationId xmlns:a16="http://schemas.microsoft.com/office/drawing/2014/main" id="{49379C6A-CEDE-42F0-2332-3B65412F8A8E}"/>
              </a:ext>
            </a:extLst>
          </p:cNvPr>
          <p:cNvPicPr>
            <a:picLocks noChangeAspect="1"/>
          </p:cNvPicPr>
          <p:nvPr/>
        </p:nvPicPr>
        <p:blipFill>
          <a:blip r:embed="rId3"/>
          <a:stretch>
            <a:fillRect/>
          </a:stretch>
        </p:blipFill>
        <p:spPr>
          <a:xfrm>
            <a:off x="7280771" y="1540041"/>
            <a:ext cx="3307019" cy="4977063"/>
          </a:xfrm>
          <a:prstGeom prst="rect">
            <a:avLst/>
          </a:prstGeom>
        </p:spPr>
      </p:pic>
    </p:spTree>
    <p:extLst>
      <p:ext uri="{BB962C8B-B14F-4D97-AF65-F5344CB8AC3E}">
        <p14:creationId xmlns:p14="http://schemas.microsoft.com/office/powerpoint/2010/main" val="3589744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16DA1D9-570C-4013-A4DA-4752D8BA475E}"/>
              </a:ext>
            </a:extLst>
          </p:cNvPr>
          <p:cNvCxnSpPr>
            <a:cxnSpLocks/>
          </p:cNvCxnSpPr>
          <p:nvPr/>
        </p:nvCxnSpPr>
        <p:spPr>
          <a:xfrm>
            <a:off x="0" y="1748413"/>
            <a:ext cx="12192000"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3B65096A-B2C1-4CE9-BB02-0C9737C64C2A}"/>
              </a:ext>
            </a:extLst>
          </p:cNvPr>
          <p:cNvCxnSpPr>
            <a:cxnSpLocks/>
          </p:cNvCxnSpPr>
          <p:nvPr/>
        </p:nvCxnSpPr>
        <p:spPr>
          <a:xfrm>
            <a:off x="6169688" y="1165034"/>
            <a:ext cx="0" cy="975265"/>
          </a:xfrm>
          <a:prstGeom prst="line">
            <a:avLst/>
          </a:prstGeom>
        </p:spPr>
        <p:style>
          <a:lnRef idx="1">
            <a:schemeClr val="dk1"/>
          </a:lnRef>
          <a:fillRef idx="0">
            <a:schemeClr val="dk1"/>
          </a:fillRef>
          <a:effectRef idx="0">
            <a:schemeClr val="dk1"/>
          </a:effectRef>
          <a:fontRef idx="minor">
            <a:schemeClr val="tx1"/>
          </a:fontRef>
        </p:style>
      </p:cxnSp>
      <p:sp>
        <p:nvSpPr>
          <p:cNvPr id="11" name="Rectangle 1">
            <a:extLst>
              <a:ext uri="{FF2B5EF4-FFF2-40B4-BE49-F238E27FC236}">
                <a16:creationId xmlns:a16="http://schemas.microsoft.com/office/drawing/2014/main" id="{25EDEE22-2871-45D7-B637-31CDB34F546E}"/>
              </a:ext>
            </a:extLst>
          </p:cNvPr>
          <p:cNvSpPr>
            <a:spLocks noChangeArrowheads="1"/>
          </p:cNvSpPr>
          <p:nvPr/>
        </p:nvSpPr>
        <p:spPr bwMode="auto">
          <a:xfrm>
            <a:off x="850231" y="872647"/>
            <a:ext cx="39624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3200" b="1" i="0" u="none" strike="noStrike" cap="none" normalizeH="0" baseline="0" dirty="0">
                <a:ln>
                  <a:noFill/>
                </a:ln>
                <a:effectLst/>
                <a:latin typeface="Arial" panose="020B0604020202020204" pitchFamily="34" charset="0"/>
              </a:rPr>
              <a:t>Prehistoric time</a:t>
            </a:r>
            <a:endParaRPr kumimoji="0" lang="ru-RU" altLang="ru-RU" sz="1800" b="0" i="0" u="none" strike="noStrike" cap="none" normalizeH="0" baseline="0" dirty="0">
              <a:ln>
                <a:noFill/>
              </a:ln>
              <a:effectLst/>
              <a:latin typeface="Arial" panose="020B0604020202020204" pitchFamily="34" charset="0"/>
            </a:endParaRPr>
          </a:p>
        </p:txBody>
      </p:sp>
      <p:sp>
        <p:nvSpPr>
          <p:cNvPr id="12" name="Rectangle 2">
            <a:extLst>
              <a:ext uri="{FF2B5EF4-FFF2-40B4-BE49-F238E27FC236}">
                <a16:creationId xmlns:a16="http://schemas.microsoft.com/office/drawing/2014/main" id="{9166DFD5-A778-48BD-BC01-81B1F14E3A03}"/>
              </a:ext>
            </a:extLst>
          </p:cNvPr>
          <p:cNvSpPr>
            <a:spLocks noChangeArrowheads="1"/>
          </p:cNvSpPr>
          <p:nvPr/>
        </p:nvSpPr>
        <p:spPr bwMode="auto">
          <a:xfrm rot="10800000" flipV="1">
            <a:off x="6978315" y="883356"/>
            <a:ext cx="47965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3200" b="1" i="0" u="none" strike="noStrike" cap="none" normalizeH="0" baseline="0" dirty="0">
                <a:ln>
                  <a:noFill/>
                </a:ln>
                <a:effectLst/>
                <a:latin typeface="Arial" panose="020B0604020202020204" pitchFamily="34" charset="0"/>
              </a:rPr>
              <a:t>Ancient time</a:t>
            </a:r>
            <a:endParaRPr kumimoji="0" lang="ru-RU" altLang="ru-RU" sz="1800" b="0" i="0" u="none" strike="noStrike" cap="none" normalizeH="0" baseline="0" dirty="0">
              <a:ln>
                <a:noFill/>
              </a:ln>
              <a:effectLst/>
              <a:latin typeface="Arial" panose="020B0604020202020204" pitchFamily="34" charset="0"/>
            </a:endParaRPr>
          </a:p>
        </p:txBody>
      </p:sp>
      <p:sp>
        <p:nvSpPr>
          <p:cNvPr id="14" name="Rectangle 3">
            <a:extLst>
              <a:ext uri="{FF2B5EF4-FFF2-40B4-BE49-F238E27FC236}">
                <a16:creationId xmlns:a16="http://schemas.microsoft.com/office/drawing/2014/main" id="{1A23566A-FAA0-425B-9796-1B68018352BD}"/>
              </a:ext>
            </a:extLst>
          </p:cNvPr>
          <p:cNvSpPr>
            <a:spLocks noChangeArrowheads="1"/>
          </p:cNvSpPr>
          <p:nvPr/>
        </p:nvSpPr>
        <p:spPr bwMode="auto">
          <a:xfrm>
            <a:off x="224590" y="2460630"/>
            <a:ext cx="58714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800" b="1" i="0" u="none" strike="noStrike" cap="none" normalizeH="0" baseline="0" dirty="0">
                <a:ln>
                  <a:noFill/>
                </a:ln>
                <a:effectLst/>
                <a:latin typeface="Arial" panose="020B0604020202020204" pitchFamily="34" charset="0"/>
              </a:rPr>
              <a:t>the extensive span of human history before the invention of writing systems</a:t>
            </a:r>
            <a:endParaRPr kumimoji="0" lang="ru-RU" altLang="ru-RU" sz="2800" b="0" i="0" u="none" strike="noStrike" cap="none" normalizeH="0" baseline="0" dirty="0">
              <a:ln>
                <a:noFill/>
              </a:ln>
              <a:effectLst/>
              <a:latin typeface="Arial" panose="020B0604020202020204" pitchFamily="34" charset="0"/>
            </a:endParaRPr>
          </a:p>
        </p:txBody>
      </p:sp>
      <p:sp>
        <p:nvSpPr>
          <p:cNvPr id="15" name="Rectangle 4">
            <a:extLst>
              <a:ext uri="{FF2B5EF4-FFF2-40B4-BE49-F238E27FC236}">
                <a16:creationId xmlns:a16="http://schemas.microsoft.com/office/drawing/2014/main" id="{1F6AE16D-DA70-4A73-A043-25B12FEE2FF6}"/>
              </a:ext>
            </a:extLst>
          </p:cNvPr>
          <p:cNvSpPr>
            <a:spLocks noChangeArrowheads="1"/>
          </p:cNvSpPr>
          <p:nvPr/>
        </p:nvSpPr>
        <p:spPr bwMode="auto">
          <a:xfrm>
            <a:off x="7019171" y="2018916"/>
            <a:ext cx="432334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800" b="1" i="0" u="none" strike="noStrike" cap="none" normalizeH="0" baseline="0" dirty="0">
                <a:ln>
                  <a:noFill/>
                </a:ln>
                <a:effectLst/>
                <a:latin typeface="Arial" panose="020B0604020202020204" pitchFamily="34" charset="0"/>
              </a:rPr>
              <a:t>from the invention of writing around 3000 B</a:t>
            </a:r>
            <a:r>
              <a:rPr kumimoji="0" lang="en-US" altLang="ru-RU" sz="2800" b="1" i="0" u="none" strike="noStrike" cap="none" normalizeH="0" baseline="0" dirty="0">
                <a:ln>
                  <a:noFill/>
                </a:ln>
                <a:effectLst/>
                <a:latin typeface="Arial" panose="020B0604020202020204" pitchFamily="34" charset="0"/>
              </a:rPr>
              <a:t>.</a:t>
            </a:r>
            <a:r>
              <a:rPr kumimoji="0" lang="ru-RU" altLang="ru-RU" sz="2800" b="1" i="0" u="none" strike="noStrike" cap="none" normalizeH="0" baseline="0" dirty="0">
                <a:ln>
                  <a:noFill/>
                </a:ln>
                <a:effectLst/>
                <a:latin typeface="Arial" panose="020B0604020202020204" pitchFamily="34" charset="0"/>
              </a:rPr>
              <a:t>C to the fall of the Western Roman Empire around  476</a:t>
            </a:r>
            <a:r>
              <a:rPr kumimoji="0" lang="en-US" altLang="ru-RU" sz="2800" b="1" i="0" u="none" strike="noStrike" cap="none" normalizeH="0" baseline="0" dirty="0">
                <a:ln>
                  <a:noFill/>
                </a:ln>
                <a:effectLst/>
                <a:latin typeface="Arial" panose="020B0604020202020204" pitchFamily="34" charset="0"/>
              </a:rPr>
              <a:t> C.E</a:t>
            </a:r>
            <a:endParaRPr kumimoji="0" lang="ru-RU" altLang="ru-RU" sz="2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10031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BB5D1E9-9112-46DF-8137-AB41CDE4028E}"/>
              </a:ext>
            </a:extLst>
          </p:cNvPr>
          <p:cNvCxnSpPr/>
          <p:nvPr/>
        </p:nvCxnSpPr>
        <p:spPr>
          <a:xfrm>
            <a:off x="0" y="1745673"/>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F3402CCE-4A36-400E-84DE-1914B5E2ADEF}"/>
              </a:ext>
            </a:extLst>
          </p:cNvPr>
          <p:cNvCxnSpPr>
            <a:cxnSpLocks/>
          </p:cNvCxnSpPr>
          <p:nvPr/>
        </p:nvCxnSpPr>
        <p:spPr>
          <a:xfrm flipV="1">
            <a:off x="3412996" y="1262197"/>
            <a:ext cx="0" cy="966952"/>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00EC10C5-C746-48D7-9DEA-AFF165E1E1F0}"/>
              </a:ext>
            </a:extLst>
          </p:cNvPr>
          <p:cNvCxnSpPr/>
          <p:nvPr/>
        </p:nvCxnSpPr>
        <p:spPr>
          <a:xfrm>
            <a:off x="8355724" y="1262197"/>
            <a:ext cx="0" cy="935421"/>
          </a:xfrm>
          <a:prstGeom prst="line">
            <a:avLst/>
          </a:prstGeom>
        </p:spPr>
        <p:style>
          <a:lnRef idx="1">
            <a:schemeClr val="dk1"/>
          </a:lnRef>
          <a:fillRef idx="0">
            <a:schemeClr val="dk1"/>
          </a:fillRef>
          <a:effectRef idx="0">
            <a:schemeClr val="dk1"/>
          </a:effectRef>
          <a:fontRef idx="minor">
            <a:schemeClr val="tx1"/>
          </a:fontRef>
        </p:style>
      </p:cxnSp>
      <p:sp>
        <p:nvSpPr>
          <p:cNvPr id="14" name="Rectangle 1">
            <a:extLst>
              <a:ext uri="{FF2B5EF4-FFF2-40B4-BE49-F238E27FC236}">
                <a16:creationId xmlns:a16="http://schemas.microsoft.com/office/drawing/2014/main" id="{489CB123-B9BA-422F-86F3-F6B4A497E406}"/>
              </a:ext>
            </a:extLst>
          </p:cNvPr>
          <p:cNvSpPr>
            <a:spLocks noChangeArrowheads="1"/>
          </p:cNvSpPr>
          <p:nvPr/>
        </p:nvSpPr>
        <p:spPr bwMode="auto">
          <a:xfrm rot="10800000" flipV="1">
            <a:off x="7482052" y="89730"/>
            <a:ext cx="30532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2400" b="1" i="0" u="none" strike="noStrike" cap="none" normalizeH="0" baseline="0" dirty="0">
                <a:ln>
                  <a:noFill/>
                </a:ln>
                <a:effectLst/>
                <a:latin typeface="Arial" panose="020B0604020202020204" pitchFamily="34" charset="0"/>
              </a:rPr>
              <a:t>MODERN PERIOD</a:t>
            </a:r>
            <a:endParaRPr kumimoji="0" lang="ru-RU" altLang="ru-RU" sz="2400" b="0" i="0" u="none" strike="noStrike" cap="none" normalizeH="0" baseline="0" dirty="0">
              <a:ln>
                <a:noFill/>
              </a:ln>
              <a:effectLst/>
              <a:latin typeface="Arial" panose="020B0604020202020204" pitchFamily="34" charset="0"/>
            </a:endParaRPr>
          </a:p>
        </p:txBody>
      </p:sp>
      <p:sp>
        <p:nvSpPr>
          <p:cNvPr id="16" name="TextBox 15">
            <a:extLst>
              <a:ext uri="{FF2B5EF4-FFF2-40B4-BE49-F238E27FC236}">
                <a16:creationId xmlns:a16="http://schemas.microsoft.com/office/drawing/2014/main" id="{F4FA7F52-4AE7-414F-AD37-81715C8C1213}"/>
              </a:ext>
            </a:extLst>
          </p:cNvPr>
          <p:cNvSpPr txBox="1"/>
          <p:nvPr/>
        </p:nvSpPr>
        <p:spPr>
          <a:xfrm>
            <a:off x="4519449" y="1054849"/>
            <a:ext cx="2306541" cy="646329"/>
          </a:xfrm>
          <a:prstGeom prst="rect">
            <a:avLst/>
          </a:prstGeom>
          <a:noFill/>
        </p:spPr>
        <p:txBody>
          <a:bodyPr wrap="square">
            <a:spAutoFit/>
          </a:bodyPr>
          <a:lstStyle/>
          <a:p>
            <a:r>
              <a:rPr lang="uz-Latn-UZ" b="1" dirty="0"/>
              <a:t>EARLY MODERN  PERIOD</a:t>
            </a:r>
            <a:endParaRPr lang="ru-RU" b="1" dirty="0"/>
          </a:p>
        </p:txBody>
      </p:sp>
      <p:sp>
        <p:nvSpPr>
          <p:cNvPr id="18" name="TextBox 17">
            <a:extLst>
              <a:ext uri="{FF2B5EF4-FFF2-40B4-BE49-F238E27FC236}">
                <a16:creationId xmlns:a16="http://schemas.microsoft.com/office/drawing/2014/main" id="{2E2E6026-1360-4304-9C38-E4C282C007CC}"/>
              </a:ext>
            </a:extLst>
          </p:cNvPr>
          <p:cNvSpPr txBox="1"/>
          <p:nvPr/>
        </p:nvSpPr>
        <p:spPr>
          <a:xfrm>
            <a:off x="9008680" y="1077531"/>
            <a:ext cx="2306540" cy="646331"/>
          </a:xfrm>
          <a:prstGeom prst="rect">
            <a:avLst/>
          </a:prstGeom>
          <a:noFill/>
        </p:spPr>
        <p:txBody>
          <a:bodyPr wrap="square">
            <a:spAutoFit/>
          </a:bodyPr>
          <a:lstStyle/>
          <a:p>
            <a:r>
              <a:rPr lang="uz-Latn-UZ" b="1" dirty="0"/>
              <a:t>CONTEMPORARY ERA</a:t>
            </a:r>
            <a:endParaRPr lang="ru-RU" b="1" dirty="0"/>
          </a:p>
        </p:txBody>
      </p:sp>
      <p:sp>
        <p:nvSpPr>
          <p:cNvPr id="20" name="TextBox 19">
            <a:extLst>
              <a:ext uri="{FF2B5EF4-FFF2-40B4-BE49-F238E27FC236}">
                <a16:creationId xmlns:a16="http://schemas.microsoft.com/office/drawing/2014/main" id="{9C239DCB-57F2-471F-9202-F1446C951790}"/>
              </a:ext>
            </a:extLst>
          </p:cNvPr>
          <p:cNvSpPr txBox="1"/>
          <p:nvPr/>
        </p:nvSpPr>
        <p:spPr>
          <a:xfrm>
            <a:off x="934527" y="1033607"/>
            <a:ext cx="1825514" cy="646331"/>
          </a:xfrm>
          <a:prstGeom prst="rect">
            <a:avLst/>
          </a:prstGeom>
          <a:noFill/>
        </p:spPr>
        <p:txBody>
          <a:bodyPr wrap="square">
            <a:spAutoFit/>
          </a:bodyPr>
          <a:lstStyle/>
          <a:p>
            <a:r>
              <a:rPr lang="uz-Latn-UZ" b="1" dirty="0"/>
              <a:t>MEDIEVAL PERIOD</a:t>
            </a:r>
            <a:endParaRPr lang="ru-RU" b="1" dirty="0"/>
          </a:p>
        </p:txBody>
      </p:sp>
      <p:sp>
        <p:nvSpPr>
          <p:cNvPr id="22" name="TextBox 21">
            <a:extLst>
              <a:ext uri="{FF2B5EF4-FFF2-40B4-BE49-F238E27FC236}">
                <a16:creationId xmlns:a16="http://schemas.microsoft.com/office/drawing/2014/main" id="{C8B645A7-BCED-4D17-8C0D-27CF67DFD7EF}"/>
              </a:ext>
            </a:extLst>
          </p:cNvPr>
          <p:cNvSpPr txBox="1"/>
          <p:nvPr/>
        </p:nvSpPr>
        <p:spPr>
          <a:xfrm>
            <a:off x="373299" y="2052900"/>
            <a:ext cx="2916438" cy="3477875"/>
          </a:xfrm>
          <a:prstGeom prst="rect">
            <a:avLst/>
          </a:prstGeom>
          <a:noFill/>
        </p:spPr>
        <p:txBody>
          <a:bodyPr wrap="square">
            <a:spAutoFit/>
          </a:bodyPr>
          <a:lstStyle/>
          <a:p>
            <a:r>
              <a:rPr lang="en-US" sz="2000" dirty="0"/>
              <a:t>The medieval era, often called The Middle Ages or the Dark Ages, began around 476 A.D. following a great loss of power throughout Europe by the Roman Emperor. The Middle Ages span roughly 1,000 years, ending between 1400 and 1450</a:t>
            </a:r>
            <a:endParaRPr lang="ru-RU" sz="2000" dirty="0"/>
          </a:p>
        </p:txBody>
      </p:sp>
      <p:sp>
        <p:nvSpPr>
          <p:cNvPr id="24" name="TextBox 23">
            <a:extLst>
              <a:ext uri="{FF2B5EF4-FFF2-40B4-BE49-F238E27FC236}">
                <a16:creationId xmlns:a16="http://schemas.microsoft.com/office/drawing/2014/main" id="{C09AE8FB-0C41-4C27-97D3-5D544AE2863B}"/>
              </a:ext>
            </a:extLst>
          </p:cNvPr>
          <p:cNvSpPr txBox="1"/>
          <p:nvPr/>
        </p:nvSpPr>
        <p:spPr>
          <a:xfrm>
            <a:off x="4399893" y="2052900"/>
            <a:ext cx="3392213" cy="1569660"/>
          </a:xfrm>
          <a:prstGeom prst="rect">
            <a:avLst/>
          </a:prstGeom>
          <a:noFill/>
        </p:spPr>
        <p:txBody>
          <a:bodyPr wrap="square">
            <a:spAutoFit/>
          </a:bodyPr>
          <a:lstStyle/>
          <a:p>
            <a:r>
              <a:rPr lang="en-US" sz="2400" dirty="0"/>
              <a:t>refers to the period after the Middle Ages and up to the 19th century</a:t>
            </a:r>
            <a:endParaRPr lang="ru-RU" sz="2400" dirty="0"/>
          </a:p>
        </p:txBody>
      </p:sp>
      <p:sp>
        <p:nvSpPr>
          <p:cNvPr id="13" name="TextBox 12">
            <a:extLst>
              <a:ext uri="{FF2B5EF4-FFF2-40B4-BE49-F238E27FC236}">
                <a16:creationId xmlns:a16="http://schemas.microsoft.com/office/drawing/2014/main" id="{3B13158A-66A9-4A5C-B463-74E28158C4BD}"/>
              </a:ext>
            </a:extLst>
          </p:cNvPr>
          <p:cNvSpPr txBox="1"/>
          <p:nvPr/>
        </p:nvSpPr>
        <p:spPr>
          <a:xfrm>
            <a:off x="8439811" y="1948643"/>
            <a:ext cx="3481550" cy="1938992"/>
          </a:xfrm>
          <a:prstGeom prst="rect">
            <a:avLst/>
          </a:prstGeom>
          <a:noFill/>
        </p:spPr>
        <p:txBody>
          <a:bodyPr wrap="square">
            <a:spAutoFit/>
          </a:bodyPr>
          <a:lstStyle/>
          <a:p>
            <a:r>
              <a:rPr lang="en-US" sz="2400" dirty="0"/>
              <a:t>subset of modern history that describes the historical period from about 1945 to the present.</a:t>
            </a:r>
            <a:endParaRPr lang="ru-RU" sz="2400" dirty="0"/>
          </a:p>
        </p:txBody>
      </p:sp>
    </p:spTree>
    <p:extLst>
      <p:ext uri="{BB962C8B-B14F-4D97-AF65-F5344CB8AC3E}">
        <p14:creationId xmlns:p14="http://schemas.microsoft.com/office/powerpoint/2010/main" val="2597779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93D59-8B4D-4068-0797-FFF23572B45B}"/>
            </a:ext>
          </a:extLst>
        </p:cNvPr>
        <p:cNvGrpSpPr/>
        <p:nvPr/>
      </p:nvGrpSpPr>
      <p:grpSpPr>
        <a:xfrm>
          <a:off x="0" y="0"/>
          <a:ext cx="0" cy="0"/>
          <a:chOff x="0" y="0"/>
          <a:chExt cx="0" cy="0"/>
        </a:xfrm>
      </p:grpSpPr>
      <p:pic>
        <p:nvPicPr>
          <p:cNvPr id="3" name="Picture 2" descr="image.png">
            <a:extLst>
              <a:ext uri="{FF2B5EF4-FFF2-40B4-BE49-F238E27FC236}">
                <a16:creationId xmlns:a16="http://schemas.microsoft.com/office/drawing/2014/main" id="{60AA9C87-7999-7ACD-9553-FB6B7974AB1F}"/>
              </a:ext>
            </a:extLst>
          </p:cNvPr>
          <p:cNvPicPr>
            <a:picLocks noChangeAspect="1"/>
          </p:cNvPicPr>
          <p:nvPr/>
        </p:nvPicPr>
        <p:blipFill>
          <a:blip r:embed="rId2"/>
          <a:stretch>
            <a:fillRect/>
          </a:stretch>
        </p:blipFill>
        <p:spPr>
          <a:xfrm>
            <a:off x="0" y="0"/>
            <a:ext cx="11049000" cy="5905500"/>
          </a:xfrm>
          <a:prstGeom prst="rect">
            <a:avLst/>
          </a:prstGeom>
        </p:spPr>
      </p:pic>
      <p:sp>
        <p:nvSpPr>
          <p:cNvPr id="4" name="Rectangle 3">
            <a:extLst>
              <a:ext uri="{FF2B5EF4-FFF2-40B4-BE49-F238E27FC236}">
                <a16:creationId xmlns:a16="http://schemas.microsoft.com/office/drawing/2014/main" id="{40302CB7-FC00-5E34-E848-560E013D6D9E}"/>
              </a:ext>
            </a:extLst>
          </p:cNvPr>
          <p:cNvSpPr/>
          <p:nvPr/>
        </p:nvSpPr>
        <p:spPr>
          <a:xfrm>
            <a:off x="5143500" y="1919287"/>
            <a:ext cx="7620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BFBC53F-F1BA-FF55-24D9-293D25B6E2AE}"/>
              </a:ext>
            </a:extLst>
          </p:cNvPr>
          <p:cNvSpPr txBox="1"/>
          <p:nvPr/>
        </p:nvSpPr>
        <p:spPr>
          <a:xfrm>
            <a:off x="484271" y="2875002"/>
            <a:ext cx="10401300" cy="553998"/>
          </a:xfrm>
          <a:prstGeom prst="rect">
            <a:avLst/>
          </a:prstGeom>
          <a:noFill/>
        </p:spPr>
        <p:txBody>
          <a:bodyPr wrap="square" lIns="0" tIns="0" rIns="0" bIns="0" anchor="t">
            <a:spAutoFit/>
          </a:bodyPr>
          <a:lstStyle/>
          <a:p>
            <a:pPr algn="ctr"/>
            <a:r>
              <a:rPr sz="3600" b="1" i="0" u="none" dirty="0">
                <a:latin typeface="Cinzel"/>
              </a:rPr>
              <a:t> </a:t>
            </a:r>
            <a:r>
              <a:rPr lang="en-GB" sz="3600" b="1" dirty="0"/>
              <a:t>Most important inventions of human history?</a:t>
            </a:r>
            <a:endParaRPr sz="3600" b="1" i="0" u="none" dirty="0">
              <a:latin typeface="Cinzel"/>
            </a:endParaRPr>
          </a:p>
        </p:txBody>
      </p:sp>
    </p:spTree>
    <p:extLst>
      <p:ext uri="{BB962C8B-B14F-4D97-AF65-F5344CB8AC3E}">
        <p14:creationId xmlns:p14="http://schemas.microsoft.com/office/powerpoint/2010/main" val="2949163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0716B83-F895-469B-B07B-2AE9B1A9ACEB}"/>
              </a:ext>
            </a:extLst>
          </p:cNvPr>
          <p:cNvPicPr>
            <a:picLocks noChangeAspect="1"/>
          </p:cNvPicPr>
          <p:nvPr/>
        </p:nvPicPr>
        <p:blipFill>
          <a:blip r:embed="rId2"/>
          <a:stretch>
            <a:fillRect/>
          </a:stretch>
        </p:blipFill>
        <p:spPr>
          <a:xfrm>
            <a:off x="493094" y="2327220"/>
            <a:ext cx="3640456" cy="3033713"/>
          </a:xfrm>
          <a:prstGeom prst="rect">
            <a:avLst/>
          </a:prstGeom>
        </p:spPr>
      </p:pic>
      <p:pic>
        <p:nvPicPr>
          <p:cNvPr id="7" name="Picture 6">
            <a:extLst>
              <a:ext uri="{FF2B5EF4-FFF2-40B4-BE49-F238E27FC236}">
                <a16:creationId xmlns:a16="http://schemas.microsoft.com/office/drawing/2014/main" id="{70CC4476-4A59-4A9D-AF37-B36875E2F175}"/>
              </a:ext>
            </a:extLst>
          </p:cNvPr>
          <p:cNvPicPr>
            <a:picLocks noChangeAspect="1"/>
          </p:cNvPicPr>
          <p:nvPr/>
        </p:nvPicPr>
        <p:blipFill>
          <a:blip r:embed="rId3"/>
          <a:stretch>
            <a:fillRect/>
          </a:stretch>
        </p:blipFill>
        <p:spPr>
          <a:xfrm>
            <a:off x="4391019" y="3844077"/>
            <a:ext cx="3629426" cy="2718566"/>
          </a:xfrm>
          <a:prstGeom prst="rect">
            <a:avLst/>
          </a:prstGeom>
        </p:spPr>
      </p:pic>
      <p:pic>
        <p:nvPicPr>
          <p:cNvPr id="8" name="Picture 7">
            <a:extLst>
              <a:ext uri="{FF2B5EF4-FFF2-40B4-BE49-F238E27FC236}">
                <a16:creationId xmlns:a16="http://schemas.microsoft.com/office/drawing/2014/main" id="{F249AB89-140D-452E-8CC0-F4E2E32CA6AC}"/>
              </a:ext>
            </a:extLst>
          </p:cNvPr>
          <p:cNvPicPr>
            <a:picLocks noChangeAspect="1"/>
          </p:cNvPicPr>
          <p:nvPr/>
        </p:nvPicPr>
        <p:blipFill>
          <a:blip r:embed="rId4"/>
          <a:stretch>
            <a:fillRect/>
          </a:stretch>
        </p:blipFill>
        <p:spPr>
          <a:xfrm>
            <a:off x="8745246" y="2327220"/>
            <a:ext cx="2465236" cy="3291217"/>
          </a:xfrm>
          <a:prstGeom prst="rect">
            <a:avLst/>
          </a:prstGeom>
        </p:spPr>
      </p:pic>
      <p:sp>
        <p:nvSpPr>
          <p:cNvPr id="9" name="TextBox 8">
            <a:extLst>
              <a:ext uri="{FF2B5EF4-FFF2-40B4-BE49-F238E27FC236}">
                <a16:creationId xmlns:a16="http://schemas.microsoft.com/office/drawing/2014/main" id="{CB5F2874-E28C-4175-817D-5510CAB5A416}"/>
              </a:ext>
            </a:extLst>
          </p:cNvPr>
          <p:cNvSpPr txBox="1"/>
          <p:nvPr/>
        </p:nvSpPr>
        <p:spPr>
          <a:xfrm>
            <a:off x="1008993" y="804569"/>
            <a:ext cx="10468304" cy="1384995"/>
          </a:xfrm>
          <a:prstGeom prst="rect">
            <a:avLst/>
          </a:prstGeom>
          <a:noFill/>
        </p:spPr>
        <p:txBody>
          <a:bodyPr wrap="square" rtlCol="0">
            <a:spAutoFit/>
          </a:bodyPr>
          <a:lstStyle/>
          <a:p>
            <a:pPr algn="ctr"/>
            <a:r>
              <a:rPr lang="en-US" sz="2800" b="1" dirty="0">
                <a:solidFill>
                  <a:schemeClr val="bg1"/>
                </a:solidFill>
              </a:rPr>
              <a:t>CHOPPER -A PEBBLE TOOL WITH AN IRREGULAR CUTTING EDGE FORMED THROUGH THE REMOVAL OF FLAKES FROM ONE SIDE OF A STONE. </a:t>
            </a:r>
            <a:endParaRPr lang="ru-RU" sz="2800" b="1" dirty="0">
              <a:solidFill>
                <a:schemeClr val="bg1"/>
              </a:solidFill>
            </a:endParaRPr>
          </a:p>
        </p:txBody>
      </p:sp>
    </p:spTree>
    <p:extLst>
      <p:ext uri="{BB962C8B-B14F-4D97-AF65-F5344CB8AC3E}">
        <p14:creationId xmlns:p14="http://schemas.microsoft.com/office/powerpoint/2010/main" val="2872373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5AF5-2201-4498-A28C-7F0B69B26AB4}"/>
              </a:ext>
            </a:extLst>
          </p:cNvPr>
          <p:cNvSpPr>
            <a:spLocks noGrp="1"/>
          </p:cNvSpPr>
          <p:nvPr>
            <p:ph type="title"/>
          </p:nvPr>
        </p:nvSpPr>
        <p:spPr>
          <a:xfrm>
            <a:off x="1233914" y="838725"/>
            <a:ext cx="10257553" cy="2465949"/>
          </a:xfrm>
        </p:spPr>
        <p:txBody>
          <a:bodyPr anchor="ctr" anchorCtr="0">
            <a:noAutofit/>
          </a:bodyPr>
          <a:lstStyle/>
          <a:p>
            <a:pPr algn="ctr"/>
            <a:r>
              <a:rPr lang="en-US" sz="2800" b="1" dirty="0">
                <a:solidFill>
                  <a:schemeClr val="tx1"/>
                </a:solidFill>
              </a:rPr>
              <a:t>A MICROLITH IS A SMALL STONE TOOL USUALLY MADE OF FLINT OR CHERT AND TYPICALLY A CENTIMETRE OR SO IN LENGTH AND HALF A CENTIMETRE WIDE. THEY WERE MADE BY HUMANS FROM AROUND 60,000 YEARS AGO, ACROSS EUROPE, AFRICA, ASIA AND AUSTRALIA. THE MICROLITHS WERE USED IN SPEAR POINTS AND ARROWHEADS.</a:t>
            </a:r>
            <a:endParaRPr lang="ru-RU" sz="2800" b="1" dirty="0">
              <a:solidFill>
                <a:schemeClr val="tx1"/>
              </a:solidFill>
            </a:endParaRPr>
          </a:p>
        </p:txBody>
      </p:sp>
      <p:pic>
        <p:nvPicPr>
          <p:cNvPr id="4" name="Picture 3">
            <a:extLst>
              <a:ext uri="{FF2B5EF4-FFF2-40B4-BE49-F238E27FC236}">
                <a16:creationId xmlns:a16="http://schemas.microsoft.com/office/drawing/2014/main" id="{F2E91F68-76D8-44FB-B960-9A9B39A97E8F}"/>
              </a:ext>
            </a:extLst>
          </p:cNvPr>
          <p:cNvPicPr>
            <a:picLocks noChangeAspect="1"/>
          </p:cNvPicPr>
          <p:nvPr/>
        </p:nvPicPr>
        <p:blipFill>
          <a:blip r:embed="rId2"/>
          <a:stretch>
            <a:fillRect/>
          </a:stretch>
        </p:blipFill>
        <p:spPr>
          <a:xfrm>
            <a:off x="1233915" y="3429000"/>
            <a:ext cx="2300854" cy="2701002"/>
          </a:xfrm>
          <a:prstGeom prst="rect">
            <a:avLst/>
          </a:prstGeom>
        </p:spPr>
      </p:pic>
      <p:pic>
        <p:nvPicPr>
          <p:cNvPr id="5" name="Picture 4">
            <a:extLst>
              <a:ext uri="{FF2B5EF4-FFF2-40B4-BE49-F238E27FC236}">
                <a16:creationId xmlns:a16="http://schemas.microsoft.com/office/drawing/2014/main" id="{D6352D2C-F2C4-454B-AE36-863D6C8D6FF1}"/>
              </a:ext>
            </a:extLst>
          </p:cNvPr>
          <p:cNvPicPr>
            <a:picLocks noChangeAspect="1"/>
          </p:cNvPicPr>
          <p:nvPr/>
        </p:nvPicPr>
        <p:blipFill>
          <a:blip r:embed="rId3"/>
          <a:stretch>
            <a:fillRect/>
          </a:stretch>
        </p:blipFill>
        <p:spPr>
          <a:xfrm>
            <a:off x="4743828" y="4332365"/>
            <a:ext cx="6747640" cy="1686910"/>
          </a:xfrm>
          <a:prstGeom prst="rect">
            <a:avLst/>
          </a:prstGeom>
        </p:spPr>
      </p:pic>
    </p:spTree>
    <p:extLst>
      <p:ext uri="{BB962C8B-B14F-4D97-AF65-F5344CB8AC3E}">
        <p14:creationId xmlns:p14="http://schemas.microsoft.com/office/powerpoint/2010/main" val="1573752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198397-37ED-4710-BD21-CF219B302986}"/>
              </a:ext>
            </a:extLst>
          </p:cNvPr>
          <p:cNvPicPr>
            <a:picLocks noChangeAspect="1"/>
          </p:cNvPicPr>
          <p:nvPr/>
        </p:nvPicPr>
        <p:blipFill>
          <a:blip r:embed="rId2"/>
          <a:stretch>
            <a:fillRect/>
          </a:stretch>
        </p:blipFill>
        <p:spPr>
          <a:xfrm rot="5400000">
            <a:off x="2906111" y="-1600374"/>
            <a:ext cx="6390292" cy="10268610"/>
          </a:xfrm>
          <a:prstGeom prst="rect">
            <a:avLst/>
          </a:prstGeom>
        </p:spPr>
      </p:pic>
    </p:spTree>
    <p:extLst>
      <p:ext uri="{BB962C8B-B14F-4D97-AF65-F5344CB8AC3E}">
        <p14:creationId xmlns:p14="http://schemas.microsoft.com/office/powerpoint/2010/main" val="331733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84634-D57A-46CA-BD48-4706AB0A0419}"/>
              </a:ext>
            </a:extLst>
          </p:cNvPr>
          <p:cNvSpPr>
            <a:spLocks noGrp="1"/>
          </p:cNvSpPr>
          <p:nvPr>
            <p:ph type="title"/>
          </p:nvPr>
        </p:nvSpPr>
        <p:spPr>
          <a:xfrm>
            <a:off x="5903495" y="445496"/>
            <a:ext cx="5626600" cy="2634450"/>
          </a:xfrm>
        </p:spPr>
        <p:txBody>
          <a:bodyPr anchor="ctr" anchorCtr="0">
            <a:noAutofit/>
          </a:bodyPr>
          <a:lstStyle/>
          <a:p>
            <a:pPr algn="ctr"/>
            <a:r>
              <a:rPr lang="en-US" sz="2400" b="1" dirty="0">
                <a:solidFill>
                  <a:schemeClr val="tx1"/>
                </a:solidFill>
              </a:rPr>
              <a:t>ANCIENT POTTERY -POTTERY IS ONE OF THE OLDEST HUMAN INVENTIONS, ORIGINATING BEFORE THE NEOLITHIC PERIOD </a:t>
            </a:r>
            <a:endParaRPr lang="ru-RU" sz="2400" b="1" dirty="0">
              <a:solidFill>
                <a:schemeClr val="tx1"/>
              </a:solidFill>
            </a:endParaRPr>
          </a:p>
        </p:txBody>
      </p:sp>
      <p:pic>
        <p:nvPicPr>
          <p:cNvPr id="5" name="Picture 4">
            <a:extLst>
              <a:ext uri="{FF2B5EF4-FFF2-40B4-BE49-F238E27FC236}">
                <a16:creationId xmlns:a16="http://schemas.microsoft.com/office/drawing/2014/main" id="{6CFA2EB1-B1C3-4B7B-AC6E-436AD679C35D}"/>
              </a:ext>
            </a:extLst>
          </p:cNvPr>
          <p:cNvPicPr>
            <a:picLocks noChangeAspect="1"/>
          </p:cNvPicPr>
          <p:nvPr/>
        </p:nvPicPr>
        <p:blipFill>
          <a:blip r:embed="rId2"/>
          <a:stretch>
            <a:fillRect/>
          </a:stretch>
        </p:blipFill>
        <p:spPr>
          <a:xfrm>
            <a:off x="661905" y="864628"/>
            <a:ext cx="4198853" cy="5736637"/>
          </a:xfrm>
          <a:prstGeom prst="rect">
            <a:avLst/>
          </a:prstGeom>
        </p:spPr>
      </p:pic>
      <p:pic>
        <p:nvPicPr>
          <p:cNvPr id="4" name="Picture 3">
            <a:extLst>
              <a:ext uri="{FF2B5EF4-FFF2-40B4-BE49-F238E27FC236}">
                <a16:creationId xmlns:a16="http://schemas.microsoft.com/office/drawing/2014/main" id="{FE94297D-FFB8-6343-9C4D-0F8127A58989}"/>
              </a:ext>
            </a:extLst>
          </p:cNvPr>
          <p:cNvPicPr>
            <a:picLocks noChangeAspect="1"/>
          </p:cNvPicPr>
          <p:nvPr/>
        </p:nvPicPr>
        <p:blipFill>
          <a:blip r:embed="rId3"/>
          <a:stretch>
            <a:fillRect/>
          </a:stretch>
        </p:blipFill>
        <p:spPr>
          <a:xfrm>
            <a:off x="7108431" y="3079946"/>
            <a:ext cx="3365284" cy="3200677"/>
          </a:xfrm>
          <a:prstGeom prst="rect">
            <a:avLst/>
          </a:prstGeom>
        </p:spPr>
      </p:pic>
    </p:spTree>
    <p:extLst>
      <p:ext uri="{BB962C8B-B14F-4D97-AF65-F5344CB8AC3E}">
        <p14:creationId xmlns:p14="http://schemas.microsoft.com/office/powerpoint/2010/main" val="3131856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709921-9345-58FA-34CE-DCC9C2605E1A}"/>
              </a:ext>
            </a:extLst>
          </p:cNvPr>
          <p:cNvPicPr>
            <a:picLocks noChangeAspect="1"/>
          </p:cNvPicPr>
          <p:nvPr/>
        </p:nvPicPr>
        <p:blipFill>
          <a:blip r:embed="rId2"/>
          <a:stretch>
            <a:fillRect/>
          </a:stretch>
        </p:blipFill>
        <p:spPr>
          <a:xfrm>
            <a:off x="6096000" y="1124480"/>
            <a:ext cx="5457170" cy="4609039"/>
          </a:xfrm>
          <a:prstGeom prst="rect">
            <a:avLst/>
          </a:prstGeom>
        </p:spPr>
      </p:pic>
      <p:sp>
        <p:nvSpPr>
          <p:cNvPr id="11" name="TextBox 10">
            <a:extLst>
              <a:ext uri="{FF2B5EF4-FFF2-40B4-BE49-F238E27FC236}">
                <a16:creationId xmlns:a16="http://schemas.microsoft.com/office/drawing/2014/main" id="{03E28EE3-5F09-D07C-FB53-8A78EE9B7366}"/>
              </a:ext>
            </a:extLst>
          </p:cNvPr>
          <p:cNvSpPr txBox="1"/>
          <p:nvPr/>
        </p:nvSpPr>
        <p:spPr>
          <a:xfrm>
            <a:off x="882316" y="1267326"/>
            <a:ext cx="4523873" cy="1754326"/>
          </a:xfrm>
          <a:prstGeom prst="rect">
            <a:avLst/>
          </a:prstGeom>
          <a:noFill/>
        </p:spPr>
        <p:txBody>
          <a:bodyPr wrap="square" rtlCol="0">
            <a:spAutoFit/>
          </a:bodyPr>
          <a:lstStyle/>
          <a:p>
            <a:r>
              <a:rPr lang="en-GB" dirty="0"/>
              <a:t>ANDRONOVO CULTURE</a:t>
            </a:r>
          </a:p>
          <a:p>
            <a:r>
              <a:rPr lang="en-GB" dirty="0"/>
              <a:t>BELONGS TO INDO-IRANIAN NOMADS OF CENTRAL ASIAN STEPPE</a:t>
            </a:r>
          </a:p>
          <a:p>
            <a:r>
              <a:rPr lang="en-GB" dirty="0"/>
              <a:t>LANGUAGE GROUP IS INDO IRANIAN BUT SAID TO BE OF TURKIC ORIGINS( NOT PROVEN)</a:t>
            </a:r>
            <a:endParaRPr lang="ru-RU" dirty="0"/>
          </a:p>
        </p:txBody>
      </p:sp>
      <p:sp>
        <p:nvSpPr>
          <p:cNvPr id="2" name="TextBox 1">
            <a:extLst>
              <a:ext uri="{FF2B5EF4-FFF2-40B4-BE49-F238E27FC236}">
                <a16:creationId xmlns:a16="http://schemas.microsoft.com/office/drawing/2014/main" id="{5A799848-1626-50AE-0ED1-E0A7E22D7413}"/>
              </a:ext>
            </a:extLst>
          </p:cNvPr>
          <p:cNvSpPr txBox="1"/>
          <p:nvPr/>
        </p:nvSpPr>
        <p:spPr>
          <a:xfrm>
            <a:off x="882316" y="3820306"/>
            <a:ext cx="4636168" cy="1200329"/>
          </a:xfrm>
          <a:prstGeom prst="rect">
            <a:avLst/>
          </a:prstGeom>
          <a:noFill/>
        </p:spPr>
        <p:txBody>
          <a:bodyPr wrap="square" rtlCol="0">
            <a:spAutoFit/>
          </a:bodyPr>
          <a:lstStyle/>
          <a:p>
            <a:r>
              <a:rPr lang="en-GB" dirty="0"/>
              <a:t>MANY SCHOLARS ARGUE WHETHER TOZABOGYOP AND SUVYORGAN CULTURES ARE PART OF ANDRONOVO OR NOT</a:t>
            </a:r>
            <a:endParaRPr lang="ru-RU" dirty="0"/>
          </a:p>
        </p:txBody>
      </p:sp>
    </p:spTree>
    <p:extLst>
      <p:ext uri="{BB962C8B-B14F-4D97-AF65-F5344CB8AC3E}">
        <p14:creationId xmlns:p14="http://schemas.microsoft.com/office/powerpoint/2010/main" val="148387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B93610-2F13-3605-AF10-F3CC7B7BED29}"/>
              </a:ext>
            </a:extLst>
          </p:cNvPr>
          <p:cNvPicPr>
            <a:picLocks noChangeAspect="1"/>
          </p:cNvPicPr>
          <p:nvPr/>
        </p:nvPicPr>
        <p:blipFill>
          <a:blip r:embed="rId2"/>
          <a:stretch>
            <a:fillRect/>
          </a:stretch>
        </p:blipFill>
        <p:spPr>
          <a:xfrm>
            <a:off x="1066800" y="160421"/>
            <a:ext cx="10058400" cy="6359190"/>
          </a:xfrm>
          <a:prstGeom prst="rect">
            <a:avLst/>
          </a:prstGeom>
        </p:spPr>
      </p:pic>
    </p:spTree>
    <p:extLst>
      <p:ext uri="{BB962C8B-B14F-4D97-AF65-F5344CB8AC3E}">
        <p14:creationId xmlns:p14="http://schemas.microsoft.com/office/powerpoint/2010/main" val="3770881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E5FFFF-A2EF-B463-47E9-4715A0C205D0}"/>
              </a:ext>
            </a:extLst>
          </p:cNvPr>
          <p:cNvPicPr>
            <a:picLocks noChangeAspect="1"/>
          </p:cNvPicPr>
          <p:nvPr/>
        </p:nvPicPr>
        <p:blipFill>
          <a:blip r:embed="rId2"/>
          <a:stretch>
            <a:fillRect/>
          </a:stretch>
        </p:blipFill>
        <p:spPr>
          <a:xfrm>
            <a:off x="2456698" y="791981"/>
            <a:ext cx="7278604" cy="5573476"/>
          </a:xfrm>
          <a:prstGeom prst="rect">
            <a:avLst/>
          </a:prstGeom>
        </p:spPr>
      </p:pic>
    </p:spTree>
    <p:extLst>
      <p:ext uri="{BB962C8B-B14F-4D97-AF65-F5344CB8AC3E}">
        <p14:creationId xmlns:p14="http://schemas.microsoft.com/office/powerpoint/2010/main" val="8202452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5BCFB4-421A-9A99-0147-85959A7218C2}"/>
              </a:ext>
            </a:extLst>
          </p:cNvPr>
          <p:cNvSpPr txBox="1"/>
          <p:nvPr/>
        </p:nvSpPr>
        <p:spPr>
          <a:xfrm>
            <a:off x="786063" y="1036131"/>
            <a:ext cx="4331369" cy="3046988"/>
          </a:xfrm>
          <a:prstGeom prst="rect">
            <a:avLst/>
          </a:prstGeom>
          <a:noFill/>
        </p:spPr>
        <p:txBody>
          <a:bodyPr wrap="square">
            <a:spAutoFit/>
          </a:bodyPr>
          <a:lstStyle/>
          <a:p>
            <a:r>
              <a:rPr lang="en-US" sz="2400" dirty="0"/>
              <a:t>An archaeological culture is a specific group of recurring artifacts, structures, and monuments found in a particular region and period that represent the material remains of a past human society</a:t>
            </a:r>
            <a:endParaRPr lang="ru-RU" sz="2400" dirty="0"/>
          </a:p>
        </p:txBody>
      </p:sp>
      <p:sp>
        <p:nvSpPr>
          <p:cNvPr id="6" name="TextBox 5">
            <a:extLst>
              <a:ext uri="{FF2B5EF4-FFF2-40B4-BE49-F238E27FC236}">
                <a16:creationId xmlns:a16="http://schemas.microsoft.com/office/drawing/2014/main" id="{5E8EF20E-3FC4-FAF5-67F3-98306E6DE190}"/>
              </a:ext>
            </a:extLst>
          </p:cNvPr>
          <p:cNvSpPr txBox="1"/>
          <p:nvPr/>
        </p:nvSpPr>
        <p:spPr>
          <a:xfrm>
            <a:off x="786063" y="4083119"/>
            <a:ext cx="3866148" cy="2308324"/>
          </a:xfrm>
          <a:prstGeom prst="rect">
            <a:avLst/>
          </a:prstGeom>
          <a:noFill/>
        </p:spPr>
        <p:txBody>
          <a:bodyPr wrap="square">
            <a:spAutoFit/>
          </a:bodyPr>
          <a:lstStyle/>
          <a:p>
            <a:r>
              <a:rPr lang="en-US" sz="2400" dirty="0"/>
              <a:t>A cultural layer is a distinct deposit of soil, artifacts, and organic remains left behind by human activity at an archaeological site over a specific period</a:t>
            </a:r>
            <a:endParaRPr lang="ru-RU" sz="2400" dirty="0"/>
          </a:p>
        </p:txBody>
      </p:sp>
      <p:pic>
        <p:nvPicPr>
          <p:cNvPr id="8" name="Picture 7">
            <a:extLst>
              <a:ext uri="{FF2B5EF4-FFF2-40B4-BE49-F238E27FC236}">
                <a16:creationId xmlns:a16="http://schemas.microsoft.com/office/drawing/2014/main" id="{008101FE-90F2-27DF-E110-844FBDD62082}"/>
              </a:ext>
            </a:extLst>
          </p:cNvPr>
          <p:cNvPicPr>
            <a:picLocks noChangeAspect="1"/>
          </p:cNvPicPr>
          <p:nvPr/>
        </p:nvPicPr>
        <p:blipFill>
          <a:blip r:embed="rId2"/>
          <a:stretch>
            <a:fillRect/>
          </a:stretch>
        </p:blipFill>
        <p:spPr>
          <a:xfrm>
            <a:off x="5066422" y="1402066"/>
            <a:ext cx="6778731" cy="4726017"/>
          </a:xfrm>
          <a:prstGeom prst="rect">
            <a:avLst/>
          </a:prstGeom>
        </p:spPr>
      </p:pic>
    </p:spTree>
    <p:extLst>
      <p:ext uri="{BB962C8B-B14F-4D97-AF65-F5344CB8AC3E}">
        <p14:creationId xmlns:p14="http://schemas.microsoft.com/office/powerpoint/2010/main" val="2768965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0" y="0"/>
            <a:ext cx="11049000" cy="5905500"/>
          </a:xfrm>
          <a:prstGeom prst="rect">
            <a:avLst/>
          </a:prstGeom>
        </p:spPr>
      </p:pic>
      <p:sp>
        <p:nvSpPr>
          <p:cNvPr id="4" name="Rectangle 3"/>
          <p:cNvSpPr/>
          <p:nvPr/>
        </p:nvSpPr>
        <p:spPr>
          <a:xfrm>
            <a:off x="5143500" y="1919287"/>
            <a:ext cx="762000" cy="38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23850" y="2195512"/>
            <a:ext cx="10401300" cy="1154162"/>
          </a:xfrm>
          <a:prstGeom prst="rect">
            <a:avLst/>
          </a:prstGeom>
          <a:noFill/>
        </p:spPr>
        <p:txBody>
          <a:bodyPr wrap="square" lIns="0" tIns="0" rIns="0" bIns="0" anchor="t">
            <a:spAutoFit/>
          </a:bodyPr>
          <a:lstStyle/>
          <a:p>
            <a:pPr algn="ctr"/>
            <a:r>
              <a:rPr sz="3750" b="1" i="0" u="none" dirty="0">
                <a:solidFill>
                  <a:srgbClr val="FEF3C7"/>
                </a:solidFill>
                <a:latin typeface="Cinzel"/>
              </a:rPr>
              <a:t> Architecture</a:t>
            </a:r>
            <a:r>
              <a:rPr lang="en-GB" sz="3750" b="1" i="0" u="none" dirty="0">
                <a:solidFill>
                  <a:srgbClr val="FEF3C7"/>
                </a:solidFill>
                <a:latin typeface="Cinzel"/>
              </a:rPr>
              <a:t> and housing and importance of water resource in Central </a:t>
            </a:r>
            <a:r>
              <a:rPr lang="en-GB" sz="3750" b="1" dirty="0">
                <a:solidFill>
                  <a:srgbClr val="FEF3C7"/>
                </a:solidFill>
                <a:latin typeface="Cinzel"/>
              </a:rPr>
              <a:t>A</a:t>
            </a:r>
            <a:r>
              <a:rPr lang="en-GB" sz="3750" b="1" i="0" u="none" dirty="0">
                <a:solidFill>
                  <a:srgbClr val="FEF3C7"/>
                </a:solidFill>
                <a:latin typeface="Cinzel"/>
              </a:rPr>
              <a:t>sia</a:t>
            </a:r>
            <a:endParaRPr sz="3750" b="1" i="0" u="none" dirty="0">
              <a:solidFill>
                <a:srgbClr val="FEF3C7"/>
              </a:solidFill>
              <a:latin typeface="Cinze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15C7FDA-4502-1E71-3C8A-FAB7375896E6}"/>
              </a:ext>
            </a:extLst>
          </p:cNvPr>
          <p:cNvSpPr txBox="1"/>
          <p:nvPr/>
        </p:nvSpPr>
        <p:spPr>
          <a:xfrm>
            <a:off x="585537" y="1090864"/>
            <a:ext cx="11413958" cy="954107"/>
          </a:xfrm>
          <a:prstGeom prst="rect">
            <a:avLst/>
          </a:prstGeom>
          <a:noFill/>
        </p:spPr>
        <p:txBody>
          <a:bodyPr wrap="square">
            <a:spAutoFit/>
          </a:bodyPr>
          <a:lstStyle/>
          <a:p>
            <a:r>
              <a:rPr lang="en-US" sz="2800" dirty="0"/>
              <a:t>Human housing evolved alongside changes in mobility, agriculture, technology, and materials.</a:t>
            </a:r>
          </a:p>
        </p:txBody>
      </p:sp>
      <p:pic>
        <p:nvPicPr>
          <p:cNvPr id="3" name="Picture 2">
            <a:extLst>
              <a:ext uri="{FF2B5EF4-FFF2-40B4-BE49-F238E27FC236}">
                <a16:creationId xmlns:a16="http://schemas.microsoft.com/office/drawing/2014/main" id="{1F018841-94B8-DFFA-51E7-A9349DB068E1}"/>
              </a:ext>
            </a:extLst>
          </p:cNvPr>
          <p:cNvPicPr>
            <a:picLocks noChangeAspect="1"/>
          </p:cNvPicPr>
          <p:nvPr/>
        </p:nvPicPr>
        <p:blipFill>
          <a:blip r:embed="rId2"/>
          <a:stretch>
            <a:fillRect/>
          </a:stretch>
        </p:blipFill>
        <p:spPr>
          <a:xfrm>
            <a:off x="585537" y="2413000"/>
            <a:ext cx="5810250" cy="3873500"/>
          </a:xfrm>
          <a:prstGeom prst="rect">
            <a:avLst/>
          </a:prstGeom>
        </p:spPr>
      </p:pic>
      <p:sp>
        <p:nvSpPr>
          <p:cNvPr id="4" name="TextBox 3">
            <a:extLst>
              <a:ext uri="{FF2B5EF4-FFF2-40B4-BE49-F238E27FC236}">
                <a16:creationId xmlns:a16="http://schemas.microsoft.com/office/drawing/2014/main" id="{17D6D2B2-718E-D175-A537-187C93B3B27E}"/>
              </a:ext>
            </a:extLst>
          </p:cNvPr>
          <p:cNvSpPr txBox="1"/>
          <p:nvPr/>
        </p:nvSpPr>
        <p:spPr>
          <a:xfrm>
            <a:off x="7411452" y="3888085"/>
            <a:ext cx="3994485" cy="461665"/>
          </a:xfrm>
          <a:prstGeom prst="rect">
            <a:avLst/>
          </a:prstGeom>
          <a:noFill/>
        </p:spPr>
        <p:txBody>
          <a:bodyPr wrap="square" rtlCol="0">
            <a:spAutoFit/>
          </a:bodyPr>
          <a:lstStyle/>
          <a:p>
            <a:r>
              <a:rPr lang="en-GB" sz="2400" dirty="0"/>
              <a:t>OBI RAKHMAT GROTTO</a:t>
            </a:r>
            <a:endParaRPr lang="ru-RU" sz="2400" dirty="0"/>
          </a:p>
        </p:txBody>
      </p:sp>
    </p:spTree>
    <p:extLst>
      <p:ext uri="{BB962C8B-B14F-4D97-AF65-F5344CB8AC3E}">
        <p14:creationId xmlns:p14="http://schemas.microsoft.com/office/powerpoint/2010/main" val="2025156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9ADDB-D428-41DB-9655-CAEFA458DC7D}"/>
              </a:ext>
            </a:extLst>
          </p:cNvPr>
          <p:cNvSpPr>
            <a:spLocks noGrp="1"/>
          </p:cNvSpPr>
          <p:nvPr>
            <p:ph type="title"/>
          </p:nvPr>
        </p:nvSpPr>
        <p:spPr>
          <a:xfrm>
            <a:off x="6340464" y="1536004"/>
            <a:ext cx="5236641" cy="1450757"/>
          </a:xfrm>
        </p:spPr>
        <p:txBody>
          <a:bodyPr anchor="ctr" anchorCtr="0">
            <a:normAutofit/>
          </a:bodyPr>
          <a:lstStyle/>
          <a:p>
            <a:pPr algn="ctr"/>
            <a:r>
              <a:rPr lang="en-US" sz="2400" b="1" dirty="0">
                <a:solidFill>
                  <a:schemeClr val="tx1"/>
                </a:solidFill>
              </a:rPr>
              <a:t>A pit-house is a house built in the ground and used for shelter.</a:t>
            </a:r>
            <a:endParaRPr lang="ru-RU" sz="2400" b="1" dirty="0">
              <a:solidFill>
                <a:schemeClr val="tx1"/>
              </a:solidFill>
            </a:endParaRPr>
          </a:p>
        </p:txBody>
      </p:sp>
      <p:pic>
        <p:nvPicPr>
          <p:cNvPr id="5" name="Picture 4">
            <a:extLst>
              <a:ext uri="{FF2B5EF4-FFF2-40B4-BE49-F238E27FC236}">
                <a16:creationId xmlns:a16="http://schemas.microsoft.com/office/drawing/2014/main" id="{CB9DC721-4F20-4F15-AC19-009397D3C533}"/>
              </a:ext>
            </a:extLst>
          </p:cNvPr>
          <p:cNvPicPr>
            <a:picLocks noChangeAspect="1"/>
          </p:cNvPicPr>
          <p:nvPr/>
        </p:nvPicPr>
        <p:blipFill>
          <a:blip r:embed="rId2"/>
          <a:stretch>
            <a:fillRect/>
          </a:stretch>
        </p:blipFill>
        <p:spPr>
          <a:xfrm>
            <a:off x="430924" y="1572519"/>
            <a:ext cx="5372647" cy="4159469"/>
          </a:xfrm>
          <a:prstGeom prst="rect">
            <a:avLst/>
          </a:prstGeom>
        </p:spPr>
      </p:pic>
      <p:sp>
        <p:nvSpPr>
          <p:cNvPr id="7" name="TextBox 6">
            <a:extLst>
              <a:ext uri="{FF2B5EF4-FFF2-40B4-BE49-F238E27FC236}">
                <a16:creationId xmlns:a16="http://schemas.microsoft.com/office/drawing/2014/main" id="{B7EB08AC-21AC-4768-B1A8-6E3AA532B7E0}"/>
              </a:ext>
            </a:extLst>
          </p:cNvPr>
          <p:cNvSpPr txBox="1"/>
          <p:nvPr/>
        </p:nvSpPr>
        <p:spPr>
          <a:xfrm>
            <a:off x="6729662" y="3177443"/>
            <a:ext cx="4458247" cy="2554545"/>
          </a:xfrm>
          <a:prstGeom prst="rect">
            <a:avLst/>
          </a:prstGeom>
          <a:noFill/>
        </p:spPr>
        <p:txBody>
          <a:bodyPr wrap="square" rtlCol="0">
            <a:spAutoFit/>
          </a:bodyPr>
          <a:lstStyle/>
          <a:p>
            <a:pPr algn="ctr"/>
            <a:r>
              <a:rPr lang="en-US" sz="3200" dirty="0"/>
              <a:t>Pit-houses were built by digging the ground to some depth and covering the area with straw and hey</a:t>
            </a:r>
            <a:endParaRPr lang="ru-RU" sz="3200" dirty="0"/>
          </a:p>
        </p:txBody>
      </p:sp>
    </p:spTree>
    <p:extLst>
      <p:ext uri="{BB962C8B-B14F-4D97-AF65-F5344CB8AC3E}">
        <p14:creationId xmlns:p14="http://schemas.microsoft.com/office/powerpoint/2010/main" val="279268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E27BCE-FECC-4B36-9CB7-B3C1ACCAD197}"/>
              </a:ext>
            </a:extLst>
          </p:cNvPr>
          <p:cNvPicPr>
            <a:picLocks noChangeAspect="1"/>
          </p:cNvPicPr>
          <p:nvPr/>
        </p:nvPicPr>
        <p:blipFill>
          <a:blip r:embed="rId3"/>
          <a:stretch>
            <a:fillRect/>
          </a:stretch>
        </p:blipFill>
        <p:spPr>
          <a:xfrm>
            <a:off x="611985" y="1605573"/>
            <a:ext cx="5621986" cy="3946634"/>
          </a:xfrm>
          <a:prstGeom prst="rect">
            <a:avLst/>
          </a:prstGeom>
        </p:spPr>
      </p:pic>
      <p:sp>
        <p:nvSpPr>
          <p:cNvPr id="5" name="TextBox 4">
            <a:extLst>
              <a:ext uri="{FF2B5EF4-FFF2-40B4-BE49-F238E27FC236}">
                <a16:creationId xmlns:a16="http://schemas.microsoft.com/office/drawing/2014/main" id="{D49EF185-9630-4FB2-8BF0-2DDA2834EB13}"/>
              </a:ext>
            </a:extLst>
          </p:cNvPr>
          <p:cNvSpPr txBox="1"/>
          <p:nvPr/>
        </p:nvSpPr>
        <p:spPr>
          <a:xfrm>
            <a:off x="6545179" y="931805"/>
            <a:ext cx="5149515" cy="4893647"/>
          </a:xfrm>
          <a:prstGeom prst="rect">
            <a:avLst/>
          </a:prstGeom>
          <a:noFill/>
        </p:spPr>
        <p:txBody>
          <a:bodyPr wrap="square" rtlCol="0">
            <a:spAutoFit/>
          </a:bodyPr>
          <a:lstStyle/>
          <a:p>
            <a:pPr algn="ctr"/>
            <a:r>
              <a:rPr lang="uz-Latn-UZ" sz="2400" b="1" dirty="0"/>
              <a:t>Koi Krylgan Kala (Uzbek: Qoʻyqirilgan qalʼa</a:t>
            </a:r>
            <a:r>
              <a:rPr lang="ru-RU" sz="2400" b="1" dirty="0"/>
              <a:t>) </a:t>
            </a:r>
            <a:r>
              <a:rPr lang="uz-Latn-UZ" sz="2400" b="1" dirty="0"/>
              <a:t>is an archaeological site located outside the village of Taza-Keltiminar</a:t>
            </a:r>
            <a:r>
              <a:rPr lang="en-GB" sz="2400" b="1" dirty="0"/>
              <a:t> culture</a:t>
            </a:r>
            <a:r>
              <a:rPr lang="uz-Latn-UZ" sz="2400" b="1" dirty="0"/>
              <a:t> in the Ellikqala District in the Republic of Karakalpakstan, an autonomous republic of Uzbekistan. In ancient times, it was sited along a canal in the Oxus delta region.</a:t>
            </a:r>
            <a:r>
              <a:rPr lang="en-US" sz="2400" b="1" dirty="0"/>
              <a:t> </a:t>
            </a:r>
            <a:r>
              <a:rPr lang="en-US" sz="2400" b="1" i="0" dirty="0">
                <a:effectLst/>
              </a:rPr>
              <a:t>Dates to IV-III B.C. one of the examples of urbanization in Central </a:t>
            </a:r>
            <a:r>
              <a:rPr lang="en-US" sz="2400" b="1" dirty="0"/>
              <a:t>A</a:t>
            </a:r>
            <a:r>
              <a:rPr lang="en-US" sz="2400" b="1" i="0" dirty="0">
                <a:effectLst/>
              </a:rPr>
              <a:t>sia known to have an observatory</a:t>
            </a:r>
            <a:endParaRPr lang="ru-RU" sz="2400" dirty="0"/>
          </a:p>
        </p:txBody>
      </p:sp>
    </p:spTree>
    <p:extLst>
      <p:ext uri="{BB962C8B-B14F-4D97-AF65-F5344CB8AC3E}">
        <p14:creationId xmlns:p14="http://schemas.microsoft.com/office/powerpoint/2010/main" val="2874576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AA978-C162-4C6E-845A-7BB0565F1806}"/>
              </a:ext>
            </a:extLst>
          </p:cNvPr>
          <p:cNvSpPr>
            <a:spLocks noGrp="1"/>
          </p:cNvSpPr>
          <p:nvPr>
            <p:ph type="title"/>
          </p:nvPr>
        </p:nvSpPr>
        <p:spPr>
          <a:xfrm>
            <a:off x="1191872" y="949536"/>
            <a:ext cx="10485929" cy="825883"/>
          </a:xfrm>
        </p:spPr>
        <p:txBody>
          <a:bodyPr>
            <a:noAutofit/>
          </a:bodyPr>
          <a:lstStyle/>
          <a:p>
            <a:r>
              <a:rPr lang="uz-Latn-UZ" sz="2800" cap="none" dirty="0">
                <a:solidFill>
                  <a:schemeClr val="tx1"/>
                </a:solidFill>
              </a:rPr>
              <a:t>Koi krylgan kala </a:t>
            </a:r>
            <a:r>
              <a:rPr lang="en-US" sz="2800" cap="none" dirty="0">
                <a:solidFill>
                  <a:schemeClr val="tx1"/>
                </a:solidFill>
              </a:rPr>
              <a:t>is also known to contain the very first writing system of Central Asia </a:t>
            </a:r>
            <a:r>
              <a:rPr lang="en-US" sz="2800" b="1" cap="none" dirty="0">
                <a:solidFill>
                  <a:schemeClr val="tx1"/>
                </a:solidFill>
              </a:rPr>
              <a:t>Khwarezmian script</a:t>
            </a:r>
            <a:endParaRPr lang="ru-RU" sz="2800" b="1" cap="none" dirty="0">
              <a:solidFill>
                <a:schemeClr val="tx1"/>
              </a:solidFill>
            </a:endParaRPr>
          </a:p>
        </p:txBody>
      </p:sp>
      <p:pic>
        <p:nvPicPr>
          <p:cNvPr id="5" name="Picture 4">
            <a:extLst>
              <a:ext uri="{FF2B5EF4-FFF2-40B4-BE49-F238E27FC236}">
                <a16:creationId xmlns:a16="http://schemas.microsoft.com/office/drawing/2014/main" id="{5EE924C5-B225-4E04-B859-54929125648C}"/>
              </a:ext>
            </a:extLst>
          </p:cNvPr>
          <p:cNvPicPr>
            <a:picLocks noChangeAspect="1"/>
          </p:cNvPicPr>
          <p:nvPr/>
        </p:nvPicPr>
        <p:blipFill>
          <a:blip r:embed="rId2"/>
          <a:stretch>
            <a:fillRect/>
          </a:stretch>
        </p:blipFill>
        <p:spPr>
          <a:xfrm>
            <a:off x="367938" y="1996966"/>
            <a:ext cx="5487134" cy="3830033"/>
          </a:xfrm>
          <a:prstGeom prst="rect">
            <a:avLst/>
          </a:prstGeom>
        </p:spPr>
      </p:pic>
      <p:pic>
        <p:nvPicPr>
          <p:cNvPr id="7" name="Picture 6">
            <a:extLst>
              <a:ext uri="{FF2B5EF4-FFF2-40B4-BE49-F238E27FC236}">
                <a16:creationId xmlns:a16="http://schemas.microsoft.com/office/drawing/2014/main" id="{59A69D46-058A-4CEE-A4BD-3204FB737EF9}"/>
              </a:ext>
            </a:extLst>
          </p:cNvPr>
          <p:cNvPicPr>
            <a:picLocks noChangeAspect="1"/>
          </p:cNvPicPr>
          <p:nvPr/>
        </p:nvPicPr>
        <p:blipFill>
          <a:blip r:embed="rId3"/>
          <a:stretch>
            <a:fillRect/>
          </a:stretch>
        </p:blipFill>
        <p:spPr>
          <a:xfrm>
            <a:off x="5855072" y="1996966"/>
            <a:ext cx="5822730" cy="3951889"/>
          </a:xfrm>
          <a:prstGeom prst="rect">
            <a:avLst/>
          </a:prstGeom>
        </p:spPr>
      </p:pic>
    </p:spTree>
    <p:extLst>
      <p:ext uri="{BB962C8B-B14F-4D97-AF65-F5344CB8AC3E}">
        <p14:creationId xmlns:p14="http://schemas.microsoft.com/office/powerpoint/2010/main" val="3254904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png"/>
          <p:cNvPicPr>
            <a:picLocks noChangeAspect="1"/>
          </p:cNvPicPr>
          <p:nvPr/>
        </p:nvPicPr>
        <p:blipFill>
          <a:blip r:embed="rId2"/>
          <a:stretch>
            <a:fillRect/>
          </a:stretch>
        </p:blipFill>
        <p:spPr>
          <a:xfrm>
            <a:off x="6286500" y="2024062"/>
            <a:ext cx="5334000" cy="3619500"/>
          </a:xfrm>
          <a:prstGeom prst="rect">
            <a:avLst/>
          </a:prstGeom>
        </p:spPr>
      </p:pic>
      <p:sp>
        <p:nvSpPr>
          <p:cNvPr id="5" name="TextBox 4"/>
          <p:cNvSpPr txBox="1"/>
          <p:nvPr/>
        </p:nvSpPr>
        <p:spPr>
          <a:xfrm>
            <a:off x="800100" y="2024062"/>
            <a:ext cx="5105400" cy="752707"/>
          </a:xfrm>
          <a:prstGeom prst="rect">
            <a:avLst/>
          </a:prstGeom>
          <a:noFill/>
        </p:spPr>
        <p:txBody>
          <a:bodyPr wrap="square" lIns="0" tIns="0" rIns="0" bIns="0" anchor="t">
            <a:spAutoFit/>
          </a:bodyPr>
          <a:lstStyle/>
          <a:p>
            <a:pPr algn="l">
              <a:lnSpc>
                <a:spcPts val="1976"/>
              </a:lnSpc>
            </a:pPr>
            <a:r>
              <a:rPr sz="1600" b="1" i="0" u="none" dirty="0">
                <a:latin typeface="Plus Jakarta Sans"/>
              </a:rPr>
              <a:t>Royal Seat of Power (1st–4th C. CE):</a:t>
            </a:r>
            <a:r>
              <a:rPr sz="1600" b="0" i="0" u="none" dirty="0">
                <a:latin typeface="Plus Jakarta Sans"/>
              </a:rPr>
              <a:t> Toprak-Kala served as the administrative and ceremonial palace complex of the </a:t>
            </a:r>
            <a:r>
              <a:rPr sz="1600" b="0" i="0" u="none" dirty="0" err="1">
                <a:latin typeface="Plus Jakarta Sans"/>
              </a:rPr>
              <a:t>Khwarezmshah</a:t>
            </a:r>
            <a:r>
              <a:rPr sz="1600" b="0" i="0" u="none" dirty="0">
                <a:latin typeface="Plus Jakarta Sans"/>
              </a:rPr>
              <a:t> rulers.</a:t>
            </a:r>
          </a:p>
        </p:txBody>
      </p:sp>
      <p:sp>
        <p:nvSpPr>
          <p:cNvPr id="6" name="TextBox 5"/>
          <p:cNvSpPr txBox="1"/>
          <p:nvPr/>
        </p:nvSpPr>
        <p:spPr>
          <a:xfrm>
            <a:off x="800100" y="2910185"/>
            <a:ext cx="5105400" cy="752772"/>
          </a:xfrm>
          <a:prstGeom prst="rect">
            <a:avLst/>
          </a:prstGeom>
          <a:noFill/>
        </p:spPr>
        <p:txBody>
          <a:bodyPr wrap="square" lIns="0" tIns="0" rIns="0" bIns="0" anchor="t">
            <a:spAutoFit/>
          </a:bodyPr>
          <a:lstStyle/>
          <a:p>
            <a:pPr algn="l">
              <a:lnSpc>
                <a:spcPts val="1976"/>
              </a:lnSpc>
            </a:pPr>
            <a:r>
              <a:rPr sz="1600" b="1" i="0" u="none" dirty="0">
                <a:latin typeface="Plus Jakarta Sans"/>
              </a:rPr>
              <a:t>Mudbrick Engineering:</a:t>
            </a:r>
            <a:r>
              <a:rPr sz="1600" b="0" i="0" u="none" dirty="0">
                <a:latin typeface="Plus Jakarta Sans"/>
              </a:rPr>
              <a:t> Built entirely of high-durability mudbrick (</a:t>
            </a:r>
            <a:r>
              <a:rPr sz="1600" b="0" i="1" u="none" dirty="0">
                <a:latin typeface="Plus Jakarta Sans"/>
              </a:rPr>
              <a:t>paksha</a:t>
            </a:r>
            <a:r>
              <a:rPr sz="1600" b="0" i="0" u="none" dirty="0">
                <a:latin typeface="Plus Jakarta Sans"/>
              </a:rPr>
              <a:t>) blocks set on massive elevated platforms to resist soil dampness and sandstorms.</a:t>
            </a:r>
          </a:p>
        </p:txBody>
      </p:sp>
      <p:sp>
        <p:nvSpPr>
          <p:cNvPr id="7" name="TextBox 6"/>
          <p:cNvSpPr txBox="1"/>
          <p:nvPr/>
        </p:nvSpPr>
        <p:spPr>
          <a:xfrm>
            <a:off x="800100" y="3796307"/>
            <a:ext cx="5105400" cy="752772"/>
          </a:xfrm>
          <a:prstGeom prst="rect">
            <a:avLst/>
          </a:prstGeom>
          <a:noFill/>
        </p:spPr>
        <p:txBody>
          <a:bodyPr wrap="square" lIns="0" tIns="0" rIns="0" bIns="0" anchor="t">
            <a:spAutoFit/>
          </a:bodyPr>
          <a:lstStyle/>
          <a:p>
            <a:pPr algn="l">
              <a:lnSpc>
                <a:spcPts val="1976"/>
              </a:lnSpc>
            </a:pPr>
            <a:r>
              <a:rPr sz="1600" b="1" i="0" u="none" dirty="0">
                <a:latin typeface="Plus Jakarta Sans"/>
              </a:rPr>
              <a:t>Archive &amp; Culture:</a:t>
            </a:r>
            <a:r>
              <a:rPr sz="1600" b="0" i="0" u="none" dirty="0">
                <a:latin typeface="Plus Jakarta Sans"/>
              </a:rPr>
              <a:t> Excavated by S.P. </a:t>
            </a:r>
            <a:r>
              <a:rPr sz="1600" b="0" i="0" u="none" dirty="0" err="1">
                <a:latin typeface="Plus Jakarta Sans"/>
              </a:rPr>
              <a:t>Tolstov</a:t>
            </a:r>
            <a:r>
              <a:rPr sz="1600" b="0" i="0" u="none" dirty="0">
                <a:latin typeface="Plus Jakarta Sans"/>
              </a:rPr>
              <a:t> in 1938; uncovered official administrative records in ancient Khwarezmian script (Aramaic-derived).</a:t>
            </a:r>
          </a:p>
        </p:txBody>
      </p:sp>
      <p:sp>
        <p:nvSpPr>
          <p:cNvPr id="8" name="TextBox 7"/>
          <p:cNvSpPr txBox="1"/>
          <p:nvPr/>
        </p:nvSpPr>
        <p:spPr>
          <a:xfrm>
            <a:off x="800100" y="4682430"/>
            <a:ext cx="5105400" cy="501848"/>
          </a:xfrm>
          <a:prstGeom prst="rect">
            <a:avLst/>
          </a:prstGeom>
          <a:noFill/>
        </p:spPr>
        <p:txBody>
          <a:bodyPr wrap="square" lIns="0" tIns="0" rIns="0" bIns="0" anchor="t">
            <a:spAutoFit/>
          </a:bodyPr>
          <a:lstStyle/>
          <a:p>
            <a:pPr algn="l">
              <a:lnSpc>
                <a:spcPts val="1976"/>
              </a:lnSpc>
            </a:pPr>
            <a:r>
              <a:rPr sz="1600" b="1" i="0" u="none" dirty="0">
                <a:latin typeface="Plus Jakarta Sans"/>
              </a:rPr>
              <a:t>Religious Triad:</a:t>
            </a:r>
            <a:r>
              <a:rPr sz="1600" b="0" i="0" u="none" dirty="0">
                <a:latin typeface="Plus Jakarta Sans"/>
              </a:rPr>
              <a:t> Featured dedicated temple chambers honoring Ahura Mazda, Anahita, and Mithra.</a:t>
            </a:r>
          </a:p>
        </p:txBody>
      </p:sp>
      <p:pic>
        <p:nvPicPr>
          <p:cNvPr id="9" name="Picture 8" descr="image.png"/>
          <p:cNvPicPr>
            <a:picLocks noChangeAspect="1"/>
          </p:cNvPicPr>
          <p:nvPr/>
        </p:nvPicPr>
        <p:blipFill>
          <a:blip r:embed="rId3"/>
          <a:stretch>
            <a:fillRect/>
          </a:stretch>
        </p:blipFill>
        <p:spPr>
          <a:xfrm>
            <a:off x="5971258" y="1816656"/>
            <a:ext cx="5649242" cy="3826906"/>
          </a:xfrm>
          <a:prstGeom prst="rect">
            <a:avLst/>
          </a:prstGeom>
        </p:spPr>
      </p:pic>
      <p:sp>
        <p:nvSpPr>
          <p:cNvPr id="10" name="TextBox 9"/>
          <p:cNvSpPr txBox="1"/>
          <p:nvPr/>
        </p:nvSpPr>
        <p:spPr>
          <a:xfrm>
            <a:off x="571500" y="2043112"/>
            <a:ext cx="114300" cy="180975"/>
          </a:xfrm>
          <a:prstGeom prst="rect">
            <a:avLst/>
          </a:prstGeom>
          <a:noFill/>
        </p:spPr>
        <p:txBody>
          <a:bodyPr wrap="square" lIns="0" tIns="0" rIns="0" bIns="0" anchor="t">
            <a:spAutoFit/>
          </a:bodyPr>
          <a:lstStyle/>
          <a:p>
            <a:pPr algn="l">
              <a:lnSpc>
                <a:spcPts val="1395"/>
              </a:lnSpc>
            </a:pPr>
            <a:r>
              <a:rPr sz="900" b="0" i="0" u="none">
                <a:solidFill>
                  <a:srgbClr val="D97706"/>
                </a:solidFill>
                <a:latin typeface="Plus Jakarta Sans"/>
              </a:rPr>
              <a:t>◆</a:t>
            </a:r>
          </a:p>
        </p:txBody>
      </p:sp>
      <p:sp>
        <p:nvSpPr>
          <p:cNvPr id="11" name="TextBox 10"/>
          <p:cNvSpPr txBox="1"/>
          <p:nvPr/>
        </p:nvSpPr>
        <p:spPr>
          <a:xfrm>
            <a:off x="571500" y="2929235"/>
            <a:ext cx="114300" cy="180975"/>
          </a:xfrm>
          <a:prstGeom prst="rect">
            <a:avLst/>
          </a:prstGeom>
          <a:noFill/>
        </p:spPr>
        <p:txBody>
          <a:bodyPr wrap="square" lIns="0" tIns="0" rIns="0" bIns="0" anchor="t">
            <a:spAutoFit/>
          </a:bodyPr>
          <a:lstStyle/>
          <a:p>
            <a:pPr algn="l">
              <a:lnSpc>
                <a:spcPts val="1395"/>
              </a:lnSpc>
            </a:pPr>
            <a:r>
              <a:rPr sz="900" b="0" i="0" u="none">
                <a:solidFill>
                  <a:srgbClr val="D97706"/>
                </a:solidFill>
                <a:latin typeface="Plus Jakarta Sans"/>
              </a:rPr>
              <a:t>◆</a:t>
            </a:r>
          </a:p>
        </p:txBody>
      </p:sp>
      <p:sp>
        <p:nvSpPr>
          <p:cNvPr id="12" name="TextBox 11"/>
          <p:cNvSpPr txBox="1"/>
          <p:nvPr/>
        </p:nvSpPr>
        <p:spPr>
          <a:xfrm>
            <a:off x="571500" y="3815357"/>
            <a:ext cx="114300" cy="180975"/>
          </a:xfrm>
          <a:prstGeom prst="rect">
            <a:avLst/>
          </a:prstGeom>
          <a:noFill/>
        </p:spPr>
        <p:txBody>
          <a:bodyPr wrap="square" lIns="0" tIns="0" rIns="0" bIns="0" anchor="t">
            <a:spAutoFit/>
          </a:bodyPr>
          <a:lstStyle/>
          <a:p>
            <a:pPr algn="l">
              <a:lnSpc>
                <a:spcPts val="1395"/>
              </a:lnSpc>
            </a:pPr>
            <a:r>
              <a:rPr sz="900" b="0" i="0" u="none">
                <a:solidFill>
                  <a:srgbClr val="D97706"/>
                </a:solidFill>
                <a:latin typeface="Plus Jakarta Sans"/>
              </a:rPr>
              <a:t>◆</a:t>
            </a:r>
          </a:p>
        </p:txBody>
      </p:sp>
      <p:sp>
        <p:nvSpPr>
          <p:cNvPr id="13" name="TextBox 12"/>
          <p:cNvSpPr txBox="1"/>
          <p:nvPr/>
        </p:nvSpPr>
        <p:spPr>
          <a:xfrm>
            <a:off x="571500" y="4701480"/>
            <a:ext cx="114300" cy="180975"/>
          </a:xfrm>
          <a:prstGeom prst="rect">
            <a:avLst/>
          </a:prstGeom>
          <a:noFill/>
        </p:spPr>
        <p:txBody>
          <a:bodyPr wrap="square" lIns="0" tIns="0" rIns="0" bIns="0" anchor="t">
            <a:spAutoFit/>
          </a:bodyPr>
          <a:lstStyle/>
          <a:p>
            <a:pPr algn="l">
              <a:lnSpc>
                <a:spcPts val="1395"/>
              </a:lnSpc>
            </a:pPr>
            <a:r>
              <a:rPr sz="900" b="0" i="0" u="none">
                <a:solidFill>
                  <a:srgbClr val="D97706"/>
                </a:solidFill>
                <a:latin typeface="Plus Jakarta Sans"/>
              </a:rPr>
              <a:t>◆</a:t>
            </a:r>
          </a:p>
        </p:txBody>
      </p:sp>
      <p:sp>
        <p:nvSpPr>
          <p:cNvPr id="14" name="TextBox 13"/>
          <p:cNvSpPr txBox="1"/>
          <p:nvPr/>
        </p:nvSpPr>
        <p:spPr>
          <a:xfrm>
            <a:off x="3045994" y="464462"/>
            <a:ext cx="6948237" cy="430887"/>
          </a:xfrm>
          <a:prstGeom prst="rect">
            <a:avLst/>
          </a:prstGeom>
          <a:noFill/>
        </p:spPr>
        <p:txBody>
          <a:bodyPr wrap="square" lIns="0" tIns="0" rIns="0" bIns="0" anchor="t">
            <a:spAutoFit/>
          </a:bodyPr>
          <a:lstStyle/>
          <a:p>
            <a:pPr algn="l"/>
            <a:r>
              <a:rPr sz="2800" b="1" i="0" u="none">
                <a:latin typeface="Cinzel"/>
              </a:rPr>
              <a:t>Toprak-Kala: Ancient Royal Capital</a:t>
            </a:r>
          </a:p>
        </p:txBody>
      </p:sp>
      <p:sp>
        <p:nvSpPr>
          <p:cNvPr id="15" name="Rectangle 14"/>
          <p:cNvSpPr/>
          <p:nvPr/>
        </p:nvSpPr>
        <p:spPr>
          <a:xfrm>
            <a:off x="571500" y="102870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181100" y="483190"/>
            <a:ext cx="4353426" cy="392415"/>
          </a:xfrm>
          <a:prstGeom prst="rect">
            <a:avLst/>
          </a:prstGeom>
          <a:noFill/>
        </p:spPr>
        <p:txBody>
          <a:bodyPr wrap="square" lIns="0" tIns="0" rIns="0" bIns="0" anchor="t">
            <a:spAutoFit/>
          </a:bodyPr>
          <a:lstStyle/>
          <a:p>
            <a:pPr algn="l"/>
            <a:r>
              <a:rPr sz="2550" b="1" i="0" u="none" dirty="0">
                <a:latin typeface="Cinzel"/>
              </a:rPr>
              <a:t>Ayaz-Kala: Frontier Citadel</a:t>
            </a:r>
          </a:p>
        </p:txBody>
      </p:sp>
      <p:sp>
        <p:nvSpPr>
          <p:cNvPr id="4" name="Rectangle 3"/>
          <p:cNvSpPr/>
          <p:nvPr/>
        </p:nvSpPr>
        <p:spPr>
          <a:xfrm>
            <a:off x="571500" y="1028700"/>
            <a:ext cx="5334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rcRect l="-1935" r="-1" b="8348"/>
          <a:stretch>
            <a:fillRect/>
          </a:stretch>
        </p:blipFill>
        <p:spPr>
          <a:xfrm>
            <a:off x="5905500" y="343903"/>
            <a:ext cx="6019800" cy="6285497"/>
          </a:xfrm>
          <a:prstGeom prst="rect">
            <a:avLst/>
          </a:prstGeom>
        </p:spPr>
      </p:pic>
      <p:sp>
        <p:nvSpPr>
          <p:cNvPr id="7" name="TextBox 6"/>
          <p:cNvSpPr txBox="1"/>
          <p:nvPr/>
        </p:nvSpPr>
        <p:spPr>
          <a:xfrm>
            <a:off x="571500" y="1285875"/>
            <a:ext cx="5334000" cy="759439"/>
          </a:xfrm>
          <a:prstGeom prst="rect">
            <a:avLst/>
          </a:prstGeom>
          <a:noFill/>
        </p:spPr>
        <p:txBody>
          <a:bodyPr wrap="square" lIns="0" tIns="0" rIns="0" bIns="0" anchor="t">
            <a:spAutoFit/>
          </a:bodyPr>
          <a:lstStyle/>
          <a:p>
            <a:pPr algn="l">
              <a:lnSpc>
                <a:spcPts val="1976"/>
              </a:lnSpc>
            </a:pPr>
            <a:r>
              <a:rPr sz="1600" b="1" i="0" u="none" dirty="0">
                <a:latin typeface="Plus Jakarta Sans"/>
              </a:rPr>
              <a:t>The Golden Ring of Fortresses:</a:t>
            </a:r>
            <a:r>
              <a:rPr sz="1600" b="0" i="0" u="none" dirty="0">
                <a:latin typeface="Plus Jakarta Sans"/>
              </a:rPr>
              <a:t> Ayaz-Kala was part of a string of border fortresses erected along the edge of the </a:t>
            </a:r>
            <a:r>
              <a:rPr sz="1600" b="0" i="0" u="none" dirty="0" err="1">
                <a:latin typeface="Plus Jakarta Sans"/>
              </a:rPr>
              <a:t>Kyzylkum</a:t>
            </a:r>
            <a:r>
              <a:rPr sz="1600" b="0" i="0" u="none" dirty="0">
                <a:latin typeface="Plus Jakarta Sans"/>
              </a:rPr>
              <a:t> Desert.</a:t>
            </a:r>
          </a:p>
        </p:txBody>
      </p:sp>
      <p:sp>
        <p:nvSpPr>
          <p:cNvPr id="8" name="TextBox 7"/>
          <p:cNvSpPr txBox="1"/>
          <p:nvPr/>
        </p:nvSpPr>
        <p:spPr>
          <a:xfrm>
            <a:off x="519363" y="2524816"/>
            <a:ext cx="5334000" cy="752772"/>
          </a:xfrm>
          <a:prstGeom prst="rect">
            <a:avLst/>
          </a:prstGeom>
          <a:noFill/>
        </p:spPr>
        <p:txBody>
          <a:bodyPr wrap="square" lIns="0" tIns="0" rIns="0" bIns="0" anchor="t">
            <a:spAutoFit/>
          </a:bodyPr>
          <a:lstStyle/>
          <a:p>
            <a:pPr algn="l">
              <a:lnSpc>
                <a:spcPts val="1976"/>
              </a:lnSpc>
            </a:pPr>
            <a:r>
              <a:rPr sz="1600" b="1" i="0" u="none" dirty="0">
                <a:latin typeface="Plus Jakarta Sans"/>
              </a:rPr>
              <a:t>Strategic Defense:</a:t>
            </a:r>
            <a:r>
              <a:rPr sz="1600" b="0" i="0" u="none" dirty="0">
                <a:latin typeface="Plus Jakarta Sans"/>
              </a:rPr>
              <a:t> Positioned on a 100m natural limestone cliff, providing panoramic surveillance to defend settled oases against Saka and nomadic steppe raids.</a:t>
            </a:r>
          </a:p>
        </p:txBody>
      </p:sp>
      <p:sp>
        <p:nvSpPr>
          <p:cNvPr id="9" name="TextBox 8"/>
          <p:cNvSpPr txBox="1"/>
          <p:nvPr/>
        </p:nvSpPr>
        <p:spPr>
          <a:xfrm>
            <a:off x="519363" y="3646738"/>
            <a:ext cx="5334000" cy="752707"/>
          </a:xfrm>
          <a:prstGeom prst="rect">
            <a:avLst/>
          </a:prstGeom>
          <a:noFill/>
        </p:spPr>
        <p:txBody>
          <a:bodyPr wrap="square" lIns="0" tIns="0" rIns="0" bIns="0" anchor="t">
            <a:spAutoFit/>
          </a:bodyPr>
          <a:lstStyle/>
          <a:p>
            <a:pPr algn="l">
              <a:lnSpc>
                <a:spcPts val="1976"/>
              </a:lnSpc>
            </a:pPr>
            <a:r>
              <a:rPr sz="1600" b="1" i="0" u="none" dirty="0">
                <a:latin typeface="Plus Jakarta Sans"/>
              </a:rPr>
              <a:t>Multi-Stage Citadel Complex:</a:t>
            </a:r>
            <a:r>
              <a:rPr sz="1600" b="0" i="0" u="none" dirty="0">
                <a:latin typeface="Plus Jakarta Sans"/>
              </a:rPr>
              <a:t> Comprises Ayaz-Kala 1 (4th C. BCE lookout post), Ayaz-Kala 2 (feudal </a:t>
            </a:r>
            <a:r>
              <a:rPr sz="1600" b="0" i="0" u="none" dirty="0" err="1">
                <a:latin typeface="Plus Jakarta Sans"/>
              </a:rPr>
              <a:t>Afrighid</a:t>
            </a:r>
            <a:r>
              <a:rPr lang="en-GB" sz="1600" dirty="0">
                <a:latin typeface="Plus Jakarta Sans"/>
              </a:rPr>
              <a:t>s</a:t>
            </a:r>
            <a:r>
              <a:rPr sz="1600" b="0" i="0" u="none" dirty="0">
                <a:latin typeface="Plus Jakarta Sans"/>
              </a:rPr>
              <a:t>), and Ayaz-Kala 3 (huge garrison enclosure).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2"/>
          <a:stretch>
            <a:fillRect/>
          </a:stretch>
        </p:blipFill>
        <p:spPr>
          <a:xfrm>
            <a:off x="752475" y="6496050"/>
            <a:ext cx="133350" cy="133350"/>
          </a:xfrm>
          <a:prstGeom prst="rect">
            <a:avLst/>
          </a:prstGeom>
        </p:spPr>
      </p:pic>
      <p:sp>
        <p:nvSpPr>
          <p:cNvPr id="5" name="TextBox 4"/>
          <p:cNvSpPr txBox="1"/>
          <p:nvPr/>
        </p:nvSpPr>
        <p:spPr>
          <a:xfrm>
            <a:off x="885825" y="1618842"/>
            <a:ext cx="5505450" cy="1029513"/>
          </a:xfrm>
          <a:prstGeom prst="rect">
            <a:avLst/>
          </a:prstGeom>
          <a:noFill/>
        </p:spPr>
        <p:txBody>
          <a:bodyPr wrap="square" lIns="0" tIns="0" rIns="0" bIns="0" anchor="t">
            <a:spAutoFit/>
          </a:bodyPr>
          <a:lstStyle/>
          <a:p>
            <a:pPr algn="l">
              <a:lnSpc>
                <a:spcPts val="1976"/>
              </a:lnSpc>
            </a:pPr>
            <a:r>
              <a:rPr sz="2000" b="0" i="0" u="none" dirty="0">
                <a:solidFill>
                  <a:schemeClr val="bg1"/>
                </a:solidFill>
                <a:latin typeface="Plus Jakarta Sans"/>
              </a:rPr>
              <a:t>Central Asian statehood emerged along major meltwater rivers (Amu Darya / Oxus and Syr Darya / Jaxartes) surrounded by the </a:t>
            </a:r>
            <a:r>
              <a:rPr sz="2000" b="0" i="0" u="none" dirty="0" err="1">
                <a:solidFill>
                  <a:schemeClr val="bg1"/>
                </a:solidFill>
                <a:latin typeface="Plus Jakarta Sans"/>
              </a:rPr>
              <a:t>Kyzylkum</a:t>
            </a:r>
            <a:r>
              <a:rPr sz="2000" b="0" i="0" u="none" dirty="0">
                <a:solidFill>
                  <a:schemeClr val="bg1"/>
                </a:solidFill>
                <a:latin typeface="Plus Jakarta Sans"/>
              </a:rPr>
              <a:t> and Karakum deserts.</a:t>
            </a:r>
          </a:p>
        </p:txBody>
      </p:sp>
      <p:sp>
        <p:nvSpPr>
          <p:cNvPr id="7" name="TextBox 6"/>
          <p:cNvSpPr txBox="1"/>
          <p:nvPr/>
        </p:nvSpPr>
        <p:spPr>
          <a:xfrm>
            <a:off x="933450" y="3176479"/>
            <a:ext cx="5410200" cy="773032"/>
          </a:xfrm>
          <a:prstGeom prst="rect">
            <a:avLst/>
          </a:prstGeom>
          <a:noFill/>
        </p:spPr>
        <p:txBody>
          <a:bodyPr wrap="square" lIns="0" tIns="0" rIns="0" bIns="0" anchor="t">
            <a:spAutoFit/>
          </a:bodyPr>
          <a:lstStyle/>
          <a:p>
            <a:pPr algn="l">
              <a:lnSpc>
                <a:spcPts val="1976"/>
              </a:lnSpc>
            </a:pPr>
            <a:r>
              <a:rPr sz="2000" b="1" i="0" u="none" dirty="0">
                <a:solidFill>
                  <a:schemeClr val="bg1"/>
                </a:solidFill>
                <a:latin typeface="Plus Jakarta Sans"/>
              </a:rPr>
              <a:t>Ecosystem Pressures:</a:t>
            </a:r>
            <a:r>
              <a:rPr sz="2000" b="0" i="0" u="none" dirty="0">
                <a:solidFill>
                  <a:schemeClr val="bg1"/>
                </a:solidFill>
                <a:latin typeface="Plus Jakarta Sans"/>
              </a:rPr>
              <a:t> Settlement patterns were forced to stay mobile or develop high-level hydro-engineering to track shifting water courses.</a:t>
            </a:r>
          </a:p>
        </p:txBody>
      </p:sp>
      <p:pic>
        <p:nvPicPr>
          <p:cNvPr id="9" name="Picture 8" descr="image.png"/>
          <p:cNvPicPr>
            <a:picLocks noChangeAspect="1"/>
          </p:cNvPicPr>
          <p:nvPr/>
        </p:nvPicPr>
        <p:blipFill>
          <a:blip r:embed="rId3"/>
          <a:stretch>
            <a:fillRect/>
          </a:stretch>
        </p:blipFill>
        <p:spPr>
          <a:xfrm>
            <a:off x="6591300" y="1376254"/>
            <a:ext cx="5314950" cy="3600450"/>
          </a:xfrm>
          <a:prstGeom prst="rect">
            <a:avLst/>
          </a:prstGeom>
        </p:spPr>
      </p:pic>
      <p:sp>
        <p:nvSpPr>
          <p:cNvPr id="10" name="TextBox 9"/>
          <p:cNvSpPr txBox="1"/>
          <p:nvPr/>
        </p:nvSpPr>
        <p:spPr>
          <a:xfrm>
            <a:off x="571500" y="2043112"/>
            <a:ext cx="114300" cy="180975"/>
          </a:xfrm>
          <a:prstGeom prst="rect">
            <a:avLst/>
          </a:prstGeom>
          <a:noFill/>
        </p:spPr>
        <p:txBody>
          <a:bodyPr wrap="square" lIns="0" tIns="0" rIns="0" bIns="0" anchor="t">
            <a:spAutoFit/>
          </a:bodyPr>
          <a:lstStyle/>
          <a:p>
            <a:pPr algn="l">
              <a:lnSpc>
                <a:spcPts val="1395"/>
              </a:lnSpc>
            </a:pPr>
            <a:r>
              <a:rPr sz="900" b="0" i="0" u="none">
                <a:solidFill>
                  <a:srgbClr val="D97706"/>
                </a:solidFill>
                <a:latin typeface="Plus Jakarta Sans"/>
              </a:rPr>
              <a:t>◆</a:t>
            </a:r>
          </a:p>
        </p:txBody>
      </p:sp>
      <p:sp>
        <p:nvSpPr>
          <p:cNvPr id="11" name="TextBox 10"/>
          <p:cNvSpPr txBox="1"/>
          <p:nvPr/>
        </p:nvSpPr>
        <p:spPr>
          <a:xfrm>
            <a:off x="571500" y="2929235"/>
            <a:ext cx="114300" cy="180975"/>
          </a:xfrm>
          <a:prstGeom prst="rect">
            <a:avLst/>
          </a:prstGeom>
          <a:noFill/>
        </p:spPr>
        <p:txBody>
          <a:bodyPr wrap="square" lIns="0" tIns="0" rIns="0" bIns="0" anchor="t">
            <a:spAutoFit/>
          </a:bodyPr>
          <a:lstStyle/>
          <a:p>
            <a:pPr algn="l">
              <a:lnSpc>
                <a:spcPts val="1395"/>
              </a:lnSpc>
            </a:pPr>
            <a:r>
              <a:rPr sz="900" b="0" i="0" u="none" dirty="0">
                <a:solidFill>
                  <a:srgbClr val="D97706"/>
                </a:solidFill>
                <a:latin typeface="Plus Jakarta Sans"/>
              </a:rPr>
              <a:t>◆</a:t>
            </a:r>
          </a:p>
        </p:txBody>
      </p:sp>
      <p:sp>
        <p:nvSpPr>
          <p:cNvPr id="15" name="Rectangle 14"/>
          <p:cNvSpPr/>
          <p:nvPr/>
        </p:nvSpPr>
        <p:spPr>
          <a:xfrm>
            <a:off x="571500" y="102870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56AF37E-B372-75CB-E754-83BC0EF7EB0E}"/>
              </a:ext>
            </a:extLst>
          </p:cNvPr>
          <p:cNvSpPr txBox="1"/>
          <p:nvPr/>
        </p:nvSpPr>
        <p:spPr>
          <a:xfrm>
            <a:off x="885825" y="4342944"/>
            <a:ext cx="4953501" cy="369332"/>
          </a:xfrm>
          <a:prstGeom prst="rect">
            <a:avLst/>
          </a:prstGeom>
          <a:noFill/>
        </p:spPr>
        <p:txBody>
          <a:bodyPr wrap="square" rtlCol="0">
            <a:spAutoFit/>
          </a:bodyPr>
          <a:lstStyle/>
          <a:p>
            <a:r>
              <a:rPr lang="en-GB" dirty="0">
                <a:hlinkClick r:id="rId4"/>
              </a:rPr>
              <a:t>https://www.google.com/maps?authuser=0</a:t>
            </a:r>
            <a:r>
              <a:rPr lang="en-GB" dirty="0"/>
              <a:t> </a:t>
            </a:r>
            <a:endParaRPr lang="ru-RU"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50780D-5211-449F-7CD9-C58A41BF1A72}"/>
              </a:ext>
            </a:extLst>
          </p:cNvPr>
          <p:cNvSpPr txBox="1"/>
          <p:nvPr/>
        </p:nvSpPr>
        <p:spPr>
          <a:xfrm>
            <a:off x="1227221" y="2844225"/>
            <a:ext cx="9737558" cy="584775"/>
          </a:xfrm>
          <a:prstGeom prst="rect">
            <a:avLst/>
          </a:prstGeom>
          <a:noFill/>
        </p:spPr>
        <p:txBody>
          <a:bodyPr wrap="square" rtlCol="0">
            <a:spAutoFit/>
          </a:bodyPr>
          <a:lstStyle/>
          <a:p>
            <a:r>
              <a:rPr lang="en-GB" sz="3200" dirty="0"/>
              <a:t>Problems and solutions of Central Asian water crisis</a:t>
            </a:r>
            <a:endParaRPr lang="ru-RU" sz="3200" dirty="0"/>
          </a:p>
        </p:txBody>
      </p:sp>
    </p:spTree>
    <p:extLst>
      <p:ext uri="{BB962C8B-B14F-4D97-AF65-F5344CB8AC3E}">
        <p14:creationId xmlns:p14="http://schemas.microsoft.com/office/powerpoint/2010/main" val="1336149795"/>
      </p:ext>
    </p:extLst>
  </p:cSld>
  <p:clrMapOvr>
    <a:masterClrMapping/>
  </p:clrMapOvr>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9999</TotalTime>
  <Words>1159</Words>
  <Application>Microsoft Office PowerPoint</Application>
  <PresentationFormat>Widescreen</PresentationFormat>
  <Paragraphs>72</Paragraphs>
  <Slides>31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Cinzel</vt:lpstr>
      <vt:lpstr>Plus Jakarta Sans</vt:lpstr>
      <vt:lpstr>Modulo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MICROLITH IS A SMALL STONE TOOL USUALLY MADE OF FLINT OR CHERT AND TYPICALLY A CENTIMETRE OR SO IN LENGTH AND HALF A CENTIMETRE WIDE. THEY WERE MADE BY HUMANS FROM AROUND 60,000 YEARS AGO, ACROSS EUROPE, AFRICA, ASIA AND AUSTRALIA. THE MICROLITHS WERE USED IN SPEAR POINTS AND ARROWHEADS.</vt:lpstr>
      <vt:lpstr>PowerPoint Presentation</vt:lpstr>
      <vt:lpstr>ANCIENT POTTERY -POTTERY IS ONE OF THE OLDEST HUMAN INVENTIONS, ORIGINATING BEFORE THE NEOLITHIC PERIOD </vt:lpstr>
      <vt:lpstr>PowerPoint Presentation</vt:lpstr>
      <vt:lpstr>PowerPoint Presentation</vt:lpstr>
      <vt:lpstr>PowerPoint Presentation</vt:lpstr>
      <vt:lpstr>PowerPoint Presentation</vt:lpstr>
      <vt:lpstr>PowerPoint Presentation</vt:lpstr>
      <vt:lpstr>PowerPoint Presentation</vt:lpstr>
      <vt:lpstr>A pit-house is a house built in the ground and used for shelter.</vt:lpstr>
      <vt:lpstr>PowerPoint Presentation</vt:lpstr>
      <vt:lpstr>Koi krylgan kala is also known to contain the very first writing system of Central Asia Khwarezmian script</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keywords/>
  <dc:description>generated using python-pptx</dc:description>
  <cp:lastModifiedBy>Admin</cp:lastModifiedBy>
  <cp:revision>5</cp:revision>
  <dcterms:created xsi:type="dcterms:W3CDTF">2013-01-27T09:14:16Z</dcterms:created>
  <dcterms:modified xsi:type="dcterms:W3CDTF">2026-09-17T04:23:22Z</dcterms:modified>
  <cp:category/>
</cp:coreProperties>
</file>