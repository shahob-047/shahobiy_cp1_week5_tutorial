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2A4A"/>
                </a:solidFill>
                <a:latin typeface="Aptos"/>
              </a:rPr>
              <a:t>1. TURNING STUDYING INTO A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5707E"/>
                </a:solidFill>
                <a:latin typeface="Aptos"/>
              </a:rPr>
              <a:t>Make academic challenges more engaging, measurable, and motivating.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429000" cy="333756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305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51760"/>
            <a:ext cx="2148839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Break difficult academic tasks into small, clear missions instead of treating them as one large problem.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429000" cy="333756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2103120"/>
            <a:ext cx="502920" cy="502920"/>
          </a:xfrm>
          <a:prstGeom prst="ellipse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579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1305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651760"/>
            <a:ext cx="2148839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Use simple points, levels, streaks, team challenges, and milestones to make progress visible.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429000" cy="333756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2103120"/>
            <a:ext cx="502920" cy="502920"/>
          </a:xfrm>
          <a:prstGeom prst="ellipse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579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1305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Achievement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2651760"/>
            <a:ext cx="214884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Celebrate consistency and improvement—not only high grades—so students stay engaged.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67B4"/>
                </a:solidFill>
                <a:latin typeface="Aptos"/>
              </a:rPr>
              <a:t>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632704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834"/>
                </a:solidFill>
                <a:latin typeface="Aptos"/>
              </a:rPr>
              <a:t>A study environment where progress feels achievable and students are encouraged to keep moving forward.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5707E"/>
                </a:solidFill>
                <a:latin typeface="Aptos"/>
              </a:rPr>
              <a:t>MINISTRY OF EDUCATION • CANDIDATE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5707E"/>
                </a:solidFill>
                <a:latin typeface="Aptos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2A4A"/>
                </a:solidFill>
                <a:latin typeface="Aptos"/>
              </a:rPr>
              <a:t>2. REMOVE BARRIERS TO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65707E"/>
                </a:solidFill>
                <a:latin typeface="Aptos"/>
              </a:rPr>
              <a:t>Identify what prevents students from learning effectively—and act before small problems become major 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56616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057400"/>
            <a:ext cx="502920" cy="502920"/>
          </a:xfrm>
          <a:prstGeom prst="ellipse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122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08483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606040"/>
            <a:ext cx="21031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Collect student feedback and observe recurring academic obstacles: workload, unclear expectations, lack of resources, poor organization, or low engagement.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83280" cy="356616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36008" y="2057400"/>
            <a:ext cx="502920" cy="502920"/>
          </a:xfrm>
          <a:prstGeom prst="ellipse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1122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208483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Prevent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606040"/>
            <a:ext cx="21031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Create practical solutions such as shared resources, peer support, study guidance, reminders, and early intervention.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828800"/>
            <a:ext cx="3383280" cy="356616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11896" y="2057400"/>
            <a:ext cx="502920" cy="502920"/>
          </a:xfrm>
          <a:prstGeom prst="ellipse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1122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1976" y="208483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Improve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2606040"/>
            <a:ext cx="21031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Regularly check whether the solution works and adjust it according to students' real needs.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60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67B4"/>
                </a:solidFill>
                <a:latin typeface="Aptos"/>
              </a:rPr>
              <a:t>PRINCIPLE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5687568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834"/>
                </a:solidFill>
                <a:latin typeface="Aptos"/>
              </a:rPr>
              <a:t>Do not wait for students to fall behind. Detect barriers early and reduce them together.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5707E"/>
                </a:solidFill>
                <a:latin typeface="Aptos"/>
              </a:rPr>
              <a:t>MINISTRY OF EDUCATION • CANDIDATE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5707E"/>
                </a:solidFill>
                <a:latin typeface="Aptos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A4A"/>
                </a:solidFill>
                <a:latin typeface="Aptos"/>
              </a:rPr>
              <a:t>3. INDIVIDUAL SUPPORT FOR STUDENTS WHO ARE FALLING BEHIND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65707E"/>
                </a:solidFill>
                <a:latin typeface="Aptos"/>
              </a:rPr>
              <a:t>Every student can have a different reason for struggling. The response should be individual, not one-size-fits-all.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2514600" cy="30632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134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834640"/>
            <a:ext cx="1234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Recognize a student who is struggling</a:t>
            </a:r>
          </a:p>
        </p:txBody>
      </p:sp>
      <p:sp>
        <p:nvSpPr>
          <p:cNvPr id="10" name="Chevron 9"/>
          <p:cNvSpPr/>
          <p:nvPr/>
        </p:nvSpPr>
        <p:spPr>
          <a:xfrm>
            <a:off x="3273552" y="3154680"/>
            <a:ext cx="384048" cy="502920"/>
          </a:xfrm>
          <a:prstGeom prst="chevron">
            <a:avLst/>
          </a:prstGeom>
          <a:solidFill>
            <a:srgbClr val="BE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2057400"/>
            <a:ext cx="2514600" cy="30632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03320" y="2286000"/>
            <a:ext cx="502920" cy="502920"/>
          </a:xfrm>
          <a:prstGeom prst="ellipse">
            <a:avLst/>
          </a:prstGeom>
          <a:solidFill>
            <a:srgbClr val="4DA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3408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13432"/>
            <a:ext cx="13715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Talk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834640"/>
            <a:ext cx="12344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Have a private, respectful conversation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6062472" y="3154680"/>
            <a:ext cx="384048" cy="502920"/>
          </a:xfrm>
          <a:prstGeom prst="chevron">
            <a:avLst/>
          </a:prstGeom>
          <a:solidFill>
            <a:srgbClr val="BE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2057400"/>
            <a:ext cx="2514600" cy="30632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2286000"/>
            <a:ext cx="502920" cy="502920"/>
          </a:xfrm>
          <a:prstGeom prst="ellipse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3408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313432"/>
            <a:ext cx="13715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834640"/>
            <a:ext cx="12344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Find the real reason behind the difficulty</a:t>
            </a:r>
          </a:p>
        </p:txBody>
      </p:sp>
      <p:sp>
        <p:nvSpPr>
          <p:cNvPr id="22" name="Chevron 21"/>
          <p:cNvSpPr/>
          <p:nvPr/>
        </p:nvSpPr>
        <p:spPr>
          <a:xfrm>
            <a:off x="8851392" y="3154680"/>
            <a:ext cx="384048" cy="502920"/>
          </a:xfrm>
          <a:prstGeom prst="chevron">
            <a:avLst/>
          </a:prstGeom>
          <a:solidFill>
            <a:srgbClr val="BEC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59" y="2057400"/>
            <a:ext cx="2514600" cy="30632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81159" y="2286000"/>
            <a:ext cx="502920" cy="502920"/>
          </a:xfrm>
          <a:prstGeom prst="ellipse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23408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23134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39" y="2834640"/>
            <a:ext cx="1234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Agree on practical 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02834"/>
                </a:solidFill>
                <a:latin typeface="Aptos"/>
              </a:rPr>
              <a:t>The purpose is not to judge performance, but to understand the situation and help the student return to a sustainable study path.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37960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5707E"/>
                </a:solidFill>
                <a:latin typeface="Aptos"/>
              </a:rPr>
              <a:t>MINISTRY OF EDUCATION • CANDIDATE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5707E"/>
                </a:solidFill>
                <a:latin typeface="Apto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2A4A"/>
                </a:solidFill>
                <a:latin typeface="Aptos"/>
              </a:rPr>
              <a:t>4. SUPPORT BEYOND ACADEMICS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65707E"/>
                </a:solidFill>
                <a:latin typeface="Aptos"/>
              </a:rPr>
              <a:t>Personal difficulties can affect studying. Individual conversations create a safe space to understand the situation and look for realistic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337560" cy="342900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103120"/>
            <a:ext cx="502920" cy="502920"/>
          </a:xfrm>
          <a:prstGeom prst="ellipse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579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3055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Listen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651760"/>
            <a:ext cx="2057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Give students a respectful opportunity to explain what is affecting their studies—without pressure or judgment.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74519"/>
            <a:ext cx="3337560" cy="342900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54296" y="2103120"/>
            <a:ext cx="502920" cy="502920"/>
          </a:xfrm>
          <a:prstGeom prst="ellipse">
            <a:avLst/>
          </a:prstGeom>
          <a:solidFill>
            <a:srgbClr val="4DA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21579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213055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4376" y="2651760"/>
            <a:ext cx="205739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When possible, help connect them with appropriate university resources, people, or practical solutions.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874519"/>
            <a:ext cx="3337560" cy="342900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48472" y="2103120"/>
            <a:ext cx="502920" cy="502920"/>
          </a:xfrm>
          <a:prstGeom prst="ellipse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1579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13055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Follow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2651760"/>
            <a:ext cx="2057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Check in later so the student knows the conversation was not just a one-time interaction.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8756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67B4"/>
                </a:solidFill>
                <a:latin typeface="Aptos"/>
              </a:rPr>
              <a:t>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56052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02834"/>
                </a:solidFill>
                <a:latin typeface="Aptos"/>
              </a:rPr>
              <a:t>We support students within our role and connect serious or specialized issues to the appropriate university services.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5707E"/>
                </a:solidFill>
                <a:latin typeface="Aptos"/>
              </a:rPr>
              <a:t>MINISTRY OF EDUCATION • CANDIDATE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5707E"/>
                </a:solidFill>
                <a:latin typeface="Aptos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5. STUDY PLANNING &amp; RIGHT-DIRECTION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65707E"/>
                </a:solidFill>
                <a:latin typeface="Aptos"/>
              </a:rPr>
              <a:t>Turn uncertainty into a clear next step—and help students choose directions that fit their interests and goals.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3383280" cy="3520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" y="2057400"/>
            <a:ext cx="502920" cy="502920"/>
          </a:xfrm>
          <a:prstGeom prst="ellipse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122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208483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Build a Study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60604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If a student hesitates about planning, provide practical guidance: priorities, realistic workload, time blocks, deadlines, and review 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83280" cy="3520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36008" y="2057400"/>
            <a:ext cx="502920" cy="502920"/>
          </a:xfrm>
          <a:prstGeom prst="ellipse">
            <a:avLst/>
          </a:prstGeom>
          <a:solidFill>
            <a:srgbClr val="4DA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1122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208483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Discover Strengths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60604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Talk about interests, strengths, goals, and areas they want to explore before suggesting a direction.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828800"/>
            <a:ext cx="3383280" cy="3520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0183" y="2057400"/>
            <a:ext cx="502920" cy="502920"/>
          </a:xfrm>
          <a:prstGeom prst="ellipse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21122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0263" y="208483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Create a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3" y="260604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707E"/>
                </a:solidFill>
                <a:latin typeface="Aptos"/>
              </a:rPr>
              <a:t>Connect today's study habits with longer-term academic and career goals, while keeping the student's own choice at the center.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15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67B4"/>
                </a:solidFill>
                <a:latin typeface="Aptos"/>
              </a:rPr>
              <a:t>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632704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834"/>
                </a:solidFill>
                <a:latin typeface="Aptos"/>
              </a:rPr>
              <a:t>A student should leave the conversation with more clarity, a practical plan, and a direction they understand.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5707E"/>
                </a:solidFill>
                <a:latin typeface="Aptos"/>
              </a:rPr>
              <a:t>MINISTRY OF EDUCATION • CANDIDATE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5707E"/>
                </a:solidFill>
                <a:latin typeface="Aptos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