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71" r:id="rId2"/>
    <p:sldId id="256" r:id="rId3"/>
    <p:sldId id="258" r:id="rId4"/>
    <p:sldId id="257"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2060E45-547A-4E91-8874-A9DA76A9E8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FCA29DA5-873B-44A1-805B-970F8A57CA7E}">
      <dgm:prSet phldrT="[Text]" custT="1"/>
      <dgm:spPr/>
      <dgm:t>
        <a:bodyPr/>
        <a:lstStyle/>
        <a:p>
          <a:r>
            <a:rPr lang="en-US" sz="2000" b="0" dirty="0"/>
            <a:t>The first table of tangent and cotangents</a:t>
          </a:r>
          <a:endParaRPr lang="ru-RU" sz="2000" b="0" dirty="0"/>
        </a:p>
      </dgm:t>
    </dgm:pt>
    <dgm:pt modelId="{2EE58B5A-2BD1-41C0-951A-FA0C1E1F76AD}" type="parTrans" cxnId="{DF3A7766-D030-4D4D-8CBF-3E5254EBC7BB}">
      <dgm:prSet/>
      <dgm:spPr/>
      <dgm:t>
        <a:bodyPr/>
        <a:lstStyle/>
        <a:p>
          <a:endParaRPr lang="ru-RU"/>
        </a:p>
      </dgm:t>
    </dgm:pt>
    <dgm:pt modelId="{B6F85E7F-153C-4CF1-9084-8C892092E175}" type="sibTrans" cxnId="{DF3A7766-D030-4D4D-8CBF-3E5254EBC7BB}">
      <dgm:prSet/>
      <dgm:spPr/>
      <dgm:t>
        <a:bodyPr/>
        <a:lstStyle/>
        <a:p>
          <a:endParaRPr lang="ru-RU"/>
        </a:p>
      </dgm:t>
    </dgm:pt>
    <dgm:pt modelId="{2F972490-6F2E-4783-9B4D-BFAF6032F9A9}">
      <dgm:prSet phldrT="[Text]" custT="1"/>
      <dgm:spPr/>
      <dgm:t>
        <a:bodyPr/>
        <a:lstStyle/>
        <a:p>
          <a:r>
            <a:rPr lang="en-US" sz="2800" b="0" dirty="0"/>
            <a:t>Damascus Zij</a:t>
          </a:r>
          <a:endParaRPr lang="ru-RU" sz="2800" b="0" dirty="0"/>
        </a:p>
      </dgm:t>
    </dgm:pt>
    <dgm:pt modelId="{E72CA646-FAD6-4BA8-9F6A-03B6B2B8419B}" type="parTrans" cxnId="{6E28615E-B6E9-4BD0-8A6F-FBF88B92AFCB}">
      <dgm:prSet/>
      <dgm:spPr/>
      <dgm:t>
        <a:bodyPr/>
        <a:lstStyle/>
        <a:p>
          <a:endParaRPr lang="ru-RU"/>
        </a:p>
      </dgm:t>
    </dgm:pt>
    <dgm:pt modelId="{D49C3D02-94FB-4EA8-9FDC-48442E95B54F}" type="sibTrans" cxnId="{6E28615E-B6E9-4BD0-8A6F-FBF88B92AFCB}">
      <dgm:prSet/>
      <dgm:spPr/>
      <dgm:t>
        <a:bodyPr/>
        <a:lstStyle/>
        <a:p>
          <a:endParaRPr lang="ru-RU"/>
        </a:p>
      </dgm:t>
    </dgm:pt>
    <dgm:pt modelId="{239A0A85-5657-4F3D-B871-6028DC78381F}">
      <dgm:prSet phldrT="[Text]" custT="1"/>
      <dgm:spPr/>
      <dgm:t>
        <a:bodyPr/>
        <a:lstStyle/>
        <a:p>
          <a:r>
            <a:rPr lang="en-US" sz="3300" b="1" dirty="0"/>
            <a:t>"</a:t>
          </a:r>
          <a:r>
            <a:rPr lang="en-US" sz="2400" b="0" dirty="0"/>
            <a:t>Astronomical tables" (Zij) </a:t>
          </a:r>
          <a:endParaRPr lang="ru-RU" sz="3300" b="0" dirty="0"/>
        </a:p>
      </dgm:t>
    </dgm:pt>
    <dgm:pt modelId="{8B7B966A-3438-426E-93E9-837782439951}" type="sibTrans" cxnId="{638784C3-4311-403A-9C6A-BF365F1392CB}">
      <dgm:prSet/>
      <dgm:spPr/>
      <dgm:t>
        <a:bodyPr/>
        <a:lstStyle/>
        <a:p>
          <a:endParaRPr lang="ru-RU"/>
        </a:p>
      </dgm:t>
    </dgm:pt>
    <dgm:pt modelId="{CD40435F-05E3-416F-85E2-B9B196796593}" type="parTrans" cxnId="{638784C3-4311-403A-9C6A-BF365F1392CB}">
      <dgm:prSet/>
      <dgm:spPr/>
      <dgm:t>
        <a:bodyPr/>
        <a:lstStyle/>
        <a:p>
          <a:endParaRPr lang="ru-RU"/>
        </a:p>
      </dgm:t>
    </dgm:pt>
    <dgm:pt modelId="{950ACA52-E1EC-46F4-9489-4E7FE76ED873}">
      <dgm:prSet phldrT="[Text]" custT="1"/>
      <dgm:spPr/>
      <dgm:t>
        <a:bodyPr/>
        <a:lstStyle/>
        <a:p>
          <a:r>
            <a:rPr lang="en-US" sz="2400" b="0" dirty="0">
              <a:latin typeface="+mj-lt"/>
            </a:rPr>
            <a:t>compiled in three volume</a:t>
          </a:r>
          <a:endParaRPr lang="ru-RU" sz="2400" b="0" dirty="0">
            <a:latin typeface="+mj-lt"/>
          </a:endParaRPr>
        </a:p>
      </dgm:t>
    </dgm:pt>
    <dgm:pt modelId="{829F43D7-B0A2-4CD6-8937-F679980DCBD7}" type="sibTrans" cxnId="{D5E24476-273B-4465-9119-5065D60FD4A9}">
      <dgm:prSet/>
      <dgm:spPr/>
      <dgm:t>
        <a:bodyPr/>
        <a:lstStyle/>
        <a:p>
          <a:endParaRPr lang="ru-RU"/>
        </a:p>
      </dgm:t>
    </dgm:pt>
    <dgm:pt modelId="{8DB21BC9-8909-45A9-9FBC-73C8B7B902DE}" type="parTrans" cxnId="{D5E24476-273B-4465-9119-5065D60FD4A9}">
      <dgm:prSet/>
      <dgm:spPr/>
      <dgm:t>
        <a:bodyPr/>
        <a:lstStyle/>
        <a:p>
          <a:endParaRPr lang="ru-RU"/>
        </a:p>
      </dgm:t>
    </dgm:pt>
    <dgm:pt modelId="{BC44025E-414C-426E-A053-05CA97E02A7C}">
      <dgm:prSet phldrT="[Text]"/>
      <dgm:spPr/>
      <dgm:t>
        <a:bodyPr/>
        <a:lstStyle/>
        <a:p>
          <a:r>
            <a:rPr lang="en-US" b="0" dirty="0">
              <a:solidFill>
                <a:schemeClr val="tx1"/>
              </a:solidFill>
            </a:rPr>
            <a:t>The Book of Bodies and Distances </a:t>
          </a:r>
        </a:p>
        <a:p>
          <a:r>
            <a:rPr lang="en-US" b="0" dirty="0">
              <a:solidFill>
                <a:schemeClr val="tx1"/>
              </a:solidFill>
            </a:rPr>
            <a:t>(</a:t>
          </a:r>
          <a:r>
            <a:rPr lang="en-US" b="0" dirty="0" err="1">
              <a:solidFill>
                <a:schemeClr val="tx1"/>
              </a:solidFill>
            </a:rPr>
            <a:t>Kitāb</a:t>
          </a:r>
          <a:r>
            <a:rPr lang="en-US" b="0" dirty="0">
              <a:solidFill>
                <a:schemeClr val="tx1"/>
              </a:solidFill>
            </a:rPr>
            <a:t> al-</a:t>
          </a:r>
          <a:r>
            <a:rPr lang="en-US" b="0" dirty="0" err="1">
              <a:solidFill>
                <a:schemeClr val="tx1"/>
              </a:solidFill>
            </a:rPr>
            <a:t>ajrām</a:t>
          </a:r>
          <a:r>
            <a:rPr lang="en-US" b="0" dirty="0">
              <a:solidFill>
                <a:schemeClr val="tx1"/>
              </a:solidFill>
            </a:rPr>
            <a:t> </a:t>
          </a:r>
          <a:r>
            <a:rPr lang="en-US" b="0" dirty="0" err="1">
              <a:solidFill>
                <a:schemeClr val="tx1"/>
              </a:solidFill>
            </a:rPr>
            <a:t>wa</a:t>
          </a:r>
          <a:r>
            <a:rPr lang="en-US" b="0" dirty="0">
              <a:solidFill>
                <a:schemeClr val="tx1"/>
              </a:solidFill>
            </a:rPr>
            <a:t>-l-ab '</a:t>
          </a:r>
          <a:r>
            <a:rPr lang="en-US" b="0" dirty="0" err="1">
              <a:solidFill>
                <a:schemeClr val="tx1"/>
              </a:solidFill>
            </a:rPr>
            <a:t>ād</a:t>
          </a:r>
          <a:r>
            <a:rPr lang="en-US" b="0" dirty="0">
              <a:solidFill>
                <a:schemeClr val="tx1"/>
              </a:solidFill>
            </a:rPr>
            <a:t>)</a:t>
          </a:r>
          <a:endParaRPr lang="ru-RU" b="0" dirty="0">
            <a:solidFill>
              <a:schemeClr val="tx1"/>
            </a:solidFill>
          </a:endParaRPr>
        </a:p>
      </dgm:t>
    </dgm:pt>
    <dgm:pt modelId="{31D7B2E7-D443-4584-8648-8C82FF115FE6}" type="parTrans" cxnId="{FB74721B-A513-40F9-8931-D4E9A2A938AB}">
      <dgm:prSet/>
      <dgm:spPr/>
      <dgm:t>
        <a:bodyPr/>
        <a:lstStyle/>
        <a:p>
          <a:endParaRPr lang="ru-RU"/>
        </a:p>
      </dgm:t>
    </dgm:pt>
    <dgm:pt modelId="{90897BC0-A443-4B6D-9950-B519B8B84194}" type="sibTrans" cxnId="{FB74721B-A513-40F9-8931-D4E9A2A938AB}">
      <dgm:prSet/>
      <dgm:spPr/>
      <dgm:t>
        <a:bodyPr/>
        <a:lstStyle/>
        <a:p>
          <a:endParaRPr lang="ru-RU"/>
        </a:p>
      </dgm:t>
    </dgm:pt>
    <dgm:pt modelId="{BED960A7-7D02-47F2-A300-907C78B44E33}" type="pres">
      <dgm:prSet presAssocID="{12060E45-547A-4E91-8874-A9DA76A9E808}" presName="linear" presStyleCnt="0">
        <dgm:presLayoutVars>
          <dgm:animLvl val="lvl"/>
          <dgm:resizeHandles val="exact"/>
        </dgm:presLayoutVars>
      </dgm:prSet>
      <dgm:spPr/>
    </dgm:pt>
    <dgm:pt modelId="{0A9BCA0F-A5DC-471C-AE51-19BB5906505F}" type="pres">
      <dgm:prSet presAssocID="{239A0A85-5657-4F3D-B871-6028DC78381F}" presName="parentText" presStyleLbl="node1" presStyleIdx="0" presStyleCnt="3">
        <dgm:presLayoutVars>
          <dgm:chMax val="0"/>
          <dgm:bulletEnabled val="1"/>
        </dgm:presLayoutVars>
      </dgm:prSet>
      <dgm:spPr/>
    </dgm:pt>
    <dgm:pt modelId="{AE58E495-A3E4-4354-A0B6-0F24A866C740}" type="pres">
      <dgm:prSet presAssocID="{239A0A85-5657-4F3D-B871-6028DC78381F}" presName="childText" presStyleLbl="revTx" presStyleIdx="0" presStyleCnt="2">
        <dgm:presLayoutVars>
          <dgm:bulletEnabled val="1"/>
        </dgm:presLayoutVars>
      </dgm:prSet>
      <dgm:spPr/>
    </dgm:pt>
    <dgm:pt modelId="{B5456E7C-F8D0-4408-90BE-B6AE7149602B}" type="pres">
      <dgm:prSet presAssocID="{FCA29DA5-873B-44A1-805B-970F8A57CA7E}" presName="parentText" presStyleLbl="node1" presStyleIdx="1" presStyleCnt="3">
        <dgm:presLayoutVars>
          <dgm:chMax val="0"/>
          <dgm:bulletEnabled val="1"/>
        </dgm:presLayoutVars>
      </dgm:prSet>
      <dgm:spPr/>
    </dgm:pt>
    <dgm:pt modelId="{89F6BA0E-EBCD-4927-919A-6A2260BBBAFE}" type="pres">
      <dgm:prSet presAssocID="{FCA29DA5-873B-44A1-805B-970F8A57CA7E}" presName="childText" presStyleLbl="revTx" presStyleIdx="1" presStyleCnt="2">
        <dgm:presLayoutVars>
          <dgm:bulletEnabled val="1"/>
        </dgm:presLayoutVars>
      </dgm:prSet>
      <dgm:spPr/>
    </dgm:pt>
    <dgm:pt modelId="{92196A33-C029-46DB-86A3-E630A328BDC9}" type="pres">
      <dgm:prSet presAssocID="{BC44025E-414C-426E-A053-05CA97E02A7C}" presName="parentText" presStyleLbl="node1" presStyleIdx="2" presStyleCnt="3">
        <dgm:presLayoutVars>
          <dgm:chMax val="0"/>
          <dgm:bulletEnabled val="1"/>
        </dgm:presLayoutVars>
      </dgm:prSet>
      <dgm:spPr/>
    </dgm:pt>
  </dgm:ptLst>
  <dgm:cxnLst>
    <dgm:cxn modelId="{7E7C1E0B-B0E0-4167-B030-8D5705010E6F}" type="presOf" srcId="{FCA29DA5-873B-44A1-805B-970F8A57CA7E}" destId="{B5456E7C-F8D0-4408-90BE-B6AE7149602B}" srcOrd="0" destOrd="0" presId="urn:microsoft.com/office/officeart/2005/8/layout/vList2"/>
    <dgm:cxn modelId="{FB74721B-A513-40F9-8931-D4E9A2A938AB}" srcId="{12060E45-547A-4E91-8874-A9DA76A9E808}" destId="{BC44025E-414C-426E-A053-05CA97E02A7C}" srcOrd="2" destOrd="0" parTransId="{31D7B2E7-D443-4584-8648-8C82FF115FE6}" sibTransId="{90897BC0-A443-4B6D-9950-B519B8B84194}"/>
    <dgm:cxn modelId="{4E5E2528-69F5-4DEC-B461-C200DEA22786}" type="presOf" srcId="{950ACA52-E1EC-46F4-9489-4E7FE76ED873}" destId="{AE58E495-A3E4-4354-A0B6-0F24A866C740}" srcOrd="0" destOrd="0" presId="urn:microsoft.com/office/officeart/2005/8/layout/vList2"/>
    <dgm:cxn modelId="{2C9C732D-D246-49FB-AA08-FF12FFAF8721}" type="presOf" srcId="{12060E45-547A-4E91-8874-A9DA76A9E808}" destId="{BED960A7-7D02-47F2-A300-907C78B44E33}" srcOrd="0" destOrd="0" presId="urn:microsoft.com/office/officeart/2005/8/layout/vList2"/>
    <dgm:cxn modelId="{6E28615E-B6E9-4BD0-8A6F-FBF88B92AFCB}" srcId="{FCA29DA5-873B-44A1-805B-970F8A57CA7E}" destId="{2F972490-6F2E-4783-9B4D-BFAF6032F9A9}" srcOrd="0" destOrd="0" parTransId="{E72CA646-FAD6-4BA8-9F6A-03B6B2B8419B}" sibTransId="{D49C3D02-94FB-4EA8-9FDC-48442E95B54F}"/>
    <dgm:cxn modelId="{DF3A7766-D030-4D4D-8CBF-3E5254EBC7BB}" srcId="{12060E45-547A-4E91-8874-A9DA76A9E808}" destId="{FCA29DA5-873B-44A1-805B-970F8A57CA7E}" srcOrd="1" destOrd="0" parTransId="{2EE58B5A-2BD1-41C0-951A-FA0C1E1F76AD}" sibTransId="{B6F85E7F-153C-4CF1-9084-8C892092E175}"/>
    <dgm:cxn modelId="{D5E24476-273B-4465-9119-5065D60FD4A9}" srcId="{239A0A85-5657-4F3D-B871-6028DC78381F}" destId="{950ACA52-E1EC-46F4-9489-4E7FE76ED873}" srcOrd="0" destOrd="0" parTransId="{8DB21BC9-8909-45A9-9FBC-73C8B7B902DE}" sibTransId="{829F43D7-B0A2-4CD6-8937-F679980DCBD7}"/>
    <dgm:cxn modelId="{638784C3-4311-403A-9C6A-BF365F1392CB}" srcId="{12060E45-547A-4E91-8874-A9DA76A9E808}" destId="{239A0A85-5657-4F3D-B871-6028DC78381F}" srcOrd="0" destOrd="0" parTransId="{CD40435F-05E3-416F-85E2-B9B196796593}" sibTransId="{8B7B966A-3438-426E-93E9-837782439951}"/>
    <dgm:cxn modelId="{A925AEC5-4C62-4AA3-A289-216A5FA23FF3}" type="presOf" srcId="{BC44025E-414C-426E-A053-05CA97E02A7C}" destId="{92196A33-C029-46DB-86A3-E630A328BDC9}" srcOrd="0" destOrd="0" presId="urn:microsoft.com/office/officeart/2005/8/layout/vList2"/>
    <dgm:cxn modelId="{664F7ACE-06A5-49D5-8396-9B4A946B3D65}" type="presOf" srcId="{239A0A85-5657-4F3D-B871-6028DC78381F}" destId="{0A9BCA0F-A5DC-471C-AE51-19BB5906505F}" srcOrd="0" destOrd="0" presId="urn:microsoft.com/office/officeart/2005/8/layout/vList2"/>
    <dgm:cxn modelId="{7C7AA7EE-98C5-42EB-9EDD-4DA8068C30FE}" type="presOf" srcId="{2F972490-6F2E-4783-9B4D-BFAF6032F9A9}" destId="{89F6BA0E-EBCD-4927-919A-6A2260BBBAFE}" srcOrd="0" destOrd="0" presId="urn:microsoft.com/office/officeart/2005/8/layout/vList2"/>
    <dgm:cxn modelId="{080BADB5-048E-40F7-9E6B-CFFF29C8A2FB}" type="presParOf" srcId="{BED960A7-7D02-47F2-A300-907C78B44E33}" destId="{0A9BCA0F-A5DC-471C-AE51-19BB5906505F}" srcOrd="0" destOrd="0" presId="urn:microsoft.com/office/officeart/2005/8/layout/vList2"/>
    <dgm:cxn modelId="{4D928FCB-180A-4F07-A55F-0615454923C8}" type="presParOf" srcId="{BED960A7-7D02-47F2-A300-907C78B44E33}" destId="{AE58E495-A3E4-4354-A0B6-0F24A866C740}" srcOrd="1" destOrd="0" presId="urn:microsoft.com/office/officeart/2005/8/layout/vList2"/>
    <dgm:cxn modelId="{F50543AB-030D-4A2C-814A-8B9A6AAF9FCE}" type="presParOf" srcId="{BED960A7-7D02-47F2-A300-907C78B44E33}" destId="{B5456E7C-F8D0-4408-90BE-B6AE7149602B}" srcOrd="2" destOrd="0" presId="urn:microsoft.com/office/officeart/2005/8/layout/vList2"/>
    <dgm:cxn modelId="{CB4CEC12-1A8B-42C0-93B5-1E187874FCF9}" type="presParOf" srcId="{BED960A7-7D02-47F2-A300-907C78B44E33}" destId="{89F6BA0E-EBCD-4927-919A-6A2260BBBAFE}" srcOrd="3" destOrd="0" presId="urn:microsoft.com/office/officeart/2005/8/layout/vList2"/>
    <dgm:cxn modelId="{8D5D944A-83C4-410E-90A5-F69621F22456}" type="presParOf" srcId="{BED960A7-7D02-47F2-A300-907C78B44E33}" destId="{92196A33-C029-46DB-86A3-E630A328BDC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BCA0F-A5DC-471C-AE51-19BB5906505F}">
      <dsp:nvSpPr>
        <dsp:cNvPr id="0" name=""/>
        <dsp:cNvSpPr/>
      </dsp:nvSpPr>
      <dsp:spPr>
        <a:xfrm>
          <a:off x="0" y="95160"/>
          <a:ext cx="4050634" cy="9199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b="1" kern="1200" dirty="0"/>
            <a:t>"</a:t>
          </a:r>
          <a:r>
            <a:rPr lang="en-US" sz="2400" b="0" kern="1200" dirty="0"/>
            <a:t>Astronomical tables" (Zij) </a:t>
          </a:r>
          <a:endParaRPr lang="ru-RU" sz="3300" b="0" kern="1200" dirty="0"/>
        </a:p>
      </dsp:txBody>
      <dsp:txXfrm>
        <a:off x="44906" y="140066"/>
        <a:ext cx="3960822" cy="830100"/>
      </dsp:txXfrm>
    </dsp:sp>
    <dsp:sp modelId="{AE58E495-A3E4-4354-A0B6-0F24A866C740}">
      <dsp:nvSpPr>
        <dsp:cNvPr id="0" name=""/>
        <dsp:cNvSpPr/>
      </dsp:nvSpPr>
      <dsp:spPr>
        <a:xfrm>
          <a:off x="0" y="1015073"/>
          <a:ext cx="4050634" cy="393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608"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b="0" kern="1200" dirty="0">
              <a:latin typeface="+mj-lt"/>
            </a:rPr>
            <a:t>compiled in three volume</a:t>
          </a:r>
          <a:endParaRPr lang="ru-RU" sz="2400" b="0" kern="1200" dirty="0">
            <a:latin typeface="+mj-lt"/>
          </a:endParaRPr>
        </a:p>
      </dsp:txBody>
      <dsp:txXfrm>
        <a:off x="0" y="1015073"/>
        <a:ext cx="4050634" cy="393299"/>
      </dsp:txXfrm>
    </dsp:sp>
    <dsp:sp modelId="{B5456E7C-F8D0-4408-90BE-B6AE7149602B}">
      <dsp:nvSpPr>
        <dsp:cNvPr id="0" name=""/>
        <dsp:cNvSpPr/>
      </dsp:nvSpPr>
      <dsp:spPr>
        <a:xfrm>
          <a:off x="0" y="1408373"/>
          <a:ext cx="4050634" cy="9199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kern="1200" dirty="0"/>
            <a:t>The first table of tangent and cotangents</a:t>
          </a:r>
          <a:endParaRPr lang="ru-RU" sz="2000" b="0" kern="1200" dirty="0"/>
        </a:p>
      </dsp:txBody>
      <dsp:txXfrm>
        <a:off x="44906" y="1453279"/>
        <a:ext cx="3960822" cy="830100"/>
      </dsp:txXfrm>
    </dsp:sp>
    <dsp:sp modelId="{89F6BA0E-EBCD-4927-919A-6A2260BBBAFE}">
      <dsp:nvSpPr>
        <dsp:cNvPr id="0" name=""/>
        <dsp:cNvSpPr/>
      </dsp:nvSpPr>
      <dsp:spPr>
        <a:xfrm>
          <a:off x="0" y="2328285"/>
          <a:ext cx="4050634" cy="465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608" tIns="35560" rIns="199136" bIns="35560" numCol="1" spcCol="1270" anchor="t" anchorCtr="0">
          <a:noAutofit/>
        </a:bodyPr>
        <a:lstStyle/>
        <a:p>
          <a:pPr marL="285750" lvl="1" indent="-285750" algn="l" defTabSz="1244600">
            <a:lnSpc>
              <a:spcPct val="90000"/>
            </a:lnSpc>
            <a:spcBef>
              <a:spcPct val="0"/>
            </a:spcBef>
            <a:spcAft>
              <a:spcPct val="20000"/>
            </a:spcAft>
            <a:buChar char="•"/>
          </a:pPr>
          <a:r>
            <a:rPr lang="en-US" sz="2800" b="0" kern="1200" dirty="0"/>
            <a:t>Damascus Zij</a:t>
          </a:r>
          <a:endParaRPr lang="ru-RU" sz="2800" b="0" kern="1200" dirty="0"/>
        </a:p>
      </dsp:txBody>
      <dsp:txXfrm>
        <a:off x="0" y="2328285"/>
        <a:ext cx="4050634" cy="465750"/>
      </dsp:txXfrm>
    </dsp:sp>
    <dsp:sp modelId="{92196A33-C029-46DB-86A3-E630A328BDC9}">
      <dsp:nvSpPr>
        <dsp:cNvPr id="0" name=""/>
        <dsp:cNvSpPr/>
      </dsp:nvSpPr>
      <dsp:spPr>
        <a:xfrm>
          <a:off x="0" y="2794035"/>
          <a:ext cx="4050634" cy="9199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kern="1200" dirty="0">
              <a:solidFill>
                <a:schemeClr val="tx1"/>
              </a:solidFill>
            </a:rPr>
            <a:t>The Book of Bodies and Distances </a:t>
          </a:r>
        </a:p>
        <a:p>
          <a:pPr marL="0" lvl="0" indent="0" algn="l" defTabSz="889000">
            <a:lnSpc>
              <a:spcPct val="90000"/>
            </a:lnSpc>
            <a:spcBef>
              <a:spcPct val="0"/>
            </a:spcBef>
            <a:spcAft>
              <a:spcPct val="35000"/>
            </a:spcAft>
            <a:buNone/>
          </a:pPr>
          <a:r>
            <a:rPr lang="en-US" sz="2000" b="0" kern="1200" dirty="0">
              <a:solidFill>
                <a:schemeClr val="tx1"/>
              </a:solidFill>
            </a:rPr>
            <a:t>(</a:t>
          </a:r>
          <a:r>
            <a:rPr lang="en-US" sz="2000" b="0" kern="1200" dirty="0" err="1">
              <a:solidFill>
                <a:schemeClr val="tx1"/>
              </a:solidFill>
            </a:rPr>
            <a:t>Kitāb</a:t>
          </a:r>
          <a:r>
            <a:rPr lang="en-US" sz="2000" b="0" kern="1200" dirty="0">
              <a:solidFill>
                <a:schemeClr val="tx1"/>
              </a:solidFill>
            </a:rPr>
            <a:t> al-</a:t>
          </a:r>
          <a:r>
            <a:rPr lang="en-US" sz="2000" b="0" kern="1200" dirty="0" err="1">
              <a:solidFill>
                <a:schemeClr val="tx1"/>
              </a:solidFill>
            </a:rPr>
            <a:t>ajrām</a:t>
          </a:r>
          <a:r>
            <a:rPr lang="en-US" sz="2000" b="0" kern="1200" dirty="0">
              <a:solidFill>
                <a:schemeClr val="tx1"/>
              </a:solidFill>
            </a:rPr>
            <a:t> </a:t>
          </a:r>
          <a:r>
            <a:rPr lang="en-US" sz="2000" b="0" kern="1200" dirty="0" err="1">
              <a:solidFill>
                <a:schemeClr val="tx1"/>
              </a:solidFill>
            </a:rPr>
            <a:t>wa</a:t>
          </a:r>
          <a:r>
            <a:rPr lang="en-US" sz="2000" b="0" kern="1200" dirty="0">
              <a:solidFill>
                <a:schemeClr val="tx1"/>
              </a:solidFill>
            </a:rPr>
            <a:t>-l-ab '</a:t>
          </a:r>
          <a:r>
            <a:rPr lang="en-US" sz="2000" b="0" kern="1200" dirty="0" err="1">
              <a:solidFill>
                <a:schemeClr val="tx1"/>
              </a:solidFill>
            </a:rPr>
            <a:t>ād</a:t>
          </a:r>
          <a:r>
            <a:rPr lang="en-US" sz="2000" b="0" kern="1200" dirty="0">
              <a:solidFill>
                <a:schemeClr val="tx1"/>
              </a:solidFill>
            </a:rPr>
            <a:t>)</a:t>
          </a:r>
          <a:endParaRPr lang="ru-RU" sz="2000" b="0" kern="1200" dirty="0">
            <a:solidFill>
              <a:schemeClr val="tx1"/>
            </a:solidFill>
          </a:endParaRPr>
        </a:p>
      </dsp:txBody>
      <dsp:txXfrm>
        <a:off x="44906" y="2838941"/>
        <a:ext cx="3960822" cy="8301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ru-RU"/>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AC53379-00A9-4ACB-A435-921B2401AD7E}" type="slidenum">
              <a:rPr lang="ru-RU" smtClean="0"/>
              <a:t>‹#›</a:t>
            </a:fld>
            <a:endParaRPr lang="ru-RU"/>
          </a:p>
        </p:txBody>
      </p:sp>
    </p:spTree>
    <p:extLst>
      <p:ext uri="{BB962C8B-B14F-4D97-AF65-F5344CB8AC3E}">
        <p14:creationId xmlns:p14="http://schemas.microsoft.com/office/powerpoint/2010/main" val="147722031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ru-RU"/>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097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55173FB7-B659-4D75-A873-4B3303B38508}" type="datetimeFigureOut">
              <a:rPr lang="ru-RU" smtClean="0"/>
              <a:t>30.09.2026</a:t>
            </a:fld>
            <a:endParaRPr lang="ru-RU"/>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ru-RU"/>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AC53379-00A9-4ACB-A435-921B2401AD7E}" type="slidenum">
              <a:rPr lang="ru-RU" smtClean="0"/>
              <a:t>‹#›</a:t>
            </a:fld>
            <a:endParaRPr lang="ru-RU"/>
          </a:p>
        </p:txBody>
      </p:sp>
    </p:spTree>
    <p:extLst>
      <p:ext uri="{BB962C8B-B14F-4D97-AF65-F5344CB8AC3E}">
        <p14:creationId xmlns:p14="http://schemas.microsoft.com/office/powerpoint/2010/main" val="169211175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55173FB7-B659-4D75-A873-4B3303B38508}" type="datetimeFigureOut">
              <a:rPr lang="ru-RU" smtClean="0"/>
              <a:t>30.09.2026</a:t>
            </a:fld>
            <a:endParaRPr lang="ru-RU"/>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ru-RU"/>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AC53379-00A9-4ACB-A435-921B2401AD7E}" type="slidenum">
              <a:rPr lang="ru-RU" smtClean="0"/>
              <a:t>‹#›</a:t>
            </a:fld>
            <a:endParaRPr lang="ru-RU"/>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87154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55173FB7-B659-4D75-A873-4B3303B38508}" type="datetimeFigureOut">
              <a:rPr lang="ru-RU" smtClean="0"/>
              <a:t>30.09.2026</a:t>
            </a:fld>
            <a:endParaRPr lang="ru-RU"/>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ru-RU"/>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AC53379-00A9-4ACB-A435-921B2401AD7E}" type="slidenum">
              <a:rPr lang="ru-RU" smtClean="0"/>
              <a:t>‹#›</a:t>
            </a:fld>
            <a:endParaRPr lang="ru-RU"/>
          </a:p>
        </p:txBody>
      </p:sp>
    </p:spTree>
    <p:extLst>
      <p:ext uri="{BB962C8B-B14F-4D97-AF65-F5344CB8AC3E}">
        <p14:creationId xmlns:p14="http://schemas.microsoft.com/office/powerpoint/2010/main" val="407737621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ru-RU"/>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560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55173FB7-B659-4D75-A873-4B3303B38508}" type="datetimeFigureOut">
              <a:rPr lang="ru-RU" smtClean="0"/>
              <a:t>30.09.2026</a:t>
            </a:fld>
            <a:endParaRPr lang="ru-RU"/>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ru-RU"/>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254275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ru-RU"/>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1734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ru-RU"/>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500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55173FB7-B659-4D75-A873-4B3303B38508}" type="datetimeFigureOut">
              <a:rPr lang="ru-RU" smtClean="0"/>
              <a:t>30.09.2026</a:t>
            </a:fld>
            <a:endParaRPr lang="ru-RU"/>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ru-RU"/>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AC53379-00A9-4ACB-A435-921B2401AD7E}" type="slidenum">
              <a:rPr lang="ru-RU" smtClean="0"/>
              <a:t>‹#›</a:t>
            </a:fld>
            <a:endParaRPr lang="ru-RU"/>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794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55173FB7-B659-4D75-A873-4B3303B38508}" type="datetimeFigureOut">
              <a:rPr lang="ru-RU" smtClean="0"/>
              <a:t>30.09.2026</a:t>
            </a:fld>
            <a:endParaRPr lang="ru-RU"/>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AC53379-00A9-4ACB-A435-921B2401AD7E}" type="slidenum">
              <a:rPr lang="ru-RU" smtClean="0"/>
              <a:t>‹#›</a:t>
            </a:fld>
            <a:endParaRPr lang="ru-RU"/>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353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55173FB7-B659-4D75-A873-4B3303B38508}" type="datetimeFigureOut">
              <a:rPr lang="ru-RU" smtClean="0"/>
              <a:t>30.09.2026</a:t>
            </a:fld>
            <a:endParaRPr lang="ru-RU"/>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ru-RU"/>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AC53379-00A9-4ACB-A435-921B2401AD7E}" type="slidenum">
              <a:rPr lang="ru-RU" smtClean="0"/>
              <a:t>‹#›</a:t>
            </a:fld>
            <a:endParaRPr lang="ru-RU"/>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2968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5173FB7-B659-4D75-A873-4B3303B38508}" type="datetimeFigureOut">
              <a:rPr lang="ru-RU" smtClean="0"/>
              <a:t>30.09.2026</a:t>
            </a:fld>
            <a:endParaRPr lang="ru-RU"/>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AC53379-00A9-4ACB-A435-921B2401AD7E}" type="slidenum">
              <a:rPr lang="ru-RU" smtClean="0"/>
              <a:t>‹#›</a:t>
            </a:fld>
            <a:endParaRPr lang="ru-RU"/>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2780908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55173FB7-B659-4D75-A873-4B3303B38508}" type="datetimeFigureOut">
              <a:rPr lang="ru-RU" smtClean="0"/>
              <a:t>30.09.2026</a:t>
            </a:fld>
            <a:endParaRPr lang="ru-RU"/>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ru-RU"/>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AC53379-00A9-4ACB-A435-921B2401AD7E}" type="slidenum">
              <a:rPr lang="ru-RU" smtClean="0"/>
              <a:t>‹#›</a:t>
            </a:fld>
            <a:endParaRPr lang="ru-RU"/>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32662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55173FB7-B659-4D75-A873-4B3303B38508}" type="datetimeFigureOut">
              <a:rPr lang="ru-RU" smtClean="0"/>
              <a:t>30.09.2026</a:t>
            </a:fld>
            <a:endParaRPr lang="ru-RU"/>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ru-RU"/>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AC53379-00A9-4ACB-A435-921B2401AD7E}" type="slidenum">
              <a:rPr lang="ru-RU" smtClean="0"/>
              <a:t>‹#›</a:t>
            </a:fld>
            <a:endParaRPr lang="ru-RU"/>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761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55173FB7-B659-4D75-A873-4B3303B38508}" type="datetimeFigureOut">
              <a:rPr lang="ru-RU" smtClean="0"/>
              <a:t>30.09.2026</a:t>
            </a:fld>
            <a:endParaRPr lang="ru-RU"/>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ru-RU"/>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AC53379-00A9-4ACB-A435-921B2401AD7E}" type="slidenum">
              <a:rPr lang="ru-RU" smtClean="0"/>
              <a:t>‹#›</a:t>
            </a:fld>
            <a:endParaRPr lang="ru-RU"/>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3405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ru-RU"/>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57305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ru-RU"/>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65340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ru-RU"/>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68508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ru-RU"/>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AC53379-00A9-4ACB-A435-921B2401AD7E}" type="slidenum">
              <a:rPr lang="ru-RU" smtClean="0"/>
              <a:t>‹#›</a:t>
            </a:fld>
            <a:endParaRPr lang="ru-RU"/>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22881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5173FB7-B659-4D75-A873-4B3303B38508}" type="datetimeFigureOut">
              <a:rPr lang="ru-RU" smtClean="0"/>
              <a:t>30.09.2026</a:t>
            </a:fld>
            <a:endParaRPr lang="ru-RU"/>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ru-RU"/>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AC53379-00A9-4ACB-A435-921B2401AD7E}" type="slidenum">
              <a:rPr lang="ru-RU" smtClean="0"/>
              <a:t>‹#›</a:t>
            </a:fld>
            <a:endParaRPr lang="ru-RU"/>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48657"/>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55173FB7-B659-4D75-A873-4B3303B38508}" type="datetimeFigureOut">
              <a:rPr lang="ru-RU" smtClean="0"/>
              <a:t>30.09.2026</a:t>
            </a:fld>
            <a:endParaRPr lang="ru-RU"/>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ru-RU"/>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AC53379-00A9-4ACB-A435-921B2401AD7E}" type="slidenum">
              <a:rPr lang="ru-RU" smtClean="0"/>
              <a:t>‹#›</a:t>
            </a:fld>
            <a:endParaRPr lang="ru-RU"/>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28239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55173FB7-B659-4D75-A873-4B3303B38508}" type="datetimeFigureOut">
              <a:rPr lang="ru-RU" smtClean="0"/>
              <a:t>30.09.2026</a:t>
            </a:fld>
            <a:endParaRPr lang="ru-RU"/>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ru-RU"/>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AC53379-00A9-4ACB-A435-921B2401AD7E}" type="slidenum">
              <a:rPr lang="ru-RU" smtClean="0"/>
              <a:t>‹#›</a:t>
            </a:fld>
            <a:endParaRPr lang="ru-RU"/>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74428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55173FB7-B659-4D75-A873-4B3303B38508}" type="datetimeFigureOut">
              <a:rPr lang="ru-RU" smtClean="0"/>
              <a:t>30.09.2026</a:t>
            </a:fld>
            <a:endParaRPr lang="ru-RU"/>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ru-RU"/>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AC53379-00A9-4ACB-A435-921B2401AD7E}" type="slidenum">
              <a:rPr lang="ru-RU" smtClean="0"/>
              <a:t>‹#›</a:t>
            </a:fld>
            <a:endParaRPr lang="ru-RU"/>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8912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55173FB7-B659-4D75-A873-4B3303B38508}" type="datetimeFigureOut">
              <a:rPr lang="ru-RU" smtClean="0"/>
              <a:t>30.09.2026</a:t>
            </a:fld>
            <a:endParaRPr lang="ru-RU"/>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ru-RU"/>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AC53379-00A9-4ACB-A435-921B2401AD7E}" type="slidenum">
              <a:rPr lang="ru-RU" smtClean="0"/>
              <a:t>‹#›</a:t>
            </a:fld>
            <a:endParaRPr lang="ru-RU"/>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1826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5173FB7-B659-4D75-A873-4B3303B38508}" type="datetimeFigureOut">
              <a:rPr lang="ru-RU" smtClean="0"/>
              <a:t>30.09.2026</a:t>
            </a:fld>
            <a:endParaRPr lang="ru-RU"/>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AC53379-00A9-4ACB-A435-921B2401AD7E}" type="slidenum">
              <a:rPr lang="ru-RU" smtClean="0"/>
              <a:t>‹#›</a:t>
            </a:fld>
            <a:endParaRPr lang="ru-RU"/>
          </a:p>
        </p:txBody>
      </p:sp>
    </p:spTree>
    <p:extLst>
      <p:ext uri="{BB962C8B-B14F-4D97-AF65-F5344CB8AC3E}">
        <p14:creationId xmlns:p14="http://schemas.microsoft.com/office/powerpoint/2010/main" val="2272015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5173FB7-B659-4D75-A873-4B3303B38508}" type="datetimeFigureOut">
              <a:rPr lang="ru-RU" smtClean="0"/>
              <a:t>30.09.2026</a:t>
            </a:fld>
            <a:endParaRPr lang="ru-RU"/>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AC53379-00A9-4ACB-A435-921B2401AD7E}" type="slidenum">
              <a:rPr lang="ru-RU" smtClean="0"/>
              <a:t>‹#›</a:t>
            </a:fld>
            <a:endParaRPr lang="ru-RU"/>
          </a:p>
        </p:txBody>
      </p:sp>
    </p:spTree>
    <p:extLst>
      <p:ext uri="{BB962C8B-B14F-4D97-AF65-F5344CB8AC3E}">
        <p14:creationId xmlns:p14="http://schemas.microsoft.com/office/powerpoint/2010/main" val="28033783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72443-1C22-F823-D910-7117CE385A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37CBEC8D-192C-4728-AC05-E459E99F98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3CE83CE2-DB3E-2556-3D93-951E1BC55A90}"/>
              </a:ext>
            </a:extLst>
          </p:cNvPr>
          <p:cNvSpPr>
            <a:spLocks noGrp="1"/>
          </p:cNvSpPr>
          <p:nvPr>
            <p:ph type="dt" sz="half" idx="10"/>
          </p:nvPr>
        </p:nvSpPr>
        <p:spPr/>
        <p:txBody>
          <a:bodyPr/>
          <a:lstStyle/>
          <a:p>
            <a:fld id="{55173FB7-B659-4D75-A873-4B3303B38508}" type="datetimeFigureOut">
              <a:rPr lang="ru-RU" smtClean="0"/>
              <a:t>30.09.2026</a:t>
            </a:fld>
            <a:endParaRPr lang="ru-RU"/>
          </a:p>
        </p:txBody>
      </p:sp>
      <p:sp>
        <p:nvSpPr>
          <p:cNvPr id="5" name="Footer Placeholder 4">
            <a:extLst>
              <a:ext uri="{FF2B5EF4-FFF2-40B4-BE49-F238E27FC236}">
                <a16:creationId xmlns:a16="http://schemas.microsoft.com/office/drawing/2014/main" id="{06B3B3A9-A189-82FA-1ABB-4B80D85C51B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9502E57E-C449-E14B-A6BB-12B78F148E39}"/>
              </a:ext>
            </a:extLst>
          </p:cNvPr>
          <p:cNvSpPr>
            <a:spLocks noGrp="1"/>
          </p:cNvSpPr>
          <p:nvPr>
            <p:ph type="sldNum" sz="quarter" idx="12"/>
          </p:nvPr>
        </p:nvSpPr>
        <p:spPr/>
        <p:txBody>
          <a:bodyPr/>
          <a:lstStyle/>
          <a:p>
            <a:fld id="{5AC53379-00A9-4ACB-A435-921B2401AD7E}" type="slidenum">
              <a:rPr lang="ru-RU" smtClean="0"/>
              <a:t>‹#›</a:t>
            </a:fld>
            <a:endParaRPr lang="ru-RU"/>
          </a:p>
        </p:txBody>
      </p:sp>
    </p:spTree>
    <p:extLst>
      <p:ext uri="{BB962C8B-B14F-4D97-AF65-F5344CB8AC3E}">
        <p14:creationId xmlns:p14="http://schemas.microsoft.com/office/powerpoint/2010/main" val="1917449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55173FB7-B659-4D75-A873-4B3303B38508}" type="datetimeFigureOut">
              <a:rPr lang="ru-RU" smtClean="0"/>
              <a:t>30.09.2026</a:t>
            </a:fld>
            <a:endParaRPr lang="ru-RU"/>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ru-RU"/>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AC53379-00A9-4ACB-A435-921B2401AD7E}" type="slidenum">
              <a:rPr lang="ru-RU" smtClean="0"/>
              <a:t>‹#›</a:t>
            </a:fld>
            <a:endParaRPr lang="ru-RU"/>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6681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8.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1.png"/><Relationship Id="rId1" Type="http://schemas.openxmlformats.org/officeDocument/2006/relationships/slideLayout" Target="../slideLayouts/slideLayout2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BE5DB5C-AF1B-1FEE-30D5-6BC38C8C6933}"/>
              </a:ext>
            </a:extLst>
          </p:cNvPr>
          <p:cNvPicPr>
            <a:picLocks noChangeAspect="1"/>
          </p:cNvPicPr>
          <p:nvPr/>
        </p:nvPicPr>
        <p:blipFill>
          <a:blip r:embed="rId2"/>
          <a:stretch>
            <a:fillRect/>
          </a:stretch>
        </p:blipFill>
        <p:spPr>
          <a:xfrm>
            <a:off x="2689725" y="2428594"/>
            <a:ext cx="6460424" cy="1453596"/>
          </a:xfrm>
          <a:prstGeom prst="rect">
            <a:avLst/>
          </a:prstGeom>
        </p:spPr>
      </p:pic>
    </p:spTree>
    <p:extLst>
      <p:ext uri="{BB962C8B-B14F-4D97-AF65-F5344CB8AC3E}">
        <p14:creationId xmlns:p14="http://schemas.microsoft.com/office/powerpoint/2010/main" val="173495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C553-8FDE-B04B-2FD3-4F4F4271A7C2}"/>
              </a:ext>
            </a:extLst>
          </p:cNvPr>
          <p:cNvSpPr>
            <a:spLocks noGrp="1"/>
          </p:cNvSpPr>
          <p:nvPr>
            <p:ph type="ctrTitle"/>
          </p:nvPr>
        </p:nvSpPr>
        <p:spPr>
          <a:xfrm>
            <a:off x="1001485" y="2108199"/>
            <a:ext cx="10392229" cy="2086429"/>
          </a:xfrm>
        </p:spPr>
        <p:txBody>
          <a:bodyPr>
            <a:normAutofit fontScale="90000"/>
          </a:bodyPr>
          <a:lstStyle/>
          <a:p>
            <a:r>
              <a:rPr lang="en-GB" b="1" dirty="0">
                <a:latin typeface="Times New Roman" panose="02020603050405020304" pitchFamily="18" charset="0"/>
                <a:cs typeface="Times New Roman" panose="02020603050405020304" pitchFamily="18" charset="0"/>
              </a:rPr>
              <a:t>THE HOUSE OF WISDOM</a:t>
            </a:r>
            <a:br>
              <a:rPr lang="en-GB" b="1" dirty="0">
                <a:latin typeface="Times New Roman" panose="02020603050405020304" pitchFamily="18" charset="0"/>
                <a:cs typeface="Times New Roman" panose="02020603050405020304" pitchFamily="18" charset="0"/>
              </a:rPr>
            </a:br>
            <a:r>
              <a:rPr lang="en-GB" b="1"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CENTRAL ASIAN SCHOLARS</a:t>
            </a:r>
            <a:r>
              <a:rPr lang="en-GB" b="1" dirty="0">
                <a:latin typeface="Times New Roman" panose="02020603050405020304" pitchFamily="18" charset="0"/>
                <a:cs typeface="Times New Roman" panose="02020603050405020304" pitchFamily="18" charset="0"/>
              </a:rPr>
              <a:t>)</a:t>
            </a:r>
            <a:endParaRPr lang="ru-R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6977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27529E05-1E3D-ED2C-EB88-2EC35636FB6A}"/>
              </a:ext>
            </a:extLst>
          </p:cNvPr>
          <p:cNvSpPr>
            <a:spLocks noGrp="1"/>
          </p:cNvSpPr>
          <p:nvPr>
            <p:ph type="subTitle" idx="1"/>
          </p:nvPr>
        </p:nvSpPr>
        <p:spPr>
          <a:xfrm>
            <a:off x="648272" y="1695498"/>
            <a:ext cx="3137663" cy="811822"/>
          </a:xfrm>
        </p:spPr>
        <p:txBody>
          <a:bodyPr>
            <a:normAutofit fontScale="92500" lnSpcReduction="10000"/>
          </a:bodyPr>
          <a:lstStyle/>
          <a:p>
            <a:r>
              <a:rPr lang="en-GB" dirty="0">
                <a:latin typeface="+mj-lt"/>
                <a:cs typeface="Times New Roman" panose="02020603050405020304" pitchFamily="18" charset="0"/>
              </a:rPr>
              <a:t>Abu Ja’far al-Mansur (754-775)</a:t>
            </a:r>
            <a:endParaRPr lang="ru-RU" dirty="0">
              <a:latin typeface="+mj-lt"/>
              <a:cs typeface="Times New Roman" panose="02020603050405020304" pitchFamily="18" charset="0"/>
            </a:endParaRPr>
          </a:p>
        </p:txBody>
      </p:sp>
      <p:pic>
        <p:nvPicPr>
          <p:cNvPr id="7" name="Picture 6">
            <a:extLst>
              <a:ext uri="{FF2B5EF4-FFF2-40B4-BE49-F238E27FC236}">
                <a16:creationId xmlns:a16="http://schemas.microsoft.com/office/drawing/2014/main" id="{15935C93-ED02-ECD2-3C83-CEF0A7B99B07}"/>
              </a:ext>
            </a:extLst>
          </p:cNvPr>
          <p:cNvPicPr>
            <a:picLocks noChangeAspect="1"/>
          </p:cNvPicPr>
          <p:nvPr/>
        </p:nvPicPr>
        <p:blipFill>
          <a:blip r:embed="rId2"/>
          <a:stretch>
            <a:fillRect/>
          </a:stretch>
        </p:blipFill>
        <p:spPr>
          <a:xfrm>
            <a:off x="305478" y="2776853"/>
            <a:ext cx="3607080" cy="2568241"/>
          </a:xfrm>
          <a:prstGeom prst="rect">
            <a:avLst/>
          </a:prstGeom>
        </p:spPr>
      </p:pic>
      <p:sp>
        <p:nvSpPr>
          <p:cNvPr id="3" name="TextBox 2">
            <a:extLst>
              <a:ext uri="{FF2B5EF4-FFF2-40B4-BE49-F238E27FC236}">
                <a16:creationId xmlns:a16="http://schemas.microsoft.com/office/drawing/2014/main" id="{65C21906-77D6-3C76-6783-5E4A9076891F}"/>
              </a:ext>
            </a:extLst>
          </p:cNvPr>
          <p:cNvSpPr txBox="1"/>
          <p:nvPr/>
        </p:nvSpPr>
        <p:spPr>
          <a:xfrm>
            <a:off x="4106440" y="885145"/>
            <a:ext cx="3607081" cy="1200329"/>
          </a:xfrm>
          <a:prstGeom prst="rect">
            <a:avLst/>
          </a:prstGeom>
          <a:noFill/>
        </p:spPr>
        <p:txBody>
          <a:bodyPr wrap="square">
            <a:spAutoFit/>
          </a:bodyPr>
          <a:lstStyle/>
          <a:p>
            <a:pPr algn="ctr"/>
            <a:r>
              <a:rPr lang="en-US" sz="2400" dirty="0"/>
              <a:t>A palace library modeled after the Sasanian imperial library</a:t>
            </a:r>
            <a:endParaRPr lang="ru-RU" sz="2400" dirty="0"/>
          </a:p>
        </p:txBody>
      </p:sp>
      <p:pic>
        <p:nvPicPr>
          <p:cNvPr id="6" name="Picture 5">
            <a:extLst>
              <a:ext uri="{FF2B5EF4-FFF2-40B4-BE49-F238E27FC236}">
                <a16:creationId xmlns:a16="http://schemas.microsoft.com/office/drawing/2014/main" id="{CB3F9A5A-7B53-BF9C-585F-819C7E5726B7}"/>
              </a:ext>
            </a:extLst>
          </p:cNvPr>
          <p:cNvPicPr>
            <a:picLocks noChangeAspect="1"/>
          </p:cNvPicPr>
          <p:nvPr/>
        </p:nvPicPr>
        <p:blipFill>
          <a:blip r:embed="rId3"/>
          <a:stretch>
            <a:fillRect/>
          </a:stretch>
        </p:blipFill>
        <p:spPr>
          <a:xfrm>
            <a:off x="4172545" y="2184204"/>
            <a:ext cx="3846909" cy="646232"/>
          </a:xfrm>
          <a:prstGeom prst="rect">
            <a:avLst/>
          </a:prstGeom>
        </p:spPr>
      </p:pic>
      <p:pic>
        <p:nvPicPr>
          <p:cNvPr id="9" name="Picture 8">
            <a:extLst>
              <a:ext uri="{FF2B5EF4-FFF2-40B4-BE49-F238E27FC236}">
                <a16:creationId xmlns:a16="http://schemas.microsoft.com/office/drawing/2014/main" id="{ADD3F6E7-E763-B1B9-A1D2-8BAACD0458D2}"/>
              </a:ext>
            </a:extLst>
          </p:cNvPr>
          <p:cNvPicPr>
            <a:picLocks noChangeAspect="1"/>
          </p:cNvPicPr>
          <p:nvPr/>
        </p:nvPicPr>
        <p:blipFill>
          <a:blip r:embed="rId4"/>
          <a:stretch>
            <a:fillRect/>
          </a:stretch>
        </p:blipFill>
        <p:spPr>
          <a:xfrm>
            <a:off x="8034026" y="974465"/>
            <a:ext cx="3868286" cy="4224510"/>
          </a:xfrm>
          <a:prstGeom prst="rect">
            <a:avLst/>
          </a:prstGeom>
        </p:spPr>
      </p:pic>
      <p:sp>
        <p:nvSpPr>
          <p:cNvPr id="11" name="TextBox 10">
            <a:extLst>
              <a:ext uri="{FF2B5EF4-FFF2-40B4-BE49-F238E27FC236}">
                <a16:creationId xmlns:a16="http://schemas.microsoft.com/office/drawing/2014/main" id="{859E0E33-4409-30D2-B57F-0BD74EC0D7D5}"/>
              </a:ext>
            </a:extLst>
          </p:cNvPr>
          <p:cNvSpPr txBox="1"/>
          <p:nvPr/>
        </p:nvSpPr>
        <p:spPr>
          <a:xfrm>
            <a:off x="7895669" y="5471692"/>
            <a:ext cx="4145000" cy="922889"/>
          </a:xfrm>
          <a:prstGeom prst="rect">
            <a:avLst/>
          </a:prstGeom>
          <a:noFill/>
        </p:spPr>
        <p:txBody>
          <a:bodyPr wrap="square">
            <a:spAutoFit/>
          </a:bodyPr>
          <a:lstStyle/>
          <a:p>
            <a:pPr algn="ctr"/>
            <a:r>
              <a:rPr lang="en-US" dirty="0" err="1"/>
              <a:t>Maqāmāt</a:t>
            </a:r>
            <a:r>
              <a:rPr lang="en-US" dirty="0"/>
              <a:t> (The Assemblies) by al-Hariri.</a:t>
            </a:r>
          </a:p>
          <a:p>
            <a:pPr algn="ctr"/>
            <a:r>
              <a:rPr lang="en-GB" dirty="0"/>
              <a:t>Yahya ibn Mahmud al-</a:t>
            </a:r>
            <a:r>
              <a:rPr lang="en-GB" dirty="0" err="1"/>
              <a:t>Wasiti</a:t>
            </a:r>
            <a:endParaRPr lang="en-GB" dirty="0"/>
          </a:p>
          <a:p>
            <a:pPr algn="ctr"/>
            <a:r>
              <a:rPr lang="ru-RU" dirty="0"/>
              <a:t>1237 CE</a:t>
            </a:r>
          </a:p>
        </p:txBody>
      </p:sp>
      <p:sp>
        <p:nvSpPr>
          <p:cNvPr id="13" name="TextBox 12">
            <a:extLst>
              <a:ext uri="{FF2B5EF4-FFF2-40B4-BE49-F238E27FC236}">
                <a16:creationId xmlns:a16="http://schemas.microsoft.com/office/drawing/2014/main" id="{391AD918-052E-3198-C3BC-7671E063E3F2}"/>
              </a:ext>
            </a:extLst>
          </p:cNvPr>
          <p:cNvSpPr txBox="1"/>
          <p:nvPr/>
        </p:nvSpPr>
        <p:spPr>
          <a:xfrm>
            <a:off x="4224702" y="2805937"/>
            <a:ext cx="3482608" cy="1200329"/>
          </a:xfrm>
          <a:prstGeom prst="rect">
            <a:avLst/>
          </a:prstGeom>
          <a:noFill/>
        </p:spPr>
        <p:txBody>
          <a:bodyPr wrap="square">
            <a:spAutoFit/>
          </a:bodyPr>
          <a:lstStyle/>
          <a:p>
            <a:pPr algn="ctr"/>
            <a:r>
              <a:rPr lang="en-US" sz="2400" dirty="0">
                <a:latin typeface="+mj-lt"/>
              </a:rPr>
              <a:t>sponsoring the translations of texts on astronomy and astrology</a:t>
            </a:r>
            <a:endParaRPr lang="ru-RU" sz="2400" dirty="0">
              <a:latin typeface="+mj-lt"/>
            </a:endParaRPr>
          </a:p>
        </p:txBody>
      </p:sp>
      <p:sp>
        <p:nvSpPr>
          <p:cNvPr id="15" name="TextBox 14">
            <a:extLst>
              <a:ext uri="{FF2B5EF4-FFF2-40B4-BE49-F238E27FC236}">
                <a16:creationId xmlns:a16="http://schemas.microsoft.com/office/drawing/2014/main" id="{32C4676A-E4BF-0E22-9EC4-3E0328863A97}"/>
              </a:ext>
            </a:extLst>
          </p:cNvPr>
          <p:cNvSpPr txBox="1"/>
          <p:nvPr/>
        </p:nvSpPr>
        <p:spPr>
          <a:xfrm>
            <a:off x="4172545" y="4006266"/>
            <a:ext cx="3607081" cy="2677656"/>
          </a:xfrm>
          <a:prstGeom prst="rect">
            <a:avLst/>
          </a:prstGeom>
          <a:noFill/>
        </p:spPr>
        <p:txBody>
          <a:bodyPr wrap="square">
            <a:spAutoFit/>
          </a:bodyPr>
          <a:lstStyle/>
          <a:p>
            <a:pPr algn="ctr"/>
            <a:r>
              <a:rPr lang="en-US" sz="2400" dirty="0"/>
              <a:t>Government secretaries of Persian descent in al-Mansur's administration sponsored translations of Pahlavi texts on the history and principles of royal administration</a:t>
            </a:r>
            <a:endParaRPr lang="ru-RU" sz="2400" dirty="0"/>
          </a:p>
        </p:txBody>
      </p:sp>
      <p:sp>
        <p:nvSpPr>
          <p:cNvPr id="16" name="Star: 5 Points 15">
            <a:extLst>
              <a:ext uri="{FF2B5EF4-FFF2-40B4-BE49-F238E27FC236}">
                <a16:creationId xmlns:a16="http://schemas.microsoft.com/office/drawing/2014/main" id="{A09D85A4-7DE5-5C2D-0DF6-8DC39A27B37E}"/>
              </a:ext>
            </a:extLst>
          </p:cNvPr>
          <p:cNvSpPr/>
          <p:nvPr/>
        </p:nvSpPr>
        <p:spPr>
          <a:xfrm flipH="1">
            <a:off x="4172545" y="1090863"/>
            <a:ext cx="52157" cy="4571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Star: 5 Points 17">
            <a:extLst>
              <a:ext uri="{FF2B5EF4-FFF2-40B4-BE49-F238E27FC236}">
                <a16:creationId xmlns:a16="http://schemas.microsoft.com/office/drawing/2014/main" id="{17ECACC0-36DF-BF33-25A9-04330CF6C3B8}"/>
              </a:ext>
            </a:extLst>
          </p:cNvPr>
          <p:cNvSpPr/>
          <p:nvPr/>
        </p:nvSpPr>
        <p:spPr>
          <a:xfrm flipH="1">
            <a:off x="4198623" y="2411490"/>
            <a:ext cx="52157" cy="4571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Star: 5 Points 19">
            <a:extLst>
              <a:ext uri="{FF2B5EF4-FFF2-40B4-BE49-F238E27FC236}">
                <a16:creationId xmlns:a16="http://schemas.microsoft.com/office/drawing/2014/main" id="{BDECCBB7-B508-ABF5-C0D6-F723E147A75C}"/>
              </a:ext>
            </a:extLst>
          </p:cNvPr>
          <p:cNvSpPr/>
          <p:nvPr/>
        </p:nvSpPr>
        <p:spPr>
          <a:xfrm flipH="1">
            <a:off x="4709955" y="3063860"/>
            <a:ext cx="52157" cy="4571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Star: 5 Points 21">
            <a:extLst>
              <a:ext uri="{FF2B5EF4-FFF2-40B4-BE49-F238E27FC236}">
                <a16:creationId xmlns:a16="http://schemas.microsoft.com/office/drawing/2014/main" id="{F7B380A1-EEE1-2AE0-FFE8-35F74D256D61}"/>
              </a:ext>
            </a:extLst>
          </p:cNvPr>
          <p:cNvSpPr/>
          <p:nvPr/>
        </p:nvSpPr>
        <p:spPr>
          <a:xfrm flipH="1">
            <a:off x="4206984" y="4194531"/>
            <a:ext cx="52157" cy="45719"/>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307526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5EDAA5-140D-BACF-7D13-6EED9588A225}"/>
              </a:ext>
            </a:extLst>
          </p:cNvPr>
          <p:cNvPicPr>
            <a:picLocks noChangeAspect="1"/>
          </p:cNvPicPr>
          <p:nvPr/>
        </p:nvPicPr>
        <p:blipFill>
          <a:blip r:embed="rId2"/>
          <a:stretch>
            <a:fillRect/>
          </a:stretch>
        </p:blipFill>
        <p:spPr>
          <a:xfrm>
            <a:off x="7609221" y="1140743"/>
            <a:ext cx="3743325" cy="5057775"/>
          </a:xfrm>
          <a:prstGeom prst="rect">
            <a:avLst/>
          </a:prstGeom>
        </p:spPr>
      </p:pic>
      <p:sp>
        <p:nvSpPr>
          <p:cNvPr id="6" name="TextBox 5">
            <a:extLst>
              <a:ext uri="{FF2B5EF4-FFF2-40B4-BE49-F238E27FC236}">
                <a16:creationId xmlns:a16="http://schemas.microsoft.com/office/drawing/2014/main" id="{E4B3933B-D6BE-12F2-93E4-67F540550AD9}"/>
              </a:ext>
            </a:extLst>
          </p:cNvPr>
          <p:cNvSpPr txBox="1"/>
          <p:nvPr/>
        </p:nvSpPr>
        <p:spPr>
          <a:xfrm>
            <a:off x="711117" y="1750343"/>
            <a:ext cx="6096000" cy="1200329"/>
          </a:xfrm>
          <a:prstGeom prst="rect">
            <a:avLst/>
          </a:prstGeom>
          <a:noFill/>
        </p:spPr>
        <p:txBody>
          <a:bodyPr wrap="square">
            <a:spAutoFit/>
          </a:bodyPr>
          <a:lstStyle/>
          <a:p>
            <a:r>
              <a:rPr lang="en-US" sz="2400" dirty="0"/>
              <a:t>Bayt al-Hikmah, like Baghdad itself, was greatly enriched under the reign of Harun al-Rashid (786–809)</a:t>
            </a:r>
            <a:endParaRPr lang="ru-RU" sz="2400" dirty="0"/>
          </a:p>
        </p:txBody>
      </p:sp>
      <p:sp>
        <p:nvSpPr>
          <p:cNvPr id="10" name="TextBox 9">
            <a:extLst>
              <a:ext uri="{FF2B5EF4-FFF2-40B4-BE49-F238E27FC236}">
                <a16:creationId xmlns:a16="http://schemas.microsoft.com/office/drawing/2014/main" id="{263F7C89-B292-8926-099D-789B9B01704C}"/>
              </a:ext>
            </a:extLst>
          </p:cNvPr>
          <p:cNvSpPr txBox="1"/>
          <p:nvPr/>
        </p:nvSpPr>
        <p:spPr>
          <a:xfrm>
            <a:off x="711117" y="3254131"/>
            <a:ext cx="6096000" cy="830997"/>
          </a:xfrm>
          <a:prstGeom prst="rect">
            <a:avLst/>
          </a:prstGeom>
          <a:noFill/>
        </p:spPr>
        <p:txBody>
          <a:bodyPr wrap="square">
            <a:spAutoFit/>
          </a:bodyPr>
          <a:lstStyle/>
          <a:p>
            <a:r>
              <a:rPr lang="en-US" sz="2400" dirty="0"/>
              <a:t>Harun’s reign was also the height of power for the Persian aristocracy</a:t>
            </a:r>
            <a:endParaRPr lang="ru-RU" sz="2400" dirty="0"/>
          </a:p>
        </p:txBody>
      </p:sp>
      <p:sp>
        <p:nvSpPr>
          <p:cNvPr id="13" name="TextBox 12">
            <a:extLst>
              <a:ext uri="{FF2B5EF4-FFF2-40B4-BE49-F238E27FC236}">
                <a16:creationId xmlns:a16="http://schemas.microsoft.com/office/drawing/2014/main" id="{2E16191B-00E8-EF66-A754-778624FB723B}"/>
              </a:ext>
            </a:extLst>
          </p:cNvPr>
          <p:cNvSpPr txBox="1"/>
          <p:nvPr/>
        </p:nvSpPr>
        <p:spPr>
          <a:xfrm>
            <a:off x="577516" y="4531713"/>
            <a:ext cx="6096000" cy="830997"/>
          </a:xfrm>
          <a:prstGeom prst="rect">
            <a:avLst/>
          </a:prstGeom>
          <a:noFill/>
        </p:spPr>
        <p:txBody>
          <a:bodyPr wrap="square">
            <a:spAutoFit/>
          </a:bodyPr>
          <a:lstStyle/>
          <a:p>
            <a:pPr algn="ctr"/>
            <a:r>
              <a:rPr lang="en-US" sz="2400" dirty="0" err="1"/>
              <a:t>Barmakid</a:t>
            </a:r>
            <a:r>
              <a:rPr lang="en-US" sz="2400" dirty="0"/>
              <a:t> family serving as the empire’s chief administrators</a:t>
            </a:r>
            <a:endParaRPr lang="ru-RU" sz="2400" dirty="0"/>
          </a:p>
        </p:txBody>
      </p:sp>
    </p:spTree>
    <p:extLst>
      <p:ext uri="{BB962C8B-B14F-4D97-AF65-F5344CB8AC3E}">
        <p14:creationId xmlns:p14="http://schemas.microsoft.com/office/powerpoint/2010/main" val="2459632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907A82-124A-0873-A14D-417890987206}"/>
              </a:ext>
            </a:extLst>
          </p:cNvPr>
          <p:cNvSpPr txBox="1"/>
          <p:nvPr/>
        </p:nvSpPr>
        <p:spPr>
          <a:xfrm>
            <a:off x="529390" y="1248961"/>
            <a:ext cx="6096000" cy="830997"/>
          </a:xfrm>
          <a:prstGeom prst="rect">
            <a:avLst/>
          </a:prstGeom>
          <a:noFill/>
        </p:spPr>
        <p:txBody>
          <a:bodyPr wrap="square">
            <a:spAutoFit/>
          </a:bodyPr>
          <a:lstStyle/>
          <a:p>
            <a:r>
              <a:rPr lang="en-GB" sz="2400" dirty="0"/>
              <a:t>Bayt al-Hikmah reached its zenith under Harun’s son al-</a:t>
            </a:r>
            <a:r>
              <a:rPr lang="en-GB" sz="2400" dirty="0" err="1"/>
              <a:t>Maʾmun</a:t>
            </a:r>
            <a:r>
              <a:rPr lang="en-GB" sz="2400" dirty="0"/>
              <a:t> (reigned 813–833)</a:t>
            </a:r>
            <a:endParaRPr lang="ru-RU" sz="2400" dirty="0"/>
          </a:p>
        </p:txBody>
      </p:sp>
      <p:pic>
        <p:nvPicPr>
          <p:cNvPr id="7" name="Picture 6">
            <a:extLst>
              <a:ext uri="{FF2B5EF4-FFF2-40B4-BE49-F238E27FC236}">
                <a16:creationId xmlns:a16="http://schemas.microsoft.com/office/drawing/2014/main" id="{C1014E47-B3F0-4C72-C799-2AD8F77FB924}"/>
              </a:ext>
            </a:extLst>
          </p:cNvPr>
          <p:cNvPicPr>
            <a:picLocks noChangeAspect="1"/>
          </p:cNvPicPr>
          <p:nvPr/>
        </p:nvPicPr>
        <p:blipFill>
          <a:blip r:embed="rId2"/>
          <a:stretch>
            <a:fillRect/>
          </a:stretch>
        </p:blipFill>
        <p:spPr>
          <a:xfrm>
            <a:off x="6841246" y="1039979"/>
            <a:ext cx="4639325" cy="4778042"/>
          </a:xfrm>
          <a:prstGeom prst="rect">
            <a:avLst/>
          </a:prstGeom>
        </p:spPr>
      </p:pic>
      <p:sp>
        <p:nvSpPr>
          <p:cNvPr id="9" name="TextBox 8">
            <a:extLst>
              <a:ext uri="{FF2B5EF4-FFF2-40B4-BE49-F238E27FC236}">
                <a16:creationId xmlns:a16="http://schemas.microsoft.com/office/drawing/2014/main" id="{E34DD0BB-DF4E-76B1-B74B-248C7E823A35}"/>
              </a:ext>
            </a:extLst>
          </p:cNvPr>
          <p:cNvSpPr txBox="1"/>
          <p:nvPr/>
        </p:nvSpPr>
        <p:spPr>
          <a:xfrm>
            <a:off x="529390" y="2459503"/>
            <a:ext cx="5623470" cy="1569660"/>
          </a:xfrm>
          <a:prstGeom prst="rect">
            <a:avLst/>
          </a:prstGeom>
          <a:noFill/>
        </p:spPr>
        <p:txBody>
          <a:bodyPr wrap="square">
            <a:spAutoFit/>
          </a:bodyPr>
          <a:lstStyle/>
          <a:p>
            <a:r>
              <a:rPr lang="en-US" sz="2400" dirty="0"/>
              <a:t>But it was also al-</a:t>
            </a:r>
            <a:r>
              <a:rPr lang="en-US" sz="2400" dirty="0" err="1"/>
              <a:t>Maʾmun’s</a:t>
            </a:r>
            <a:r>
              <a:rPr lang="en-US" sz="2400" dirty="0"/>
              <a:t> reign that brought about a change in wind for Bayt al-Hikmah, which was specialized in Persian knowledge before.</a:t>
            </a:r>
            <a:endParaRPr lang="ru-RU" sz="2400" dirty="0"/>
          </a:p>
        </p:txBody>
      </p:sp>
      <p:sp>
        <p:nvSpPr>
          <p:cNvPr id="11" name="TextBox 10">
            <a:extLst>
              <a:ext uri="{FF2B5EF4-FFF2-40B4-BE49-F238E27FC236}">
                <a16:creationId xmlns:a16="http://schemas.microsoft.com/office/drawing/2014/main" id="{078D197B-2DB0-CBF5-A80B-ED701BF86AFD}"/>
              </a:ext>
            </a:extLst>
          </p:cNvPr>
          <p:cNvSpPr txBox="1"/>
          <p:nvPr/>
        </p:nvSpPr>
        <p:spPr>
          <a:xfrm>
            <a:off x="529390" y="4408708"/>
            <a:ext cx="6096000" cy="1569660"/>
          </a:xfrm>
          <a:prstGeom prst="rect">
            <a:avLst/>
          </a:prstGeom>
          <a:noFill/>
        </p:spPr>
        <p:txBody>
          <a:bodyPr wrap="square">
            <a:spAutoFit/>
          </a:bodyPr>
          <a:lstStyle/>
          <a:p>
            <a:r>
              <a:rPr lang="en-US" sz="2400" dirty="0"/>
              <a:t>Al-</a:t>
            </a:r>
            <a:r>
              <a:rPr lang="en-US" sz="2400" dirty="0" err="1"/>
              <a:t>Maʾmun</a:t>
            </a:r>
            <a:r>
              <a:rPr lang="en-US" sz="2400" dirty="0"/>
              <a:t> switched gears and started paying scholars big money to translate Greek philosophy and science (like Aristotle, Plato, and Euclid) into Arabic instead.</a:t>
            </a:r>
            <a:endParaRPr lang="ru-RU" sz="2400" dirty="0"/>
          </a:p>
        </p:txBody>
      </p:sp>
    </p:spTree>
    <p:extLst>
      <p:ext uri="{BB962C8B-B14F-4D97-AF65-F5344CB8AC3E}">
        <p14:creationId xmlns:p14="http://schemas.microsoft.com/office/powerpoint/2010/main" val="3679009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CCEED04-AF70-ABDA-F014-B78D0F39608D}"/>
              </a:ext>
            </a:extLst>
          </p:cNvPr>
          <p:cNvSpPr/>
          <p:nvPr/>
        </p:nvSpPr>
        <p:spPr>
          <a:xfrm>
            <a:off x="4644189" y="2763252"/>
            <a:ext cx="2903621" cy="13314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400" b="1" dirty="0"/>
              <a:t>Muʿtazilism</a:t>
            </a:r>
          </a:p>
        </p:txBody>
      </p:sp>
      <p:sp>
        <p:nvSpPr>
          <p:cNvPr id="5" name="Rectangle: Rounded Corners 4">
            <a:extLst>
              <a:ext uri="{FF2B5EF4-FFF2-40B4-BE49-F238E27FC236}">
                <a16:creationId xmlns:a16="http://schemas.microsoft.com/office/drawing/2014/main" id="{3BFAA36F-7102-EE8F-207E-80089FA62814}"/>
              </a:ext>
            </a:extLst>
          </p:cNvPr>
          <p:cNvSpPr/>
          <p:nvPr/>
        </p:nvSpPr>
        <p:spPr>
          <a:xfrm>
            <a:off x="1395663" y="1524000"/>
            <a:ext cx="1780674" cy="7860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using </a:t>
            </a:r>
            <a:r>
              <a:rPr lang="ru-RU" b="1" dirty="0"/>
              <a:t>logic</a:t>
            </a:r>
            <a:endParaRPr lang="ru-RU" dirty="0"/>
          </a:p>
        </p:txBody>
      </p:sp>
      <p:sp>
        <p:nvSpPr>
          <p:cNvPr id="6" name="Rectangle: Rounded Corners 5">
            <a:extLst>
              <a:ext uri="{FF2B5EF4-FFF2-40B4-BE49-F238E27FC236}">
                <a16:creationId xmlns:a16="http://schemas.microsoft.com/office/drawing/2014/main" id="{8C1717CB-8CD5-747A-4A2E-894EFFB082DD}"/>
              </a:ext>
            </a:extLst>
          </p:cNvPr>
          <p:cNvSpPr/>
          <p:nvPr/>
        </p:nvSpPr>
        <p:spPr>
          <a:xfrm>
            <a:off x="1395663" y="5157535"/>
            <a:ext cx="1780674" cy="7860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U</a:t>
            </a:r>
            <a:r>
              <a:rPr lang="ru-RU" dirty="0"/>
              <a:t>sing</a:t>
            </a:r>
            <a:r>
              <a:rPr lang="en-GB" dirty="0"/>
              <a:t> </a:t>
            </a:r>
            <a:r>
              <a:rPr lang="ru-RU" dirty="0"/>
              <a:t>free</a:t>
            </a:r>
            <a:r>
              <a:rPr lang="en-GB" dirty="0"/>
              <a:t> will</a:t>
            </a:r>
            <a:endParaRPr lang="ru-RU" dirty="0"/>
          </a:p>
        </p:txBody>
      </p:sp>
      <p:sp>
        <p:nvSpPr>
          <p:cNvPr id="7" name="Rectangle: Rounded Corners 6">
            <a:extLst>
              <a:ext uri="{FF2B5EF4-FFF2-40B4-BE49-F238E27FC236}">
                <a16:creationId xmlns:a16="http://schemas.microsoft.com/office/drawing/2014/main" id="{2E910FEF-A5F5-1B32-DD52-4BBD79EDED98}"/>
              </a:ext>
            </a:extLst>
          </p:cNvPr>
          <p:cNvSpPr/>
          <p:nvPr/>
        </p:nvSpPr>
        <p:spPr>
          <a:xfrm>
            <a:off x="9272337" y="1523999"/>
            <a:ext cx="1780674" cy="7860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using reason</a:t>
            </a:r>
          </a:p>
        </p:txBody>
      </p:sp>
      <p:sp>
        <p:nvSpPr>
          <p:cNvPr id="8" name="Rectangle: Rounded Corners 7">
            <a:extLst>
              <a:ext uri="{FF2B5EF4-FFF2-40B4-BE49-F238E27FC236}">
                <a16:creationId xmlns:a16="http://schemas.microsoft.com/office/drawing/2014/main" id="{C0AFCACF-83A3-34ED-2A45-A60E95F6656E}"/>
              </a:ext>
            </a:extLst>
          </p:cNvPr>
          <p:cNvSpPr/>
          <p:nvPr/>
        </p:nvSpPr>
        <p:spPr>
          <a:xfrm>
            <a:off x="9272337" y="5157535"/>
            <a:ext cx="1780674" cy="7860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a:t>forced it on everyone</a:t>
            </a:r>
          </a:p>
        </p:txBody>
      </p:sp>
    </p:spTree>
    <p:extLst>
      <p:ext uri="{BB962C8B-B14F-4D97-AF65-F5344CB8AC3E}">
        <p14:creationId xmlns:p14="http://schemas.microsoft.com/office/powerpoint/2010/main" val="601211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B83EDC-3459-9D5C-FBF3-B0C6EC2CDA6E}"/>
              </a:ext>
            </a:extLst>
          </p:cNvPr>
          <p:cNvSpPr txBox="1"/>
          <p:nvPr/>
        </p:nvSpPr>
        <p:spPr>
          <a:xfrm>
            <a:off x="401053" y="889065"/>
            <a:ext cx="11085095" cy="830997"/>
          </a:xfrm>
          <a:prstGeom prst="rect">
            <a:avLst/>
          </a:prstGeom>
          <a:noFill/>
        </p:spPr>
        <p:txBody>
          <a:bodyPr wrap="square">
            <a:spAutoFit/>
          </a:bodyPr>
          <a:lstStyle/>
          <a:p>
            <a:pPr algn="ctr"/>
            <a:r>
              <a:rPr lang="en-US" sz="2400" dirty="0"/>
              <a:t>Tensions between the caliphate and the old establishment continued into the reign of al-</a:t>
            </a:r>
            <a:r>
              <a:rPr lang="en-US" sz="2400" dirty="0" err="1"/>
              <a:t>Muʿtaṣim</a:t>
            </a:r>
            <a:r>
              <a:rPr lang="en-US" sz="2400" dirty="0"/>
              <a:t> (833–842). </a:t>
            </a:r>
            <a:endParaRPr lang="ru-RU" sz="2400" dirty="0"/>
          </a:p>
        </p:txBody>
      </p:sp>
      <p:sp>
        <p:nvSpPr>
          <p:cNvPr id="6" name="Oval 5">
            <a:extLst>
              <a:ext uri="{FF2B5EF4-FFF2-40B4-BE49-F238E27FC236}">
                <a16:creationId xmlns:a16="http://schemas.microsoft.com/office/drawing/2014/main" id="{82966EA6-6B51-4237-4EAC-EDE554C74007}"/>
              </a:ext>
            </a:extLst>
          </p:cNvPr>
          <p:cNvSpPr/>
          <p:nvPr/>
        </p:nvSpPr>
        <p:spPr>
          <a:xfrm>
            <a:off x="689809" y="2211583"/>
            <a:ext cx="1540043" cy="8462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Baghdad</a:t>
            </a:r>
            <a:endParaRPr lang="ru-RU"/>
          </a:p>
        </p:txBody>
      </p:sp>
      <p:cxnSp>
        <p:nvCxnSpPr>
          <p:cNvPr id="8" name="Straight Arrow Connector 7">
            <a:extLst>
              <a:ext uri="{FF2B5EF4-FFF2-40B4-BE49-F238E27FC236}">
                <a16:creationId xmlns:a16="http://schemas.microsoft.com/office/drawing/2014/main" id="{CA85BF18-CF25-68C6-EF6D-F2D34F44E5C4}"/>
              </a:ext>
            </a:extLst>
          </p:cNvPr>
          <p:cNvCxnSpPr>
            <a:cxnSpLocks/>
          </p:cNvCxnSpPr>
          <p:nvPr/>
        </p:nvCxnSpPr>
        <p:spPr>
          <a:xfrm>
            <a:off x="2518611" y="2646723"/>
            <a:ext cx="10587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381D7146-F4D0-A4D5-C6D6-9D6D5A3D465D}"/>
              </a:ext>
            </a:extLst>
          </p:cNvPr>
          <p:cNvSpPr/>
          <p:nvPr/>
        </p:nvSpPr>
        <p:spPr>
          <a:xfrm>
            <a:off x="4026569" y="2211581"/>
            <a:ext cx="1540043" cy="8462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Sāmarrā</a:t>
            </a:r>
            <a:endParaRPr lang="ru-RU"/>
          </a:p>
        </p:txBody>
      </p:sp>
      <p:cxnSp>
        <p:nvCxnSpPr>
          <p:cNvPr id="12" name="Straight Arrow Connector 11">
            <a:extLst>
              <a:ext uri="{FF2B5EF4-FFF2-40B4-BE49-F238E27FC236}">
                <a16:creationId xmlns:a16="http://schemas.microsoft.com/office/drawing/2014/main" id="{B95CF3D4-9BCC-8C67-B10E-899749360567}"/>
              </a:ext>
            </a:extLst>
          </p:cNvPr>
          <p:cNvCxnSpPr/>
          <p:nvPr/>
        </p:nvCxnSpPr>
        <p:spPr>
          <a:xfrm>
            <a:off x="1235242" y="3657599"/>
            <a:ext cx="0" cy="689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027127E-2505-DEE9-1EB2-9D52CDAC2E00}"/>
              </a:ext>
            </a:extLst>
          </p:cNvPr>
          <p:cNvCxnSpPr/>
          <p:nvPr/>
        </p:nvCxnSpPr>
        <p:spPr>
          <a:xfrm>
            <a:off x="4844716" y="3657599"/>
            <a:ext cx="0" cy="7379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5E1E69E4-E02A-97CD-8135-889F7F0A2420}"/>
              </a:ext>
            </a:extLst>
          </p:cNvPr>
          <p:cNvSpPr/>
          <p:nvPr/>
        </p:nvSpPr>
        <p:spPr>
          <a:xfrm>
            <a:off x="593555" y="4947210"/>
            <a:ext cx="1540043" cy="8462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Bayt al-Hikmah</a:t>
            </a:r>
            <a:endParaRPr lang="ru-RU" dirty="0"/>
          </a:p>
        </p:txBody>
      </p:sp>
      <p:sp>
        <p:nvSpPr>
          <p:cNvPr id="17" name="Oval 16">
            <a:extLst>
              <a:ext uri="{FF2B5EF4-FFF2-40B4-BE49-F238E27FC236}">
                <a16:creationId xmlns:a16="http://schemas.microsoft.com/office/drawing/2014/main" id="{A9858DBA-7DB3-5EFC-37DE-C90C66CA82BA}"/>
              </a:ext>
            </a:extLst>
          </p:cNvPr>
          <p:cNvSpPr/>
          <p:nvPr/>
        </p:nvSpPr>
        <p:spPr>
          <a:xfrm>
            <a:off x="4026568" y="4995334"/>
            <a:ext cx="1540043" cy="8462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Capital</a:t>
            </a:r>
            <a:endParaRPr lang="ru-RU" dirty="0"/>
          </a:p>
        </p:txBody>
      </p:sp>
      <p:sp>
        <p:nvSpPr>
          <p:cNvPr id="19" name="TextBox 18">
            <a:extLst>
              <a:ext uri="{FF2B5EF4-FFF2-40B4-BE49-F238E27FC236}">
                <a16:creationId xmlns:a16="http://schemas.microsoft.com/office/drawing/2014/main" id="{4C969F5F-4FB3-CB0E-2662-B068B3E55AFD}"/>
              </a:ext>
            </a:extLst>
          </p:cNvPr>
          <p:cNvSpPr txBox="1"/>
          <p:nvPr/>
        </p:nvSpPr>
        <p:spPr>
          <a:xfrm>
            <a:off x="5566611" y="3374266"/>
            <a:ext cx="6096000" cy="1200329"/>
          </a:xfrm>
          <a:prstGeom prst="rect">
            <a:avLst/>
          </a:prstGeom>
          <a:noFill/>
        </p:spPr>
        <p:txBody>
          <a:bodyPr wrap="square">
            <a:spAutoFit/>
          </a:bodyPr>
          <a:lstStyle/>
          <a:p>
            <a:pPr algn="ctr"/>
            <a:r>
              <a:rPr lang="en-US" sz="2400" dirty="0"/>
              <a:t>Whatever may have remained of the collection in 1258 was destroyed in the Mongol sack of Baghdad</a:t>
            </a:r>
            <a:endParaRPr lang="ru-RU" sz="2400" dirty="0"/>
          </a:p>
        </p:txBody>
      </p:sp>
    </p:spTree>
    <p:extLst>
      <p:ext uri="{BB962C8B-B14F-4D97-AF65-F5344CB8AC3E}">
        <p14:creationId xmlns:p14="http://schemas.microsoft.com/office/powerpoint/2010/main" val="2958915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CB9A6C-65C5-0425-BAB7-E276D6DC8E2A}"/>
              </a:ext>
            </a:extLst>
          </p:cNvPr>
          <p:cNvSpPr txBox="1"/>
          <p:nvPr/>
        </p:nvSpPr>
        <p:spPr>
          <a:xfrm>
            <a:off x="545431" y="863952"/>
            <a:ext cx="11101137" cy="830997"/>
          </a:xfrm>
          <a:prstGeom prst="rect">
            <a:avLst/>
          </a:prstGeom>
          <a:noFill/>
        </p:spPr>
        <p:txBody>
          <a:bodyPr wrap="square">
            <a:spAutoFit/>
          </a:bodyPr>
          <a:lstStyle/>
          <a:p>
            <a:pPr algn="ctr"/>
            <a:r>
              <a:rPr lang="en-US" sz="2400" dirty="0"/>
              <a:t>Medieval sources confirm that about twenty scholars from in the "Bayt al-Hikma" were from Central Asia.</a:t>
            </a:r>
            <a:endParaRPr lang="ru-RU" sz="2400" dirty="0"/>
          </a:p>
        </p:txBody>
      </p:sp>
      <p:sp>
        <p:nvSpPr>
          <p:cNvPr id="7" name="TextBox 6">
            <a:extLst>
              <a:ext uri="{FF2B5EF4-FFF2-40B4-BE49-F238E27FC236}">
                <a16:creationId xmlns:a16="http://schemas.microsoft.com/office/drawing/2014/main" id="{6D63E3E1-E474-7252-9B75-86DB2012F465}"/>
              </a:ext>
            </a:extLst>
          </p:cNvPr>
          <p:cNvSpPr txBox="1"/>
          <p:nvPr/>
        </p:nvSpPr>
        <p:spPr>
          <a:xfrm>
            <a:off x="593558" y="1925963"/>
            <a:ext cx="3721770" cy="400110"/>
          </a:xfrm>
          <a:prstGeom prst="rect">
            <a:avLst/>
          </a:prstGeom>
          <a:noFill/>
        </p:spPr>
        <p:txBody>
          <a:bodyPr wrap="square">
            <a:spAutoFit/>
          </a:bodyPr>
          <a:lstStyle/>
          <a:p>
            <a:r>
              <a:rPr lang="en-GB" sz="2000" dirty="0"/>
              <a:t>Ahmad ibn Abdullah al-</a:t>
            </a:r>
            <a:r>
              <a:rPr lang="en-GB" sz="2000" dirty="0" err="1"/>
              <a:t>Marwazi</a:t>
            </a:r>
            <a:endParaRPr lang="ru-RU" sz="2000" dirty="0"/>
          </a:p>
        </p:txBody>
      </p:sp>
      <p:sp>
        <p:nvSpPr>
          <p:cNvPr id="9" name="TextBox 8">
            <a:extLst>
              <a:ext uri="{FF2B5EF4-FFF2-40B4-BE49-F238E27FC236}">
                <a16:creationId xmlns:a16="http://schemas.microsoft.com/office/drawing/2014/main" id="{20102A0B-775D-8A2F-A2E6-81B91FB81D4C}"/>
              </a:ext>
            </a:extLst>
          </p:cNvPr>
          <p:cNvSpPr txBox="1"/>
          <p:nvPr/>
        </p:nvSpPr>
        <p:spPr>
          <a:xfrm>
            <a:off x="593558" y="2718579"/>
            <a:ext cx="3609473" cy="707886"/>
          </a:xfrm>
          <a:prstGeom prst="rect">
            <a:avLst/>
          </a:prstGeom>
          <a:noFill/>
        </p:spPr>
        <p:txBody>
          <a:bodyPr wrap="square">
            <a:spAutoFit/>
          </a:bodyPr>
          <a:lstStyle/>
          <a:p>
            <a:pPr algn="ctr"/>
            <a:r>
              <a:rPr lang="en-US" sz="2000" dirty="0"/>
              <a:t>"Black accountant" (al-Habash al-Hasib). </a:t>
            </a:r>
            <a:endParaRPr lang="ru-RU" sz="1600" dirty="0"/>
          </a:p>
        </p:txBody>
      </p:sp>
      <p:sp>
        <p:nvSpPr>
          <p:cNvPr id="11" name="TextBox 10">
            <a:extLst>
              <a:ext uri="{FF2B5EF4-FFF2-40B4-BE49-F238E27FC236}">
                <a16:creationId xmlns:a16="http://schemas.microsoft.com/office/drawing/2014/main" id="{BA60EC00-1362-46BA-2796-7E6932321783}"/>
              </a:ext>
            </a:extLst>
          </p:cNvPr>
          <p:cNvSpPr txBox="1"/>
          <p:nvPr/>
        </p:nvSpPr>
        <p:spPr>
          <a:xfrm>
            <a:off x="1884948" y="3818971"/>
            <a:ext cx="1138989" cy="461665"/>
          </a:xfrm>
          <a:prstGeom prst="rect">
            <a:avLst/>
          </a:prstGeom>
          <a:noFill/>
        </p:spPr>
        <p:txBody>
          <a:bodyPr wrap="square">
            <a:spAutoFit/>
          </a:bodyPr>
          <a:lstStyle/>
          <a:p>
            <a:r>
              <a:rPr lang="en-US" sz="2400" dirty="0"/>
              <a:t>Marw</a:t>
            </a:r>
            <a:endParaRPr lang="ru-RU" dirty="0"/>
          </a:p>
        </p:txBody>
      </p:sp>
      <p:pic>
        <p:nvPicPr>
          <p:cNvPr id="13" name="Picture 12">
            <a:extLst>
              <a:ext uri="{FF2B5EF4-FFF2-40B4-BE49-F238E27FC236}">
                <a16:creationId xmlns:a16="http://schemas.microsoft.com/office/drawing/2014/main" id="{8CB9B77C-D62D-9A09-784E-92B7A99A92C8}"/>
              </a:ext>
            </a:extLst>
          </p:cNvPr>
          <p:cNvPicPr>
            <a:picLocks noChangeAspect="1"/>
          </p:cNvPicPr>
          <p:nvPr/>
        </p:nvPicPr>
        <p:blipFill>
          <a:blip r:embed="rId2"/>
          <a:stretch>
            <a:fillRect/>
          </a:stretch>
        </p:blipFill>
        <p:spPr>
          <a:xfrm>
            <a:off x="4692315" y="1925963"/>
            <a:ext cx="2807368" cy="3509210"/>
          </a:xfrm>
          <a:prstGeom prst="rect">
            <a:avLst/>
          </a:prstGeom>
        </p:spPr>
      </p:pic>
      <p:graphicFrame>
        <p:nvGraphicFramePr>
          <p:cNvPr id="14" name="Diagram 13">
            <a:extLst>
              <a:ext uri="{FF2B5EF4-FFF2-40B4-BE49-F238E27FC236}">
                <a16:creationId xmlns:a16="http://schemas.microsoft.com/office/drawing/2014/main" id="{93D0609C-41DB-0D75-997D-D67B599F582B}"/>
              </a:ext>
            </a:extLst>
          </p:cNvPr>
          <p:cNvGraphicFramePr/>
          <p:nvPr>
            <p:extLst>
              <p:ext uri="{D42A27DB-BD31-4B8C-83A1-F6EECF244321}">
                <p14:modId xmlns:p14="http://schemas.microsoft.com/office/powerpoint/2010/main" val="3297744701"/>
              </p:ext>
            </p:extLst>
          </p:nvPr>
        </p:nvGraphicFramePr>
        <p:xfrm>
          <a:off x="7876670" y="1925963"/>
          <a:ext cx="4050634" cy="3809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2907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BC0683-CBDE-BB05-6726-D141CE1EA6F7}"/>
              </a:ext>
            </a:extLst>
          </p:cNvPr>
          <p:cNvSpPr txBox="1"/>
          <p:nvPr/>
        </p:nvSpPr>
        <p:spPr>
          <a:xfrm>
            <a:off x="240633" y="2322459"/>
            <a:ext cx="4154905" cy="2677656"/>
          </a:xfrm>
          <a:prstGeom prst="rect">
            <a:avLst/>
          </a:prstGeom>
          <a:noFill/>
        </p:spPr>
        <p:txBody>
          <a:bodyPr wrap="square">
            <a:spAutoFit/>
          </a:bodyPr>
          <a:lstStyle/>
          <a:p>
            <a:pPr algn="ctr"/>
            <a:r>
              <a:rPr lang="en-US" sz="2400" dirty="0"/>
              <a:t>Habash al-Hasib developed a trigonometric algorithm to solve problems related to parallax, which was later rediscovered by Johannes Kepler in 1609, and it is now known as Kepler's equation.</a:t>
            </a:r>
            <a:endParaRPr lang="ru-RU" sz="2400" dirty="0"/>
          </a:p>
        </p:txBody>
      </p:sp>
      <p:pic>
        <p:nvPicPr>
          <p:cNvPr id="15" name="Picture 14">
            <a:extLst>
              <a:ext uri="{FF2B5EF4-FFF2-40B4-BE49-F238E27FC236}">
                <a16:creationId xmlns:a16="http://schemas.microsoft.com/office/drawing/2014/main" id="{D479A472-7129-F590-3355-3F1E5EE41C5B}"/>
              </a:ext>
            </a:extLst>
          </p:cNvPr>
          <p:cNvPicPr>
            <a:picLocks noChangeAspect="1"/>
          </p:cNvPicPr>
          <p:nvPr/>
        </p:nvPicPr>
        <p:blipFill>
          <a:blip r:embed="rId2"/>
          <a:stretch>
            <a:fillRect/>
          </a:stretch>
        </p:blipFill>
        <p:spPr>
          <a:xfrm>
            <a:off x="8648009" y="1679916"/>
            <a:ext cx="2981202" cy="3962743"/>
          </a:xfrm>
          <a:prstGeom prst="rect">
            <a:avLst/>
          </a:prstGeom>
        </p:spPr>
      </p:pic>
      <p:pic>
        <p:nvPicPr>
          <p:cNvPr id="21" name="Picture 20">
            <a:extLst>
              <a:ext uri="{FF2B5EF4-FFF2-40B4-BE49-F238E27FC236}">
                <a16:creationId xmlns:a16="http://schemas.microsoft.com/office/drawing/2014/main" id="{3FF47947-8C0D-B2AB-6D61-6B323280841A}"/>
              </a:ext>
            </a:extLst>
          </p:cNvPr>
          <p:cNvPicPr>
            <a:picLocks noChangeAspect="1"/>
          </p:cNvPicPr>
          <p:nvPr/>
        </p:nvPicPr>
        <p:blipFill>
          <a:blip r:embed="rId3"/>
          <a:stretch>
            <a:fillRect/>
          </a:stretch>
        </p:blipFill>
        <p:spPr>
          <a:xfrm>
            <a:off x="4590157" y="1631143"/>
            <a:ext cx="3011685" cy="4011516"/>
          </a:xfrm>
          <a:prstGeom prst="rect">
            <a:avLst/>
          </a:prstGeom>
        </p:spPr>
      </p:pic>
    </p:spTree>
    <p:extLst>
      <p:ext uri="{BB962C8B-B14F-4D97-AF65-F5344CB8AC3E}">
        <p14:creationId xmlns:p14="http://schemas.microsoft.com/office/powerpoint/2010/main" val="653292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217792-023D-246D-44DC-49DC27C54DF8}"/>
              </a:ext>
            </a:extLst>
          </p:cNvPr>
          <p:cNvSpPr txBox="1"/>
          <p:nvPr/>
        </p:nvSpPr>
        <p:spPr>
          <a:xfrm>
            <a:off x="481263" y="1020091"/>
            <a:ext cx="11261558" cy="1200329"/>
          </a:xfrm>
          <a:prstGeom prst="rect">
            <a:avLst/>
          </a:prstGeom>
          <a:noFill/>
        </p:spPr>
        <p:txBody>
          <a:bodyPr wrap="square">
            <a:spAutoFit/>
          </a:bodyPr>
          <a:lstStyle/>
          <a:p>
            <a:r>
              <a:rPr lang="en-US" sz="2400" dirty="0"/>
              <a:t>In the year 829, there was a solar eclipse, Habash al-Hasib al-</a:t>
            </a:r>
            <a:r>
              <a:rPr lang="en-US" sz="2400" dirty="0" err="1"/>
              <a:t>Marwazi</a:t>
            </a:r>
            <a:r>
              <a:rPr lang="en-US" sz="2400" dirty="0"/>
              <a:t> used it to make an important discovery. He figured out how to tell the time by measuring how high the Sun was in the sky </a:t>
            </a:r>
            <a:endParaRPr lang="ru-RU" sz="2400" dirty="0"/>
          </a:p>
        </p:txBody>
      </p:sp>
      <p:pic>
        <p:nvPicPr>
          <p:cNvPr id="7" name="Picture 6">
            <a:extLst>
              <a:ext uri="{FF2B5EF4-FFF2-40B4-BE49-F238E27FC236}">
                <a16:creationId xmlns:a16="http://schemas.microsoft.com/office/drawing/2014/main" id="{21A89F88-CE45-6E5B-9A53-73BA776E388B}"/>
              </a:ext>
            </a:extLst>
          </p:cNvPr>
          <p:cNvPicPr>
            <a:picLocks noChangeAspect="1"/>
          </p:cNvPicPr>
          <p:nvPr/>
        </p:nvPicPr>
        <p:blipFill>
          <a:blip r:embed="rId2"/>
          <a:stretch>
            <a:fillRect/>
          </a:stretch>
        </p:blipFill>
        <p:spPr>
          <a:xfrm>
            <a:off x="481263" y="2760974"/>
            <a:ext cx="4526071" cy="3076935"/>
          </a:xfrm>
          <a:prstGeom prst="rect">
            <a:avLst/>
          </a:prstGeom>
        </p:spPr>
      </p:pic>
      <p:sp>
        <p:nvSpPr>
          <p:cNvPr id="9" name="TextBox 8">
            <a:extLst>
              <a:ext uri="{FF2B5EF4-FFF2-40B4-BE49-F238E27FC236}">
                <a16:creationId xmlns:a16="http://schemas.microsoft.com/office/drawing/2014/main" id="{78628150-2331-ED60-6635-D84E0860CAB1}"/>
              </a:ext>
            </a:extLst>
          </p:cNvPr>
          <p:cNvSpPr txBox="1"/>
          <p:nvPr/>
        </p:nvSpPr>
        <p:spPr>
          <a:xfrm>
            <a:off x="5374104" y="2804952"/>
            <a:ext cx="6577264" cy="2677656"/>
          </a:xfrm>
          <a:prstGeom prst="rect">
            <a:avLst/>
          </a:prstGeom>
          <a:noFill/>
        </p:spPr>
        <p:txBody>
          <a:bodyPr wrap="square">
            <a:spAutoFit/>
          </a:bodyPr>
          <a:lstStyle/>
          <a:p>
            <a:r>
              <a:rPr lang="en-US" sz="2400" dirty="0"/>
              <a:t>“Shadow” (Umbra or versa) He noticed that when sunlight hits a stick (or any vertical object), it makes a shadow. If you measure: how tall the stick is, and how long its shadow is, then the ratio between them changes as the Sun’s height (angle) in the sky changes. That ratio is what we now call the tangent in trigonometry.  </a:t>
            </a:r>
          </a:p>
        </p:txBody>
      </p:sp>
    </p:spTree>
    <p:extLst>
      <p:ext uri="{BB962C8B-B14F-4D97-AF65-F5344CB8AC3E}">
        <p14:creationId xmlns:p14="http://schemas.microsoft.com/office/powerpoint/2010/main" val="66245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4DF0D9-AB86-D5F4-8261-66242C7F9A0C}"/>
              </a:ext>
            </a:extLst>
          </p:cNvPr>
          <p:cNvSpPr txBox="1"/>
          <p:nvPr/>
        </p:nvSpPr>
        <p:spPr>
          <a:xfrm>
            <a:off x="3689684" y="906197"/>
            <a:ext cx="4331369" cy="830997"/>
          </a:xfrm>
          <a:prstGeom prst="rect">
            <a:avLst/>
          </a:prstGeom>
          <a:noFill/>
        </p:spPr>
        <p:txBody>
          <a:bodyPr wrap="square">
            <a:spAutoFit/>
          </a:bodyPr>
          <a:lstStyle/>
          <a:p>
            <a:pPr algn="ctr"/>
            <a:r>
              <a:rPr lang="nl-NL" sz="2400" dirty="0"/>
              <a:t>Abd al-Hamid ibn Turk al-Khuttali</a:t>
            </a:r>
            <a:endParaRPr lang="ru-RU" sz="2400" dirty="0"/>
          </a:p>
        </p:txBody>
      </p:sp>
      <p:sp>
        <p:nvSpPr>
          <p:cNvPr id="7" name="TextBox 6">
            <a:extLst>
              <a:ext uri="{FF2B5EF4-FFF2-40B4-BE49-F238E27FC236}">
                <a16:creationId xmlns:a16="http://schemas.microsoft.com/office/drawing/2014/main" id="{37C739EB-972B-719E-0FDE-8D2420A51D77}"/>
              </a:ext>
            </a:extLst>
          </p:cNvPr>
          <p:cNvSpPr txBox="1"/>
          <p:nvPr/>
        </p:nvSpPr>
        <p:spPr>
          <a:xfrm>
            <a:off x="753978" y="2269776"/>
            <a:ext cx="5342021" cy="461665"/>
          </a:xfrm>
          <a:prstGeom prst="rect">
            <a:avLst/>
          </a:prstGeom>
          <a:noFill/>
        </p:spPr>
        <p:txBody>
          <a:bodyPr wrap="square">
            <a:spAutoFit/>
          </a:bodyPr>
          <a:lstStyle/>
          <a:p>
            <a:r>
              <a:rPr lang="en-US" sz="2400" dirty="0"/>
              <a:t>Logical Necessities in Mixed Equations</a:t>
            </a:r>
            <a:endParaRPr lang="ru-RU" sz="2400" dirty="0"/>
          </a:p>
        </p:txBody>
      </p:sp>
      <p:sp>
        <p:nvSpPr>
          <p:cNvPr id="9" name="TextBox 8">
            <a:extLst>
              <a:ext uri="{FF2B5EF4-FFF2-40B4-BE49-F238E27FC236}">
                <a16:creationId xmlns:a16="http://schemas.microsoft.com/office/drawing/2014/main" id="{3B1638A7-DDEA-CCCE-9440-8AA9D6E6C90B}"/>
              </a:ext>
            </a:extLst>
          </p:cNvPr>
          <p:cNvSpPr txBox="1"/>
          <p:nvPr/>
        </p:nvSpPr>
        <p:spPr>
          <a:xfrm>
            <a:off x="513346" y="3649033"/>
            <a:ext cx="6047874" cy="707886"/>
          </a:xfrm>
          <a:prstGeom prst="rect">
            <a:avLst/>
          </a:prstGeom>
          <a:noFill/>
        </p:spPr>
        <p:txBody>
          <a:bodyPr wrap="square">
            <a:spAutoFit/>
          </a:bodyPr>
          <a:lstStyle/>
          <a:p>
            <a:pPr algn="ctr"/>
            <a:r>
              <a:rPr lang="en-US" sz="2000" dirty="0"/>
              <a:t>Only a chapter on the solution of quadratic equations has survived</a:t>
            </a:r>
            <a:endParaRPr lang="ru-RU" sz="2000" dirty="0"/>
          </a:p>
        </p:txBody>
      </p:sp>
      <p:sp>
        <p:nvSpPr>
          <p:cNvPr id="11" name="TextBox 10">
            <a:extLst>
              <a:ext uri="{FF2B5EF4-FFF2-40B4-BE49-F238E27FC236}">
                <a16:creationId xmlns:a16="http://schemas.microsoft.com/office/drawing/2014/main" id="{8F096068-B842-BA1A-4A75-1279BF11282C}"/>
              </a:ext>
            </a:extLst>
          </p:cNvPr>
          <p:cNvSpPr txBox="1"/>
          <p:nvPr/>
        </p:nvSpPr>
        <p:spPr>
          <a:xfrm>
            <a:off x="641684" y="4797641"/>
            <a:ext cx="6096000" cy="646331"/>
          </a:xfrm>
          <a:prstGeom prst="rect">
            <a:avLst/>
          </a:prstGeom>
          <a:noFill/>
        </p:spPr>
        <p:txBody>
          <a:bodyPr wrap="square">
            <a:spAutoFit/>
          </a:bodyPr>
          <a:lstStyle/>
          <a:p>
            <a:r>
              <a:rPr lang="en-US" dirty="0"/>
              <a:t>giving a geometric proof that if the discriminant is negative then the quadratic equation has no solution. </a:t>
            </a:r>
            <a:endParaRPr lang="ru-RU" dirty="0"/>
          </a:p>
        </p:txBody>
      </p:sp>
      <p:pic>
        <p:nvPicPr>
          <p:cNvPr id="13" name="Picture 12">
            <a:extLst>
              <a:ext uri="{FF2B5EF4-FFF2-40B4-BE49-F238E27FC236}">
                <a16:creationId xmlns:a16="http://schemas.microsoft.com/office/drawing/2014/main" id="{3DFBFB5E-EF84-9846-4C80-912B21DFE3C7}"/>
              </a:ext>
            </a:extLst>
          </p:cNvPr>
          <p:cNvPicPr>
            <a:picLocks noChangeAspect="1"/>
          </p:cNvPicPr>
          <p:nvPr/>
        </p:nvPicPr>
        <p:blipFill>
          <a:blip r:embed="rId2"/>
          <a:stretch>
            <a:fillRect/>
          </a:stretch>
        </p:blipFill>
        <p:spPr>
          <a:xfrm>
            <a:off x="6849979" y="2046418"/>
            <a:ext cx="4588043" cy="3486912"/>
          </a:xfrm>
          <a:prstGeom prst="rect">
            <a:avLst/>
          </a:prstGeom>
        </p:spPr>
      </p:pic>
    </p:spTree>
    <p:extLst>
      <p:ext uri="{BB962C8B-B14F-4D97-AF65-F5344CB8AC3E}">
        <p14:creationId xmlns:p14="http://schemas.microsoft.com/office/powerpoint/2010/main" val="2631241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2B3731-3563-3FBB-BD5F-5879016643E7}"/>
              </a:ext>
            </a:extLst>
          </p:cNvPr>
          <p:cNvPicPr>
            <a:picLocks noChangeAspect="1"/>
          </p:cNvPicPr>
          <p:nvPr/>
        </p:nvPicPr>
        <p:blipFill>
          <a:blip r:embed="rId2"/>
          <a:stretch>
            <a:fillRect/>
          </a:stretch>
        </p:blipFill>
        <p:spPr>
          <a:xfrm>
            <a:off x="924059" y="931334"/>
            <a:ext cx="2942088" cy="5333682"/>
          </a:xfrm>
          <a:prstGeom prst="rect">
            <a:avLst/>
          </a:prstGeom>
        </p:spPr>
      </p:pic>
      <p:sp>
        <p:nvSpPr>
          <p:cNvPr id="7" name="TextBox 6">
            <a:extLst>
              <a:ext uri="{FF2B5EF4-FFF2-40B4-BE49-F238E27FC236}">
                <a16:creationId xmlns:a16="http://schemas.microsoft.com/office/drawing/2014/main" id="{4B579E1D-08DA-4BE3-2815-E9BE03C4DA51}"/>
              </a:ext>
            </a:extLst>
          </p:cNvPr>
          <p:cNvSpPr txBox="1"/>
          <p:nvPr/>
        </p:nvSpPr>
        <p:spPr>
          <a:xfrm>
            <a:off x="4844716" y="1527556"/>
            <a:ext cx="6096000" cy="1323439"/>
          </a:xfrm>
          <a:prstGeom prst="rect">
            <a:avLst/>
          </a:prstGeom>
          <a:noFill/>
        </p:spPr>
        <p:txBody>
          <a:bodyPr wrap="square">
            <a:spAutoFit/>
          </a:bodyPr>
          <a:lstStyle/>
          <a:p>
            <a:r>
              <a:rPr lang="en-US" sz="2000" dirty="0"/>
              <a:t>Most reliable information about al-</a:t>
            </a:r>
            <a:r>
              <a:rPr lang="en-US" sz="2000" dirty="0" err="1"/>
              <a:t>Farghani’s</a:t>
            </a:r>
            <a:r>
              <a:rPr lang="en-US" sz="2000" dirty="0"/>
              <a:t> life relates to the year 861. According to available data, in that year he constructed or repaired the </a:t>
            </a:r>
            <a:r>
              <a:rPr lang="en-US" sz="2000" dirty="0" err="1"/>
              <a:t>nilometer</a:t>
            </a:r>
            <a:r>
              <a:rPr lang="en-US" sz="2000" dirty="0"/>
              <a:t> on Rawda island, Cairo</a:t>
            </a:r>
            <a:endParaRPr lang="ru-RU" sz="2000" dirty="0"/>
          </a:p>
        </p:txBody>
      </p:sp>
      <p:sp>
        <p:nvSpPr>
          <p:cNvPr id="9" name="TextBox 8">
            <a:extLst>
              <a:ext uri="{FF2B5EF4-FFF2-40B4-BE49-F238E27FC236}">
                <a16:creationId xmlns:a16="http://schemas.microsoft.com/office/drawing/2014/main" id="{10E217A1-4A6B-F41F-DB71-8710413F38DC}"/>
              </a:ext>
            </a:extLst>
          </p:cNvPr>
          <p:cNvSpPr txBox="1"/>
          <p:nvPr/>
        </p:nvSpPr>
        <p:spPr>
          <a:xfrm>
            <a:off x="4844716" y="4130115"/>
            <a:ext cx="6096000" cy="1323439"/>
          </a:xfrm>
          <a:prstGeom prst="rect">
            <a:avLst/>
          </a:prstGeom>
          <a:noFill/>
        </p:spPr>
        <p:txBody>
          <a:bodyPr wrap="square">
            <a:spAutoFit/>
          </a:bodyPr>
          <a:lstStyle/>
          <a:p>
            <a:r>
              <a:rPr lang="en-US" sz="2000" dirty="0"/>
              <a:t>There is no mention of Al </a:t>
            </a:r>
            <a:r>
              <a:rPr lang="en-US" sz="2000" dirty="0" err="1"/>
              <a:t>Farghani</a:t>
            </a:r>
            <a:r>
              <a:rPr lang="en-US" sz="2000" dirty="0"/>
              <a:t> being in the House of Wisdom, theories suggest that it is because of many expeditions and being in the Damascus division of the House of Wisdom. </a:t>
            </a:r>
            <a:endParaRPr lang="ru-RU" sz="2000" dirty="0"/>
          </a:p>
        </p:txBody>
      </p:sp>
    </p:spTree>
    <p:extLst>
      <p:ext uri="{BB962C8B-B14F-4D97-AF65-F5344CB8AC3E}">
        <p14:creationId xmlns:p14="http://schemas.microsoft.com/office/powerpoint/2010/main" val="2593110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6958E2-DEB0-0797-3AB8-87B46BE7FF25}"/>
              </a:ext>
            </a:extLst>
          </p:cNvPr>
          <p:cNvSpPr txBox="1"/>
          <p:nvPr/>
        </p:nvSpPr>
        <p:spPr>
          <a:xfrm>
            <a:off x="914399" y="1062334"/>
            <a:ext cx="10812379" cy="1200329"/>
          </a:xfrm>
          <a:prstGeom prst="rect">
            <a:avLst/>
          </a:prstGeom>
          <a:noFill/>
        </p:spPr>
        <p:txBody>
          <a:bodyPr wrap="square">
            <a:spAutoFit/>
          </a:bodyPr>
          <a:lstStyle/>
          <a:p>
            <a:pPr algn="ctr"/>
            <a:r>
              <a:rPr lang="en-US" sz="2400" dirty="0"/>
              <a:t>According to Biruni </a:t>
            </a:r>
            <a:r>
              <a:rPr lang="en-US" sz="2400" dirty="0" err="1"/>
              <a:t>Farghani</a:t>
            </a:r>
            <a:r>
              <a:rPr lang="en-US" sz="2400" dirty="0"/>
              <a:t> was involved in the calculation of the diameter of the Earth by the measurement of the meridian arc length, together with a team of scientists.</a:t>
            </a:r>
            <a:endParaRPr lang="ru-RU" sz="2400" dirty="0"/>
          </a:p>
        </p:txBody>
      </p:sp>
      <p:sp>
        <p:nvSpPr>
          <p:cNvPr id="7" name="TextBox 6">
            <a:extLst>
              <a:ext uri="{FF2B5EF4-FFF2-40B4-BE49-F238E27FC236}">
                <a16:creationId xmlns:a16="http://schemas.microsoft.com/office/drawing/2014/main" id="{104FBF23-6EBB-27F8-99DF-332D91FD2F20}"/>
              </a:ext>
            </a:extLst>
          </p:cNvPr>
          <p:cNvSpPr txBox="1"/>
          <p:nvPr/>
        </p:nvSpPr>
        <p:spPr>
          <a:xfrm>
            <a:off x="2225841" y="2377133"/>
            <a:ext cx="7740317" cy="1815882"/>
          </a:xfrm>
          <a:prstGeom prst="rect">
            <a:avLst/>
          </a:prstGeom>
          <a:noFill/>
        </p:spPr>
        <p:txBody>
          <a:bodyPr wrap="square">
            <a:spAutoFit/>
          </a:bodyPr>
          <a:lstStyle/>
          <a:p>
            <a:pPr algn="ctr"/>
            <a:r>
              <a:rPr lang="en-GB" sz="2800" dirty="0"/>
              <a:t>    “</a:t>
            </a:r>
            <a:r>
              <a:rPr lang="en-GB" sz="2800" dirty="0" err="1"/>
              <a:t>Kitāb</a:t>
            </a:r>
            <a:r>
              <a:rPr lang="en-GB" sz="2800" dirty="0"/>
              <a:t> </a:t>
            </a:r>
            <a:r>
              <a:rPr lang="en-GB" sz="2800" dirty="0" err="1"/>
              <a:t>fī</a:t>
            </a:r>
            <a:r>
              <a:rPr lang="en-GB" sz="2800" dirty="0"/>
              <a:t> </a:t>
            </a:r>
            <a:r>
              <a:rPr lang="en-GB" sz="2800" dirty="0" err="1"/>
              <a:t>Jawāmiʿ</a:t>
            </a:r>
            <a:r>
              <a:rPr lang="en-GB" sz="2800" dirty="0"/>
              <a:t> </a:t>
            </a:r>
            <a:r>
              <a:rPr lang="en-GB" sz="2800" dirty="0" err="1"/>
              <a:t>ʿIlm</a:t>
            </a:r>
            <a:r>
              <a:rPr lang="en-GB" sz="2800" dirty="0"/>
              <a:t> al-Nujūm”                      (</a:t>
            </a:r>
            <a:r>
              <a:rPr lang="uz-Latn-UZ" sz="2800" i="1" dirty="0"/>
              <a:t>A</a:t>
            </a:r>
            <a:r>
              <a:rPr lang="en-GB" sz="2800" i="1" dirty="0"/>
              <a:t> </a:t>
            </a:r>
            <a:r>
              <a:rPr lang="uz-Latn-UZ" sz="2800" i="1" dirty="0"/>
              <a:t>Compendium of the Science of the Stars</a:t>
            </a:r>
            <a:r>
              <a:rPr lang="en-GB" sz="2800" i="1" dirty="0"/>
              <a:t>)</a:t>
            </a:r>
          </a:p>
          <a:p>
            <a:pPr algn="ctr"/>
            <a:r>
              <a:rPr lang="en-GB" sz="2800" b="1" dirty="0"/>
              <a:t> </a:t>
            </a:r>
            <a:r>
              <a:rPr lang="uz-Latn-UZ" sz="2800" b="1" dirty="0"/>
              <a:t>833 and 857</a:t>
            </a:r>
            <a:endParaRPr lang="en-GB" sz="2800" b="1" dirty="0"/>
          </a:p>
          <a:p>
            <a:pPr algn="ctr"/>
            <a:r>
              <a:rPr lang="en-GB" sz="2800" b="1" dirty="0"/>
              <a:t> </a:t>
            </a:r>
            <a:r>
              <a:rPr lang="uz-Latn-UZ" sz="2800" b="1" dirty="0"/>
              <a:t>Ptolemy’s Almagest</a:t>
            </a:r>
            <a:endParaRPr lang="ru-RU" sz="2800" dirty="0"/>
          </a:p>
        </p:txBody>
      </p:sp>
    </p:spTree>
    <p:extLst>
      <p:ext uri="{BB962C8B-B14F-4D97-AF65-F5344CB8AC3E}">
        <p14:creationId xmlns:p14="http://schemas.microsoft.com/office/powerpoint/2010/main" val="3321091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89D6A-AD1F-0F9C-112D-FB0EEAFBC52F}"/>
              </a:ext>
            </a:extLst>
          </p:cNvPr>
          <p:cNvSpPr txBox="1"/>
          <p:nvPr/>
        </p:nvSpPr>
        <p:spPr>
          <a:xfrm>
            <a:off x="1491915" y="1659285"/>
            <a:ext cx="9561095" cy="3539430"/>
          </a:xfrm>
          <a:prstGeom prst="rect">
            <a:avLst/>
          </a:prstGeom>
          <a:noFill/>
        </p:spPr>
        <p:txBody>
          <a:bodyPr wrap="square">
            <a:spAutoFit/>
          </a:bodyPr>
          <a:lstStyle/>
          <a:p>
            <a:pPr algn="ctr"/>
            <a:r>
              <a:rPr lang="en-US" sz="3200" b="1" dirty="0"/>
              <a:t>Among his improvements were more accurate calculations of:</a:t>
            </a:r>
          </a:p>
          <a:p>
            <a:pPr algn="ctr"/>
            <a:r>
              <a:rPr lang="en-US" sz="3200" b="1" dirty="0"/>
              <a:t>The circumference of the Earth,</a:t>
            </a:r>
          </a:p>
          <a:p>
            <a:pPr algn="ctr"/>
            <a:r>
              <a:rPr lang="en-US" sz="3200" b="1" dirty="0"/>
              <a:t>The tilt of the Earth’s axis, and</a:t>
            </a:r>
          </a:p>
          <a:p>
            <a:pPr algn="ctr"/>
            <a:r>
              <a:rPr lang="en-US" sz="3200" b="1" dirty="0"/>
              <a:t>The positions of the Sun’s and Moon’s apsides (the points where their orbits are closest to or farthest from Earth).</a:t>
            </a:r>
          </a:p>
        </p:txBody>
      </p:sp>
    </p:spTree>
    <p:extLst>
      <p:ext uri="{BB962C8B-B14F-4D97-AF65-F5344CB8AC3E}">
        <p14:creationId xmlns:p14="http://schemas.microsoft.com/office/powerpoint/2010/main" val="1598706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B27EBD-525F-8377-F98F-AE114BD53208}"/>
              </a:ext>
            </a:extLst>
          </p:cNvPr>
          <p:cNvSpPr txBox="1"/>
          <p:nvPr/>
        </p:nvSpPr>
        <p:spPr>
          <a:xfrm>
            <a:off x="753978" y="1164302"/>
            <a:ext cx="10972800" cy="1446550"/>
          </a:xfrm>
          <a:prstGeom prst="rect">
            <a:avLst/>
          </a:prstGeom>
          <a:noFill/>
        </p:spPr>
        <p:txBody>
          <a:bodyPr wrap="square">
            <a:spAutoFit/>
          </a:bodyPr>
          <a:lstStyle/>
          <a:p>
            <a:r>
              <a:rPr lang="en-US" sz="2800" dirty="0"/>
              <a:t>Al-</a:t>
            </a:r>
            <a:r>
              <a:rPr lang="en-US" sz="2800" dirty="0" err="1"/>
              <a:t>Farghani</a:t>
            </a:r>
            <a:r>
              <a:rPr lang="en-US" sz="2800" dirty="0"/>
              <a:t> made a very good estimate of the Earth’s circumference — about 40,200 km, </a:t>
            </a:r>
            <a:r>
              <a:rPr lang="en-US" sz="3200" dirty="0"/>
              <a:t>close</a:t>
            </a:r>
            <a:r>
              <a:rPr lang="en-US" sz="2800" dirty="0"/>
              <a:t> to the real value. His unit, the Arabic mile (≈1.97 km), was longer than the Roman mile (≈1.48 km).</a:t>
            </a:r>
            <a:endParaRPr lang="ru-RU" sz="2800" dirty="0"/>
          </a:p>
        </p:txBody>
      </p:sp>
      <p:pic>
        <p:nvPicPr>
          <p:cNvPr id="7" name="Picture 6">
            <a:extLst>
              <a:ext uri="{FF2B5EF4-FFF2-40B4-BE49-F238E27FC236}">
                <a16:creationId xmlns:a16="http://schemas.microsoft.com/office/drawing/2014/main" id="{0F545541-DD99-A791-AD61-EC69D11C4EEC}"/>
              </a:ext>
            </a:extLst>
          </p:cNvPr>
          <p:cNvPicPr>
            <a:picLocks noChangeAspect="1"/>
          </p:cNvPicPr>
          <p:nvPr/>
        </p:nvPicPr>
        <p:blipFill>
          <a:blip r:embed="rId2"/>
          <a:stretch>
            <a:fillRect/>
          </a:stretch>
        </p:blipFill>
        <p:spPr>
          <a:xfrm>
            <a:off x="3431041" y="2808907"/>
            <a:ext cx="5618673" cy="3744564"/>
          </a:xfrm>
          <a:prstGeom prst="rect">
            <a:avLst/>
          </a:prstGeom>
        </p:spPr>
      </p:pic>
    </p:spTree>
    <p:extLst>
      <p:ext uri="{BB962C8B-B14F-4D97-AF65-F5344CB8AC3E}">
        <p14:creationId xmlns:p14="http://schemas.microsoft.com/office/powerpoint/2010/main" val="1851238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F024-0BA3-C192-970F-78B66C869ED3}"/>
              </a:ext>
            </a:extLst>
          </p:cNvPr>
          <p:cNvSpPr>
            <a:spLocks noGrp="1"/>
          </p:cNvSpPr>
          <p:nvPr>
            <p:ph type="ctrTitle"/>
          </p:nvPr>
        </p:nvSpPr>
        <p:spPr/>
        <p:txBody>
          <a:bodyPr/>
          <a:lstStyle/>
          <a:p>
            <a:endParaRPr lang="ru-RU"/>
          </a:p>
        </p:txBody>
      </p:sp>
      <p:sp>
        <p:nvSpPr>
          <p:cNvPr id="3" name="Subtitle 2">
            <a:extLst>
              <a:ext uri="{FF2B5EF4-FFF2-40B4-BE49-F238E27FC236}">
                <a16:creationId xmlns:a16="http://schemas.microsoft.com/office/drawing/2014/main" id="{60CE3714-2440-EABD-546D-430F1DF33EA5}"/>
              </a:ext>
            </a:extLst>
          </p:cNvPr>
          <p:cNvSpPr>
            <a:spLocks noGrp="1"/>
          </p:cNvSpPr>
          <p:nvPr>
            <p:ph type="subTitle" idx="1"/>
          </p:nvPr>
        </p:nvSpPr>
        <p:spPr/>
        <p:txBody>
          <a:bodyPr/>
          <a:lstStyle/>
          <a:p>
            <a:endParaRPr lang="ru-RU"/>
          </a:p>
        </p:txBody>
      </p:sp>
    </p:spTree>
    <p:extLst>
      <p:ext uri="{BB962C8B-B14F-4D97-AF65-F5344CB8AC3E}">
        <p14:creationId xmlns:p14="http://schemas.microsoft.com/office/powerpoint/2010/main" val="2262884333"/>
      </p:ext>
    </p:extLst>
  </p:cSld>
  <p:clrMapOvr>
    <a:masterClrMapping/>
  </p:clrMapOvr>
</p:sld>
</file>

<file path=ppt/theme/theme1.xml><?xml version="1.0" encoding="utf-8"?>
<a:theme xmlns:a="http://schemas.openxmlformats.org/drawingml/2006/main" name="Dark Gradient">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docProps/app.xml><?xml version="1.0" encoding="utf-8"?>
<Properties xmlns="http://schemas.openxmlformats.org/officeDocument/2006/extended-properties" xmlns:vt="http://schemas.openxmlformats.org/officeDocument/2006/docPropsVTypes">
  <Template>Dark Gradient</Template>
  <TotalTime>653</TotalTime>
  <Words>685</Words>
  <Application>Microsoft Office PowerPoint</Application>
  <PresentationFormat>Widescreen</PresentationFormat>
  <Paragraphs>53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Arial Nova Light</vt:lpstr>
      <vt:lpstr>Times New Roman</vt:lpstr>
      <vt:lpstr>Dark Gradient</vt:lpstr>
      <vt:lpstr>PowerPoint Presentation</vt:lpstr>
      <vt:lpstr>THE HOUSE OF WISDOM (CENTRAL ASIAN SCHOLARS)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2</cp:revision>
  <dcterms:created xsi:type="dcterms:W3CDTF">2026-09-29T05:04:41Z</dcterms:created>
  <dcterms:modified xsi:type="dcterms:W3CDTF">2026-09-30T08:26:24Z</dcterms:modified>
</cp:coreProperties>
</file>